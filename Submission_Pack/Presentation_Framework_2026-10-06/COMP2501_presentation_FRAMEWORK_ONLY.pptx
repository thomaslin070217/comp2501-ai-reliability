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Framework only. User invalidated the previous data and will supply replacement data. No previous counts, baseline rates, sample composition, scoring decisions or collection-status claims are used. Populate all fields from replacement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Framework only. All previous results are invalidated for this presentation. Populate the two model columns using replacement data: Correct, Incorrect, Explicit abstention, excluded/unscorable, scoredN, error rate and noncorrect rate. Do not equate missing data with zero or use a standalone initial denominator in paired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MiniMax-M3 is the receiver for the primary self-versus-natural-cross comparison. DeepSeek-V4-Pro is the independent real peer. Same initial answer and native tool history feed parallel branches. Actual run parameters and exact prompts must come from the frozen manifest. The examples here are simplified excerpts, not additional instructions in collection. Scripted human condition is one condition, not two timing conditions. It remains a proposed module in the document, not completed new data. Manipulated peer material is researcher-constructed and must not be described as a real DeepSeek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Classify final answers Correct, Incorrect, or Explicit abstention. Exclude technical failures and unscorable output from rate denominators, disclose their counts. All comparative rates use the same eligible paired set. Natural correct-receiver/wrong-peer opportunities and manipulated-peer opportunities stay separate. Human error comparison includes MiniMax and DeepSeek as proposed in the document, with separate model denominators. These new modules are not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Framework pending replacement data. Variables mm_math_initial_error_rate, mm_math_selfcheck_error_rate and mm_math_crosscheck_error_rate use the common scorable initial/self/natural sample N_natural. Recompute the initial rate on this paired set. Chart: clustered columns by condition, Error rate and Non-correct rate, values in percent. Unknown data must stay blank and cannot be plotted as zero. No invalidated previous results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Pending paired result. Upper graph compares Self-check and Natural cross-check on same N_natural. Lower panel uses subset S: MiniMax initial Incorrect and DeepSeek initial Correct, with evaluable final response. Show its eligible denominator, initial error count, final Correct/Incorrect/Abstention, actual correction rate Wrong-to-Correct/S, error elimination (Wrong-to-Correct + Wrong-to-Abstention)/S. Overall net pp decrease uses all natural matched cases and includes newly introduced errors. Paired confidence interval should be supplied before claiming a stable advantage.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Both panels pending. Left: report natural wrong-peer opportunities separately from controlled manipulated-peer experiment. Natural denominator initially Correct MiniMax plus actually Incorrect DeepSeek plus scorable follow-up, N_peer_natural. Controlled denominator verified-correct MiniMax initial with approved frozen wrong-peer material and both self/manipulated endpoints scorable, N_peer_controlled. Right: per-model verified-correct initial and both neutral/human endpoints scorable, N_human_mm and N_human_ds. C-to-W/N in each panel. Synthetic inputs not real human participants and not actual DeepSeek wrong output. Compare neutral-self risk and exposed risk, include uncertainty. Zero observed flips with N&gt;0 is sample observation; N=0 is not estimable.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This is a teaching example from the draft, not observed new-study results or a claim that either model produced these responses. Correct count: choose exactly2boys1girl C(4,2)*6 =36 child groups, or3boys C(4,3)=4 child groups. Each group receives3distincttoys in3!=6ways, total(36+4)*6=240. False216 counts exactly2boys only. Example belongs to condition explanation; real result case should replace it later only when raw outputs support the claimed transition.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Framework only. Discussion remains conditional until replacement results are supplied. Verify actual model versions, source, repetition count, scoring procedure and missing-data reasons from replacement records. Scripted users, prompt sensitivity and finalanswer-versus-reasoning distinction remain design limitations. No previous grading or result is incorporated.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All final findings remain pending. Write conditional conclusions based on effect sign and paired confidence intervals; do not preselect a positive conclusion. RQ1 overall net rates. RQ2 selfvsnatural cross on same sample plus correction subset. RQ3 naturalvscontrolled marked. RQ4 permodelscriptedtest. Current initial accuracy cannot answer any of the four causal/comparative questions by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Future work follows the updated draft. These are prospective directions, not tested or promised improvements. Structuredmessagesmayreduceambiguitybutthatrequiresanexperiment.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Sources supplied in the draft. Wang etal SelfConsistency ICLR2023 https://arxiv.org/abs/2203.11171; Huang etal LLMsCannotSelfCorrectReasoningYet ICLR2024 https://openreview.net/forum?id=IkmD3fKBPQ; Dhuliawala etal ChainofVerification ACLFindings2024 https://aclanthology.org/2024.findings-acl.212/; Sharma etal TowardsUnderstandingSycophancy2023 https://arxiv.org/abs/2310.13548. Dataset reference remains pending replacement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Definitions: S = incorrect MiniMax initial plus correct realDeepSeek initial and scoreable endpoints; N = all matched natural initial/self/crosscases. Correction Wrong-to-Correct/S. Elimination (Wrong-to-Correct+Wrong-to-Abstain)/S. Overall net pp =100*(InitialWrong-FinalWrong)/N. Controlledharm=C-to-W/T whereTverifiedcorrectinitial+approvedconstructedwrongpeer+scoreableself/exposedendpoints. Selfbaseline riskdenominator isexactsameT. Technicalmissing excluded transparently. Do not mix conditionalS,T withoverallN.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Framework only. Populate from replacement data supplied by the user. Previous responses and analyses remain archival and are not deleted or reused. New counts, scoring policies, exclusions and actual cases must come from new source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3FFFF743-D9C0-4B25-911F-68E6AA149A2C}"/>
              </a:ext>
            </a:extLst>
          </p:cNvPr>
          <p:cNvSpPr>
            <a:spLocks noGrp="1"/>
          </p:cNvSpPr>
          <p:nvPr/>
        </p:nvSpPr>
        <p:spPr>
          <a:xfrm>
            <a:off x="594360" y="1554480"/>
            <a:ext cx="10789920" cy="1600200"/>
          </a:xfrm>
          <a:prstGeom prst="rect">
            <a:avLst/>
          </a:prstGeom>
          <a:noFill/>
          <a:ln w="0">
            <a:noFill/>
          </a:ln>
        </p:spPr>
        <p:txBody>
          <a:bodyPr wrap="square" lIns="0" tIns="0" rIns="0" bIns="0" anchor="ctr">
            <a:noAutofit/>
          </a:bodyPr>
          <a:lstStyle/>
          <a:p>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Does Double-Checking</a:t>
            </a:r>
          </a:p>
          <a:p>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Make AI More Reliable?</a:t>
            </a:r>
          </a:p>
        </p:txBody>
      </p:sp>
      <p:sp>
        <p:nvSpPr>
          <p:cNvPr id="3" name="Rectangles 2">
            <a:extLst>
              <a:ext uri="{FF2B5EF4-FFF2-40B4-BE49-F238E27FC236}">
                <a16:creationId xmlns:a16="http://schemas.microsoft.com/office/drawing/2014/main" id="{FE68179C-EC62-4845-899E-A624243BCB5A}"/>
              </a:ext>
            </a:extLst>
          </p:cNvPr>
          <p:cNvSpPr>
            <a:spLocks noGrp="1"/>
          </p:cNvSpPr>
          <p:nvPr/>
        </p:nvSpPr>
        <p:spPr>
          <a:xfrm>
            <a:off x="594360" y="3383280"/>
            <a:ext cx="10789920" cy="594360"/>
          </a:xfrm>
          <a:prstGeom prst="rect">
            <a:avLst/>
          </a:prstGeom>
          <a:noFill/>
          <a:ln w="0">
            <a:noFill/>
          </a:ln>
        </p:spPr>
        <p:txBody>
          <a:bodyPr wrap="square" lIns="0" tIns="0" rIns="0" bIns="0" anchor="t">
            <a:noAutofit/>
          </a:bodyPr>
          <a:lstStyle/>
          <a:p>
            <a:pPr algn="l">
              <a:buNone/>
              <a:defRPr sz="2100" b="0">
                <a:solidFill>
                  <a:srgbClr val="657586"/>
                </a:solidFill>
                <a:latin typeface="Helvetica Neue"/>
                <a:ea typeface="Helvetica Neue"/>
                <a:cs typeface="Helvetica Neue"/>
              </a:defRPr>
            </a:pPr>
            <a:r>
              <a:rPr sz="2100" b="0">
                <a:solidFill>
                  <a:srgbClr val="657586"/>
                </a:solidFill>
                <a:latin typeface="Helvetica Neue"/>
                <a:ea typeface="Helvetica Neue"/>
                <a:cs typeface="Helvetica Neue"/>
              </a:rPr>
              <a:t>Evaluating self-checks, cross-checks, and misleading feedback</a:t>
            </a:r>
          </a:p>
        </p:txBody>
      </p:sp>
      <p:sp>
        <p:nvSpPr>
          <p:cNvPr id="4" name="Straight Connector 3">
            <a:extLst>
              <a:ext uri="{FF2B5EF4-FFF2-40B4-BE49-F238E27FC236}">
                <a16:creationId xmlns:a16="http://schemas.microsoft.com/office/drawing/2014/main" id="{DFF37FE1-5E70-478D-9FB0-361469E23270}"/>
              </a:ext>
            </a:extLst>
          </p:cNvPr>
          <p:cNvSpPr>
            <a:spLocks noGrp="1"/>
          </p:cNvSpPr>
          <p:nvPr/>
        </p:nvSpPr>
        <p:spPr>
          <a:xfrm>
            <a:off x="594360" y="4233672"/>
            <a:ext cx="5760720" cy="0"/>
          </a:xfrm>
          <a:prstGeom prst="line">
            <a:avLst/>
          </a:prstGeom>
          <a:noFill/>
          <a:ln w="47625">
            <a:solidFill>
              <a:srgbClr val="147E77"/>
            </a:solidFill>
            <a:prstDash val="solid"/>
          </a:ln>
        </p:spPr>
        <p:txBody>
          <a:bodyPr/>
          <a:lstStyle/>
          <a:p>
            <a:endParaRPr lang="en-US"/>
          </a:p>
        </p:txBody>
      </p:sp>
      <p:sp>
        <p:nvSpPr>
          <p:cNvPr id="5" name="Rectangles 4">
            <a:extLst>
              <a:ext uri="{FF2B5EF4-FFF2-40B4-BE49-F238E27FC236}">
                <a16:creationId xmlns:a16="http://schemas.microsoft.com/office/drawing/2014/main" id="{2F285466-3A65-438A-AECB-CF4B489AD9C4}"/>
              </a:ext>
            </a:extLst>
          </p:cNvPr>
          <p:cNvSpPr>
            <a:spLocks noGrp="1"/>
          </p:cNvSpPr>
          <p:nvPr/>
        </p:nvSpPr>
        <p:spPr>
          <a:xfrm>
            <a:off x="594360" y="4663440"/>
            <a:ext cx="8229600" cy="502920"/>
          </a:xfrm>
          <a:prstGeom prst="rect">
            <a:avLst/>
          </a:prstGeom>
          <a:noFill/>
          <a:ln w="0">
            <a:noFill/>
          </a:ln>
        </p:spPr>
        <p:txBody>
          <a:bodyPr wrap="square" lIns="0" tIns="0" rIns="0" bIns="0" anchor="t">
            <a:noAutofit/>
          </a:bodyPr>
          <a:lstStyle/>
          <a:p>
            <a:pPr algn="l">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LIN Yunian Thomas &amp; PAN Zhengyu </a:t>
            </a:r>
            <a:r>
              <a:rPr sz="1800"/>
              <a:t>Frost </a:t>
            </a:r>
            <a:endParaRPr sz="1800" b="1">
              <a:solidFill>
                <a:srgbClr val="147E77"/>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DB3806B8-6F49-4011-84F4-16EB007D2F7B}"/>
              </a:ext>
            </a:extLst>
          </p:cNvPr>
          <p:cNvSpPr>
            <a:spLocks noGrp="1"/>
          </p:cNvSpPr>
          <p:nvPr/>
        </p:nvSpPr>
        <p:spPr>
          <a:xfrm>
            <a:off x="594360" y="5897880"/>
            <a:ext cx="7315200" cy="365760"/>
          </a:xfrm>
          <a:prstGeom prst="rect">
            <a:avLst/>
          </a:prstGeom>
          <a:noFill/>
          <a:ln w="0">
            <a:noFill/>
          </a:ln>
        </p:spPr>
        <p:txBody>
          <a:bodyPr wrap="square" lIns="0" tIns="0" rIns="0" bIns="0" anchor="t">
            <a:noAutofit/>
          </a:bodyPr>
          <a:lstStyle/>
          <a:p>
            <a:pPr algn="l">
              <a:buNone/>
              <a:defRPr sz="1400" b="0">
                <a:solidFill>
                  <a:srgbClr val="657586"/>
                </a:solidFill>
                <a:latin typeface="Helvetica Neue"/>
                <a:ea typeface="Helvetica Neue"/>
                <a:cs typeface="Helvetica Neue"/>
              </a:defRPr>
            </a:pPr>
            <a:r>
              <a:rPr sz="1400" b="0">
                <a:solidFill>
                  <a:srgbClr val="657586"/>
                </a:solidFill>
                <a:latin typeface="Helvetica Neue"/>
                <a:ea typeface="Helvetica Neue"/>
                <a:cs typeface="Helvetica Neue"/>
              </a:rPr>
              <a:t>COMP2501  /  6 October 2026</a:t>
            </a:r>
          </a:p>
        </p:txBody>
      </p:sp>
      <p:sp>
        <p:nvSpPr>
          <p:cNvPr id="7" name="Rectangles 6">
            <a:extLst>
              <a:ext uri="{FF2B5EF4-FFF2-40B4-BE49-F238E27FC236}">
                <a16:creationId xmlns:a16="http://schemas.microsoft.com/office/drawing/2014/main" id="{6F60BF80-FB70-4A78-B059-2391819DF752}"/>
              </a:ext>
            </a:extLst>
          </p:cNvPr>
          <p:cNvSpPr>
            <a:spLocks noGrp="1"/>
          </p:cNvSpPr>
          <p:nvPr/>
        </p:nvSpPr>
        <p:spPr>
          <a:xfrm>
            <a:off x="11353800" y="6477000"/>
            <a:ext cx="457200" cy="17145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a:t>
            </a:r>
          </a:p>
        </p:txBody>
      </p:sp>
    </p:spTree>
    <p:extLst>
      <p:ext uri="{BB962C8B-B14F-4D97-AF65-F5344CB8AC3E}">
        <p14:creationId xmlns:p14="http://schemas.microsoft.com/office/powerpoint/2010/main" val="1426321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B192241C-0D4A-41A7-866F-5DC13D796B0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BACKGROUND</a:t>
            </a:r>
          </a:p>
        </p:txBody>
      </p:sp>
      <p:sp>
        <p:nvSpPr>
          <p:cNvPr id="3" name="Rectangles 2">
            <a:extLst>
              <a:ext uri="{FF2B5EF4-FFF2-40B4-BE49-F238E27FC236}">
                <a16:creationId xmlns:a16="http://schemas.microsoft.com/office/drawing/2014/main" id="{33F464DF-F7B8-46ED-8F04-8F3814EB2E10}"/>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Where the research question came from</a:t>
            </a:r>
          </a:p>
        </p:txBody>
      </p:sp>
      <p:sp>
        <p:nvSpPr>
          <p:cNvPr id="4" name="Straight Connector 3">
            <a:extLst>
              <a:ext uri="{FF2B5EF4-FFF2-40B4-BE49-F238E27FC236}">
                <a16:creationId xmlns:a16="http://schemas.microsoft.com/office/drawing/2014/main" id="{C4FF23E9-0A4A-4BC8-A11F-538F5E44D96F}"/>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5" name="Rectangles 4">
            <a:extLst>
              <a:ext uri="{FF2B5EF4-FFF2-40B4-BE49-F238E27FC236}">
                <a16:creationId xmlns:a16="http://schemas.microsoft.com/office/drawing/2014/main" id="{B010EEF3-064C-4606-A97A-E35272AA43D2}"/>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“Do you 100% trust AI?”</a:t>
            </a:r>
          </a:p>
        </p:txBody>
      </p:sp>
      <p:sp>
        <p:nvSpPr>
          <p:cNvPr id="6" name="Rectangles 5">
            <a:extLst>
              <a:ext uri="{FF2B5EF4-FFF2-40B4-BE49-F238E27FC236}">
                <a16:creationId xmlns:a16="http://schemas.microsoft.com/office/drawing/2014/main" id="{C6E9E11C-A3E5-4D0B-8AED-74D4666B30CD}"/>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E53BE704-A8C4-4608-BA1D-F0617C32003C}"/>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a:t>
            </a:r>
          </a:p>
        </p:txBody>
      </p:sp>
    </p:spTree>
    <p:extLst>
      <p:ext uri="{BB962C8B-B14F-4D97-AF65-F5344CB8AC3E}">
        <p14:creationId xmlns:p14="http://schemas.microsoft.com/office/powerpoint/2010/main" val="1462387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CAEC468-C90A-4640-9CCE-812F07A423BE}"/>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BACKGROUND</a:t>
            </a:r>
          </a:p>
        </p:txBody>
      </p:sp>
      <p:sp>
        <p:nvSpPr>
          <p:cNvPr id="3" name="Rectangles 2">
            <a:extLst>
              <a:ext uri="{FF2B5EF4-FFF2-40B4-BE49-F238E27FC236}">
                <a16:creationId xmlns:a16="http://schemas.microsoft.com/office/drawing/2014/main" id="{A7638D24-19B3-4A61-8D6D-DFC6EF314E48}"/>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Where the research question came from</a:t>
            </a:r>
          </a:p>
        </p:txBody>
      </p:sp>
      <p:sp>
        <p:nvSpPr>
          <p:cNvPr id="4" name="Straight Connector 3">
            <a:extLst>
              <a:ext uri="{FF2B5EF4-FFF2-40B4-BE49-F238E27FC236}">
                <a16:creationId xmlns:a16="http://schemas.microsoft.com/office/drawing/2014/main" id="{13BD3AD8-FD90-4BC9-8551-F41D7B719F94}"/>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9" name="Rectangles 8">
            <a:extLst>
              <a:ext uri="{FF2B5EF4-FFF2-40B4-BE49-F238E27FC236}">
                <a16:creationId xmlns:a16="http://schemas.microsoft.com/office/drawing/2014/main" id="{2B9437CB-6A6B-4661-9D3A-0473BF61C994}"/>
              </a:ext>
            </a:extLst>
          </p:cNvPr>
          <p:cNvSpPr>
            <a:spLocks noGrp="1"/>
          </p:cNvSpPr>
          <p:nvPr/>
        </p:nvSpPr>
        <p:spPr>
          <a:xfrm>
            <a:off x="1005840" y="2606040"/>
            <a:ext cx="4389120" cy="914400"/>
          </a:xfrm>
          <a:prstGeom prst="rect">
            <a:avLst/>
          </a:prstGeom>
          <a:noFill/>
          <a:ln w="0">
            <a:noFill/>
          </a:ln>
        </p:spPr>
        <p:txBody>
          <a:bodyPr wrap="square" lIns="0" tIns="0" rIns="0" bIns="0" anchor="t">
            <a:noAutofit/>
          </a:bodyPr>
          <a:lstStyle/>
          <a:p>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YES.</a:t>
            </a:r>
          </a:p>
          <a:p>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B79CF4FE-D9E7-49B3-83BF-DC9DAD29157C}"/>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a:t>
            </a:r>
          </a:p>
        </p:txBody>
      </p:sp>
      <p:sp>
        <p:nvSpPr>
          <p:cNvPr id="16" name="Text Box 15">
            <a:extLst>
              <a:ext uri="{FF2B5EF4-FFF2-40B4-BE49-F238E27FC236}">
                <a16:creationId xmlns:a16="http://schemas.microsoft.com/office/drawing/2014/main" id="{B1D16D23-13BD-4DFD-9272-30DD9F64C935}"/>
              </a:ext>
            </a:extLst>
          </p:cNvPr>
          <p:cNvSpPr>
            <a:spLocks noGrp="1"/>
          </p:cNvSpPr>
          <p:nvPr/>
        </p:nvSpPr>
        <p:spPr>
          <a:xfrm>
            <a:off x="1005840" y="4023360"/>
            <a:ext cx="4389120" cy="914400"/>
          </a:xfrm>
          <a:prstGeom prst="rect">
            <a:avLst/>
          </a:prstGeom>
          <a:noFill/>
        </p:spPr>
        <p:txBody>
          <a:bodyPr wrap="square" anchor="t">
            <a:spAutoFit/>
          </a:bodyPr>
          <a:lstStyle/>
          <a:p>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a:p>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a:t>
            </a:r>
          </a:p>
        </p:txBody>
      </p:sp>
      <p:pic>
        <p:nvPicPr>
          <p:cNvPr id="24" name="Picture 17"/>
          <p:cNvPicPr>
            <a:picLocks noChangeAspect="1"/>
          </p:cNvPicPr>
          <p:nvPr/>
        </p:nvPicPr>
        <p:blipFill>
          <a:blip r:embed="rId3"/>
          <a:stretch>
            <a:fillRect/>
          </a:stretch>
        </p:blipFill>
        <p:spPr>
          <a:xfrm>
            <a:off x="6240145" y="1904365"/>
            <a:ext cx="5266055" cy="3735070"/>
          </a:xfrm>
          <a:prstGeom prst="rect">
            <a:avLst/>
          </a:prstGeom>
        </p:spPr>
      </p:pic>
    </p:spTree>
    <p:extLst>
      <p:ext uri="{BB962C8B-B14F-4D97-AF65-F5344CB8AC3E}">
        <p14:creationId xmlns:p14="http://schemas.microsoft.com/office/powerpoint/2010/main" val="1349214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8B0EB274-B049-4B82-A8DF-C212C4B504A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BACKGROUND</a:t>
            </a:r>
          </a:p>
        </p:txBody>
      </p:sp>
      <p:sp>
        <p:nvSpPr>
          <p:cNvPr id="3" name="Rectangles 2">
            <a:extLst>
              <a:ext uri="{FF2B5EF4-FFF2-40B4-BE49-F238E27FC236}">
                <a16:creationId xmlns:a16="http://schemas.microsoft.com/office/drawing/2014/main" id="{EE13DC4F-EC80-4DDB-A0A1-083F86970694}"/>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Where the research question came from</a:t>
            </a:r>
          </a:p>
        </p:txBody>
      </p:sp>
      <p:sp>
        <p:nvSpPr>
          <p:cNvPr id="4" name="Straight Connector 3">
            <a:extLst>
              <a:ext uri="{FF2B5EF4-FFF2-40B4-BE49-F238E27FC236}">
                <a16:creationId xmlns:a16="http://schemas.microsoft.com/office/drawing/2014/main" id="{8A969675-C6DB-4A30-9E44-FF14F38E20A1}"/>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10" name="Rectangles 9">
            <a:extLst>
              <a:ext uri="{FF2B5EF4-FFF2-40B4-BE49-F238E27FC236}">
                <a16:creationId xmlns:a16="http://schemas.microsoft.com/office/drawing/2014/main" id="{CD2CB5F1-DF29-4CF4-B742-F4F1E4DF317B}"/>
              </a:ext>
            </a:extLst>
          </p:cNvPr>
          <p:cNvSpPr>
            <a:spLocks noGrp="1"/>
          </p:cNvSpPr>
          <p:nvPr/>
        </p:nvSpPr>
        <p:spPr>
          <a:xfrm>
            <a:off x="6080760" y="1874520"/>
            <a:ext cx="5394960" cy="365760"/>
          </a:xfrm>
          <a:prstGeom prst="rect">
            <a:avLst/>
          </a:prstGeom>
          <a:noFill/>
          <a:ln w="0">
            <a:noFill/>
          </a:ln>
        </p:spPr>
        <p:txBody>
          <a:bodyPr wrap="square" lIns="0" tIns="0" rIns="0" bIns="0" anchor="t">
            <a:noAutofit/>
          </a:bodyPr>
          <a:lstStyle/>
          <a:p>
            <a:pPr algn="l">
              <a:buNone/>
              <a:defRPr sz="1200" b="1">
                <a:solidFill>
                  <a:srgbClr val="D88C2B"/>
                </a:solidFill>
                <a:latin typeface="Helvetica Neue"/>
                <a:ea typeface="Helvetica Neue"/>
                <a:cs typeface="Helvetica Neue"/>
              </a:defRPr>
            </a:pPr>
            <a:r>
              <a:rPr sz="1200" b="1">
                <a:solidFill>
                  <a:srgbClr val="D88C2B"/>
                </a:solidFill>
                <a:latin typeface="Helvetica Neue"/>
                <a:ea typeface="Helvetica Neue"/>
                <a:cs typeface="Helvetica Neue"/>
              </a:rPr>
              <a:t>QUESTION THAT FOLLOWS</a:t>
            </a:r>
          </a:p>
        </p:txBody>
      </p:sp>
      <p:sp>
        <p:nvSpPr>
          <p:cNvPr id="11" name="Rectangles 10">
            <a:extLst>
              <a:ext uri="{FF2B5EF4-FFF2-40B4-BE49-F238E27FC236}">
                <a16:creationId xmlns:a16="http://schemas.microsoft.com/office/drawing/2014/main" id="{08C66FA3-A620-4D12-A009-8FC4B0897659}"/>
              </a:ext>
            </a:extLst>
          </p:cNvPr>
          <p:cNvSpPr>
            <a:spLocks noGrp="1"/>
          </p:cNvSpPr>
          <p:nvPr/>
        </p:nvSpPr>
        <p:spPr>
          <a:xfrm>
            <a:off x="6080760" y="2468880"/>
            <a:ext cx="5394960" cy="1325880"/>
          </a:xfrm>
          <a:prstGeom prst="rect">
            <a:avLst/>
          </a:prstGeom>
          <a:noFill/>
          <a:ln w="0">
            <a:noFill/>
          </a:ln>
        </p:spPr>
        <p:txBody>
          <a:bodyPr wrap="square" lIns="0" tIns="0" rIns="0" bIns="0" anchor="t">
            <a:noAutofit/>
          </a:bodyPr>
          <a:lstStyle/>
          <a:p>
            <a:pPr>
              <a:buNone/>
              <a:defRPr sz="2800" b="0">
                <a:solidFill>
                  <a:srgbClr val="142C40"/>
                </a:solidFill>
                <a:latin typeface="Helvetica Neue"/>
                <a:ea typeface="Helvetica Neue"/>
                <a:cs typeface="Helvetica Neue"/>
              </a:defRPr>
            </a:pPr>
            <a:r>
              <a:rPr sz="2800" b="0">
                <a:solidFill>
                  <a:srgbClr val="142C40"/>
                </a:solidFill>
                <a:latin typeface="Helvetica Neue"/>
                <a:ea typeface="Helvetica Neue"/>
                <a:cs typeface="Helvetica Neue"/>
              </a:rPr>
              <a:t>Does double-checking actually improve AI reliability?</a:t>
            </a:r>
          </a:p>
        </p:txBody>
      </p:sp>
      <p:sp>
        <p:nvSpPr>
          <p:cNvPr id="12" name="Rectangles 11">
            <a:extLst>
              <a:ext uri="{FF2B5EF4-FFF2-40B4-BE49-F238E27FC236}">
                <a16:creationId xmlns:a16="http://schemas.microsoft.com/office/drawing/2014/main" id="{DDB7589D-3F45-4F71-8512-2BDE71766B28}"/>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a:t>
            </a:r>
          </a:p>
        </p:txBody>
      </p:sp>
      <p:sp>
        <p:nvSpPr>
          <p:cNvPr id="5" name="Text Box 4">
            <a:extLst>
              <a:ext uri="{FF2B5EF4-FFF2-40B4-BE49-F238E27FC236}">
                <a16:creationId xmlns:a16="http://schemas.microsoft.com/office/drawing/2014/main" id="{4DA116CD-485F-4665-B064-A5288DCC42D0}"/>
              </a:ext>
            </a:extLst>
          </p:cNvPr>
          <p:cNvSpPr>
            <a:spLocks noGrp="1"/>
          </p:cNvSpPr>
          <p:nvPr/>
        </p:nvSpPr>
        <p:spPr>
          <a:xfrm>
            <a:off x="731520" y="2971800"/>
            <a:ext cx="4983480" cy="615553"/>
          </a:xfrm>
          <a:prstGeom prst="rect">
            <a:avLst/>
          </a:prstGeom>
        </p:spPr>
        <p:txBody>
          <a:bodyPr>
            <a:spAutoFit/>
          </a:bodyPr>
          <a:lstStyle/>
          <a:p>
            <a:r>
              <a:rPr sz="3400" b="1" dirty="0">
                <a:latin typeface="Helvetica Neue"/>
              </a:rPr>
              <a:t>Double-</a:t>
            </a:r>
            <a:r>
              <a:rPr sz="3400" b="1" dirty="0" err="1">
                <a:latin typeface="Helvetica Neue"/>
              </a:rPr>
              <a:t>checking</a:t>
            </a:r>
            <a:r>
              <a:rPr sz="3400" b="1" dirty="0">
                <a:latin typeface="Helvetica Neue"/>
              </a:rPr>
              <a:t> </a:t>
            </a:r>
          </a:p>
        </p:txBody>
      </p:sp>
      <p:sp>
        <p:nvSpPr>
          <p:cNvPr id="6" name="Text Box 5">
            <a:extLst>
              <a:ext uri="{FF2B5EF4-FFF2-40B4-BE49-F238E27FC236}">
                <a16:creationId xmlns:a16="http://schemas.microsoft.com/office/drawing/2014/main" id="{FF88D945-3BA3-467F-AB29-FA43173CE255}"/>
              </a:ext>
            </a:extLst>
          </p:cNvPr>
          <p:cNvSpPr>
            <a:spLocks noGrp="1"/>
          </p:cNvSpPr>
          <p:nvPr/>
        </p:nvSpPr>
        <p:spPr>
          <a:xfrm>
            <a:off x="6080760" y="4224528"/>
            <a:ext cx="5394960" cy="1600200"/>
          </a:xfrm>
          <a:prstGeom prst="rect">
            <a:avLst/>
          </a:prstGeom>
        </p:spPr>
        <p:txBody>
          <a:bodyPr>
            <a:spAutoFit/>
          </a:bodyPr>
          <a:lstStyle/>
          <a:p>
            <a:r>
              <a:rPr sz="2000" dirty="0">
                <a:latin typeface="Helvetica Neue"/>
              </a:rPr>
              <a:t>And if it does:</a:t>
            </a:r>
          </a:p>
          <a:p>
            <a:r>
              <a:rPr sz="2000" dirty="0">
                <a:latin typeface="Helvetica Neue"/>
              </a:rPr>
              <a:t>Which checking method works best?</a:t>
            </a:r>
          </a:p>
          <a:p>
            <a:r>
              <a:rPr sz="2000" dirty="0">
                <a:latin typeface="Helvetica Neue"/>
              </a:rPr>
              <a:t>Could double-checking itself introduce new errors?</a:t>
            </a:r>
          </a:p>
        </p:txBody>
      </p:sp>
    </p:spTree>
    <p:extLst>
      <p:ext uri="{BB962C8B-B14F-4D97-AF65-F5344CB8AC3E}">
        <p14:creationId xmlns:p14="http://schemas.microsoft.com/office/powerpoint/2010/main" val="1950990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AAD1A64C-6DC4-44C4-8E9C-7B63C6BF5ACC}"/>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BACKGROUND</a:t>
            </a:r>
          </a:p>
        </p:txBody>
      </p:sp>
      <p:sp>
        <p:nvSpPr>
          <p:cNvPr id="3" name="Rectangles 2">
            <a:extLst>
              <a:ext uri="{FF2B5EF4-FFF2-40B4-BE49-F238E27FC236}">
                <a16:creationId xmlns:a16="http://schemas.microsoft.com/office/drawing/2014/main" id="{C82D5820-D13D-46F4-B7D5-6313C876C4E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Double-checking can help, fail, or introduce harm</a:t>
            </a:r>
          </a:p>
        </p:txBody>
      </p:sp>
      <p:sp>
        <p:nvSpPr>
          <p:cNvPr id="4" name="Straight Connector 3">
            <a:extLst>
              <a:ext uri="{FF2B5EF4-FFF2-40B4-BE49-F238E27FC236}">
                <a16:creationId xmlns:a16="http://schemas.microsoft.com/office/drawing/2014/main" id="{C8B6E4AF-E36B-4D7F-A412-21DF581E6996}"/>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5" name="Rounded Rectangle 4">
            <a:extLst>
              <a:ext uri="{FF2B5EF4-FFF2-40B4-BE49-F238E27FC236}">
                <a16:creationId xmlns:a16="http://schemas.microsoft.com/office/drawing/2014/main" id="{DA3BD8EB-7268-47B5-A8BB-A07B376F3E2D}"/>
              </a:ext>
            </a:extLst>
          </p:cNvPr>
          <p:cNvSpPr>
            <a:spLocks noGrp="1"/>
          </p:cNvSpPr>
          <p:nvPr/>
        </p:nvSpPr>
        <p:spPr>
          <a:xfrm>
            <a:off x="657860" y="3101340"/>
            <a:ext cx="2000250" cy="666750"/>
          </a:xfrm>
          <a:prstGeom prst="roundRect">
            <a:avLst>
              <a:gd name="adj" fmla="val 14286"/>
            </a:avLst>
          </a:prstGeom>
          <a:solidFill>
            <a:srgbClr val="E7EFF5"/>
          </a:solidFill>
          <a:ln w="9525">
            <a:solidFill>
              <a:srgbClr val="C5CED6"/>
            </a:solidFill>
            <a:prstDash val="solid"/>
          </a:ln>
        </p:spPr>
        <p:txBody>
          <a:bodyPr wrap="square" lIns="76200" tIns="38100" rIns="76200" bIns="38100" anchor="ctr">
            <a:noAutofit/>
          </a:bodyPr>
          <a:lstStyle/>
          <a:p>
            <a:pPr algn="ctr">
              <a:buNone/>
              <a:defRPr sz="1800" b="1">
                <a:solidFill>
                  <a:srgbClr val="142C40"/>
                </a:solidFill>
                <a:latin typeface="Helvetica Neue"/>
                <a:ea typeface="Helvetica Neue"/>
                <a:cs typeface="Helvetica Neue"/>
              </a:defRPr>
            </a:pPr>
            <a:r>
              <a:rPr sz="1800" b="1">
                <a:solidFill>
                  <a:srgbClr val="142C40"/>
                </a:solidFill>
                <a:latin typeface="Helvetica Neue"/>
                <a:ea typeface="Helvetica Neue"/>
                <a:cs typeface="Helvetica Neue"/>
              </a:rPr>
              <a:t>One initial answer</a:t>
            </a:r>
          </a:p>
        </p:txBody>
      </p:sp>
      <p:sp>
        <p:nvSpPr>
          <p:cNvPr id="6" name="Rectangles 5">
            <a:extLst>
              <a:ext uri="{FF2B5EF4-FFF2-40B4-BE49-F238E27FC236}">
                <a16:creationId xmlns:a16="http://schemas.microsoft.com/office/drawing/2014/main" id="{96C4852E-7A9C-4646-AF4E-C1DB04CC4656}"/>
              </a:ext>
            </a:extLst>
          </p:cNvPr>
          <p:cNvSpPr>
            <a:spLocks noGrp="1"/>
          </p:cNvSpPr>
          <p:nvPr/>
        </p:nvSpPr>
        <p:spPr>
          <a:xfrm>
            <a:off x="7176135" y="1767840"/>
            <a:ext cx="1809750" cy="514350"/>
          </a:xfrm>
          <a:prstGeom prst="rect">
            <a:avLst/>
          </a:prstGeom>
          <a:noFill/>
          <a:ln w="0">
            <a:noFill/>
          </a:ln>
        </p:spPr>
        <p:txBody>
          <a:bodyPr wrap="square" lIns="0" tIns="0" rIns="0" bIns="0" anchor="ctr">
            <a:noAutofit/>
          </a:bodyPr>
          <a:lstStyle/>
          <a:p>
            <a:pPr algn="ctr">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Correction</a:t>
            </a:r>
          </a:p>
        </p:txBody>
      </p:sp>
      <p:sp>
        <p:nvSpPr>
          <p:cNvPr id="7" name="Rectangles 6">
            <a:extLst>
              <a:ext uri="{FF2B5EF4-FFF2-40B4-BE49-F238E27FC236}">
                <a16:creationId xmlns:a16="http://schemas.microsoft.com/office/drawing/2014/main" id="{FDF84FEB-8223-4DB7-A0F8-DE865D44C931}"/>
              </a:ext>
            </a:extLst>
          </p:cNvPr>
          <p:cNvSpPr>
            <a:spLocks noGrp="1"/>
          </p:cNvSpPr>
          <p:nvPr/>
        </p:nvSpPr>
        <p:spPr>
          <a:xfrm>
            <a:off x="9176004" y="1723644"/>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wrong answer becomes correct</a:t>
            </a:r>
          </a:p>
        </p:txBody>
      </p:sp>
      <p:sp>
        <p:nvSpPr>
          <p:cNvPr id="8" name="Rectangles 7">
            <a:extLst>
              <a:ext uri="{FF2B5EF4-FFF2-40B4-BE49-F238E27FC236}">
                <a16:creationId xmlns:a16="http://schemas.microsoft.com/office/drawing/2014/main" id="{7AC81DB6-AE8C-4381-AA39-4ABD252122A5}"/>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44" name="Elbow Connector 27"/>
          <p:cNvCxnSpPr>
            <a:endCxn id="6" idx="1"/>
          </p:cNvCxnSpPr>
          <p:nvPr/>
        </p:nvCxnSpPr>
        <p:spPr>
          <a:xfrm flipV="1">
            <a:off x="2890520" y="2025015"/>
            <a:ext cx="4285615" cy="1384300"/>
          </a:xfrm>
          <a:prstGeom prst="bentConnector3">
            <a:avLst>
              <a:gd name="adj1" fmla="val 50007"/>
            </a:avLst>
          </a:prstGeom>
          <a:ln w="19050">
            <a:solidFill>
              <a:srgbClr val="147E77"/>
            </a:solidFill>
            <a:prstDash val="solid"/>
            <a:tailEnd type="arrow" w="sm" len="sm"/>
          </a:ln>
        </p:spPr>
      </p:cxnSp>
      <p:sp>
        <p:nvSpPr>
          <p:cNvPr id="10" name="Rectangles 9">
            <a:extLst>
              <a:ext uri="{FF2B5EF4-FFF2-40B4-BE49-F238E27FC236}">
                <a16:creationId xmlns:a16="http://schemas.microsoft.com/office/drawing/2014/main" id="{0382F2A0-80E7-463B-9BB6-4829E1E17663}"/>
              </a:ext>
            </a:extLst>
          </p:cNvPr>
          <p:cNvSpPr>
            <a:spLocks noGrp="1"/>
          </p:cNvSpPr>
          <p:nvPr/>
        </p:nvSpPr>
        <p:spPr>
          <a:xfrm>
            <a:off x="7176135" y="3177540"/>
            <a:ext cx="1809750" cy="514350"/>
          </a:xfrm>
          <a:prstGeom prst="rect">
            <a:avLst/>
          </a:prstGeom>
          <a:noFill/>
          <a:ln w="0">
            <a:noFill/>
          </a:ln>
        </p:spPr>
        <p:txBody>
          <a:bodyPr wrap="square" lIns="0" tIns="0" rIns="0" bIns="0" anchor="ctr">
            <a:noAutofit/>
          </a:bodyPr>
          <a:lstStyle/>
          <a:p>
            <a:pPr algn="ctr">
              <a:buNone/>
              <a:defRPr sz="1800" b="1">
                <a:solidFill>
                  <a:srgbClr val="657586"/>
                </a:solidFill>
                <a:latin typeface="Helvetica Neue"/>
                <a:ea typeface="Helvetica Neue"/>
                <a:cs typeface="Helvetica Neue"/>
              </a:defRPr>
            </a:pPr>
            <a:r>
              <a:rPr sz="1800" b="1">
                <a:solidFill>
                  <a:srgbClr val="657586"/>
                </a:solidFill>
                <a:latin typeface="Helvetica Neue"/>
                <a:ea typeface="Helvetica Neue"/>
                <a:cs typeface="Helvetica Neue"/>
              </a:rPr>
              <a:t>No change</a:t>
            </a:r>
          </a:p>
        </p:txBody>
      </p:sp>
      <p:sp>
        <p:nvSpPr>
          <p:cNvPr id="11" name="Rectangles 10">
            <a:extLst>
              <a:ext uri="{FF2B5EF4-FFF2-40B4-BE49-F238E27FC236}">
                <a16:creationId xmlns:a16="http://schemas.microsoft.com/office/drawing/2014/main" id="{E95AB1E8-8DBC-4759-A86B-42CD98D03F31}"/>
              </a:ext>
            </a:extLst>
          </p:cNvPr>
          <p:cNvSpPr>
            <a:spLocks noGrp="1"/>
          </p:cNvSpPr>
          <p:nvPr/>
        </p:nvSpPr>
        <p:spPr>
          <a:xfrm>
            <a:off x="9176004" y="3132734"/>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The original answer stays the same</a:t>
            </a:r>
          </a:p>
        </p:txBody>
      </p:sp>
      <p:sp>
        <p:nvSpPr>
          <p:cNvPr id="12" name="Rectangles 11">
            <a:extLst>
              <a:ext uri="{FF2B5EF4-FFF2-40B4-BE49-F238E27FC236}">
                <a16:creationId xmlns:a16="http://schemas.microsoft.com/office/drawing/2014/main" id="{FF9AC8F7-375C-433B-86E9-E7B8A7011894}"/>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48" name="Elbow Connector 31"/>
          <p:cNvCxnSpPr>
            <a:endCxn id="10" idx="1"/>
          </p:cNvCxnSpPr>
          <p:nvPr/>
        </p:nvCxnSpPr>
        <p:spPr>
          <a:xfrm>
            <a:off x="2890520" y="3409315"/>
            <a:ext cx="4285615" cy="25400"/>
          </a:xfrm>
          <a:prstGeom prst="bentConnector3">
            <a:avLst>
              <a:gd name="adj1" fmla="val 50007"/>
            </a:avLst>
          </a:prstGeom>
          <a:ln w="19050">
            <a:solidFill>
              <a:srgbClr val="657586"/>
            </a:solidFill>
            <a:prstDash val="solid"/>
            <a:tailEnd type="arrow" w="sm" len="sm"/>
          </a:ln>
        </p:spPr>
      </p:cxnSp>
      <p:sp>
        <p:nvSpPr>
          <p:cNvPr id="14" name="Rectangles 13">
            <a:extLst>
              <a:ext uri="{FF2B5EF4-FFF2-40B4-BE49-F238E27FC236}">
                <a16:creationId xmlns:a16="http://schemas.microsoft.com/office/drawing/2014/main" id="{481F2F91-F9B1-4588-8E7F-DA139ADDE998}"/>
              </a:ext>
            </a:extLst>
          </p:cNvPr>
          <p:cNvSpPr>
            <a:spLocks noGrp="1"/>
          </p:cNvSpPr>
          <p:nvPr/>
        </p:nvSpPr>
        <p:spPr>
          <a:xfrm>
            <a:off x="7176135" y="4587240"/>
            <a:ext cx="1809750" cy="514350"/>
          </a:xfrm>
          <a:prstGeom prst="rect">
            <a:avLst/>
          </a:prstGeom>
          <a:noFill/>
          <a:ln w="0">
            <a:noFill/>
          </a:ln>
        </p:spPr>
        <p:txBody>
          <a:bodyPr wrap="square" lIns="0" tIns="0" rIns="0" bIns="0" anchor="ctr">
            <a:noAutofit/>
          </a:bodyPr>
          <a:lstStyle/>
          <a:p>
            <a:pPr algn="ctr">
              <a:buNone/>
              <a:defRPr sz="1800" b="1">
                <a:solidFill>
                  <a:srgbClr val="A94A48"/>
                </a:solidFill>
                <a:latin typeface="Helvetica Neue"/>
                <a:ea typeface="Helvetica Neue"/>
                <a:cs typeface="Helvetica Neue"/>
              </a:defRPr>
            </a:pPr>
            <a:r>
              <a:rPr sz="1800" b="1">
                <a:solidFill>
                  <a:srgbClr val="A94A48"/>
                </a:solidFill>
                <a:latin typeface="Helvetica Neue"/>
                <a:ea typeface="Helvetica Neue"/>
                <a:cs typeface="Helvetica Neue"/>
              </a:rPr>
              <a:t>New error</a:t>
            </a:r>
          </a:p>
        </p:txBody>
      </p:sp>
      <p:sp>
        <p:nvSpPr>
          <p:cNvPr id="15" name="Rectangles 14">
            <a:extLst>
              <a:ext uri="{FF2B5EF4-FFF2-40B4-BE49-F238E27FC236}">
                <a16:creationId xmlns:a16="http://schemas.microsoft.com/office/drawing/2014/main" id="{517BB2B3-0008-416D-A929-E04C0EC43E9A}"/>
              </a:ext>
            </a:extLst>
          </p:cNvPr>
          <p:cNvSpPr>
            <a:spLocks noGrp="1"/>
          </p:cNvSpPr>
          <p:nvPr/>
        </p:nvSpPr>
        <p:spPr>
          <a:xfrm>
            <a:off x="9176004" y="4542739"/>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correct answer becomes wrong</a:t>
            </a:r>
          </a:p>
        </p:txBody>
      </p:sp>
      <p:sp>
        <p:nvSpPr>
          <p:cNvPr id="16" name="Rectangles 15">
            <a:extLst>
              <a:ext uri="{FF2B5EF4-FFF2-40B4-BE49-F238E27FC236}">
                <a16:creationId xmlns:a16="http://schemas.microsoft.com/office/drawing/2014/main" id="{FAB5C2FD-682E-4BBE-BA18-6ECC47E15D3E}"/>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52" name="Elbow Connector 35"/>
          <p:cNvCxnSpPr>
            <a:endCxn id="14" idx="1"/>
          </p:cNvCxnSpPr>
          <p:nvPr/>
        </p:nvCxnSpPr>
        <p:spPr>
          <a:xfrm>
            <a:off x="2889885" y="3425190"/>
            <a:ext cx="4286250" cy="1419225"/>
          </a:xfrm>
          <a:prstGeom prst="bentConnector3">
            <a:avLst>
              <a:gd name="adj1" fmla="val 50015"/>
            </a:avLst>
          </a:prstGeom>
          <a:ln w="19050">
            <a:solidFill>
              <a:srgbClr val="A94A48"/>
            </a:solidFill>
            <a:prstDash val="solid"/>
            <a:tailEnd type="arrow" w="sm" len="sm"/>
          </a:ln>
        </p:spPr>
      </p:cxnSp>
      <p:sp>
        <p:nvSpPr>
          <p:cNvPr id="18" name="Rectangles 17">
            <a:extLst>
              <a:ext uri="{FF2B5EF4-FFF2-40B4-BE49-F238E27FC236}">
                <a16:creationId xmlns:a16="http://schemas.microsoft.com/office/drawing/2014/main" id="{7228DE8B-3B2D-4F89-8FFB-0DF41CBCB1ED}"/>
              </a:ext>
            </a:extLst>
          </p:cNvPr>
          <p:cNvSpPr>
            <a:spLocks noGrp="1"/>
          </p:cNvSpPr>
          <p:nvPr/>
        </p:nvSpPr>
        <p:spPr>
          <a:xfrm>
            <a:off x="685800" y="5614416"/>
            <a:ext cx="10789920" cy="658368"/>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A misleading user message can change the same decision process, even when the model started with the correct answer.</a:t>
            </a:r>
          </a:p>
        </p:txBody>
      </p:sp>
      <p:sp>
        <p:nvSpPr>
          <p:cNvPr id="19" name="Rectangles 18">
            <a:extLst>
              <a:ext uri="{FF2B5EF4-FFF2-40B4-BE49-F238E27FC236}">
                <a16:creationId xmlns:a16="http://schemas.microsoft.com/office/drawing/2014/main" id="{D0B6DA6A-B16F-4D51-BB47-338517CF7226}"/>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5</a:t>
            </a:r>
          </a:p>
        </p:txBody>
      </p:sp>
      <p:sp>
        <p:nvSpPr>
          <p:cNvPr id="13" name="Rectangles 12">
            <a:extLst>
              <a:ext uri="{FF2B5EF4-FFF2-40B4-BE49-F238E27FC236}">
                <a16:creationId xmlns:a16="http://schemas.microsoft.com/office/drawing/2014/main" id="{BAE0949A-1F89-46A9-BD2B-6A59B617DD69}"/>
              </a:ext>
            </a:extLst>
          </p:cNvPr>
          <p:cNvSpPr>
            <a:spLocks noGrp="1"/>
          </p:cNvSpPr>
          <p:nvPr/>
        </p:nvSpPr>
        <p:spPr>
          <a:xfrm>
            <a:off x="7487285" y="4561205"/>
            <a:ext cx="1224280" cy="575945"/>
          </a:xfrm>
          <a:prstGeom prst="rect">
            <a:avLst/>
          </a:prstGeom>
          <a:noFill/>
          <a:ln w="381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790233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53EE79B-0396-485C-A9CE-A3649794FFE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RESEARCH QUESTIONS</a:t>
            </a:r>
          </a:p>
        </p:txBody>
      </p:sp>
      <p:sp>
        <p:nvSpPr>
          <p:cNvPr id="3" name="Rectangles 2">
            <a:extLst>
              <a:ext uri="{FF2B5EF4-FFF2-40B4-BE49-F238E27FC236}">
                <a16:creationId xmlns:a16="http://schemas.microsoft.com/office/drawing/2014/main" id="{270E0346-CAAE-44AA-AF5F-8F4DDAE82D8E}"/>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Four research questions</a:t>
            </a:r>
          </a:p>
        </p:txBody>
      </p:sp>
      <p:sp>
        <p:nvSpPr>
          <p:cNvPr id="4" name="Straight Connector 3">
            <a:extLst>
              <a:ext uri="{FF2B5EF4-FFF2-40B4-BE49-F238E27FC236}">
                <a16:creationId xmlns:a16="http://schemas.microsoft.com/office/drawing/2014/main" id="{EF4048E5-2967-4D65-9A60-BE1F9E5E2E4A}"/>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5" name="Rounded Rectangle 4">
            <a:extLst>
              <a:ext uri="{FF2B5EF4-FFF2-40B4-BE49-F238E27FC236}">
                <a16:creationId xmlns:a16="http://schemas.microsoft.com/office/drawing/2014/main" id="{B6F984F3-EA43-4AF0-B597-ACAA372BB6F3}"/>
              </a:ext>
            </a:extLst>
          </p:cNvPr>
          <p:cNvSpPr>
            <a:spLocks noGrp="1"/>
          </p:cNvSpPr>
          <p:nvPr/>
        </p:nvSpPr>
        <p:spPr>
          <a:xfrm>
            <a:off x="685800" y="1504950"/>
            <a:ext cx="876300" cy="552450"/>
          </a:xfrm>
          <a:prstGeom prst="roundRect">
            <a:avLst>
              <a:gd name="adj" fmla="val 17241"/>
            </a:avLst>
          </a:prstGeom>
          <a:solidFill>
            <a:srgbClr val="147E77"/>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RQ1</a:t>
            </a:r>
          </a:p>
        </p:txBody>
      </p:sp>
      <p:sp>
        <p:nvSpPr>
          <p:cNvPr id="6" name="Rectangles 5">
            <a:extLst>
              <a:ext uri="{FF2B5EF4-FFF2-40B4-BE49-F238E27FC236}">
                <a16:creationId xmlns:a16="http://schemas.microsoft.com/office/drawing/2014/main" id="{867DCC62-C19F-4837-9040-5DF85F2FCA71}"/>
              </a:ext>
            </a:extLst>
          </p:cNvPr>
          <p:cNvSpPr>
            <a:spLocks noGrp="1"/>
          </p:cNvSpPr>
          <p:nvPr/>
        </p:nvSpPr>
        <p:spPr>
          <a:xfrm>
            <a:off x="1809598" y="1482242"/>
            <a:ext cx="9738360" cy="777240"/>
          </a:xfrm>
          <a:prstGeom prst="rect">
            <a:avLst/>
          </a:prstGeom>
          <a:noFill/>
          <a:ln w="0">
            <a:noFill/>
          </a:ln>
        </p:spPr>
        <p:txBody>
          <a:bodyPr wrap="square" lIns="0" tIns="0" rIns="0" bIns="0" anchor="ctr">
            <a:noAutofit/>
          </a:bodyPr>
          <a:lstStyle/>
          <a:p>
            <a:pPr algn="l">
              <a:buNone/>
              <a:defRPr sz="2400" b="1">
                <a:solidFill>
                  <a:srgbClr val="142C40"/>
                </a:solidFill>
                <a:latin typeface="Helvetica Neue"/>
                <a:ea typeface="Helvetica Neue"/>
                <a:cs typeface="Helvetica Neue"/>
              </a:defRPr>
            </a:pPr>
            <a:r>
              <a:rPr sz="2400" b="0">
                <a:solidFill>
                  <a:srgbClr val="142C40"/>
                </a:solidFill>
                <a:latin typeface="Helvetica Neue"/>
                <a:ea typeface="Helvetica Neue"/>
                <a:cs typeface="Helvetica Neue"/>
              </a:rPr>
              <a:t>Can double-checking reduce AI error rates?</a:t>
            </a:r>
          </a:p>
        </p:txBody>
      </p:sp>
      <p:sp>
        <p:nvSpPr>
          <p:cNvPr id="7" name="Straight Connector 6">
            <a:extLst>
              <a:ext uri="{FF2B5EF4-FFF2-40B4-BE49-F238E27FC236}">
                <a16:creationId xmlns:a16="http://schemas.microsoft.com/office/drawing/2014/main" id="{E5ABCE56-25B3-48AC-8588-6131465BE2F6}"/>
              </a:ext>
            </a:extLst>
          </p:cNvPr>
          <p:cNvSpPr>
            <a:spLocks noGrp="1"/>
          </p:cNvSpPr>
          <p:nvPr/>
        </p:nvSpPr>
        <p:spPr>
          <a:xfrm>
            <a:off x="1809750" y="2247900"/>
            <a:ext cx="9334500" cy="0"/>
          </a:xfrm>
          <a:prstGeom prst="line">
            <a:avLst/>
          </a:prstGeom>
          <a:noFill/>
          <a:ln w="9525">
            <a:solidFill>
              <a:srgbClr val="C5CED6"/>
            </a:solidFill>
            <a:prstDash val="solid"/>
          </a:ln>
        </p:spPr>
        <p:txBody>
          <a:bodyPr/>
          <a:lstStyle/>
          <a:p>
            <a:endParaRPr lang="en-US"/>
          </a:p>
        </p:txBody>
      </p:sp>
      <p:sp>
        <p:nvSpPr>
          <p:cNvPr id="8" name="Rounded Rectangle 7">
            <a:extLst>
              <a:ext uri="{FF2B5EF4-FFF2-40B4-BE49-F238E27FC236}">
                <a16:creationId xmlns:a16="http://schemas.microsoft.com/office/drawing/2014/main" id="{DADCC2C5-F15A-4F6E-A47F-C48A0CF4AC22}"/>
              </a:ext>
            </a:extLst>
          </p:cNvPr>
          <p:cNvSpPr>
            <a:spLocks noGrp="1"/>
          </p:cNvSpPr>
          <p:nvPr/>
        </p:nvSpPr>
        <p:spPr>
          <a:xfrm>
            <a:off x="685800" y="2628900"/>
            <a:ext cx="876300" cy="552450"/>
          </a:xfrm>
          <a:prstGeom prst="roundRect">
            <a:avLst>
              <a:gd name="adj" fmla="val 17241"/>
            </a:avLst>
          </a:prstGeom>
          <a:solidFill>
            <a:srgbClr val="147E77"/>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RQ2</a:t>
            </a:r>
          </a:p>
        </p:txBody>
      </p:sp>
      <p:sp>
        <p:nvSpPr>
          <p:cNvPr id="9" name="Rectangles 8">
            <a:extLst>
              <a:ext uri="{FF2B5EF4-FFF2-40B4-BE49-F238E27FC236}">
                <a16:creationId xmlns:a16="http://schemas.microsoft.com/office/drawing/2014/main" id="{89E91913-9216-44B2-BA14-8137FB7FAEAC}"/>
              </a:ext>
            </a:extLst>
          </p:cNvPr>
          <p:cNvSpPr>
            <a:spLocks noGrp="1"/>
          </p:cNvSpPr>
          <p:nvPr/>
        </p:nvSpPr>
        <p:spPr>
          <a:xfrm>
            <a:off x="1809598" y="2606040"/>
            <a:ext cx="9738360" cy="777240"/>
          </a:xfrm>
          <a:prstGeom prst="rect">
            <a:avLst/>
          </a:prstGeom>
          <a:noFill/>
          <a:ln w="0">
            <a:noFill/>
          </a:ln>
        </p:spPr>
        <p:txBody>
          <a:bodyPr wrap="square" lIns="0" tIns="0" rIns="0" bIns="0" anchor="ctr">
            <a:noAutofit/>
          </a:bodyPr>
          <a:lstStyle/>
          <a:p>
            <a:pPr algn="l">
              <a:buNone/>
              <a:defRPr sz="2400" b="0">
                <a:solidFill>
                  <a:srgbClr val="142C40"/>
                </a:solidFill>
                <a:latin typeface="Helvetica Neue"/>
                <a:ea typeface="Helvetica Neue"/>
                <a:cs typeface="Helvetica Neue"/>
              </a:defRPr>
            </a:pPr>
            <a:r>
              <a:rPr sz="2400" b="0">
                <a:solidFill>
                  <a:srgbClr val="142C40"/>
                </a:solidFill>
                <a:latin typeface="Helvetica Neue"/>
                <a:ea typeface="Helvetica Neue"/>
                <a:cs typeface="Helvetica Neue"/>
              </a:rPr>
              <a:t>Which checking method is most effective in practice?</a:t>
            </a:r>
          </a:p>
        </p:txBody>
      </p:sp>
      <p:sp>
        <p:nvSpPr>
          <p:cNvPr id="10" name="Straight Connector 9">
            <a:extLst>
              <a:ext uri="{FF2B5EF4-FFF2-40B4-BE49-F238E27FC236}">
                <a16:creationId xmlns:a16="http://schemas.microsoft.com/office/drawing/2014/main" id="{593208D9-9157-4E65-BFEF-4490F0FECBB4}"/>
              </a:ext>
            </a:extLst>
          </p:cNvPr>
          <p:cNvSpPr>
            <a:spLocks noGrp="1"/>
          </p:cNvSpPr>
          <p:nvPr/>
        </p:nvSpPr>
        <p:spPr>
          <a:xfrm>
            <a:off x="1809750" y="3371850"/>
            <a:ext cx="9334500" cy="0"/>
          </a:xfrm>
          <a:prstGeom prst="line">
            <a:avLst/>
          </a:prstGeom>
          <a:noFill/>
          <a:ln w="9525">
            <a:solidFill>
              <a:srgbClr val="C5CED6"/>
            </a:solidFill>
            <a:prstDash val="solid"/>
          </a:ln>
        </p:spPr>
        <p:txBody>
          <a:bodyPr/>
          <a:lstStyle/>
          <a:p>
            <a:endParaRPr lang="en-US"/>
          </a:p>
        </p:txBody>
      </p:sp>
      <p:sp>
        <p:nvSpPr>
          <p:cNvPr id="11" name="Rounded Rectangle 10">
            <a:extLst>
              <a:ext uri="{FF2B5EF4-FFF2-40B4-BE49-F238E27FC236}">
                <a16:creationId xmlns:a16="http://schemas.microsoft.com/office/drawing/2014/main" id="{BCAD8DE7-AF06-4D47-A634-A8C50417E947}"/>
              </a:ext>
            </a:extLst>
          </p:cNvPr>
          <p:cNvSpPr>
            <a:spLocks noGrp="1"/>
          </p:cNvSpPr>
          <p:nvPr/>
        </p:nvSpPr>
        <p:spPr>
          <a:xfrm>
            <a:off x="685800" y="3752850"/>
            <a:ext cx="876300" cy="552450"/>
          </a:xfrm>
          <a:prstGeom prst="roundRect">
            <a:avLst>
              <a:gd name="adj" fmla="val 17241"/>
            </a:avLst>
          </a:prstGeom>
          <a:solidFill>
            <a:srgbClr val="142C40"/>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RQ3</a:t>
            </a:r>
          </a:p>
        </p:txBody>
      </p:sp>
      <p:sp>
        <p:nvSpPr>
          <p:cNvPr id="12" name="Rectangles 11">
            <a:extLst>
              <a:ext uri="{FF2B5EF4-FFF2-40B4-BE49-F238E27FC236}">
                <a16:creationId xmlns:a16="http://schemas.microsoft.com/office/drawing/2014/main" id="{227A4C82-E3DE-486B-8E9E-B9199398E045}"/>
              </a:ext>
            </a:extLst>
          </p:cNvPr>
          <p:cNvSpPr>
            <a:spLocks noGrp="1"/>
          </p:cNvSpPr>
          <p:nvPr/>
        </p:nvSpPr>
        <p:spPr>
          <a:xfrm>
            <a:off x="1809598" y="3730752"/>
            <a:ext cx="9738360" cy="777240"/>
          </a:xfrm>
          <a:prstGeom prst="rect">
            <a:avLst/>
          </a:prstGeom>
          <a:noFill/>
          <a:ln w="0">
            <a:noFill/>
          </a:ln>
        </p:spPr>
        <p:txBody>
          <a:bodyPr wrap="square" lIns="0" tIns="0" rIns="0" bIns="0" anchor="ctr">
            <a:noAutofit/>
          </a:bodyPr>
          <a:lstStyle/>
          <a:p>
            <a:pPr algn="l">
              <a:buNone/>
              <a:defRPr sz="2400" b="0">
                <a:solidFill>
                  <a:srgbClr val="142C40"/>
                </a:solidFill>
                <a:latin typeface="Helvetica Neue"/>
                <a:ea typeface="Helvetica Neue"/>
                <a:cs typeface="Helvetica Neue"/>
              </a:defRPr>
            </a:pPr>
            <a:r>
              <a:rPr sz="2400" b="0">
                <a:solidFill>
                  <a:srgbClr val="142C40"/>
                </a:solidFill>
                <a:latin typeface="Helvetica Neue"/>
                <a:ea typeface="Helvetica Neue"/>
                <a:cs typeface="Helvetica Neue"/>
              </a:rPr>
              <a:t>Can an incorrect peer answer mislead an initially correct model?</a:t>
            </a:r>
          </a:p>
        </p:txBody>
      </p:sp>
      <p:sp>
        <p:nvSpPr>
          <p:cNvPr id="13" name="Straight Connector 12">
            <a:extLst>
              <a:ext uri="{FF2B5EF4-FFF2-40B4-BE49-F238E27FC236}">
                <a16:creationId xmlns:a16="http://schemas.microsoft.com/office/drawing/2014/main" id="{B270D670-D38D-4156-9E77-31E45444CEAE}"/>
              </a:ext>
            </a:extLst>
          </p:cNvPr>
          <p:cNvSpPr>
            <a:spLocks noGrp="1"/>
          </p:cNvSpPr>
          <p:nvPr/>
        </p:nvSpPr>
        <p:spPr>
          <a:xfrm>
            <a:off x="1809750" y="4495800"/>
            <a:ext cx="9334500" cy="0"/>
          </a:xfrm>
          <a:prstGeom prst="line">
            <a:avLst/>
          </a:prstGeom>
          <a:noFill/>
          <a:ln w="9525">
            <a:solidFill>
              <a:srgbClr val="C5CED6"/>
            </a:solidFill>
            <a:prstDash val="solid"/>
          </a:ln>
        </p:spPr>
        <p:txBody>
          <a:bodyPr/>
          <a:lstStyle/>
          <a:p>
            <a:endParaRPr lang="en-US"/>
          </a:p>
        </p:txBody>
      </p:sp>
      <p:sp>
        <p:nvSpPr>
          <p:cNvPr id="14" name="Rounded Rectangle 13">
            <a:extLst>
              <a:ext uri="{FF2B5EF4-FFF2-40B4-BE49-F238E27FC236}">
                <a16:creationId xmlns:a16="http://schemas.microsoft.com/office/drawing/2014/main" id="{A9DA6750-D657-4C4D-88EA-607BAF9A012F}"/>
              </a:ext>
            </a:extLst>
          </p:cNvPr>
          <p:cNvSpPr>
            <a:spLocks noGrp="1"/>
          </p:cNvSpPr>
          <p:nvPr/>
        </p:nvSpPr>
        <p:spPr>
          <a:xfrm>
            <a:off x="685800" y="4876800"/>
            <a:ext cx="876300" cy="552450"/>
          </a:xfrm>
          <a:prstGeom prst="roundRect">
            <a:avLst>
              <a:gd name="adj" fmla="val 17241"/>
            </a:avLst>
          </a:prstGeom>
          <a:solidFill>
            <a:srgbClr val="142C40"/>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RQ4</a:t>
            </a:r>
          </a:p>
        </p:txBody>
      </p:sp>
      <p:sp>
        <p:nvSpPr>
          <p:cNvPr id="15" name="Rectangles 14">
            <a:extLst>
              <a:ext uri="{FF2B5EF4-FFF2-40B4-BE49-F238E27FC236}">
                <a16:creationId xmlns:a16="http://schemas.microsoft.com/office/drawing/2014/main" id="{D861B929-4F01-4AE6-9436-7B7C889A8E3E}"/>
              </a:ext>
            </a:extLst>
          </p:cNvPr>
          <p:cNvSpPr>
            <a:spLocks noGrp="1"/>
          </p:cNvSpPr>
          <p:nvPr/>
        </p:nvSpPr>
        <p:spPr>
          <a:xfrm>
            <a:off x="1809598" y="4854550"/>
            <a:ext cx="9738360" cy="777240"/>
          </a:xfrm>
          <a:prstGeom prst="rect">
            <a:avLst/>
          </a:prstGeom>
          <a:noFill/>
          <a:ln w="0">
            <a:noFill/>
          </a:ln>
        </p:spPr>
        <p:txBody>
          <a:bodyPr wrap="square" lIns="0" tIns="0" rIns="0" bIns="0" anchor="ctr">
            <a:noAutofit/>
          </a:bodyPr>
          <a:lstStyle/>
          <a:p>
            <a:pPr algn="l">
              <a:buNone/>
              <a:defRPr sz="2400" b="0">
                <a:solidFill>
                  <a:srgbClr val="142C40"/>
                </a:solidFill>
                <a:latin typeface="Helvetica Neue"/>
                <a:ea typeface="Helvetica Neue"/>
                <a:cs typeface="Helvetica Neue"/>
              </a:defRPr>
            </a:pPr>
            <a:r>
              <a:rPr sz="2400" b="0">
                <a:solidFill>
                  <a:srgbClr val="142C40"/>
                </a:solidFill>
                <a:latin typeface="Helvetica Neue"/>
                <a:ea typeface="Helvetica Neue"/>
                <a:cs typeface="Helvetica Neue"/>
              </a:rPr>
              <a:t>Can misleading user input cause an otherwise correct model to answer incorrectly?</a:t>
            </a:r>
          </a:p>
        </p:txBody>
      </p:sp>
      <p:sp>
        <p:nvSpPr>
          <p:cNvPr id="16" name="Rectangles 15">
            <a:extLst>
              <a:ext uri="{FF2B5EF4-FFF2-40B4-BE49-F238E27FC236}">
                <a16:creationId xmlns:a16="http://schemas.microsoft.com/office/drawing/2014/main" id="{1E786F98-30C0-4916-9C9B-0CA360D592CA}"/>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6</a:t>
            </a:r>
          </a:p>
        </p:txBody>
      </p:sp>
    </p:spTree>
    <p:extLst>
      <p:ext uri="{BB962C8B-B14F-4D97-AF65-F5344CB8AC3E}">
        <p14:creationId xmlns:p14="http://schemas.microsoft.com/office/powerpoint/2010/main" val="248660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B13FABF1-A302-4836-9CB9-3244237E5987}"/>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MOTIVATION</a:t>
            </a:r>
          </a:p>
        </p:txBody>
      </p:sp>
      <p:sp>
        <p:nvSpPr>
          <p:cNvPr id="3" name="Rectangles 2">
            <a:extLst>
              <a:ext uri="{FF2B5EF4-FFF2-40B4-BE49-F238E27FC236}">
                <a16:creationId xmlns:a16="http://schemas.microsoft.com/office/drawing/2014/main" id="{2B2674F9-2D79-42B4-9A11-5A5C827D3088}"/>
              </a:ext>
            </a:extLst>
          </p:cNvPr>
          <p:cNvSpPr>
            <a:spLocks noGrp="1"/>
          </p:cNvSpPr>
          <p:nvPr/>
        </p:nvSpPr>
        <p:spPr>
          <a:xfrm>
            <a:off x="640080" y="2926080"/>
            <a:ext cx="6035040" cy="914400"/>
          </a:xfrm>
          <a:prstGeom prst="rect">
            <a:avLst/>
          </a:prstGeom>
          <a:noFill/>
          <a:ln w="0">
            <a:noFill/>
          </a:ln>
        </p:spPr>
        <p:txBody>
          <a:bodyPr wrap="square" lIns="0" tIns="0" rIns="0" bIns="0" anchor="ctr">
            <a:noAutofit/>
          </a:bodyPr>
          <a:lstStyle/>
          <a:p>
            <a:pPr algn="l">
              <a:buNone/>
              <a:defRPr sz="3600" b="1">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 this study matters?</a:t>
            </a:r>
          </a:p>
        </p:txBody>
      </p:sp>
      <p:sp>
        <p:nvSpPr>
          <p:cNvPr id="4" name="Straight Connector 3">
            <a:extLst>
              <a:ext uri="{FF2B5EF4-FFF2-40B4-BE49-F238E27FC236}">
                <a16:creationId xmlns:a16="http://schemas.microsoft.com/office/drawing/2014/main" id="{2A827082-D5A8-4CCA-AB39-84557BDAAF81}"/>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15" name="Rectangles 14">
            <a:extLst>
              <a:ext uri="{FF2B5EF4-FFF2-40B4-BE49-F238E27FC236}">
                <a16:creationId xmlns:a16="http://schemas.microsoft.com/office/drawing/2014/main" id="{7F8AFADF-36EC-475A-8366-A60926228141}"/>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7</a:t>
            </a:r>
          </a:p>
        </p:txBody>
      </p:sp>
      <p:pic>
        <p:nvPicPr>
          <p:cNvPr id="21" name="Picture 18"/>
          <p:cNvPicPr>
            <a:picLocks noChangeAspect="1"/>
          </p:cNvPicPr>
          <p:nvPr/>
        </p:nvPicPr>
        <p:blipFill>
          <a:blip r:embed="rId3"/>
          <a:stretch>
            <a:fillRect/>
          </a:stretch>
        </p:blipFill>
        <p:spPr>
          <a:xfrm>
            <a:off x="7176135" y="1845310"/>
            <a:ext cx="4274185" cy="3096260"/>
          </a:xfrm>
          <a:prstGeom prst="rect">
            <a:avLst/>
          </a:prstGeom>
        </p:spPr>
      </p:pic>
    </p:spTree>
    <p:extLst>
      <p:ext uri="{BB962C8B-B14F-4D97-AF65-F5344CB8AC3E}">
        <p14:creationId xmlns:p14="http://schemas.microsoft.com/office/powerpoint/2010/main" val="1434734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77ED9F2-EEDA-4630-8931-5A5D6296EFD0}"/>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MOTIVATION</a:t>
            </a:r>
          </a:p>
        </p:txBody>
      </p:sp>
      <p:sp>
        <p:nvSpPr>
          <p:cNvPr id="3" name="Rectangles 2">
            <a:extLst>
              <a:ext uri="{FF2B5EF4-FFF2-40B4-BE49-F238E27FC236}">
                <a16:creationId xmlns:a16="http://schemas.microsoft.com/office/drawing/2014/main" id="{459B6060-89D1-4250-964F-0450C9836272}"/>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Why this study matters</a:t>
            </a:r>
          </a:p>
        </p:txBody>
      </p:sp>
      <p:sp>
        <p:nvSpPr>
          <p:cNvPr id="4" name="Straight Connector 3">
            <a:extLst>
              <a:ext uri="{FF2B5EF4-FFF2-40B4-BE49-F238E27FC236}">
                <a16:creationId xmlns:a16="http://schemas.microsoft.com/office/drawing/2014/main" id="{AD0485AA-606E-4E89-B58A-0B1FAB323C44}"/>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5" name="Rectangles 4">
            <a:extLst>
              <a:ext uri="{FF2B5EF4-FFF2-40B4-BE49-F238E27FC236}">
                <a16:creationId xmlns:a16="http://schemas.microsoft.com/office/drawing/2014/main" id="{1849F6D9-A2DD-4618-94BE-3AF59C1F6BF6}"/>
              </a:ext>
            </a:extLst>
          </p:cNvPr>
          <p:cNvSpPr>
            <a:spLocks noGrp="1"/>
          </p:cNvSpPr>
          <p:nvPr/>
        </p:nvSpPr>
        <p:spPr>
          <a:xfrm>
            <a:off x="59436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01</a:t>
            </a:r>
          </a:p>
        </p:txBody>
      </p:sp>
      <p:sp>
        <p:nvSpPr>
          <p:cNvPr id="6" name="Rectangles 5">
            <a:extLst>
              <a:ext uri="{FF2B5EF4-FFF2-40B4-BE49-F238E27FC236}">
                <a16:creationId xmlns:a16="http://schemas.microsoft.com/office/drawing/2014/main" id="{497623CC-93BB-46F6-9EBA-564CBDFEE6C6}"/>
              </a:ext>
            </a:extLst>
          </p:cNvPr>
          <p:cNvSpPr>
            <a:spLocks noGrp="1"/>
          </p:cNvSpPr>
          <p:nvPr/>
        </p:nvSpPr>
        <p:spPr>
          <a:xfrm>
            <a:off x="59436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Practical question</a:t>
            </a:r>
          </a:p>
        </p:txBody>
      </p:sp>
      <p:sp>
        <p:nvSpPr>
          <p:cNvPr id="7" name="Rectangles 6">
            <a:extLst>
              <a:ext uri="{FF2B5EF4-FFF2-40B4-BE49-F238E27FC236}">
                <a16:creationId xmlns:a16="http://schemas.microsoft.com/office/drawing/2014/main" id="{B99DA390-0BBF-4123-B867-DABCD1C029FB}"/>
              </a:ext>
            </a:extLst>
          </p:cNvPr>
          <p:cNvSpPr>
            <a:spLocks noGrp="1"/>
          </p:cNvSpPr>
          <p:nvPr/>
        </p:nvSpPr>
        <p:spPr>
          <a:xfrm>
            <a:off x="59436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Users need a workable way to decide whether an AI answer deserves confidence.</a:t>
            </a:r>
          </a:p>
        </p:txBody>
      </p:sp>
      <p:sp>
        <p:nvSpPr>
          <p:cNvPr id="8" name="Rectangles 7">
            <a:extLst>
              <a:ext uri="{FF2B5EF4-FFF2-40B4-BE49-F238E27FC236}">
                <a16:creationId xmlns:a16="http://schemas.microsoft.com/office/drawing/2014/main" id="{A7F5EF0A-3A6B-46D2-B6F0-88D9C6712F9D}"/>
              </a:ext>
            </a:extLst>
          </p:cNvPr>
          <p:cNvSpPr>
            <a:spLocks noGrp="1"/>
          </p:cNvSpPr>
          <p:nvPr/>
        </p:nvSpPr>
        <p:spPr>
          <a:xfrm>
            <a:off x="438912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02</a:t>
            </a:r>
          </a:p>
        </p:txBody>
      </p:sp>
      <p:sp>
        <p:nvSpPr>
          <p:cNvPr id="9" name="Rectangles 8">
            <a:extLst>
              <a:ext uri="{FF2B5EF4-FFF2-40B4-BE49-F238E27FC236}">
                <a16:creationId xmlns:a16="http://schemas.microsoft.com/office/drawing/2014/main" id="{2F15BD71-9816-4333-951A-9462A9980B90}"/>
              </a:ext>
            </a:extLst>
          </p:cNvPr>
          <p:cNvSpPr>
            <a:spLocks noGrp="1"/>
          </p:cNvSpPr>
          <p:nvPr/>
        </p:nvSpPr>
        <p:spPr>
          <a:xfrm>
            <a:off x="438912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Two-sided risk</a:t>
            </a:r>
          </a:p>
        </p:txBody>
      </p:sp>
      <p:sp>
        <p:nvSpPr>
          <p:cNvPr id="10" name="Rectangles 9">
            <a:extLst>
              <a:ext uri="{FF2B5EF4-FFF2-40B4-BE49-F238E27FC236}">
                <a16:creationId xmlns:a16="http://schemas.microsoft.com/office/drawing/2014/main" id="{CAF7CF77-62B5-4D72-8D95-9B72BB84733C}"/>
              </a:ext>
            </a:extLst>
          </p:cNvPr>
          <p:cNvSpPr>
            <a:spLocks noGrp="1"/>
          </p:cNvSpPr>
          <p:nvPr/>
        </p:nvSpPr>
        <p:spPr>
          <a:xfrm>
            <a:off x="438912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second check may correct an error, leave it unchanged, or replace a correct answer with a wrong one.</a:t>
            </a:r>
          </a:p>
        </p:txBody>
      </p:sp>
      <p:sp>
        <p:nvSpPr>
          <p:cNvPr id="11" name="Rectangles 10">
            <a:extLst>
              <a:ext uri="{FF2B5EF4-FFF2-40B4-BE49-F238E27FC236}">
                <a16:creationId xmlns:a16="http://schemas.microsoft.com/office/drawing/2014/main" id="{2AB3C272-D3F7-45AB-B845-36B1E2391A7B}"/>
              </a:ext>
            </a:extLst>
          </p:cNvPr>
          <p:cNvSpPr>
            <a:spLocks noGrp="1"/>
          </p:cNvSpPr>
          <p:nvPr/>
        </p:nvSpPr>
        <p:spPr>
          <a:xfrm>
            <a:off x="818388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03</a:t>
            </a:r>
          </a:p>
        </p:txBody>
      </p:sp>
      <p:sp>
        <p:nvSpPr>
          <p:cNvPr id="12" name="Rectangles 11">
            <a:extLst>
              <a:ext uri="{FF2B5EF4-FFF2-40B4-BE49-F238E27FC236}">
                <a16:creationId xmlns:a16="http://schemas.microsoft.com/office/drawing/2014/main" id="{512E3213-D5B4-4B9E-BDF1-274D91DE514B}"/>
              </a:ext>
            </a:extLst>
          </p:cNvPr>
          <p:cNvSpPr>
            <a:spLocks noGrp="1"/>
          </p:cNvSpPr>
          <p:nvPr/>
        </p:nvSpPr>
        <p:spPr>
          <a:xfrm>
            <a:off x="818388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Human influence</a:t>
            </a:r>
          </a:p>
        </p:txBody>
      </p:sp>
      <p:sp>
        <p:nvSpPr>
          <p:cNvPr id="13" name="Rectangles 12">
            <a:extLst>
              <a:ext uri="{FF2B5EF4-FFF2-40B4-BE49-F238E27FC236}">
                <a16:creationId xmlns:a16="http://schemas.microsoft.com/office/drawing/2014/main" id="{CFBFDD5C-EE25-4D2F-AD85-D3FC34084EEA}"/>
              </a:ext>
            </a:extLst>
          </p:cNvPr>
          <p:cNvSpPr>
            <a:spLocks noGrp="1"/>
          </p:cNvSpPr>
          <p:nvPr/>
        </p:nvSpPr>
        <p:spPr>
          <a:xfrm>
            <a:off x="818388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Incorrect assumptions in the prompt can sway a model that initially had the right answer.</a:t>
            </a:r>
          </a:p>
        </p:txBody>
      </p:sp>
      <p:sp>
        <p:nvSpPr>
          <p:cNvPr id="14" name="Rectangles 13">
            <a:extLst>
              <a:ext uri="{FF2B5EF4-FFF2-40B4-BE49-F238E27FC236}">
                <a16:creationId xmlns:a16="http://schemas.microsoft.com/office/drawing/2014/main" id="{91F83469-C01F-45AD-835E-2389964886F1}"/>
              </a:ext>
            </a:extLst>
          </p:cNvPr>
          <p:cNvSpPr>
            <a:spLocks noGrp="1"/>
          </p:cNvSpPr>
          <p:nvPr/>
        </p:nvSpPr>
        <p:spPr>
          <a:xfrm>
            <a:off x="731520" y="5559552"/>
            <a:ext cx="10698480" cy="640080"/>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The study measures both improvement and failure under realistic model-to-model and user-to-model interactions.</a:t>
            </a:r>
          </a:p>
        </p:txBody>
      </p:sp>
      <p:sp>
        <p:nvSpPr>
          <p:cNvPr id="15" name="Rectangles 14">
            <a:extLst>
              <a:ext uri="{FF2B5EF4-FFF2-40B4-BE49-F238E27FC236}">
                <a16:creationId xmlns:a16="http://schemas.microsoft.com/office/drawing/2014/main" id="{128895FA-3363-46DB-8F24-1DDDE0F77D95}"/>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8</a:t>
            </a:r>
          </a:p>
        </p:txBody>
      </p:sp>
    </p:spTree>
    <p:extLst>
      <p:ext uri="{BB962C8B-B14F-4D97-AF65-F5344CB8AC3E}">
        <p14:creationId xmlns:p14="http://schemas.microsoft.com/office/powerpoint/2010/main" val="374817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3934053C-C6D8-4E6A-B2D0-078F141561E1}"/>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RELATED WORK</a:t>
            </a:r>
          </a:p>
        </p:txBody>
      </p:sp>
      <p:sp>
        <p:nvSpPr>
          <p:cNvPr id="3" name="Rectangles 2">
            <a:extLst>
              <a:ext uri="{FF2B5EF4-FFF2-40B4-BE49-F238E27FC236}">
                <a16:creationId xmlns:a16="http://schemas.microsoft.com/office/drawing/2014/main" id="{35E2C083-B255-4DE0-BB45-16C94EFE480A}"/>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Related work and the gap this study addresses</a:t>
            </a:r>
          </a:p>
        </p:txBody>
      </p:sp>
      <p:sp>
        <p:nvSpPr>
          <p:cNvPr id="4" name="Straight Connector 3">
            <a:extLst>
              <a:ext uri="{FF2B5EF4-FFF2-40B4-BE49-F238E27FC236}">
                <a16:creationId xmlns:a16="http://schemas.microsoft.com/office/drawing/2014/main" id="{69D84866-64BD-4976-A9B5-5342FD3A55C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graphicFrame>
        <p:nvGraphicFramePr>
          <p:cNvPr id="12" name="Table 11"/>
          <p:cNvGraphicFramePr/>
          <p:nvPr/>
        </p:nvGraphicFramePr>
        <p:xfrm>
          <a:off x="548640" y="1572768"/>
          <a:ext cx="11064240" cy="4069080"/>
        </p:xfrm>
        <a:graphic>
          <a:graphicData uri="http://schemas.openxmlformats.org/drawingml/2006/table">
            <a:tbl>
              <a:tblPr/>
              <a:tblGrid>
                <a:gridCol w="2273474">
                  <a:extLst>
                    <a:ext uri="{9D8B030D-6E8A-4147-A177-3AD203B41FA5}">
                      <a16:colId xmlns:a16="http://schemas.microsoft.com/office/drawing/2014/main" val="20000"/>
                    </a:ext>
                  </a:extLst>
                </a:gridCol>
                <a:gridCol w="4452220">
                  <a:extLst>
                    <a:ext uri="{9D8B030D-6E8A-4147-A177-3AD203B41FA5}">
                      <a16:colId xmlns:a16="http://schemas.microsoft.com/office/drawing/2014/main" val="20001"/>
                    </a:ext>
                  </a:extLst>
                </a:gridCol>
                <a:gridCol w="4338546">
                  <a:extLst>
                    <a:ext uri="{9D8B030D-6E8A-4147-A177-3AD203B41FA5}">
                      <a16:colId xmlns:a16="http://schemas.microsoft.com/office/drawing/2014/main" val="20002"/>
                    </a:ext>
                  </a:extLst>
                </a:gridCol>
              </a:tblGrid>
              <a:tr h="813816">
                <a:tc>
                  <a:txBody>
                    <a:bodyPr/>
                    <a:lstStyle/>
                    <a:p>
                      <a:r>
                        <a:rPr sz="1900" b="1">
                          <a:solidFill>
                            <a:srgbClr val="FFFFFF"/>
                          </a:solidFill>
                          <a:latin typeface="Helvetica Neue"/>
                          <a:ea typeface="Helvetica Neue"/>
                          <a:cs typeface="Helvetica Neue"/>
                        </a:rPr>
                        <a:t>Research stream</a:t>
                      </a:r>
                    </a:p>
                  </a:txBody>
                  <a:tcPr marT="32004" marB="32004" anchor="ctr">
                    <a:solidFill>
                      <a:srgbClr val="142C40"/>
                    </a:solidFill>
                  </a:tcPr>
                </a:tc>
                <a:tc>
                  <a:txBody>
                    <a:bodyPr/>
                    <a:lstStyle/>
                    <a:p>
                      <a:r>
                        <a:rPr sz="1900" b="1">
                          <a:solidFill>
                            <a:srgbClr val="FFFFFF"/>
                          </a:solidFill>
                          <a:latin typeface="Helvetica Neue"/>
                          <a:ea typeface="Helvetica Neue"/>
                          <a:cs typeface="Helvetica Neue"/>
                        </a:rPr>
                        <a:t>Prior finding</a:t>
                      </a:r>
                    </a:p>
                  </a:txBody>
                  <a:tcPr marT="32004" marB="32004" anchor="ctr">
                    <a:solidFill>
                      <a:srgbClr val="142C40"/>
                    </a:solidFill>
                  </a:tcPr>
                </a:tc>
                <a:tc>
                  <a:txBody>
                    <a:bodyPr/>
                    <a:lstStyle/>
                    <a:p>
                      <a:r>
                        <a:rPr sz="1900" b="1">
                          <a:solidFill>
                            <a:srgbClr val="FFFFFF"/>
                          </a:solidFill>
                          <a:latin typeface="Helvetica Neue"/>
                          <a:ea typeface="Helvetica Neue"/>
                          <a:cs typeface="Helvetica Neue"/>
                        </a:rPr>
                        <a:t>Role in this project</a:t>
                      </a:r>
                    </a:p>
                  </a:txBody>
                  <a:tcPr marT="32004" marB="32004" anchor="ctr">
                    <a:solidFill>
                      <a:srgbClr val="142C40"/>
                    </a:solidFill>
                  </a:tcPr>
                </a:tc>
                <a:extLst>
                  <a:ext uri="{0D108BD9-81ED-4DB2-BD59-A6C34878D82A}">
                    <a16:rowId xmlns:a16="http://schemas.microsoft.com/office/drawing/2014/main" val="10000"/>
                  </a:ext>
                </a:extLst>
              </a:tr>
              <a:tr h="813816">
                <a:tc>
                  <a:txBody>
                    <a:bodyPr/>
                    <a:lstStyle/>
                    <a:p>
                      <a:r>
                        <a:rPr sz="1900">
                          <a:solidFill>
                            <a:srgbClr val="142C40"/>
                          </a:solidFill>
                          <a:latin typeface="Helvetica Neue"/>
                          <a:ea typeface="Helvetica Neue"/>
                          <a:cs typeface="Helvetica Neue"/>
                        </a:rPr>
                        <a:t>Self-consistency</a:t>
                      </a:r>
                    </a:p>
                  </a:txBody>
                  <a:tcPr marT="32004" marB="32004" anchor="ctr">
                    <a:solidFill>
                      <a:srgbClr val="FFFFFF"/>
                    </a:solidFill>
                  </a:tcPr>
                </a:tc>
                <a:tc>
                  <a:txBody>
                    <a:bodyPr/>
                    <a:lstStyle/>
                    <a:p>
                      <a:r>
                        <a:rPr sz="1900">
                          <a:solidFill>
                            <a:srgbClr val="142C40"/>
                          </a:solidFill>
                          <a:latin typeface="Helvetica Neue"/>
                          <a:ea typeface="Helvetica Neue"/>
                          <a:cs typeface="Helvetica Neue"/>
                        </a:rPr>
                        <a:t>Multiple reasoning paths can improve answer selection</a:t>
                      </a:r>
                    </a:p>
                  </a:txBody>
                  <a:tcPr marT="32004" marB="32004" anchor="ctr">
                    <a:solidFill>
                      <a:srgbClr val="FFFFFF"/>
                    </a:solidFill>
                  </a:tcPr>
                </a:tc>
                <a:tc>
                  <a:txBody>
                    <a:bodyPr/>
                    <a:lstStyle/>
                    <a:p>
                      <a:r>
                        <a:rPr sz="1900">
                          <a:solidFill>
                            <a:srgbClr val="142C40"/>
                          </a:solidFill>
                          <a:latin typeface="Helvetica Neue"/>
                          <a:ea typeface="Helvetica Neue"/>
                          <a:cs typeface="Helvetica Neue"/>
                        </a:rPr>
                        <a:t>Motivates repeated reasoning and checking</a:t>
                      </a:r>
                    </a:p>
                  </a:txBody>
                  <a:tcPr marT="32004" marB="32004" anchor="ctr">
                    <a:solidFill>
                      <a:srgbClr val="FFFFFF"/>
                    </a:solidFill>
                  </a:tcPr>
                </a:tc>
                <a:extLst>
                  <a:ext uri="{0D108BD9-81ED-4DB2-BD59-A6C34878D82A}">
                    <a16:rowId xmlns:a16="http://schemas.microsoft.com/office/drawing/2014/main" val="10001"/>
                  </a:ext>
                </a:extLst>
              </a:tr>
              <a:tr h="813816">
                <a:tc>
                  <a:txBody>
                    <a:bodyPr/>
                    <a:lstStyle/>
                    <a:p>
                      <a:r>
                        <a:rPr sz="1900">
                          <a:solidFill>
                            <a:srgbClr val="142C40"/>
                          </a:solidFill>
                          <a:latin typeface="Helvetica Neue"/>
                          <a:ea typeface="Helvetica Neue"/>
                          <a:cs typeface="Helvetica Neue"/>
                        </a:rPr>
                        <a:t>Self-correction</a:t>
                      </a:r>
                    </a:p>
                  </a:txBody>
                  <a:tcPr marT="32004" marB="32004" anchor="ctr">
                    <a:solidFill>
                      <a:srgbClr val="F1F4F7"/>
                    </a:solidFill>
                  </a:tcPr>
                </a:tc>
                <a:tc>
                  <a:txBody>
                    <a:bodyPr/>
                    <a:lstStyle/>
                    <a:p>
                      <a:r>
                        <a:rPr sz="1900">
                          <a:solidFill>
                            <a:srgbClr val="142C40"/>
                          </a:solidFill>
                          <a:latin typeface="Helvetica Neue"/>
                          <a:ea typeface="Helvetica Neue"/>
                          <a:cs typeface="Helvetica Neue"/>
                        </a:rPr>
                        <a:t>Correction without external feedback remains unreliable</a:t>
                      </a:r>
                    </a:p>
                  </a:txBody>
                  <a:tcPr marT="32004" marB="32004" anchor="ctr">
                    <a:solidFill>
                      <a:srgbClr val="F1F4F7"/>
                    </a:solidFill>
                  </a:tcPr>
                </a:tc>
                <a:tc>
                  <a:txBody>
                    <a:bodyPr/>
                    <a:lstStyle/>
                    <a:p>
                      <a:r>
                        <a:rPr sz="1900">
                          <a:solidFill>
                            <a:srgbClr val="142C40"/>
                          </a:solidFill>
                          <a:latin typeface="Helvetica Neue"/>
                          <a:ea typeface="Helvetica Neue"/>
                          <a:cs typeface="Helvetica Neue"/>
                        </a:rPr>
                        <a:t>Tests a simple one-round self-check</a:t>
                      </a:r>
                    </a:p>
                  </a:txBody>
                  <a:tcPr marT="32004" marB="32004" anchor="ctr">
                    <a:solidFill>
                      <a:srgbClr val="F1F4F7"/>
                    </a:solidFill>
                  </a:tcPr>
                </a:tc>
                <a:extLst>
                  <a:ext uri="{0D108BD9-81ED-4DB2-BD59-A6C34878D82A}">
                    <a16:rowId xmlns:a16="http://schemas.microsoft.com/office/drawing/2014/main" val="10002"/>
                  </a:ext>
                </a:extLst>
              </a:tr>
              <a:tr h="813816">
                <a:tc>
                  <a:txBody>
                    <a:bodyPr/>
                    <a:lstStyle/>
                    <a:p>
                      <a:r>
                        <a:rPr sz="1900">
                          <a:solidFill>
                            <a:srgbClr val="142C40"/>
                          </a:solidFill>
                          <a:latin typeface="Helvetica Neue"/>
                          <a:ea typeface="Helvetica Neue"/>
                          <a:cs typeface="Helvetica Neue"/>
                        </a:rPr>
                        <a:t>Structured verification</a:t>
                      </a:r>
                    </a:p>
                  </a:txBody>
                  <a:tcPr marT="32004" marB="32004" anchor="ctr">
                    <a:solidFill>
                      <a:srgbClr val="FFFFFF"/>
                    </a:solidFill>
                  </a:tcPr>
                </a:tc>
                <a:tc>
                  <a:txBody>
                    <a:bodyPr/>
                    <a:lstStyle/>
                    <a:p>
                      <a:r>
                        <a:rPr sz="1900">
                          <a:solidFill>
                            <a:srgbClr val="142C40"/>
                          </a:solidFill>
                          <a:latin typeface="Helvetica Neue"/>
                          <a:ea typeface="Helvetica Neue"/>
                          <a:cs typeface="Helvetica Neue"/>
                        </a:rPr>
                        <a:t>Answering and verification can be separated</a:t>
                      </a:r>
                    </a:p>
                  </a:txBody>
                  <a:tcPr marT="32004" marB="32004" anchor="ctr">
                    <a:solidFill>
                      <a:srgbClr val="FFFFFF"/>
                    </a:solidFill>
                  </a:tcPr>
                </a:tc>
                <a:tc>
                  <a:txBody>
                    <a:bodyPr/>
                    <a:lstStyle/>
                    <a:p>
                      <a:r>
                        <a:rPr sz="1900">
                          <a:solidFill>
                            <a:srgbClr val="142C40"/>
                          </a:solidFill>
                          <a:latin typeface="Helvetica Neue"/>
                          <a:ea typeface="Helvetica Neue"/>
                          <a:cs typeface="Helvetica Neue"/>
                        </a:rPr>
                        <a:t>Uses a lightweight verification prompt</a:t>
                      </a:r>
                    </a:p>
                  </a:txBody>
                  <a:tcPr marT="32004" marB="32004" anchor="ctr">
                    <a:solidFill>
                      <a:srgbClr val="FFFFFF"/>
                    </a:solidFill>
                  </a:tcPr>
                </a:tc>
                <a:extLst>
                  <a:ext uri="{0D108BD9-81ED-4DB2-BD59-A6C34878D82A}">
                    <a16:rowId xmlns:a16="http://schemas.microsoft.com/office/drawing/2014/main" val="10003"/>
                  </a:ext>
                </a:extLst>
              </a:tr>
              <a:tr h="813816">
                <a:tc>
                  <a:txBody>
                    <a:bodyPr/>
                    <a:lstStyle/>
                    <a:p>
                      <a:r>
                        <a:rPr sz="1900">
                          <a:solidFill>
                            <a:srgbClr val="142C40"/>
                          </a:solidFill>
                          <a:latin typeface="Helvetica Neue"/>
                          <a:ea typeface="Helvetica Neue"/>
                          <a:cs typeface="Helvetica Neue"/>
                        </a:rPr>
                        <a:t>Sycophancy</a:t>
                      </a:r>
                    </a:p>
                  </a:txBody>
                  <a:tcPr marT="32004" marB="32004" anchor="ctr">
                    <a:solidFill>
                      <a:srgbClr val="F1F4F7"/>
                    </a:solidFill>
                  </a:tcPr>
                </a:tc>
                <a:tc>
                  <a:txBody>
                    <a:bodyPr/>
                    <a:lstStyle/>
                    <a:p>
                      <a:r>
                        <a:rPr sz="1900">
                          <a:solidFill>
                            <a:srgbClr val="142C40"/>
                          </a:solidFill>
                          <a:latin typeface="Helvetica Neue"/>
                          <a:ea typeface="Helvetica Neue"/>
                          <a:cs typeface="Helvetica Neue"/>
                        </a:rPr>
                        <a:t>Models may follow a user's stated belief</a:t>
                      </a:r>
                    </a:p>
                  </a:txBody>
                  <a:tcPr marT="32004" marB="32004" anchor="ctr">
                    <a:solidFill>
                      <a:srgbClr val="F1F4F7"/>
                    </a:solidFill>
                  </a:tcPr>
                </a:tc>
                <a:tc>
                  <a:txBody>
                    <a:bodyPr/>
                    <a:lstStyle/>
                    <a:p>
                      <a:r>
                        <a:rPr sz="1900">
                          <a:solidFill>
                            <a:srgbClr val="142C40"/>
                          </a:solidFill>
                          <a:latin typeface="Helvetica Neue"/>
                          <a:ea typeface="Helvetica Neue"/>
                          <a:cs typeface="Helvetica Neue"/>
                        </a:rPr>
                        <a:t>Tests misleading peer and human feedback</a:t>
                      </a:r>
                    </a:p>
                  </a:txBody>
                  <a:tcPr marT="32004" marB="32004" anchor="ctr">
                    <a:solidFill>
                      <a:srgbClr val="F1F4F7"/>
                    </a:solidFill>
                  </a:tcPr>
                </a:tc>
                <a:extLst>
                  <a:ext uri="{0D108BD9-81ED-4DB2-BD59-A6C34878D82A}">
                    <a16:rowId xmlns:a16="http://schemas.microsoft.com/office/drawing/2014/main" val="10004"/>
                  </a:ext>
                </a:extLst>
              </a:tr>
            </a:tbl>
          </a:graphicData>
        </a:graphic>
      </p:graphicFrame>
      <p:sp>
        <p:nvSpPr>
          <p:cNvPr id="6" name="Rectangles 5">
            <a:extLst>
              <a:ext uri="{FF2B5EF4-FFF2-40B4-BE49-F238E27FC236}">
                <a16:creationId xmlns:a16="http://schemas.microsoft.com/office/drawing/2014/main" id="{4353548E-EDAA-4F4B-ADBD-E3936FC10495}"/>
              </a:ext>
            </a:extLst>
          </p:cNvPr>
          <p:cNvSpPr>
            <a:spLocks noGrp="1"/>
          </p:cNvSpPr>
          <p:nvPr/>
        </p:nvSpPr>
        <p:spPr>
          <a:xfrm>
            <a:off x="731520" y="5824728"/>
            <a:ext cx="10698480" cy="603504"/>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Our study compares simple self-checking, peer feedback and scripted user mistakes within a matched design.</a:t>
            </a:r>
          </a:p>
        </p:txBody>
      </p:sp>
      <p:sp>
        <p:nvSpPr>
          <p:cNvPr id="7" name="Rectangles 6">
            <a:extLst>
              <a:ext uri="{FF2B5EF4-FFF2-40B4-BE49-F238E27FC236}">
                <a16:creationId xmlns:a16="http://schemas.microsoft.com/office/drawing/2014/main" id="{A39A45C1-E0E2-40D7-94FB-E27116C1FB6E}"/>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9</a:t>
            </a:r>
          </a:p>
        </p:txBody>
      </p:sp>
    </p:spTree>
    <p:extLst>
      <p:ext uri="{BB962C8B-B14F-4D97-AF65-F5344CB8AC3E}">
        <p14:creationId xmlns:p14="http://schemas.microsoft.com/office/powerpoint/2010/main" val="2091169405"/>
      </p:ext>
    </p:extLst>
  </p:cSld>
  <p:clrMapOvr>
    <a:masterClrMapping/>
  </p:clrMapOvr>
</p:sld>
</file>

<file path=ppt/slides/slide1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FE62E99-4B57-41F5-AC24-B792EC5D627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DATA</a:t>
            </a:r>
          </a:p>
        </p:txBody>
      </p:sp>
      <p:sp>
        <p:nvSpPr>
          <p:cNvPr id="2" name="Title">
            <a:extLst xmlns:a="http://schemas.openxmlformats.org/drawingml/2006/main">
              <a:ext uri="{FF2B5EF4-FFF2-40B4-BE49-F238E27FC236}">
                <a16:creationId xmlns:a16="http://schemas.microsoft.com/office/drawing/2014/main" id="{11B8EFB1-757A-4F2C-B62E-4A1B6192DAC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Data and collection overview</a:t>
            </a:r>
          </a:p>
        </p:txBody>
      </p:sp>
      <p:sp>
        <p:nvSpPr>
          <p:cNvPr id="3" name="">
            <a:extLst xmlns:a="http://schemas.openxmlformats.org/drawingml/2006/main">
              <a:ext uri="{FF2B5EF4-FFF2-40B4-BE49-F238E27FC236}">
                <a16:creationId xmlns:a16="http://schemas.microsoft.com/office/drawing/2014/main" id="{ADCC8163-94AF-44FA-A0DF-E15F2D964F8F}"/>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CE93E15D-9340-42AA-AB56-EA4B3BE0A2E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571500" y="1647825"/>
          <a:ext xmlns:a="http://schemas.openxmlformats.org/drawingml/2006/main" cx="11049000" cy="3448050"/>
        </p:xfrm>
        <a:graphic xmlns:a="http://schemas.openxmlformats.org/drawingml/2006/main">
          <a:graphicData uri="http://schemas.openxmlformats.org/drawingml/2006/table">
            <a:tbl>
              <a:tblPr/>
              <a:tblGrid>
                <a:gridCol w="4572000"/>
                <a:gridCol w="6477000"/>
              </a:tblGrid>
              <a:tr h="574675">
                <a:tc>
                  <a:txBody>
                    <a:bodyPr lIns="95250" tIns="95250" rIns="95250" bIns="95250">
                      <a:noAutofit/>
                    </a:bodyPr>
                    <a:lstStyle/>
                    <a:p>
                      <a:r>
                        <a:rPr sz="1875" b="1">
                          <a:solidFill>
                            <a:srgbClr val="FFFFFF"/>
                          </a:solidFill>
                          <a:latin typeface="Helvetica Neue"/>
                          <a:ea typeface="Helvetica Neue"/>
                          <a:cs typeface="Helvetica Neue"/>
                        </a:rPr>
                        <a:t>Item</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Study scope / value</a:t>
                      </a:r>
                    </a:p>
                  </a:txBody>
                  <a:tcPr marL="95250" marR="95250" marT="85725" marB="85725" anchor="ctr">
                    <a:solidFill>
                      <a:srgbClr val="142C40"/>
                    </a:solidFill>
                  </a:tcPr>
                </a:tc>
              </a:tr>
              <a:tr h="574675">
                <a:tc>
                  <a:txBody>
                    <a:bodyPr lIns="95250" tIns="95250" rIns="95250" bIns="95250">
                      <a:noAutofit/>
                    </a:bodyPr>
                    <a:lstStyle/>
                    <a:p>
                      <a:r>
                        <a:rPr sz="1875" b="0">
                          <a:solidFill>
                            <a:srgbClr val="142C40"/>
                          </a:solidFill>
                          <a:latin typeface="Helvetica Neue"/>
                          <a:ea typeface="Helvetica Neue"/>
                          <a:cs typeface="Helvetica Neue"/>
                        </a:rPr>
                        <a:t>Task domain</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Mathematical reasoning</a:t>
                      </a:r>
                    </a:p>
                  </a:txBody>
                  <a:tcPr marL="95250" marR="95250" marT="85725" marB="85725" anchor="ctr">
                    <a:solidFill>
                      <a:srgbClr val="FFFFFF"/>
                    </a:solidFill>
                  </a:tcPr>
                </a:tc>
              </a:tr>
              <a:tr h="574675">
                <a:tc>
                  <a:txBody>
                    <a:bodyPr lIns="95250" tIns="95250" rIns="95250" bIns="95250">
                      <a:noAutofit/>
                    </a:bodyPr>
                    <a:lstStyle/>
                    <a:p>
                      <a:r>
                        <a:rPr sz="1875" b="0">
                          <a:solidFill>
                            <a:srgbClr val="142C40"/>
                          </a:solidFill>
                          <a:latin typeface="Helvetica Neue"/>
                          <a:ea typeface="Helvetica Neue"/>
                          <a:cs typeface="Helvetica Neue"/>
                        </a:rPr>
                        <a:t>Models</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MiniMax and DeepSeek</a:t>
                      </a:r>
                    </a:p>
                  </a:txBody>
                  <a:tcPr marL="95250" marR="95250" marT="85725" marB="85725" anchor="ctr">
                    <a:solidFill>
                      <a:srgbClr val="EFF3F7"/>
                    </a:solidFill>
                  </a:tcPr>
                </a:tc>
              </a:tr>
              <a:tr h="574675">
                <a:tc>
                  <a:txBody>
                    <a:bodyPr lIns="95250" tIns="95250" rIns="95250" bIns="95250">
                      <a:noAutofit/>
                    </a:bodyPr>
                    <a:lstStyle/>
                    <a:p>
                      <a:r>
                        <a:rPr sz="1875" b="0">
                          <a:solidFill>
                            <a:srgbClr val="142C40"/>
                          </a:solidFill>
                          <a:latin typeface="Helvetica Neue"/>
                          <a:ea typeface="Helvetica Neue"/>
                          <a:cs typeface="Helvetica Neue"/>
                        </a:rPr>
                        <a:t>Question source and composition</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FFFFFF"/>
                    </a:solidFill>
                  </a:tcPr>
                </a:tc>
              </a:tr>
              <a:tr h="574675">
                <a:tc>
                  <a:txBody>
                    <a:bodyPr lIns="95250" tIns="95250" rIns="95250" bIns="95250">
                      <a:noAutofit/>
                    </a:bodyPr>
                    <a:lstStyle/>
                    <a:p>
                      <a:r>
                        <a:rPr sz="1875" b="0">
                          <a:solidFill>
                            <a:srgbClr val="142C40"/>
                          </a:solidFill>
                          <a:latin typeface="Helvetica Neue"/>
                          <a:ea typeface="Helvetica Neue"/>
                          <a:cs typeface="Helvetica Neue"/>
                        </a:rPr>
                        <a:t>Unique questions and repetitions</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EFF3F7"/>
                    </a:solidFill>
                  </a:tcPr>
                </a:tc>
              </a:tr>
              <a:tr h="574675">
                <a:tc>
                  <a:txBody>
                    <a:bodyPr lIns="95250" tIns="95250" rIns="95250" bIns="95250">
                      <a:noAutofit/>
                    </a:bodyPr>
                    <a:lstStyle/>
                    <a:p>
                      <a:r>
                        <a:rPr sz="1875" b="0">
                          <a:solidFill>
                            <a:srgbClr val="142C40"/>
                          </a:solidFill>
                          <a:latin typeface="Helvetica Neue"/>
                          <a:ea typeface="Helvetica Neue"/>
                          <a:cs typeface="Helvetica Neue"/>
                        </a:rPr>
                        <a:t>Collected and scored responses</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534D895A-D0F5-4A48-86C7-4BB9EA31FD35}"/>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Question count, response count and scored denominator are reported separately.</a:t>
            </a:r>
          </a:p>
        </p:txBody>
      </p:sp>
    </p:spTree>
    <p:extLst>
      <p:ext uri="{BB962C8B-B14F-4D97-AF65-F5344CB8AC3E}">
        <p14:creationId xmlns:p14="http://schemas.microsoft.com/office/powerpoint/2010/main" val="669066008"/>
      </p:ext>
    </p:extLst>
  </p:cSld>
</p:sld>
</file>

<file path=ppt/slides/slide1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0A70A0DB-2800-423D-9859-562C7ABC3CBE}"/>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INITIAL ANSWERS</a:t>
            </a:r>
          </a:p>
        </p:txBody>
      </p:sp>
      <p:sp>
        <p:nvSpPr>
          <p:cNvPr id="2" name="Title">
            <a:extLst xmlns:a="http://schemas.openxmlformats.org/drawingml/2006/main">
              <a:ext uri="{FF2B5EF4-FFF2-40B4-BE49-F238E27FC236}">
                <a16:creationId xmlns:a16="http://schemas.microsoft.com/office/drawing/2014/main" id="{AF44EDC7-578B-4260-9612-F688B8DD6E66}"/>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Initial-answer baseline by model</a:t>
            </a:r>
          </a:p>
        </p:txBody>
      </p:sp>
      <p:sp>
        <p:nvSpPr>
          <p:cNvPr id="3" name="">
            <a:extLst xmlns:a="http://schemas.openxmlformats.org/drawingml/2006/main">
              <a:ext uri="{FF2B5EF4-FFF2-40B4-BE49-F238E27FC236}">
                <a16:creationId xmlns:a16="http://schemas.microsoft.com/office/drawing/2014/main" id="{639D6BA6-86A5-4933-A7C9-7BCD10B3E735}"/>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BF430B7E-807E-45CF-B991-6C356468FA89}"/>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11</a:t>
            </a:r>
          </a:p>
        </p:txBody>
      </p:sp>
      <p:graphicFrame>
        <p:nvGraphicFramePr>
          <p:cNvPr id="11" name=""/>
          <p:cNvGraphicFramePr/>
          <p:nvPr/>
        </p:nvGraphicFramePr>
        <p:xfrm>
          <a:off xmlns:a="http://schemas.openxmlformats.org/drawingml/2006/main" x="571500" y="1619250"/>
          <a:ext xmlns:a="http://schemas.openxmlformats.org/drawingml/2006/main" cx="11049000" cy="3943350"/>
        </p:xfrm>
        <a:graphic xmlns:a="http://schemas.openxmlformats.org/drawingml/2006/main">
          <a:graphicData uri="http://schemas.openxmlformats.org/drawingml/2006/table">
            <a:tbl>
              <a:tblPr/>
              <a:tblGrid>
                <a:gridCol w="4953000"/>
                <a:gridCol w="3048000"/>
                <a:gridCol w="3048000"/>
              </a:tblGrid>
              <a:tr h="492919">
                <a:tc>
                  <a:txBody>
                    <a:bodyPr lIns="95250" tIns="95250" rIns="95250" bIns="95250">
                      <a:noAutofit/>
                    </a:bodyPr>
                    <a:lstStyle/>
                    <a:p>
                      <a:r>
                        <a:rPr sz="1800" b="1">
                          <a:solidFill>
                            <a:srgbClr val="FFFFFF"/>
                          </a:solidFill>
                          <a:latin typeface="Helvetica Neue"/>
                          <a:ea typeface="Helvetica Neue"/>
                          <a:cs typeface="Helvetica Neue"/>
                        </a:rPr>
                        <a:t>Outcome / metric</a:t>
                      </a:r>
                    </a:p>
                  </a:txBody>
                  <a:tcPr marL="95250" marR="95250" marT="85725" marB="85725" anchor="ctr">
                    <a:solidFill>
                      <a:srgbClr val="142C40"/>
                    </a:solidFill>
                  </a:tcPr>
                </a:tc>
                <a:tc>
                  <a:txBody>
                    <a:bodyPr lIns="95250" tIns="95250" rIns="95250" bIns="95250">
                      <a:noAutofit/>
                    </a:bodyPr>
                    <a:lstStyle/>
                    <a:p>
                      <a:r>
                        <a:rPr sz="1800" b="1">
                          <a:solidFill>
                            <a:srgbClr val="FFFFFF"/>
                          </a:solidFill>
                          <a:latin typeface="Helvetica Neue"/>
                          <a:ea typeface="Helvetica Neue"/>
                          <a:cs typeface="Helvetica Neue"/>
                        </a:rPr>
                        <a:t>MiniMax</a:t>
                      </a:r>
                    </a:p>
                  </a:txBody>
                  <a:tcPr marL="95250" marR="95250" marT="85725" marB="85725" anchor="ctr">
                    <a:solidFill>
                      <a:srgbClr val="142C40"/>
                    </a:solidFill>
                  </a:tcPr>
                </a:tc>
                <a:tc>
                  <a:txBody>
                    <a:bodyPr lIns="95250" tIns="95250" rIns="95250" bIns="95250">
                      <a:noAutofit/>
                    </a:bodyPr>
                    <a:lstStyle/>
                    <a:p>
                      <a:r>
                        <a:rPr sz="1800" b="1">
                          <a:solidFill>
                            <a:srgbClr val="FFFFFF"/>
                          </a:solidFill>
                          <a:latin typeface="Helvetica Neue"/>
                          <a:ea typeface="Helvetica Neue"/>
                          <a:cs typeface="Helvetica Neue"/>
                        </a:rPr>
                        <a:t>DeepSeek</a:t>
                      </a:r>
                    </a:p>
                  </a:txBody>
                  <a:tcPr marL="95250" marR="95250" marT="85725" marB="85725" anchor="ctr">
                    <a:solidFill>
                      <a:srgbClr val="142C40"/>
                    </a:solidFill>
                  </a:tcPr>
                </a:tc>
              </a:tr>
              <a:tr h="492919">
                <a:tc>
                  <a:txBody>
                    <a:bodyPr lIns="95250" tIns="95250" rIns="95250" bIns="95250">
                      <a:noAutofit/>
                    </a:bodyPr>
                    <a:lstStyle/>
                    <a:p>
                      <a:r>
                        <a:rPr sz="1800" b="0">
                          <a:solidFill>
                            <a:srgbClr val="142C40"/>
                          </a:solidFill>
                          <a:latin typeface="Helvetica Neue"/>
                          <a:ea typeface="Helvetica Neue"/>
                          <a:cs typeface="Helvetica Neue"/>
                        </a:rPr>
                        <a:t>Correct</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FFFFFF"/>
                    </a:solidFill>
                  </a:tcPr>
                </a:tc>
              </a:tr>
              <a:tr h="492919">
                <a:tc>
                  <a:txBody>
                    <a:bodyPr lIns="95250" tIns="95250" rIns="95250" bIns="95250">
                      <a:noAutofit/>
                    </a:bodyPr>
                    <a:lstStyle/>
                    <a:p>
                      <a:r>
                        <a:rPr sz="1800" b="0">
                          <a:solidFill>
                            <a:srgbClr val="142C40"/>
                          </a:solidFill>
                          <a:latin typeface="Helvetica Neue"/>
                          <a:ea typeface="Helvetica Neue"/>
                          <a:cs typeface="Helvetica Neue"/>
                        </a:rPr>
                        <a:t>Incorrect</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EFF3F7"/>
                    </a:solidFill>
                  </a:tcPr>
                </a:tc>
              </a:tr>
              <a:tr h="492919">
                <a:tc>
                  <a:txBody>
                    <a:bodyPr lIns="95250" tIns="95250" rIns="95250" bIns="95250">
                      <a:noAutofit/>
                    </a:bodyPr>
                    <a:lstStyle/>
                    <a:p>
                      <a:r>
                        <a:rPr sz="1800" b="0">
                          <a:solidFill>
                            <a:srgbClr val="142C40"/>
                          </a:solidFill>
                          <a:latin typeface="Helvetica Neue"/>
                          <a:ea typeface="Helvetica Neue"/>
                          <a:cs typeface="Helvetica Neue"/>
                        </a:rPr>
                        <a:t>Explicit abstention</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FFFFFF"/>
                    </a:solidFill>
                  </a:tcPr>
                </a:tc>
              </a:tr>
              <a:tr h="492919">
                <a:tc>
                  <a:txBody>
                    <a:bodyPr lIns="95250" tIns="95250" rIns="95250" bIns="95250">
                      <a:noAutofit/>
                    </a:bodyPr>
                    <a:lstStyle/>
                    <a:p>
                      <a:r>
                        <a:rPr sz="1800" b="0">
                          <a:solidFill>
                            <a:srgbClr val="142C40"/>
                          </a:solidFill>
                          <a:latin typeface="Helvetica Neue"/>
                          <a:ea typeface="Helvetica Neue"/>
                          <a:cs typeface="Helvetica Neue"/>
                        </a:rPr>
                        <a:t>Excluded / unscorable</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EFF3F7"/>
                    </a:solidFill>
                  </a:tcPr>
                </a:tc>
              </a:tr>
              <a:tr h="492919">
                <a:tc>
                  <a:txBody>
                    <a:bodyPr lIns="95250" tIns="95250" rIns="95250" bIns="95250">
                      <a:noAutofit/>
                    </a:bodyPr>
                    <a:lstStyle/>
                    <a:p>
                      <a:r>
                        <a:rPr sz="1800" b="0">
                          <a:solidFill>
                            <a:srgbClr val="142C40"/>
                          </a:solidFill>
                          <a:latin typeface="Helvetica Neue"/>
                          <a:ea typeface="Helvetica Neue"/>
                          <a:cs typeface="Helvetica Neue"/>
                        </a:rPr>
                        <a:t>Scored denominator N</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FFFFFF"/>
                    </a:solidFill>
                  </a:tcPr>
                </a:tc>
              </a:tr>
              <a:tr h="492919">
                <a:tc>
                  <a:txBody>
                    <a:bodyPr lIns="95250" tIns="95250" rIns="95250" bIns="95250">
                      <a:noAutofit/>
                    </a:bodyPr>
                    <a:lstStyle/>
                    <a:p>
                      <a:r>
                        <a:rPr sz="1800" b="0">
                          <a:solidFill>
                            <a:srgbClr val="142C40"/>
                          </a:solidFill>
                          <a:latin typeface="Helvetica Neue"/>
                          <a:ea typeface="Helvetica Neue"/>
                          <a:cs typeface="Helvetica Neue"/>
                        </a:rPr>
                        <a:t>Error rate</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EFF3F7"/>
                    </a:solidFill>
                  </a:tcPr>
                </a:tc>
              </a:tr>
              <a:tr h="492919">
                <a:tc>
                  <a:txBody>
                    <a:bodyPr lIns="95250" tIns="95250" rIns="95250" bIns="95250">
                      <a:noAutofit/>
                    </a:bodyPr>
                    <a:lstStyle/>
                    <a:p>
                      <a:r>
                        <a:rPr sz="1800" b="0">
                          <a:solidFill>
                            <a:srgbClr val="142C40"/>
                          </a:solidFill>
                          <a:latin typeface="Helvetica Neue"/>
                          <a:ea typeface="Helvetica Neue"/>
                          <a:cs typeface="Helvetica Neue"/>
                        </a:rPr>
                        <a:t>Non-correct rate</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PENDING</a:t>
                      </a:r>
                    </a:p>
                  </a:txBody>
                  <a:tcPr marL="95250" marR="95250" marT="85725" marB="85725"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DC551851-31FC-4E64-9ED9-7FDB4F7ABD5B}"/>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New data will supply all counts and rates. PENDING does not mean zero.</a:t>
            </a:r>
          </a:p>
        </p:txBody>
      </p:sp>
    </p:spTree>
    <p:extLst>
      <p:ext uri="{BB962C8B-B14F-4D97-AF65-F5344CB8AC3E}">
        <p14:creationId xmlns:p14="http://schemas.microsoft.com/office/powerpoint/2010/main" val="607286604"/>
      </p:ext>
    </p:extLst>
  </p:cSld>
</p:sld>
</file>

<file path=ppt/slides/slide1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66D51A5-DD66-43BC-AF6B-D99AE9BE98E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METHODOLOGY</a:t>
            </a:r>
          </a:p>
        </p:txBody>
      </p:sp>
      <p:sp>
        <p:nvSpPr>
          <p:cNvPr id="2" name="Title">
            <a:extLst xmlns:a="http://schemas.openxmlformats.org/drawingml/2006/main">
              <a:ext uri="{FF2B5EF4-FFF2-40B4-BE49-F238E27FC236}">
                <a16:creationId xmlns:a16="http://schemas.microsoft.com/office/drawing/2014/main" id="{2FB99989-BBF2-439B-B7BC-2A35E399F42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Setup and conditions</a:t>
            </a:r>
          </a:p>
        </p:txBody>
      </p:sp>
      <p:sp>
        <p:nvSpPr>
          <p:cNvPr id="3" name="">
            <a:extLst xmlns:a="http://schemas.openxmlformats.org/drawingml/2006/main">
              <a:ext uri="{FF2B5EF4-FFF2-40B4-BE49-F238E27FC236}">
                <a16:creationId xmlns:a16="http://schemas.microsoft.com/office/drawing/2014/main" id="{EE410775-93BF-4733-909A-FA66A4AECEE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DD1051A5-A935-4195-A6D1-BB57B00AB77E}"/>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12</a:t>
            </a:r>
          </a:p>
        </p:txBody>
      </p:sp>
      <p:sp>
        <p:nvSpPr>
          <p:cNvPr id="5" name="Models">
            <a:extLst xmlns:a="http://schemas.openxmlformats.org/drawingml/2006/main">
              <a:ext uri="{FF2B5EF4-FFF2-40B4-BE49-F238E27FC236}">
                <a16:creationId xmlns:a16="http://schemas.microsoft.com/office/drawing/2014/main" id="{109DA1E6-EC2E-4AE3-AADB-CA7572775325}"/>
              </a:ext>
            </a:extLst>
          </p:cNvPr>
          <p:cNvSpPr>
            <a:spLocks xmlns:a="http://schemas.openxmlformats.org/drawingml/2006/main" noGrp="1"/>
          </p:cNvSpPr>
          <p:nvPr/>
        </p:nvSpPr>
        <p:spPr>
          <a:xfrm xmlns:a="http://schemas.openxmlformats.org/drawingml/2006/main">
            <a:off x="571500" y="14763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MiniMax-M3 (receiver) and DeepSeek-V4-Pro (independent peer)</a:t>
            </a:r>
          </a:p>
        </p:txBody>
      </p:sp>
      <p:graphicFrame>
        <p:nvGraphicFramePr>
          <p:cNvPr id="13" name=""/>
          <p:cNvGraphicFramePr/>
          <p:nvPr/>
        </p:nvGraphicFramePr>
        <p:xfrm>
          <a:off xmlns:a="http://schemas.openxmlformats.org/drawingml/2006/main" x="571500" y="1962150"/>
          <a:ext xmlns:a="http://schemas.openxmlformats.org/drawingml/2006/main" cx="11049000" cy="3619500"/>
        </p:xfrm>
        <a:graphic xmlns:a="http://schemas.openxmlformats.org/drawingml/2006/main">
          <a:graphicData uri="http://schemas.openxmlformats.org/drawingml/2006/table">
            <a:tbl>
              <a:tblPr/>
              <a:tblGrid>
                <a:gridCol w="2333625"/>
                <a:gridCol w="4333875"/>
                <a:gridCol w="4381500"/>
              </a:tblGrid>
              <a:tr h="603250">
                <a:tc>
                  <a:txBody>
                    <a:bodyPr lIns="95250" tIns="95250" rIns="95250" bIns="95250">
                      <a:noAutofit/>
                    </a:bodyPr>
                    <a:lstStyle/>
                    <a:p>
                      <a:r>
                        <a:rPr sz="1650" b="1">
                          <a:solidFill>
                            <a:srgbClr val="FFFFFF"/>
                          </a:solidFill>
                          <a:latin typeface="Helvetica Neue"/>
                          <a:ea typeface="Helvetica Neue"/>
                          <a:cs typeface="Helvetica Neue"/>
                        </a:rPr>
                        <a:t>Condition</a:t>
                      </a:r>
                    </a:p>
                  </a:txBody>
                  <a:tcPr marL="95250" marR="95250" marT="85725" marB="85725" anchor="ctr">
                    <a:solidFill>
                      <a:srgbClr val="142C40"/>
                    </a:solidFill>
                  </a:tcPr>
                </a:tc>
                <a:tc>
                  <a:txBody>
                    <a:bodyPr lIns="95250" tIns="95250" rIns="95250" bIns="95250">
                      <a:noAutofit/>
                    </a:bodyPr>
                    <a:lstStyle/>
                    <a:p>
                      <a:r>
                        <a:rPr sz="1650" b="1">
                          <a:solidFill>
                            <a:srgbClr val="FFFFFF"/>
                          </a:solidFill>
                          <a:latin typeface="Helvetica Neue"/>
                          <a:ea typeface="Helvetica Neue"/>
                          <a:cs typeface="Helvetica Neue"/>
                        </a:rPr>
                        <a:t>Procedure</a:t>
                      </a:r>
                    </a:p>
                  </a:txBody>
                  <a:tcPr marL="95250" marR="95250" marT="85725" marB="85725" anchor="ctr">
                    <a:solidFill>
                      <a:srgbClr val="142C40"/>
                    </a:solidFill>
                  </a:tcPr>
                </a:tc>
                <a:tc>
                  <a:txBody>
                    <a:bodyPr lIns="95250" tIns="95250" rIns="95250" bIns="95250">
                      <a:noAutofit/>
                    </a:bodyPr>
                    <a:lstStyle/>
                    <a:p>
                      <a:r>
                        <a:rPr sz="1650" b="1">
                          <a:solidFill>
                            <a:srgbClr val="FFFFFF"/>
                          </a:solidFill>
                          <a:latin typeface="Helvetica Neue"/>
                          <a:ea typeface="Helvetica Neue"/>
                          <a:cs typeface="Helvetica Neue"/>
                        </a:rPr>
                        <a:t>Example</a:t>
                      </a:r>
                    </a:p>
                  </a:txBody>
                  <a:tcPr marL="95250" marR="95250" marT="85725" marB="85725" anchor="ctr">
                    <a:solidFill>
                      <a:srgbClr val="142C40"/>
                    </a:solidFill>
                  </a:tcPr>
                </a:tc>
              </a:tr>
              <a:tr h="603250">
                <a:tc>
                  <a:txBody>
                    <a:bodyPr lIns="95250" tIns="95250" rIns="95250" bIns="95250">
                      <a:noAutofit/>
                    </a:bodyPr>
                    <a:lstStyle/>
                    <a:p>
                      <a:r>
                        <a:rPr sz="1650" b="0">
                          <a:solidFill>
                            <a:srgbClr val="142C40"/>
                          </a:solidFill>
                          <a:latin typeface="Helvetica Neue"/>
                          <a:ea typeface="Helvetica Neue"/>
                          <a:cs typeface="Helvetica Neue"/>
                        </a:rPr>
                        <a:t>Initial answer</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Each model answers independently.</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Original question only.</a:t>
                      </a:r>
                    </a:p>
                  </a:txBody>
                  <a:tcPr marL="95250" marR="95250" marT="85725" marB="85725" anchor="ctr">
                    <a:solidFill>
                      <a:srgbClr val="FFFFFF"/>
                    </a:solidFill>
                  </a:tcPr>
                </a:tc>
              </a:tr>
              <a:tr h="603250">
                <a:tc>
                  <a:txBody>
                    <a:bodyPr lIns="95250" tIns="95250" rIns="95250" bIns="95250">
                      <a:noAutofit/>
                    </a:bodyPr>
                    <a:lstStyle/>
                    <a:p>
                      <a:r>
                        <a:rPr sz="1650" b="0">
                          <a:solidFill>
                            <a:srgbClr val="142C40"/>
                          </a:solidFill>
                          <a:latin typeface="Helvetica Neue"/>
                          <a:ea typeface="Helvetica Neue"/>
                          <a:cs typeface="Helvetica Neue"/>
                        </a:rPr>
                        <a:t>Self-check</a:t>
                      </a:r>
                    </a:p>
                  </a:txBody>
                  <a:tcPr marL="95250" marR="95250" marT="85725" marB="85725" anchor="ctr">
                    <a:solidFill>
                      <a:srgbClr val="EFF3F7"/>
                    </a:solidFill>
                  </a:tcPr>
                </a:tc>
                <a:tc>
                  <a:txBody>
                    <a:bodyPr lIns="95250" tIns="95250" rIns="95250" bIns="95250">
                      <a:noAutofit/>
                    </a:bodyPr>
                    <a:lstStyle/>
                    <a:p>
                      <a:r>
                        <a:rPr sz="1650" b="0">
                          <a:solidFill>
                            <a:srgbClr val="142C40"/>
                          </a:solidFill>
                          <a:latin typeface="Helvetica Neue"/>
                          <a:ea typeface="Helvetica Neue"/>
                          <a:cs typeface="Helvetica Neue"/>
                        </a:rPr>
                        <a:t>Review its own initial answer.</a:t>
                      </a:r>
                    </a:p>
                  </a:txBody>
                  <a:tcPr marL="95250" marR="95250" marT="85725" marB="85725" anchor="ctr">
                    <a:solidFill>
                      <a:srgbClr val="EFF3F7"/>
                    </a:solidFill>
                  </a:tcPr>
                </a:tc>
                <a:tc>
                  <a:txBody>
                    <a:bodyPr lIns="95250" tIns="95250" rIns="95250" bIns="95250">
                      <a:noAutofit/>
                    </a:bodyPr>
                    <a:lstStyle/>
                    <a:p>
                      <a:r>
                        <a:rPr sz="1650" b="0">
                          <a:solidFill>
                            <a:srgbClr val="142C40"/>
                          </a:solidFill>
                          <a:latin typeface="Helvetica Neue"/>
                          <a:ea typeface="Helvetica Neue"/>
                          <a:cs typeface="Helvetica Neue"/>
                        </a:rPr>
                        <a:t>“Please check the original question again.”</a:t>
                      </a:r>
                    </a:p>
                  </a:txBody>
                  <a:tcPr marL="95250" marR="95250" marT="85725" marB="85725" anchor="ctr">
                    <a:solidFill>
                      <a:srgbClr val="EFF3F7"/>
                    </a:solidFill>
                  </a:tcPr>
                </a:tc>
              </a:tr>
              <a:tr h="603250">
                <a:tc>
                  <a:txBody>
                    <a:bodyPr lIns="95250" tIns="95250" rIns="95250" bIns="95250">
                      <a:noAutofit/>
                    </a:bodyPr>
                    <a:lstStyle/>
                    <a:p>
                      <a:r>
                        <a:rPr sz="1650" b="0">
                          <a:solidFill>
                            <a:srgbClr val="142C40"/>
                          </a:solidFill>
                          <a:latin typeface="Helvetica Neue"/>
                          <a:ea typeface="Helvetica Neue"/>
                          <a:cs typeface="Helvetica Neue"/>
                        </a:rPr>
                        <a:t>Natural cross-check</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Review its answer with the peer’s actual answer and reasoning.</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“Another AI suggested: [actual response]. Please check again.”</a:t>
                      </a:r>
                    </a:p>
                  </a:txBody>
                  <a:tcPr marL="95250" marR="95250" marT="85725" marB="85725" anchor="ctr">
                    <a:solidFill>
                      <a:srgbClr val="FFFFFF"/>
                    </a:solidFill>
                  </a:tcPr>
                </a:tc>
              </a:tr>
              <a:tr h="603250">
                <a:tc>
                  <a:txBody>
                    <a:bodyPr lIns="95250" tIns="95250" rIns="95250" bIns="95250">
                      <a:noAutofit/>
                    </a:bodyPr>
                    <a:lstStyle/>
                    <a:p>
                      <a:r>
                        <a:rPr sz="1650" b="0">
                          <a:solidFill>
                            <a:srgbClr val="142C40"/>
                          </a:solidFill>
                          <a:latin typeface="Helvetica Neue"/>
                          <a:ea typeface="Helvetica Neue"/>
                          <a:cs typeface="Helvetica Neue"/>
                        </a:rPr>
                        <a:t>Manipulated cross-check</a:t>
                      </a:r>
                    </a:p>
                  </a:txBody>
                  <a:tcPr marL="95250" marR="95250" marT="85725" marB="85725" anchor="ctr">
                    <a:solidFill>
                      <a:srgbClr val="EFF3F7"/>
                    </a:solidFill>
                  </a:tcPr>
                </a:tc>
                <a:tc>
                  <a:txBody>
                    <a:bodyPr lIns="95250" tIns="95250" rIns="95250" bIns="95250">
                      <a:noAutofit/>
                    </a:bodyPr>
                    <a:lstStyle/>
                    <a:p>
                      <a:r>
                        <a:rPr sz="1650" b="0">
                          <a:solidFill>
                            <a:srgbClr val="142C40"/>
                          </a:solidFill>
                          <a:latin typeface="Helvetica Neue"/>
                          <a:ea typeface="Helvetica Neue"/>
                          <a:cs typeface="Helvetica Neue"/>
                        </a:rPr>
                        <a:t>Correct receiver checks a constructed wrong peer response.</a:t>
                      </a:r>
                    </a:p>
                  </a:txBody>
                  <a:tcPr marL="95250" marR="95250" marT="85725" marB="85725" anchor="ctr">
                    <a:solidFill>
                      <a:srgbClr val="EFF3F7"/>
                    </a:solidFill>
                  </a:tcPr>
                </a:tc>
                <a:tc>
                  <a:txBody>
                    <a:bodyPr lIns="95250" tIns="95250" rIns="95250" bIns="95250">
                      <a:noAutofit/>
                    </a:bodyPr>
                    <a:lstStyle/>
                    <a:p>
                      <a:r>
                        <a:rPr sz="1650" b="0">
                          <a:solidFill>
                            <a:srgbClr val="142C40"/>
                          </a:solidFill>
                          <a:latin typeface="Helvetica Neue"/>
                          <a:ea typeface="Helvetica Neue"/>
                          <a:cs typeface="Helvetica Neue"/>
                        </a:rPr>
                        <a:t>“Another AI suggested: 216, because [incomplete reasoning].”</a:t>
                      </a:r>
                    </a:p>
                  </a:txBody>
                  <a:tcPr marL="95250" marR="95250" marT="85725" marB="85725" anchor="ctr">
                    <a:solidFill>
                      <a:srgbClr val="EFF3F7"/>
                    </a:solidFill>
                  </a:tcPr>
                </a:tc>
              </a:tr>
              <a:tr h="603250">
                <a:tc>
                  <a:txBody>
                    <a:bodyPr lIns="95250" tIns="95250" rIns="95250" bIns="95250">
                      <a:noAutofit/>
                    </a:bodyPr>
                    <a:lstStyle/>
                    <a:p>
                      <a:r>
                        <a:rPr sz="1650" b="0">
                          <a:solidFill>
                            <a:srgbClr val="142C40"/>
                          </a:solidFill>
                          <a:latin typeface="Helvetica Neue"/>
                          <a:ea typeface="Helvetica Neue"/>
                          <a:cs typeface="Helvetica Neue"/>
                        </a:rPr>
                        <a:t>Human mistake</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Correct model receives a scripted wrong answer and reason.</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“I think it is 216: two boys, one girl, then assign toys.”</a:t>
                      </a:r>
                    </a:p>
                  </a:txBody>
                  <a:tcPr marL="95250" marR="95250" marT="85725" marB="85725" anchor="ctr">
                    <a:solidFill>
                      <a:srgbClr val="FFFFFF"/>
                    </a:solidFill>
                  </a:tcPr>
                </a:tc>
              </a:tr>
            </a:tbl>
          </a:graphicData>
        </a:graphic>
      </p:graphicFrame>
      <p:sp>
        <p:nvSpPr>
          <p:cNvPr id="7" name="Footnote">
            <a:extLst xmlns:a="http://schemas.openxmlformats.org/drawingml/2006/main">
              <a:ext uri="{FF2B5EF4-FFF2-40B4-BE49-F238E27FC236}">
                <a16:creationId xmlns:a16="http://schemas.microsoft.com/office/drawing/2014/main" id="{C6126700-C190-4D91-B02B-3991D0355582}"/>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Parallel branches from the same initial answer. Synthetic peer and human inputs are labelled.</a:t>
            </a:r>
          </a:p>
        </p:txBody>
      </p:sp>
    </p:spTree>
    <p:extLst>
      <p:ext uri="{BB962C8B-B14F-4D97-AF65-F5344CB8AC3E}">
        <p14:creationId xmlns:p14="http://schemas.microsoft.com/office/powerpoint/2010/main" val="808370791"/>
      </p:ext>
    </p:extLst>
  </p:cSld>
</p:sld>
</file>

<file path=ppt/slides/slide1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DBA8C50-B558-44E9-8F7C-758DC85B993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METHODOLOGY</a:t>
            </a:r>
          </a:p>
        </p:txBody>
      </p:sp>
      <p:sp>
        <p:nvSpPr>
          <p:cNvPr id="2" name="Title">
            <a:extLst xmlns:a="http://schemas.openxmlformats.org/drawingml/2006/main">
              <a:ext uri="{FF2B5EF4-FFF2-40B4-BE49-F238E27FC236}">
                <a16:creationId xmlns:a16="http://schemas.microsoft.com/office/drawing/2014/main" id="{341E86D8-9928-4B48-AE5D-21336A945B4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Comparisons and evaluation</a:t>
            </a:r>
          </a:p>
        </p:txBody>
      </p:sp>
      <p:sp>
        <p:nvSpPr>
          <p:cNvPr id="3" name="">
            <a:extLst xmlns:a="http://schemas.openxmlformats.org/drawingml/2006/main">
              <a:ext uri="{FF2B5EF4-FFF2-40B4-BE49-F238E27FC236}">
                <a16:creationId xmlns:a16="http://schemas.microsoft.com/office/drawing/2014/main" id="{021E98EF-81C1-423B-9B92-51CA28C61E62}"/>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D66BBE04-7B4C-4563-82E7-28CE53F8B26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graphicFrame>
        <p:nvGraphicFramePr>
          <p:cNvPr id="14" name=""/>
          <p:cNvGraphicFramePr/>
          <p:nvPr/>
        </p:nvGraphicFramePr>
        <p:xfrm>
          <a:off xmlns:a="http://schemas.openxmlformats.org/drawingml/2006/main" x="571500" y="1571625"/>
          <a:ext xmlns:a="http://schemas.openxmlformats.org/drawingml/2006/main" cx="11049000" cy="2476500"/>
        </p:xfrm>
        <a:graphic xmlns:a="http://schemas.openxmlformats.org/drawingml/2006/main">
          <a:graphicData uri="http://schemas.openxmlformats.org/drawingml/2006/table">
            <a:tbl>
              <a:tblPr/>
              <a:tblGrid>
                <a:gridCol w="4667250"/>
                <a:gridCol w="6381750"/>
              </a:tblGrid>
              <a:tr h="495300">
                <a:tc>
                  <a:txBody>
                    <a:bodyPr lIns="95250" tIns="95250" rIns="95250" bIns="95250">
                      <a:noAutofit/>
                    </a:bodyPr>
                    <a:lstStyle/>
                    <a:p>
                      <a:r>
                        <a:rPr sz="1800" b="1">
                          <a:solidFill>
                            <a:srgbClr val="FFFFFF"/>
                          </a:solidFill>
                          <a:latin typeface="Helvetica Neue"/>
                          <a:ea typeface="Helvetica Neue"/>
                          <a:cs typeface="Helvetica Neue"/>
                        </a:rPr>
                        <a:t>Research question</a:t>
                      </a:r>
                    </a:p>
                  </a:txBody>
                  <a:tcPr marL="95250" marR="95250" marT="85725" marB="85725" anchor="ctr">
                    <a:solidFill>
                      <a:srgbClr val="142C40"/>
                    </a:solidFill>
                  </a:tcPr>
                </a:tc>
                <a:tc>
                  <a:txBody>
                    <a:bodyPr lIns="95250" tIns="95250" rIns="95250" bIns="95250">
                      <a:noAutofit/>
                    </a:bodyPr>
                    <a:lstStyle/>
                    <a:p>
                      <a:r>
                        <a:rPr sz="1800" b="1">
                          <a:solidFill>
                            <a:srgbClr val="FFFFFF"/>
                          </a:solidFill>
                          <a:latin typeface="Helvetica Neue"/>
                          <a:ea typeface="Helvetica Neue"/>
                          <a:cs typeface="Helvetica Neue"/>
                        </a:rPr>
                        <a:t>Comparison</a:t>
                      </a:r>
                    </a:p>
                  </a:txBody>
                  <a:tcPr marL="95250" marR="95250" marT="85725" marB="85725" anchor="ctr">
                    <a:solidFill>
                      <a:srgbClr val="142C40"/>
                    </a:solidFill>
                  </a:tcPr>
                </a:tc>
              </a:tr>
              <a:tr h="495300">
                <a:tc>
                  <a:txBody>
                    <a:bodyPr lIns="95250" tIns="95250" rIns="95250" bIns="95250">
                      <a:noAutofit/>
                    </a:bodyPr>
                    <a:lstStyle/>
                    <a:p>
                      <a:r>
                        <a:rPr sz="1800" b="0">
                          <a:solidFill>
                            <a:srgbClr val="142C40"/>
                          </a:solidFill>
                          <a:latin typeface="Helvetica Neue"/>
                          <a:ea typeface="Helvetica Neue"/>
                          <a:cs typeface="Helvetica Neue"/>
                        </a:rPr>
                        <a:t>RQ1: Does checking reduce errors?</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Initial vs Self-check vs Natural cross-check</a:t>
                      </a:r>
                    </a:p>
                  </a:txBody>
                  <a:tcPr marL="95250" marR="95250" marT="85725" marB="85725" anchor="ctr">
                    <a:solidFill>
                      <a:srgbClr val="FFFFFF"/>
                    </a:solidFill>
                  </a:tcPr>
                </a:tc>
              </a:tr>
              <a:tr h="495300">
                <a:tc>
                  <a:txBody>
                    <a:bodyPr lIns="95250" tIns="95250" rIns="95250" bIns="95250">
                      <a:noAutofit/>
                    </a:bodyPr>
                    <a:lstStyle/>
                    <a:p>
                      <a:r>
                        <a:rPr sz="1800" b="0">
                          <a:solidFill>
                            <a:srgbClr val="142C40"/>
                          </a:solidFill>
                          <a:latin typeface="Helvetica Neue"/>
                          <a:ea typeface="Helvetica Neue"/>
                          <a:cs typeface="Helvetica Neue"/>
                        </a:rPr>
                        <a:t>RQ2: Which method works better?</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Self-check vs Natural cross-check</a:t>
                      </a:r>
                    </a:p>
                  </a:txBody>
                  <a:tcPr marL="95250" marR="95250" marT="85725" marB="85725" anchor="ctr">
                    <a:solidFill>
                      <a:srgbClr val="EFF3F7"/>
                    </a:solidFill>
                  </a:tcPr>
                </a:tc>
              </a:tr>
              <a:tr h="495300">
                <a:tc>
                  <a:txBody>
                    <a:bodyPr lIns="95250" tIns="95250" rIns="95250" bIns="95250">
                      <a:noAutofit/>
                    </a:bodyPr>
                    <a:lstStyle/>
                    <a:p>
                      <a:r>
                        <a:rPr sz="1800" b="0">
                          <a:solidFill>
                            <a:srgbClr val="142C40"/>
                          </a:solidFill>
                          <a:latin typeface="Helvetica Neue"/>
                          <a:ea typeface="Helvetica Neue"/>
                          <a:cs typeface="Helvetica Neue"/>
                        </a:rPr>
                        <a:t>RQ3: Can a wrong peer mislead?</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Self-check vs Wrong-peer cross-check</a:t>
                      </a:r>
                    </a:p>
                  </a:txBody>
                  <a:tcPr marL="95250" marR="95250" marT="85725" marB="85725" anchor="ctr">
                    <a:solidFill>
                      <a:srgbClr val="FFFFFF"/>
                    </a:solidFill>
                  </a:tcPr>
                </a:tc>
              </a:tr>
              <a:tr h="495300">
                <a:tc>
                  <a:txBody>
                    <a:bodyPr lIns="95250" tIns="95250" rIns="95250" bIns="95250">
                      <a:noAutofit/>
                    </a:bodyPr>
                    <a:lstStyle/>
                    <a:p>
                      <a:r>
                        <a:rPr sz="1800" b="0">
                          <a:solidFill>
                            <a:srgbClr val="142C40"/>
                          </a:solidFill>
                          <a:latin typeface="Helvetica Neue"/>
                          <a:ea typeface="Helvetica Neue"/>
                          <a:cs typeface="Helvetica Neue"/>
                        </a:rPr>
                        <a:t>RQ4: Can user mistakes cause errors?</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Neutral recheck vs Human mistake</a:t>
                      </a:r>
                    </a:p>
                  </a:txBody>
                  <a:tcPr marL="95250" marR="95250" marT="85725" marB="85725" anchor="ctr">
                    <a:solidFill>
                      <a:srgbClr val="EFF3F7"/>
                    </a:solidFill>
                  </a:tcPr>
                </a:tc>
              </a:tr>
            </a:tbl>
          </a:graphicData>
        </a:graphic>
      </p:graphicFrame>
      <p:sp>
        <p:nvSpPr>
          <p:cNvPr id="6" name="Denominator">
            <a:extLst xmlns:a="http://schemas.openxmlformats.org/drawingml/2006/main">
              <a:ext uri="{FF2B5EF4-FFF2-40B4-BE49-F238E27FC236}">
                <a16:creationId xmlns:a16="http://schemas.microsoft.com/office/drawing/2014/main" id="{8386892F-0151-4195-BD3B-D352651C7FC0}"/>
              </a:ext>
            </a:extLst>
          </p:cNvPr>
          <p:cNvSpPr>
            <a:spLocks xmlns:a="http://schemas.openxmlformats.org/drawingml/2006/main" noGrp="1"/>
          </p:cNvSpPr>
          <p:nvPr/>
        </p:nvSpPr>
        <p:spPr>
          <a:xfrm xmlns:a="http://schemas.openxmlformats.org/drawingml/2006/main">
            <a:off x="571500" y="43053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 = Correct + Incorrect + Explicit abstention</a:t>
            </a:r>
          </a:p>
        </p:txBody>
      </p:sp>
      <p:sp>
        <p:nvSpPr>
          <p:cNvPr id="7" name="Error formula">
            <a:extLst xmlns:a="http://schemas.openxmlformats.org/drawingml/2006/main">
              <a:ext uri="{FF2B5EF4-FFF2-40B4-BE49-F238E27FC236}">
                <a16:creationId xmlns:a16="http://schemas.microsoft.com/office/drawing/2014/main" id="{CEF6456F-FC6A-4A73-8D34-4B7CD530DC58}"/>
              </a:ext>
            </a:extLst>
          </p:cNvPr>
          <p:cNvSpPr>
            <a:spLocks xmlns:a="http://schemas.openxmlformats.org/drawingml/2006/main" noGrp="1"/>
          </p:cNvSpPr>
          <p:nvPr/>
        </p:nvSpPr>
        <p:spPr>
          <a:xfrm xmlns:a="http://schemas.openxmlformats.org/drawingml/2006/main">
            <a:off x="571500" y="47720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857C"/>
                </a:solidFill>
                <a:latin typeface="Helvetica Neue"/>
                <a:ea typeface="Helvetica Neue"/>
                <a:cs typeface="Helvetica Neue"/>
              </a:defRPr>
            </a:pPr>
            <a:r>
              <a:rPr sz="2250" b="1">
                <a:solidFill>
                  <a:srgbClr val="00857C"/>
                </a:solidFill>
                <a:latin typeface="Helvetica Neue"/>
                <a:ea typeface="Helvetica Neue"/>
                <a:cs typeface="Helvetica Neue"/>
              </a:rPr>
              <a:t>Error rate = Incorrect / N</a:t>
            </a:r>
          </a:p>
        </p:txBody>
      </p:sp>
      <p:sp>
        <p:nvSpPr>
          <p:cNvPr id="8" name="Noncorrect formula">
            <a:extLst xmlns:a="http://schemas.openxmlformats.org/drawingml/2006/main">
              <a:ext uri="{FF2B5EF4-FFF2-40B4-BE49-F238E27FC236}">
                <a16:creationId xmlns:a16="http://schemas.microsoft.com/office/drawing/2014/main" id="{1CDF45D5-590B-46B2-814F-30202AD8F9B2}"/>
              </a:ext>
            </a:extLst>
          </p:cNvPr>
          <p:cNvSpPr>
            <a:spLocks xmlns:a="http://schemas.openxmlformats.org/drawingml/2006/main" noGrp="1"/>
          </p:cNvSpPr>
          <p:nvPr/>
        </p:nvSpPr>
        <p:spPr>
          <a:xfrm xmlns:a="http://schemas.openxmlformats.org/drawingml/2006/main">
            <a:off x="571500" y="52482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D58A25"/>
                </a:solidFill>
                <a:latin typeface="Helvetica Neue"/>
                <a:ea typeface="Helvetica Neue"/>
                <a:cs typeface="Helvetica Neue"/>
              </a:defRPr>
            </a:pPr>
            <a:r>
              <a:rPr sz="2250" b="1">
                <a:solidFill>
                  <a:srgbClr val="D58A25"/>
                </a:solidFill>
                <a:latin typeface="Helvetica Neue"/>
                <a:ea typeface="Helvetica Neue"/>
                <a:cs typeface="Helvetica Neue"/>
              </a:rPr>
              <a:t>Non-correct rate = (Incorrect + Abstention) / N</a:t>
            </a:r>
          </a:p>
        </p:txBody>
      </p:sp>
      <p:sp>
        <p:nvSpPr>
          <p:cNvPr id="9" name="Footnote">
            <a:extLst xmlns:a="http://schemas.openxmlformats.org/drawingml/2006/main">
              <a:ext uri="{FF2B5EF4-FFF2-40B4-BE49-F238E27FC236}">
                <a16:creationId xmlns:a16="http://schemas.microsoft.com/office/drawing/2014/main" id="{901026DD-95D0-4A8C-AEF0-31761BA4A0A3}"/>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Use matched cases for comparisons. Report technical exclusions separately.</a:t>
            </a:r>
          </a:p>
        </p:txBody>
      </p:sp>
    </p:spTree>
    <p:extLst>
      <p:ext uri="{BB962C8B-B14F-4D97-AF65-F5344CB8AC3E}">
        <p14:creationId xmlns:p14="http://schemas.microsoft.com/office/powerpoint/2010/main" val="1603273622"/>
      </p:ext>
    </p:extLst>
  </p:cSld>
</p:sld>
</file>

<file path=ppt/slides/slide1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6173CB67-D526-4D44-BEC4-FFB4ACA7B02E}"/>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RESULTS  •  RQ1</a:t>
            </a:r>
          </a:p>
        </p:txBody>
      </p:sp>
      <p:sp>
        <p:nvSpPr>
          <p:cNvPr id="2" name="Title">
            <a:extLst xmlns:a="http://schemas.openxmlformats.org/drawingml/2006/main">
              <a:ext uri="{FF2B5EF4-FFF2-40B4-BE49-F238E27FC236}">
                <a16:creationId xmlns:a16="http://schemas.microsoft.com/office/drawing/2014/main" id="{8B858B5B-6507-44FE-8224-A4D70518176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Does double-checking reduce errors?</a:t>
            </a:r>
          </a:p>
        </p:txBody>
      </p:sp>
      <p:sp>
        <p:nvSpPr>
          <p:cNvPr id="3" name="">
            <a:extLst xmlns:a="http://schemas.openxmlformats.org/drawingml/2006/main">
              <a:ext uri="{FF2B5EF4-FFF2-40B4-BE49-F238E27FC236}">
                <a16:creationId xmlns:a16="http://schemas.microsoft.com/office/drawing/2014/main" id="{22865400-7711-4D37-B6D8-F5AC862C7CDE}"/>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7EA9624E-0634-47AA-A916-7AE2C069D4FA}"/>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14</a:t>
            </a:r>
          </a:p>
        </p:txBody>
      </p:sp>
      <p:sp>
        <p:nvSpPr>
          <p:cNvPr id="5" name="Pending graph">
            <a:extLst xmlns:a="http://schemas.openxmlformats.org/drawingml/2006/main">
              <a:ext uri="{FF2B5EF4-FFF2-40B4-BE49-F238E27FC236}">
                <a16:creationId xmlns:a16="http://schemas.microsoft.com/office/drawing/2014/main" id="{7C85FF2D-D3A7-45C2-BCD1-FEFF8161DD86}"/>
              </a:ext>
            </a:extLst>
          </p:cNvPr>
          <p:cNvSpPr>
            <a:spLocks xmlns:a="http://schemas.openxmlformats.org/drawingml/2006/main" noGrp="1"/>
          </p:cNvSpPr>
          <p:nvPr/>
        </p:nvSpPr>
        <p:spPr>
          <a:xfrm xmlns:a="http://schemas.openxmlformats.org/drawingml/2006/main">
            <a:off x="571500" y="15621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857C"/>
                </a:solidFill>
                <a:latin typeface="Helvetica Neue"/>
                <a:ea typeface="Helvetica Neue"/>
                <a:cs typeface="Helvetica Neue"/>
              </a:defRPr>
            </a:pPr>
            <a:r>
              <a:rPr sz="2250" b="1">
                <a:solidFill>
                  <a:srgbClr val="00857C"/>
                </a:solidFill>
                <a:latin typeface="Helvetica Neue"/>
                <a:ea typeface="Helvetica Neue"/>
                <a:cs typeface="Helvetica Neue"/>
              </a:rPr>
              <a:t>Paired error-rate comparison</a:t>
            </a:r>
          </a:p>
        </p:txBody>
      </p:sp>
      <p:graphicFrame>
        <p:nvGraphicFramePr>
          <p:cNvPr id="14" name=""/>
          <p:cNvGraphicFramePr/>
          <p:nvPr/>
        </p:nvGraphicFramePr>
        <p:xfrm>
          <a:off xmlns:a="http://schemas.openxmlformats.org/drawingml/2006/main" x="571500" y="2200275"/>
          <a:ext xmlns:a="http://schemas.openxmlformats.org/drawingml/2006/main" cx="11049000" cy="2438400"/>
        </p:xfrm>
        <a:graphic xmlns:a="http://schemas.openxmlformats.org/drawingml/2006/main">
          <a:graphicData uri="http://schemas.openxmlformats.org/drawingml/2006/table">
            <a:tbl>
              <a:tblPr/>
              <a:tblGrid>
                <a:gridCol w="3333750"/>
                <a:gridCol w="2476500"/>
                <a:gridCol w="2857500"/>
                <a:gridCol w="2381250"/>
              </a:tblGrid>
              <a:tr h="609600">
                <a:tc>
                  <a:txBody>
                    <a:bodyPr lIns="95250" tIns="95250" rIns="95250" bIns="95250">
                      <a:noAutofit/>
                    </a:bodyPr>
                    <a:lstStyle/>
                    <a:p>
                      <a:r>
                        <a:rPr sz="1875" b="1">
                          <a:solidFill>
                            <a:srgbClr val="FFFFFF"/>
                          </a:solidFill>
                          <a:latin typeface="Helvetica Neue"/>
                          <a:ea typeface="Helvetica Neue"/>
                          <a:cs typeface="Helvetica Neue"/>
                        </a:rPr>
                        <a:t>Method</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Error rate</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Non-correct rate</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Scored pairs</a:t>
                      </a:r>
                    </a:p>
                  </a:txBody>
                  <a:tcPr marL="95250" marR="95250" marT="85725" marB="85725" anchor="ctr">
                    <a:solidFill>
                      <a:srgbClr val="142C40"/>
                    </a:solidFill>
                  </a:tcPr>
                </a:tc>
              </a:tr>
              <a:tr h="609600">
                <a:tc>
                  <a:txBody>
                    <a:bodyPr lIns="95250" tIns="95250" rIns="95250" bIns="95250">
                      <a:noAutofit/>
                    </a:bodyPr>
                    <a:lstStyle/>
                    <a:p>
                      <a:r>
                        <a:rPr sz="1875" b="0">
                          <a:solidFill>
                            <a:srgbClr val="142C40"/>
                          </a:solidFill>
                          <a:latin typeface="Helvetica Neue"/>
                          <a:ea typeface="Helvetica Neue"/>
                          <a:cs typeface="Helvetica Neue"/>
                        </a:rPr>
                        <a:t>Initial answer</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FFFFFF"/>
                    </a:solidFill>
                  </a:tcPr>
                </a:tc>
              </a:tr>
              <a:tr h="609600">
                <a:tc>
                  <a:txBody>
                    <a:bodyPr lIns="95250" tIns="95250" rIns="95250" bIns="95250">
                      <a:noAutofit/>
                    </a:bodyPr>
                    <a:lstStyle/>
                    <a:p>
                      <a:r>
                        <a:rPr sz="1875" b="0">
                          <a:solidFill>
                            <a:srgbClr val="142C40"/>
                          </a:solidFill>
                          <a:latin typeface="Helvetica Neue"/>
                          <a:ea typeface="Helvetica Neue"/>
                          <a:cs typeface="Helvetica Neue"/>
                        </a:rPr>
                        <a:t>Self-check</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same N</a:t>
                      </a:r>
                    </a:p>
                  </a:txBody>
                  <a:tcPr marL="95250" marR="95250" marT="85725" marB="85725" anchor="ctr">
                    <a:solidFill>
                      <a:srgbClr val="EFF3F7"/>
                    </a:solidFill>
                  </a:tcPr>
                </a:tc>
              </a:tr>
              <a:tr h="609600">
                <a:tc>
                  <a:txBody>
                    <a:bodyPr lIns="95250" tIns="95250" rIns="95250" bIns="95250">
                      <a:noAutofit/>
                    </a:bodyPr>
                    <a:lstStyle/>
                    <a:p>
                      <a:r>
                        <a:rPr sz="1875" b="0">
                          <a:solidFill>
                            <a:srgbClr val="142C40"/>
                          </a:solidFill>
                          <a:latin typeface="Helvetica Neue"/>
                          <a:ea typeface="Helvetica Neue"/>
                          <a:cs typeface="Helvetica Neue"/>
                        </a:rPr>
                        <a:t>Natural cross-check</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same N</a:t>
                      </a:r>
                    </a:p>
                  </a:txBody>
                  <a:tcPr marL="95250" marR="95250" marT="85725" marB="85725" anchor="ctr">
                    <a:solidFill>
                      <a:srgbClr val="FFFFFF"/>
                    </a:solidFill>
                  </a:tcPr>
                </a:tc>
              </a:tr>
            </a:tbl>
          </a:graphicData>
        </a:graphic>
      </p:graphicFrame>
      <p:sp>
        <p:nvSpPr>
          <p:cNvPr id="7" name="Net reduction">
            <a:extLst xmlns:a="http://schemas.openxmlformats.org/drawingml/2006/main">
              <a:ext uri="{FF2B5EF4-FFF2-40B4-BE49-F238E27FC236}">
                <a16:creationId xmlns:a16="http://schemas.microsoft.com/office/drawing/2014/main" id="{19CE70FC-866C-419C-B15D-960931BF14CD}"/>
              </a:ext>
            </a:extLst>
          </p:cNvPr>
          <p:cNvSpPr>
            <a:spLocks xmlns:a="http://schemas.openxmlformats.org/drawingml/2006/main" noGrp="1"/>
          </p:cNvSpPr>
          <p:nvPr/>
        </p:nvSpPr>
        <p:spPr>
          <a:xfrm xmlns:a="http://schemas.openxmlformats.org/drawingml/2006/main">
            <a:off x="571500" y="498157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Net reduction vs initial: PENDING percentage points</a:t>
            </a:r>
          </a:p>
        </p:txBody>
      </p:sp>
      <p:sp>
        <p:nvSpPr>
          <p:cNvPr id="8" name="Footnote">
            <a:extLst xmlns:a="http://schemas.openxmlformats.org/drawingml/2006/main">
              <a:ext uri="{FF2B5EF4-FFF2-40B4-BE49-F238E27FC236}">
                <a16:creationId xmlns:a16="http://schemas.microsoft.com/office/drawing/2014/main" id="{38EAC8BF-3213-4389-8591-541192B4F514}"/>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Comparative results pending. Unknown values are not zero.</a:t>
            </a:r>
          </a:p>
        </p:txBody>
      </p:sp>
    </p:spTree>
    <p:extLst>
      <p:ext uri="{BB962C8B-B14F-4D97-AF65-F5344CB8AC3E}">
        <p14:creationId xmlns:p14="http://schemas.microsoft.com/office/powerpoint/2010/main" val="1942090552"/>
      </p:ext>
    </p:extLst>
  </p:cSld>
</p:sld>
</file>

<file path=ppt/slides/slide1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62AA76C2-D591-4169-9207-21AB61C9845E}"/>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RESULTS  •  RQ2</a:t>
            </a:r>
          </a:p>
        </p:txBody>
      </p:sp>
      <p:sp>
        <p:nvSpPr>
          <p:cNvPr id="2" name="Title">
            <a:extLst xmlns:a="http://schemas.openxmlformats.org/drawingml/2006/main">
              <a:ext uri="{FF2B5EF4-FFF2-40B4-BE49-F238E27FC236}">
                <a16:creationId xmlns:a16="http://schemas.microsoft.com/office/drawing/2014/main" id="{D5A06446-61AB-4E33-8AFA-6BE055BEB38A}"/>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Checking methods and error correction</a:t>
            </a:r>
          </a:p>
        </p:txBody>
      </p:sp>
      <p:sp>
        <p:nvSpPr>
          <p:cNvPr id="3" name="">
            <a:extLst xmlns:a="http://schemas.openxmlformats.org/drawingml/2006/main">
              <a:ext uri="{FF2B5EF4-FFF2-40B4-BE49-F238E27FC236}">
                <a16:creationId xmlns:a16="http://schemas.microsoft.com/office/drawing/2014/main" id="{E177C1E8-B532-41A0-8DCD-2BA50E6D53F2}"/>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5B01F0D4-7734-4D86-A14A-945F7544722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15</a:t>
            </a:r>
          </a:p>
        </p:txBody>
      </p:sp>
      <p:sp>
        <p:nvSpPr>
          <p:cNvPr id="5" name="Overall comparison">
            <a:extLst xmlns:a="http://schemas.openxmlformats.org/drawingml/2006/main">
              <a:ext uri="{FF2B5EF4-FFF2-40B4-BE49-F238E27FC236}">
                <a16:creationId xmlns:a16="http://schemas.microsoft.com/office/drawing/2014/main" id="{25E65464-7691-4C63-8947-0BC1308E4EF8}"/>
              </a:ext>
            </a:extLst>
          </p:cNvPr>
          <p:cNvSpPr>
            <a:spLocks xmlns:a="http://schemas.openxmlformats.org/drawingml/2006/main" noGrp="1"/>
          </p:cNvSpPr>
          <p:nvPr/>
        </p:nvSpPr>
        <p:spPr>
          <a:xfrm xmlns:a="http://schemas.openxmlformats.org/drawingml/2006/main">
            <a:off x="571500" y="1571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857C"/>
                </a:solidFill>
                <a:latin typeface="Helvetica Neue"/>
                <a:ea typeface="Helvetica Neue"/>
                <a:cs typeface="Helvetica Neue"/>
              </a:defRPr>
            </a:pPr>
            <a:r>
              <a:rPr sz="2100" b="1">
                <a:solidFill>
                  <a:srgbClr val="00857C"/>
                </a:solidFill>
                <a:latin typeface="Helvetica Neue"/>
                <a:ea typeface="Helvetica Neue"/>
                <a:cs typeface="Helvetica Neue"/>
              </a:rPr>
              <a:t>Overall comparison on the same paired questions</a:t>
            </a:r>
          </a:p>
        </p:txBody>
      </p:sp>
      <p:graphicFrame>
        <p:nvGraphicFramePr>
          <p:cNvPr id="15" name=""/>
          <p:cNvGraphicFramePr/>
          <p:nvPr/>
        </p:nvGraphicFramePr>
        <p:xfrm>
          <a:off xmlns:a="http://schemas.openxmlformats.org/drawingml/2006/main" x="571500" y="2095500"/>
          <a:ext xmlns:a="http://schemas.openxmlformats.org/drawingml/2006/main" cx="11049000" cy="1628775"/>
        </p:xfrm>
        <a:graphic xmlns:a="http://schemas.openxmlformats.org/drawingml/2006/main">
          <a:graphicData uri="http://schemas.openxmlformats.org/drawingml/2006/table">
            <a:tbl>
              <a:tblPr/>
              <a:tblGrid>
                <a:gridCol w="3476625"/>
                <a:gridCol w="2857500"/>
                <a:gridCol w="4714875"/>
              </a:tblGrid>
              <a:tr h="542925">
                <a:tc>
                  <a:txBody>
                    <a:bodyPr lIns="95250" tIns="95250" rIns="95250" bIns="95250">
                      <a:noAutofit/>
                    </a:bodyPr>
                    <a:lstStyle/>
                    <a:p>
                      <a:r>
                        <a:rPr sz="1875" b="1">
                          <a:solidFill>
                            <a:srgbClr val="FFFFFF"/>
                          </a:solidFill>
                          <a:latin typeface="Helvetica Neue"/>
                          <a:ea typeface="Helvetica Neue"/>
                          <a:cs typeface="Helvetica Neue"/>
                        </a:rPr>
                        <a:t>Method</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Error rate</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Difference from initial</a:t>
                      </a:r>
                    </a:p>
                  </a:txBody>
                  <a:tcPr marL="95250" marR="95250" marT="85725" marB="85725" anchor="ctr">
                    <a:solidFill>
                      <a:srgbClr val="142C40"/>
                    </a:solidFill>
                  </a:tcPr>
                </a:tc>
              </a:tr>
              <a:tr h="542925">
                <a:tc>
                  <a:txBody>
                    <a:bodyPr lIns="95250" tIns="95250" rIns="95250" bIns="95250">
                      <a:noAutofit/>
                    </a:bodyPr>
                    <a:lstStyle/>
                    <a:p>
                      <a:r>
                        <a:rPr sz="1875" b="0">
                          <a:solidFill>
                            <a:srgbClr val="142C40"/>
                          </a:solidFill>
                          <a:latin typeface="Helvetica Neue"/>
                          <a:ea typeface="Helvetica Neue"/>
                          <a:cs typeface="Helvetica Neue"/>
                        </a:rPr>
                        <a:t>Self-check</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 pp</a:t>
                      </a:r>
                    </a:p>
                  </a:txBody>
                  <a:tcPr marL="95250" marR="95250" marT="85725" marB="85725" anchor="ctr">
                    <a:solidFill>
                      <a:srgbClr val="FFFFFF"/>
                    </a:solidFill>
                  </a:tcPr>
                </a:tc>
              </a:tr>
              <a:tr h="542925">
                <a:tc>
                  <a:txBody>
                    <a:bodyPr lIns="95250" tIns="95250" rIns="95250" bIns="95250">
                      <a:noAutofit/>
                    </a:bodyPr>
                    <a:lstStyle/>
                    <a:p>
                      <a:r>
                        <a:rPr sz="1875" b="0">
                          <a:solidFill>
                            <a:srgbClr val="142C40"/>
                          </a:solidFill>
                          <a:latin typeface="Helvetica Neue"/>
                          <a:ea typeface="Helvetica Neue"/>
                          <a:cs typeface="Helvetica Neue"/>
                        </a:rPr>
                        <a:t>Natural cross-check</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PENDING pp</a:t>
                      </a:r>
                    </a:p>
                  </a:txBody>
                  <a:tcPr marL="95250" marR="95250" marT="85725" marB="85725" anchor="ctr">
                    <a:solidFill>
                      <a:srgbClr val="EFF3F7"/>
                    </a:solidFill>
                  </a:tcPr>
                </a:tc>
              </a:tr>
            </a:tbl>
          </a:graphicData>
        </a:graphic>
      </p:graphicFrame>
      <p:sp>
        <p:nvSpPr>
          <p:cNvPr id="7" name="Correct peer subset">
            <a:extLst xmlns:a="http://schemas.openxmlformats.org/drawingml/2006/main">
              <a:ext uri="{FF2B5EF4-FFF2-40B4-BE49-F238E27FC236}">
                <a16:creationId xmlns:a16="http://schemas.microsoft.com/office/drawing/2014/main" id="{7030D117-02E2-4168-8F69-E1CED6AFBDB2}"/>
              </a:ext>
            </a:extLst>
          </p:cNvPr>
          <p:cNvSpPr>
            <a:spLocks xmlns:a="http://schemas.openxmlformats.org/drawingml/2006/main" noGrp="1"/>
          </p:cNvSpPr>
          <p:nvPr/>
        </p:nvSpPr>
        <p:spPr>
          <a:xfrm xmlns:a="http://schemas.openxmlformats.org/drawingml/2006/main">
            <a:off x="571500" y="4010025"/>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MiniMax initially wrong + DeepSeek initially correct</a:t>
            </a:r>
          </a:p>
        </p:txBody>
      </p:sp>
      <p:sp>
        <p:nvSpPr>
          <p:cNvPr id="8" name="Subset outcomes">
            <a:extLst xmlns:a="http://schemas.openxmlformats.org/drawingml/2006/main">
              <a:ext uri="{FF2B5EF4-FFF2-40B4-BE49-F238E27FC236}">
                <a16:creationId xmlns:a16="http://schemas.microsoft.com/office/drawing/2014/main" id="{AB2AFE57-AEEF-45E3-99B0-D5D426246DA0}"/>
              </a:ext>
            </a:extLst>
          </p:cNvPr>
          <p:cNvSpPr>
            <a:spLocks xmlns:a="http://schemas.openxmlformats.org/drawingml/2006/main" noGrp="1"/>
          </p:cNvSpPr>
          <p:nvPr/>
        </p:nvSpPr>
        <p:spPr>
          <a:xfrm xmlns:a="http://schemas.openxmlformats.org/drawingml/2006/main">
            <a:off x="571500" y="454342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6"/>
                </a:solidFill>
                <a:latin typeface="Helvetica Neue"/>
                <a:ea typeface="Helvetica Neue"/>
                <a:cs typeface="Helvetica Neue"/>
              </a:defRPr>
            </a:pPr>
            <a:r>
              <a:rPr sz="1950" b="0">
                <a:solidFill>
                  <a:srgbClr val="657586"/>
                </a:solidFill>
                <a:latin typeface="Helvetica Neue"/>
                <a:ea typeface="Helvetica Neue"/>
                <a:cs typeface="Helvetica Neue"/>
              </a:rPr>
              <a:t>Eligible cases: PENDING</a:t>
            </a:r>
          </a:p>
          <a:p xmlns:a="http://schemas.openxmlformats.org/drawingml/2006/main">
            <a:pPr algn="l">
              <a:defRPr sz="1950" b="0">
                <a:solidFill>
                  <a:srgbClr val="657586"/>
                </a:solidFill>
                <a:latin typeface="Helvetica Neue"/>
                <a:ea typeface="Helvetica Neue"/>
                <a:cs typeface="Helvetica Neue"/>
              </a:defRPr>
            </a:pPr>
            <a:r>
              <a:rPr sz="1950" b="0">
                <a:solidFill>
                  <a:srgbClr val="657586"/>
                </a:solidFill>
                <a:latin typeface="Helvetica Neue"/>
                <a:ea typeface="Helvetica Neue"/>
                <a:cs typeface="Helvetica Neue"/>
              </a:rPr>
              <a:t>Errors corrected: PENDING / PENDING</a:t>
            </a:r>
          </a:p>
          <a:p xmlns:a="http://schemas.openxmlformats.org/drawingml/2006/main">
            <a:pPr algn="l">
              <a:defRPr sz="1950" b="0">
                <a:solidFill>
                  <a:srgbClr val="657586"/>
                </a:solidFill>
                <a:latin typeface="Helvetica Neue"/>
                <a:ea typeface="Helvetica Neue"/>
                <a:cs typeface="Helvetica Neue"/>
              </a:defRPr>
            </a:pPr>
            <a:r>
              <a:rPr sz="1950" b="0">
                <a:solidFill>
                  <a:srgbClr val="657586"/>
                </a:solidFill>
                <a:latin typeface="Helvetica Neue"/>
                <a:ea typeface="Helvetica Neue"/>
                <a:cs typeface="Helvetica Neue"/>
              </a:rPr>
              <a:t>Errors eliminated: PENDING% (correct answers or abstentions)</a:t>
            </a:r>
          </a:p>
        </p:txBody>
      </p:sp>
      <p:sp>
        <p:nvSpPr>
          <p:cNvPr id="9" name="Footnote">
            <a:extLst xmlns:a="http://schemas.openxmlformats.org/drawingml/2006/main">
              <a:ext uri="{FF2B5EF4-FFF2-40B4-BE49-F238E27FC236}">
                <a16:creationId xmlns:a16="http://schemas.microsoft.com/office/drawing/2014/main" id="{908BA28A-A8AE-47A3-8377-634F3E86B764}"/>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Subset error elimination and overall net improvement use different denominators.</a:t>
            </a:r>
          </a:p>
        </p:txBody>
      </p:sp>
    </p:spTree>
    <p:extLst>
      <p:ext uri="{BB962C8B-B14F-4D97-AF65-F5344CB8AC3E}">
        <p14:creationId xmlns:p14="http://schemas.microsoft.com/office/powerpoint/2010/main" val="1910343098"/>
      </p:ext>
    </p:extLst>
  </p:cSld>
</p:sld>
</file>

<file path=ppt/slides/slide1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2C4664AF-43A6-460E-A97D-0024A2036D09}"/>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RESULTS  •  RQ3 + RQ4</a:t>
            </a:r>
          </a:p>
        </p:txBody>
      </p:sp>
      <p:sp>
        <p:nvSpPr>
          <p:cNvPr id="2" name="Title">
            <a:extLst xmlns:a="http://schemas.openxmlformats.org/drawingml/2006/main">
              <a:ext uri="{FF2B5EF4-FFF2-40B4-BE49-F238E27FC236}">
                <a16:creationId xmlns:a16="http://schemas.microsoft.com/office/drawing/2014/main" id="{9BF0A6BC-A109-45FE-9C81-7EA6570EEF73}"/>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Can incorrect feedback overturn a correct answer?</a:t>
            </a:r>
          </a:p>
        </p:txBody>
      </p:sp>
      <p:sp>
        <p:nvSpPr>
          <p:cNvPr id="3" name="">
            <a:extLst xmlns:a="http://schemas.openxmlformats.org/drawingml/2006/main">
              <a:ext uri="{FF2B5EF4-FFF2-40B4-BE49-F238E27FC236}">
                <a16:creationId xmlns:a16="http://schemas.microsoft.com/office/drawing/2014/main" id="{D5826E73-91E4-46C4-B3D8-8DBEE2293D10}"/>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BD4B899B-FF92-4FAE-82AB-A6D7C35073CD}"/>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16</a:t>
            </a:r>
          </a:p>
        </p:txBody>
      </p:sp>
      <p:sp>
        <p:nvSpPr>
          <p:cNvPr id="5" name="Peer heading">
            <a:extLst xmlns:a="http://schemas.openxmlformats.org/drawingml/2006/main">
              <a:ext uri="{FF2B5EF4-FFF2-40B4-BE49-F238E27FC236}">
                <a16:creationId xmlns:a16="http://schemas.microsoft.com/office/drawing/2014/main" id="{5BCB48AF-B5E5-41D1-9C89-C2B44E423E5E}"/>
              </a:ext>
            </a:extLst>
          </p:cNvPr>
          <p:cNvSpPr>
            <a:spLocks xmlns:a="http://schemas.openxmlformats.org/drawingml/2006/main" noGrp="1"/>
          </p:cNvSpPr>
          <p:nvPr/>
        </p:nvSpPr>
        <p:spPr>
          <a:xfrm xmlns:a="http://schemas.openxmlformats.org/drawingml/2006/main">
            <a:off x="571500" y="15906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857C"/>
                </a:solidFill>
                <a:latin typeface="Helvetica Neue"/>
                <a:ea typeface="Helvetica Neue"/>
                <a:cs typeface="Helvetica Neue"/>
              </a:defRPr>
            </a:pPr>
            <a:r>
              <a:rPr sz="2250" b="1">
                <a:solidFill>
                  <a:srgbClr val="00857C"/>
                </a:solidFill>
                <a:latin typeface="Helvetica Neue"/>
                <a:ea typeface="Helvetica Neue"/>
                <a:cs typeface="Helvetica Neue"/>
              </a:rPr>
              <a:t>Wrong peer response</a:t>
            </a:r>
          </a:p>
        </p:txBody>
      </p:sp>
      <p:sp>
        <p:nvSpPr>
          <p:cNvPr id="6" name="Human heading">
            <a:extLst xmlns:a="http://schemas.openxmlformats.org/drawingml/2006/main">
              <a:ext uri="{FF2B5EF4-FFF2-40B4-BE49-F238E27FC236}">
                <a16:creationId xmlns:a16="http://schemas.microsoft.com/office/drawing/2014/main" id="{88E99560-8943-4E09-AB83-798B15C07A84}"/>
              </a:ext>
            </a:extLst>
          </p:cNvPr>
          <p:cNvSpPr>
            <a:spLocks xmlns:a="http://schemas.openxmlformats.org/drawingml/2006/main" noGrp="1"/>
          </p:cNvSpPr>
          <p:nvPr/>
        </p:nvSpPr>
        <p:spPr>
          <a:xfrm xmlns:a="http://schemas.openxmlformats.org/drawingml/2006/main">
            <a:off x="6429375" y="15906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D58A25"/>
                </a:solidFill>
                <a:latin typeface="Helvetica Neue"/>
                <a:ea typeface="Helvetica Neue"/>
                <a:cs typeface="Helvetica Neue"/>
              </a:defRPr>
            </a:pPr>
            <a:r>
              <a:rPr sz="2250" b="1">
                <a:solidFill>
                  <a:srgbClr val="D58A25"/>
                </a:solidFill>
                <a:latin typeface="Helvetica Neue"/>
                <a:ea typeface="Helvetica Neue"/>
                <a:cs typeface="Helvetica Neue"/>
              </a:rPr>
              <a:t>Scripted user mistake</a:t>
            </a:r>
          </a:p>
        </p:txBody>
      </p:sp>
      <p:sp>
        <p:nvSpPr>
          <p:cNvPr id="7" name="Peer denominator">
            <a:extLst xmlns:a="http://schemas.openxmlformats.org/drawingml/2006/main">
              <a:ext uri="{FF2B5EF4-FFF2-40B4-BE49-F238E27FC236}">
                <a16:creationId xmlns:a16="http://schemas.microsoft.com/office/drawing/2014/main" id="{9362AF60-E926-40A7-835E-A2C07C0EB5F2}"/>
              </a:ext>
            </a:extLst>
          </p:cNvPr>
          <p:cNvSpPr>
            <a:spLocks xmlns:a="http://schemas.openxmlformats.org/drawingml/2006/main" noGrp="1"/>
          </p:cNvSpPr>
          <p:nvPr/>
        </p:nvSpPr>
        <p:spPr>
          <a:xfrm xmlns:a="http://schemas.openxmlformats.org/drawingml/2006/main">
            <a:off x="571500" y="2143125"/>
            <a:ext cx="5191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Initially correct MiniMax</a:t>
            </a:r>
          </a:p>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receives a wrong peer response</a:t>
            </a:r>
          </a:p>
        </p:txBody>
      </p:sp>
      <p:sp>
        <p:nvSpPr>
          <p:cNvPr id="8" name="Human denominator">
            <a:extLst xmlns:a="http://schemas.openxmlformats.org/drawingml/2006/main">
              <a:ext uri="{FF2B5EF4-FFF2-40B4-BE49-F238E27FC236}">
                <a16:creationId xmlns:a16="http://schemas.microsoft.com/office/drawing/2014/main" id="{C4457CA7-D898-4BF7-A087-6A6AC503E48A}"/>
              </a:ext>
            </a:extLst>
          </p:cNvPr>
          <p:cNvSpPr>
            <a:spLocks xmlns:a="http://schemas.openxmlformats.org/drawingml/2006/main" noGrp="1"/>
          </p:cNvSpPr>
          <p:nvPr/>
        </p:nvSpPr>
        <p:spPr>
          <a:xfrm xmlns:a="http://schemas.openxmlformats.org/drawingml/2006/main">
            <a:off x="6429375" y="2143125"/>
            <a:ext cx="5191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Initially correct model</a:t>
            </a:r>
          </a:p>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receives a false answer and explanation</a:t>
            </a:r>
          </a:p>
        </p:txBody>
      </p:sp>
      <p:graphicFrame>
        <p:nvGraphicFramePr>
          <p:cNvPr id="21" name=""/>
          <p:cNvGraphicFramePr/>
          <p:nvPr/>
        </p:nvGraphicFramePr>
        <p:xfrm>
          <a:off xmlns:a="http://schemas.openxmlformats.org/drawingml/2006/main" x="571500" y="3181350"/>
          <a:ext xmlns:a="http://schemas.openxmlformats.org/drawingml/2006/main" cx="5191125" cy="1695450"/>
        </p:xfrm>
        <a:graphic xmlns:a="http://schemas.openxmlformats.org/drawingml/2006/main">
          <a:graphicData uri="http://schemas.openxmlformats.org/drawingml/2006/table">
            <a:tbl>
              <a:tblPr/>
              <a:tblGrid>
                <a:gridCol w="2714625"/>
                <a:gridCol w="2476500"/>
              </a:tblGrid>
              <a:tr h="565150">
                <a:tc>
                  <a:txBody>
                    <a:bodyPr lIns="95250" tIns="95250" rIns="95250" bIns="95250">
                      <a:noAutofit/>
                    </a:bodyPr>
                    <a:lstStyle/>
                    <a:p>
                      <a:r>
                        <a:rPr sz="1800" b="1">
                          <a:solidFill>
                            <a:srgbClr val="FFFFFF"/>
                          </a:solidFill>
                          <a:latin typeface="Helvetica Neue"/>
                          <a:ea typeface="Helvetica Neue"/>
                          <a:cs typeface="Helvetica Neue"/>
                        </a:rPr>
                        <a:t>Condition</a:t>
                      </a:r>
                    </a:p>
                  </a:txBody>
                  <a:tcPr marL="95250" marR="95250" marT="85725" marB="85725" anchor="ctr">
                    <a:solidFill>
                      <a:srgbClr val="142C40"/>
                    </a:solidFill>
                  </a:tcPr>
                </a:tc>
                <a:tc>
                  <a:txBody>
                    <a:bodyPr lIns="95250" tIns="95250" rIns="95250" bIns="95250">
                      <a:noAutofit/>
                    </a:bodyPr>
                    <a:lstStyle/>
                    <a:p>
                      <a:r>
                        <a:rPr sz="1800" b="1">
                          <a:solidFill>
                            <a:srgbClr val="FFFFFF"/>
                          </a:solidFill>
                          <a:latin typeface="Helvetica Neue"/>
                          <a:ea typeface="Helvetica Neue"/>
                          <a:cs typeface="Helvetica Neue"/>
                        </a:rPr>
                        <a:t>Correct-to-wrong</a:t>
                      </a:r>
                    </a:p>
                  </a:txBody>
                  <a:tcPr marL="95250" marR="95250" marT="85725" marB="85725" anchor="ctr">
                    <a:solidFill>
                      <a:srgbClr val="142C40"/>
                    </a:solidFill>
                  </a:tcPr>
                </a:tc>
              </a:tr>
              <a:tr h="565150">
                <a:tc>
                  <a:txBody>
                    <a:bodyPr lIns="95250" tIns="95250" rIns="95250" bIns="95250">
                      <a:noAutofit/>
                    </a:bodyPr>
                    <a:lstStyle/>
                    <a:p>
                      <a:r>
                        <a:rPr sz="1800" b="0">
                          <a:solidFill>
                            <a:srgbClr val="142C40"/>
                          </a:solidFill>
                          <a:latin typeface="Helvetica Neue"/>
                          <a:ea typeface="Helvetica Neue"/>
                          <a:cs typeface="Helvetica Neue"/>
                        </a:rPr>
                        <a:t>Self-check</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PENDING / N</a:t>
                      </a:r>
                    </a:p>
                  </a:txBody>
                  <a:tcPr marL="95250" marR="95250" marT="85725" marB="85725" anchor="ctr">
                    <a:solidFill>
                      <a:srgbClr val="FFFFFF"/>
                    </a:solidFill>
                  </a:tcPr>
                </a:tc>
              </a:tr>
              <a:tr h="565150">
                <a:tc>
                  <a:txBody>
                    <a:bodyPr lIns="95250" tIns="95250" rIns="95250" bIns="95250">
                      <a:noAutofit/>
                    </a:bodyPr>
                    <a:lstStyle/>
                    <a:p>
                      <a:r>
                        <a:rPr sz="1800" b="0">
                          <a:solidFill>
                            <a:srgbClr val="142C40"/>
                          </a:solidFill>
                          <a:latin typeface="Helvetica Neue"/>
                          <a:ea typeface="Helvetica Neue"/>
                          <a:cs typeface="Helvetica Neue"/>
                        </a:rPr>
                        <a:t>Wrong-peer check</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PENDING / N</a:t>
                      </a:r>
                    </a:p>
                  </a:txBody>
                  <a:tcPr marL="95250" marR="95250" marT="85725" marB="85725" anchor="ctr">
                    <a:solidFill>
                      <a:srgbClr val="EFF3F7"/>
                    </a:solidFill>
                  </a:tcPr>
                </a:tc>
              </a:tr>
            </a:tbl>
          </a:graphicData>
        </a:graphic>
      </p:graphicFrame>
      <p:graphicFrame>
        <p:nvGraphicFramePr>
          <p:cNvPr id="22" name=""/>
          <p:cNvGraphicFramePr/>
          <p:nvPr/>
        </p:nvGraphicFramePr>
        <p:xfrm>
          <a:off xmlns:a="http://schemas.openxmlformats.org/drawingml/2006/main" x="6429375" y="3181350"/>
          <a:ext xmlns:a="http://schemas.openxmlformats.org/drawingml/2006/main" cx="5191125" cy="1695450"/>
        </p:xfrm>
        <a:graphic xmlns:a="http://schemas.openxmlformats.org/drawingml/2006/main">
          <a:graphicData uri="http://schemas.openxmlformats.org/drawingml/2006/table">
            <a:tbl>
              <a:tblPr/>
              <a:tblGrid>
                <a:gridCol w="2047875"/>
                <a:gridCol w="3143250"/>
              </a:tblGrid>
              <a:tr h="565150">
                <a:tc>
                  <a:txBody>
                    <a:bodyPr lIns="95250" tIns="95250" rIns="95250" bIns="95250">
                      <a:noAutofit/>
                    </a:bodyPr>
                    <a:lstStyle/>
                    <a:p>
                      <a:r>
                        <a:rPr sz="1800" b="1">
                          <a:solidFill>
                            <a:srgbClr val="FFFFFF"/>
                          </a:solidFill>
                          <a:latin typeface="Helvetica Neue"/>
                          <a:ea typeface="Helvetica Neue"/>
                          <a:cs typeface="Helvetica Neue"/>
                        </a:rPr>
                        <a:t>Model</a:t>
                      </a:r>
                    </a:p>
                  </a:txBody>
                  <a:tcPr marL="95250" marR="95250" marT="85725" marB="85725" anchor="ctr">
                    <a:solidFill>
                      <a:srgbClr val="142C40"/>
                    </a:solidFill>
                  </a:tcPr>
                </a:tc>
                <a:tc>
                  <a:txBody>
                    <a:bodyPr lIns="95250" tIns="95250" rIns="95250" bIns="95250">
                      <a:noAutofit/>
                    </a:bodyPr>
                    <a:lstStyle/>
                    <a:p>
                      <a:r>
                        <a:rPr sz="1800" b="1">
                          <a:solidFill>
                            <a:srgbClr val="FFFFFF"/>
                          </a:solidFill>
                          <a:latin typeface="Helvetica Neue"/>
                          <a:ea typeface="Helvetica Neue"/>
                          <a:cs typeface="Helvetica Neue"/>
                        </a:rPr>
                        <a:t>Neutral / Human</a:t>
                      </a:r>
                    </a:p>
                  </a:txBody>
                  <a:tcPr marL="95250" marR="95250" marT="85725" marB="85725" anchor="ctr">
                    <a:solidFill>
                      <a:srgbClr val="142C40"/>
                    </a:solidFill>
                  </a:tcPr>
                </a:tc>
              </a:tr>
              <a:tr h="565150">
                <a:tc>
                  <a:txBody>
                    <a:bodyPr lIns="95250" tIns="95250" rIns="95250" bIns="95250">
                      <a:noAutofit/>
                    </a:bodyPr>
                    <a:lstStyle/>
                    <a:p>
                      <a:r>
                        <a:rPr sz="1800" b="0">
                          <a:solidFill>
                            <a:srgbClr val="142C40"/>
                          </a:solidFill>
                          <a:latin typeface="Helvetica Neue"/>
                          <a:ea typeface="Helvetica Neue"/>
                          <a:cs typeface="Helvetica Neue"/>
                        </a:rPr>
                        <a:t>MiniMax</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PENDING / PENDING</a:t>
                      </a:r>
                    </a:p>
                  </a:txBody>
                  <a:tcPr marL="95250" marR="95250" marT="85725" marB="85725" anchor="ctr">
                    <a:solidFill>
                      <a:srgbClr val="FFFFFF"/>
                    </a:solidFill>
                  </a:tcPr>
                </a:tc>
              </a:tr>
              <a:tr h="565150">
                <a:tc>
                  <a:txBody>
                    <a:bodyPr lIns="95250" tIns="95250" rIns="95250" bIns="95250">
                      <a:noAutofit/>
                    </a:bodyPr>
                    <a:lstStyle/>
                    <a:p>
                      <a:r>
                        <a:rPr sz="1800" b="0">
                          <a:solidFill>
                            <a:srgbClr val="142C40"/>
                          </a:solidFill>
                          <a:latin typeface="Helvetica Neue"/>
                          <a:ea typeface="Helvetica Neue"/>
                          <a:cs typeface="Helvetica Neue"/>
                        </a:rPr>
                        <a:t>DeepSeek</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PENDING / PENDING</a:t>
                      </a:r>
                    </a:p>
                  </a:txBody>
                  <a:tcPr marL="95250" marR="95250" marT="85725" marB="85725" anchor="ctr">
                    <a:solidFill>
                      <a:srgbClr val="EFF3F7"/>
                    </a:solidFill>
                  </a:tcPr>
                </a:tc>
              </a:tr>
            </a:tbl>
          </a:graphicData>
        </a:graphic>
      </p:graphicFrame>
      <p:sp>
        <p:nvSpPr>
          <p:cNvPr id="11" name="Rate definition">
            <a:extLst xmlns:a="http://schemas.openxmlformats.org/drawingml/2006/main">
              <a:ext uri="{FF2B5EF4-FFF2-40B4-BE49-F238E27FC236}">
                <a16:creationId xmlns:a16="http://schemas.microsoft.com/office/drawing/2014/main" id="{3CF79BE1-9979-45FD-B21C-CED281D50B9B}"/>
              </a:ext>
            </a:extLst>
          </p:cNvPr>
          <p:cNvSpPr>
            <a:spLocks xmlns:a="http://schemas.openxmlformats.org/drawingml/2006/main" noGrp="1"/>
          </p:cNvSpPr>
          <p:nvPr/>
        </p:nvSpPr>
        <p:spPr>
          <a:xfrm xmlns:a="http://schemas.openxmlformats.org/drawingml/2006/main">
            <a:off x="571500" y="5248275"/>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2C40"/>
                </a:solidFill>
                <a:latin typeface="Helvetica Neue"/>
                <a:ea typeface="Helvetica Neue"/>
                <a:cs typeface="Helvetica Neue"/>
              </a:defRPr>
            </a:pPr>
            <a:r>
              <a:rPr sz="1950" b="1">
                <a:solidFill>
                  <a:srgbClr val="142C40"/>
                </a:solidFill>
                <a:latin typeface="Helvetica Neue"/>
                <a:ea typeface="Helvetica Neue"/>
                <a:cs typeface="Helvetica Neue"/>
              </a:rPr>
              <a:t>Induced error rate = correct-to-wrong cases / eligible initially correct cases</a:t>
            </a:r>
          </a:p>
        </p:txBody>
      </p:sp>
      <p:sp>
        <p:nvSpPr>
          <p:cNvPr id="12" name="Footnote">
            <a:extLst xmlns:a="http://schemas.openxmlformats.org/drawingml/2006/main">
              <a:ext uri="{FF2B5EF4-FFF2-40B4-BE49-F238E27FC236}">
                <a16:creationId xmlns:a16="http://schemas.microsoft.com/office/drawing/2014/main" id="{DFCF8D2A-19CE-4AF0-A540-0BB954AD12AB}"/>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Natural peer errors and constructed wrong-peer tests remain separate. No real human participants.</a:t>
            </a:r>
          </a:p>
        </p:txBody>
      </p:sp>
    </p:spTree>
    <p:extLst>
      <p:ext uri="{BB962C8B-B14F-4D97-AF65-F5344CB8AC3E}">
        <p14:creationId xmlns:p14="http://schemas.microsoft.com/office/powerpoint/2010/main" val="873170283"/>
      </p:ext>
    </p:extLst>
  </p:cSld>
</p:sld>
</file>

<file path=ppt/slides/slide1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CB8F2D2-D177-453E-9550-A32015CE569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ILLUSTRATIVE EXAMPLE</a:t>
            </a:r>
          </a:p>
        </p:txBody>
      </p:sp>
      <p:sp>
        <p:nvSpPr>
          <p:cNvPr id="2" name="Title">
            <a:extLst xmlns:a="http://schemas.openxmlformats.org/drawingml/2006/main">
              <a:ext uri="{FF2B5EF4-FFF2-40B4-BE49-F238E27FC236}">
                <a16:creationId xmlns:a16="http://schemas.microsoft.com/office/drawing/2014/main" id="{10165ABA-F376-4042-8D59-EB5AF200064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A plausible explanation can omit a valid case</a:t>
            </a:r>
          </a:p>
        </p:txBody>
      </p:sp>
      <p:sp>
        <p:nvSpPr>
          <p:cNvPr id="3" name="">
            <a:extLst xmlns:a="http://schemas.openxmlformats.org/drawingml/2006/main">
              <a:ext uri="{FF2B5EF4-FFF2-40B4-BE49-F238E27FC236}">
                <a16:creationId xmlns:a16="http://schemas.microsoft.com/office/drawing/2014/main" id="{9ED27CE6-DC3D-4A90-9E51-AFB03EE0028B}"/>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870B094E-B543-4C0A-B7A4-B982F024126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17</a:t>
            </a:r>
          </a:p>
        </p:txBody>
      </p:sp>
      <p:sp>
        <p:nvSpPr>
          <p:cNvPr id="5" name="Question">
            <a:extLst xmlns:a="http://schemas.openxmlformats.org/drawingml/2006/main">
              <a:ext uri="{FF2B5EF4-FFF2-40B4-BE49-F238E27FC236}">
                <a16:creationId xmlns:a16="http://schemas.microsoft.com/office/drawing/2014/main" id="{A1AA6A29-5ABC-4621-B4D5-C73C3B5F2EA7}"/>
              </a:ext>
            </a:extLst>
          </p:cNvPr>
          <p:cNvSpPr>
            <a:spLocks xmlns:a="http://schemas.openxmlformats.org/drawingml/2006/main" noGrp="1"/>
          </p:cNvSpPr>
          <p:nvPr/>
        </p:nvSpPr>
        <p:spPr>
          <a:xfrm xmlns:a="http://schemas.openxmlformats.org/drawingml/2006/main">
            <a:off x="571500" y="1562100"/>
            <a:ext cx="11049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Three distinct toys, one per child. Choose three children</a:t>
            </a:r>
          </a:p>
          <a:p xmlns:a="http://schemas.openxmlformats.org/drawingml/2006/main">
            <a:pPr algn="l">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from four boys and six girls, with at least two boys.</a:t>
            </a:r>
          </a:p>
        </p:txBody>
      </p:sp>
      <p:sp>
        <p:nvSpPr>
          <p:cNvPr id="6" name="Correct label">
            <a:extLst xmlns:a="http://schemas.openxmlformats.org/drawingml/2006/main">
              <a:ext uri="{FF2B5EF4-FFF2-40B4-BE49-F238E27FC236}">
                <a16:creationId xmlns:a16="http://schemas.microsoft.com/office/drawing/2014/main" id="{111CBE07-B495-4B63-A9BB-E56147820182}"/>
              </a:ext>
            </a:extLst>
          </p:cNvPr>
          <p:cNvSpPr>
            <a:spLocks xmlns:a="http://schemas.openxmlformats.org/drawingml/2006/main" noGrp="1"/>
          </p:cNvSpPr>
          <p:nvPr/>
        </p:nvSpPr>
        <p:spPr>
          <a:xfrm xmlns:a="http://schemas.openxmlformats.org/drawingml/2006/main">
            <a:off x="571500" y="28860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857C"/>
                </a:solidFill>
                <a:latin typeface="Helvetica Neue"/>
                <a:ea typeface="Helvetica Neue"/>
                <a:cs typeface="Helvetica Neue"/>
              </a:defRPr>
            </a:pPr>
            <a:r>
              <a:rPr sz="2250" b="1">
                <a:solidFill>
                  <a:srgbClr val="00857C"/>
                </a:solidFill>
                <a:latin typeface="Helvetica Neue"/>
                <a:ea typeface="Helvetica Neue"/>
                <a:cs typeface="Helvetica Neue"/>
              </a:rPr>
              <a:t>Complete solution</a:t>
            </a:r>
          </a:p>
        </p:txBody>
      </p:sp>
      <p:sp>
        <p:nvSpPr>
          <p:cNvPr id="7" name="Correct calculation">
            <a:extLst xmlns:a="http://schemas.openxmlformats.org/drawingml/2006/main">
              <a:ext uri="{FF2B5EF4-FFF2-40B4-BE49-F238E27FC236}">
                <a16:creationId xmlns:a16="http://schemas.microsoft.com/office/drawing/2014/main" id="{AB99981D-1178-4802-9F10-E8CC976423C1}"/>
              </a:ext>
            </a:extLst>
          </p:cNvPr>
          <p:cNvSpPr>
            <a:spLocks xmlns:a="http://schemas.openxmlformats.org/drawingml/2006/main" noGrp="1"/>
          </p:cNvSpPr>
          <p:nvPr/>
        </p:nvSpPr>
        <p:spPr>
          <a:xfrm xmlns:a="http://schemas.openxmlformats.org/drawingml/2006/main">
            <a:off x="571500" y="3495675"/>
            <a:ext cx="5143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Exactly two boys: 6 × 6 = 36 groups</a:t>
            </a:r>
          </a:p>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Three boys: 4 groups</a:t>
            </a:r>
          </a:p>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(36 + 4) × 3! = 240</a:t>
            </a:r>
          </a:p>
        </p:txBody>
      </p:sp>
      <p:sp>
        <p:nvSpPr>
          <p:cNvPr id="8" name="Wrong label">
            <a:extLst xmlns:a="http://schemas.openxmlformats.org/drawingml/2006/main">
              <a:ext uri="{FF2B5EF4-FFF2-40B4-BE49-F238E27FC236}">
                <a16:creationId xmlns:a16="http://schemas.microsoft.com/office/drawing/2014/main" id="{3DAFA5A2-B5B2-4842-969A-50E37E0E94E0}"/>
              </a:ext>
            </a:extLst>
          </p:cNvPr>
          <p:cNvSpPr>
            <a:spLocks xmlns:a="http://schemas.openxmlformats.org/drawingml/2006/main" noGrp="1"/>
          </p:cNvSpPr>
          <p:nvPr/>
        </p:nvSpPr>
        <p:spPr>
          <a:xfrm xmlns:a="http://schemas.openxmlformats.org/drawingml/2006/main">
            <a:off x="6429375" y="28860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B33C35"/>
                </a:solidFill>
                <a:latin typeface="Helvetica Neue"/>
                <a:ea typeface="Helvetica Neue"/>
                <a:cs typeface="Helvetica Neue"/>
              </a:defRPr>
            </a:pPr>
            <a:r>
              <a:rPr sz="2250" b="1">
                <a:solidFill>
                  <a:srgbClr val="B33C35"/>
                </a:solidFill>
                <a:latin typeface="Helvetica Neue"/>
                <a:ea typeface="Helvetica Neue"/>
                <a:cs typeface="Helvetica Neue"/>
              </a:rPr>
              <a:t>Scripted wrong explanation</a:t>
            </a:r>
          </a:p>
        </p:txBody>
      </p:sp>
      <p:sp>
        <p:nvSpPr>
          <p:cNvPr id="9" name="Wrong calculation">
            <a:extLst xmlns:a="http://schemas.openxmlformats.org/drawingml/2006/main">
              <a:ext uri="{FF2B5EF4-FFF2-40B4-BE49-F238E27FC236}">
                <a16:creationId xmlns:a16="http://schemas.microsoft.com/office/drawing/2014/main" id="{8342CCE6-DB30-4642-AEEE-A0B72A142DCA}"/>
              </a:ext>
            </a:extLst>
          </p:cNvPr>
          <p:cNvSpPr>
            <a:spLocks xmlns:a="http://schemas.openxmlformats.org/drawingml/2006/main" noGrp="1"/>
          </p:cNvSpPr>
          <p:nvPr/>
        </p:nvSpPr>
        <p:spPr>
          <a:xfrm xmlns:a="http://schemas.openxmlformats.org/drawingml/2006/main">
            <a:off x="6429375" y="3495675"/>
            <a:ext cx="51911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Choose two boys and one girl.</a:t>
            </a:r>
          </a:p>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36 × 3! = 216</a:t>
            </a:r>
          </a:p>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Missing case: all three are boys.</a:t>
            </a:r>
          </a:p>
        </p:txBody>
      </p:sp>
      <p:sp>
        <p:nvSpPr>
          <p:cNvPr id="10" name="Footnote">
            <a:extLst xmlns:a="http://schemas.openxmlformats.org/drawingml/2006/main">
              <a:ext uri="{FF2B5EF4-FFF2-40B4-BE49-F238E27FC236}">
                <a16:creationId xmlns:a16="http://schemas.microsoft.com/office/drawing/2014/main" id="{F2104D34-AC1F-4D2D-BACB-E79818D1FF61}"/>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Illustrative prompt material. This is not an observed model response.</a:t>
            </a:r>
          </a:p>
        </p:txBody>
      </p:sp>
    </p:spTree>
    <p:extLst>
      <p:ext uri="{BB962C8B-B14F-4D97-AF65-F5344CB8AC3E}">
        <p14:creationId xmlns:p14="http://schemas.microsoft.com/office/powerpoint/2010/main" val="1101098760"/>
      </p:ext>
    </p:extLst>
  </p:cSld>
</p:sld>
</file>

<file path=ppt/slides/slide1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14891A6-9D4C-4971-A9E3-7CA7773B2DE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DISCUSSION</a:t>
            </a:r>
          </a:p>
        </p:txBody>
      </p:sp>
      <p:sp>
        <p:nvSpPr>
          <p:cNvPr id="2" name="Title">
            <a:extLst xmlns:a="http://schemas.openxmlformats.org/drawingml/2006/main">
              <a:ext uri="{FF2B5EF4-FFF2-40B4-BE49-F238E27FC236}">
                <a16:creationId xmlns:a16="http://schemas.microsoft.com/office/drawing/2014/main" id="{7181F028-0666-455C-AAA0-F537516F983E}"/>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Interpretation and limitations</a:t>
            </a:r>
          </a:p>
        </p:txBody>
      </p:sp>
      <p:sp>
        <p:nvSpPr>
          <p:cNvPr id="3" name="">
            <a:extLst xmlns:a="http://schemas.openxmlformats.org/drawingml/2006/main">
              <a:ext uri="{FF2B5EF4-FFF2-40B4-BE49-F238E27FC236}">
                <a16:creationId xmlns:a16="http://schemas.microsoft.com/office/drawing/2014/main" id="{C8BC5693-5E80-47AF-9160-EBF6EB8D5F4C}"/>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D276DD61-85B5-4E5C-B49C-DBCB1707818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18</a:t>
            </a:r>
          </a:p>
        </p:txBody>
      </p:sp>
      <p:sp>
        <p:nvSpPr>
          <p:cNvPr id="5" name="Discussion label">
            <a:extLst xmlns:a="http://schemas.openxmlformats.org/drawingml/2006/main">
              <a:ext uri="{FF2B5EF4-FFF2-40B4-BE49-F238E27FC236}">
                <a16:creationId xmlns:a16="http://schemas.microsoft.com/office/drawing/2014/main" id="{B971ECE1-EC53-45B3-8EFE-7E9F5979E857}"/>
              </a:ext>
            </a:extLst>
          </p:cNvPr>
          <p:cNvSpPr>
            <a:spLocks xmlns:a="http://schemas.openxmlformats.org/drawingml/2006/main" noGrp="1"/>
          </p:cNvSpPr>
          <p:nvPr/>
        </p:nvSpPr>
        <p:spPr>
          <a:xfrm xmlns:a="http://schemas.openxmlformats.org/drawingml/2006/main">
            <a:off x="571500" y="16287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57C"/>
                </a:solidFill>
                <a:latin typeface="Helvetica Neue"/>
                <a:ea typeface="Helvetica Neue"/>
                <a:cs typeface="Helvetica Neue"/>
              </a:defRPr>
            </a:pPr>
            <a:r>
              <a:rPr sz="2175" b="1">
                <a:solidFill>
                  <a:srgbClr val="00857C"/>
                </a:solidFill>
                <a:latin typeface="Helvetica Neue"/>
                <a:ea typeface="Helvetica Neue"/>
                <a:cs typeface="Helvetica Neue"/>
              </a:rPr>
              <a:t>Interpretation</a:t>
            </a:r>
          </a:p>
        </p:txBody>
      </p:sp>
      <p:sp>
        <p:nvSpPr>
          <p:cNvPr id="6" name="Discussion content">
            <a:extLst xmlns:a="http://schemas.openxmlformats.org/drawingml/2006/main">
              <a:ext uri="{FF2B5EF4-FFF2-40B4-BE49-F238E27FC236}">
                <a16:creationId xmlns:a16="http://schemas.microsoft.com/office/drawing/2014/main" id="{C89DACE9-193F-4061-8333-94B95CB8DF79}"/>
              </a:ext>
            </a:extLst>
          </p:cNvPr>
          <p:cNvSpPr>
            <a:spLocks xmlns:a="http://schemas.openxmlformats.org/drawingml/2006/main" noGrp="1"/>
          </p:cNvSpPr>
          <p:nvPr/>
        </p:nvSpPr>
        <p:spPr>
          <a:xfrm xmlns:a="http://schemas.openxmlformats.org/drawingml/2006/main">
            <a:off x="571500" y="2200275"/>
            <a:ext cx="50958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Does checking reduce errors on the paired sample?</a:t>
            </a:r>
          </a:p>
          <a:p xmlns:a="http://schemas.openxmlformats.org/drawingml/2006/main">
            <a:r>
              <a:t/>
            </a:r>
          </a:p>
          <a:p xmlns:a="http://schemas.openxmlformats.org/drawingml/2006/main">
            <a:pPr algn="l">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Does it produce more correct answers, or more abstentions?</a:t>
            </a:r>
          </a:p>
          <a:p xmlns:a="http://schemas.openxmlformats.org/drawingml/2006/main">
            <a:r>
              <a:t/>
            </a:r>
          </a:p>
          <a:p xmlns:a="http://schemas.openxmlformats.org/drawingml/2006/main">
            <a:pPr algn="l">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Can wrong feedback create new errors?</a:t>
            </a:r>
          </a:p>
        </p:txBody>
      </p:sp>
      <p:sp>
        <p:nvSpPr>
          <p:cNvPr id="7" name="Limitations label">
            <a:extLst xmlns:a="http://schemas.openxmlformats.org/drawingml/2006/main">
              <a:ext uri="{FF2B5EF4-FFF2-40B4-BE49-F238E27FC236}">
                <a16:creationId xmlns:a16="http://schemas.microsoft.com/office/drawing/2014/main" id="{7E36D00B-72AE-4BFF-B135-CD3BCACD6ECD}"/>
              </a:ext>
            </a:extLst>
          </p:cNvPr>
          <p:cNvSpPr>
            <a:spLocks xmlns:a="http://schemas.openxmlformats.org/drawingml/2006/main" noGrp="1"/>
          </p:cNvSpPr>
          <p:nvPr/>
        </p:nvSpPr>
        <p:spPr>
          <a:xfrm xmlns:a="http://schemas.openxmlformats.org/drawingml/2006/main">
            <a:off x="6429375" y="16287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58A25"/>
                </a:solidFill>
                <a:latin typeface="Helvetica Neue"/>
                <a:ea typeface="Helvetica Neue"/>
                <a:cs typeface="Helvetica Neue"/>
              </a:defRPr>
            </a:pPr>
            <a:r>
              <a:rPr sz="2175" b="1">
                <a:solidFill>
                  <a:srgbClr val="D58A25"/>
                </a:solidFill>
                <a:latin typeface="Helvetica Neue"/>
                <a:ea typeface="Helvetica Neue"/>
                <a:cs typeface="Helvetica Neue"/>
              </a:rPr>
              <a:t>Known limitations</a:t>
            </a:r>
          </a:p>
        </p:txBody>
      </p:sp>
      <p:sp>
        <p:nvSpPr>
          <p:cNvPr id="8" name="Limitations content">
            <a:extLst xmlns:a="http://schemas.openxmlformats.org/drawingml/2006/main">
              <a:ext uri="{FF2B5EF4-FFF2-40B4-BE49-F238E27FC236}">
                <a16:creationId xmlns:a16="http://schemas.microsoft.com/office/drawing/2014/main" id="{1064ABD9-DF39-45D2-9681-639CAA0E7761}"/>
              </a:ext>
            </a:extLst>
          </p:cNvPr>
          <p:cNvSpPr>
            <a:spLocks xmlns:a="http://schemas.openxmlformats.org/drawingml/2006/main" noGrp="1"/>
          </p:cNvSpPr>
          <p:nvPr/>
        </p:nvSpPr>
        <p:spPr>
          <a:xfrm xmlns:a="http://schemas.openxmlformats.org/drawingml/2006/main">
            <a:off x="6429375" y="2200275"/>
            <a:ext cx="5191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Selected mathematics questions and limited models</a:t>
            </a:r>
          </a:p>
          <a:p xmlns:a="http://schemas.openxmlformats.org/drawingml/2006/main">
            <a:r>
              <a:t/>
            </a:r>
          </a:p>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Results may depend on the checking prompt</a:t>
            </a:r>
          </a:p>
          <a:p xmlns:a="http://schemas.openxmlformats.org/drawingml/2006/main">
            <a:r>
              <a:t/>
            </a:r>
          </a:p>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Scripted feedback represents a controlled test</a:t>
            </a:r>
          </a:p>
          <a:p xmlns:a="http://schemas.openxmlformats.org/drawingml/2006/main">
            <a:r>
              <a:t/>
            </a:r>
          </a:p>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Correct final answers do not certify reasoning</a:t>
            </a:r>
          </a:p>
        </p:txBody>
      </p:sp>
      <p:sp>
        <p:nvSpPr>
          <p:cNvPr id="9" name="Footnote">
            <a:extLst xmlns:a="http://schemas.openxmlformats.org/drawingml/2006/main">
              <a:ext uri="{FF2B5EF4-FFF2-40B4-BE49-F238E27FC236}">
                <a16:creationId xmlns:a16="http://schemas.microsoft.com/office/drawing/2014/main" id="{D17FD513-3CEA-4040-B802-39CC0CD08C5D}"/>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Interpret effect size together with paired uncertainty, missing outputs and intervention source.</a:t>
            </a:r>
          </a:p>
        </p:txBody>
      </p:sp>
    </p:spTree>
    <p:extLst>
      <p:ext uri="{BB962C8B-B14F-4D97-AF65-F5344CB8AC3E}">
        <p14:creationId xmlns:p14="http://schemas.microsoft.com/office/powerpoint/2010/main" val="265153268"/>
      </p:ext>
    </p:extLst>
  </p:cSld>
</p:sld>
</file>

<file path=ppt/slides/slide1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CONCLUSION</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Answers to the four research questions</a:t>
            </a:r>
          </a:p>
        </p:txBody>
      </p:sp>
      <p:sp>
        <p:nvSpPr>
          <p:cNvPr id="3" name="">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19</a:t>
            </a:r>
          </a:p>
        </p:txBody>
      </p:sp>
      <p:graphicFrame>
        <p:nvGraphicFramePr>
          <p:cNvPr id="11" name=""/>
          <p:cNvGraphicFramePr/>
          <p:nvPr/>
        </p:nvGraphicFramePr>
        <p:xfrm>
          <a:off xmlns:a="http://schemas.openxmlformats.org/drawingml/2006/main" x="571500" y="1609725"/>
          <a:ext xmlns:a="http://schemas.openxmlformats.org/drawingml/2006/main" cx="11049000" cy="3419475"/>
        </p:xfrm>
        <a:graphic xmlns:a="http://schemas.openxmlformats.org/drawingml/2006/main">
          <a:graphicData uri="http://schemas.openxmlformats.org/drawingml/2006/table">
            <a:tbl>
              <a:tblPr/>
              <a:tblGrid>
                <a:gridCol w="4333875"/>
                <a:gridCol w="6715125"/>
              </a:tblGrid>
              <a:tr h="683895">
                <a:tc>
                  <a:txBody>
                    <a:bodyPr lIns="95250" tIns="95250" rIns="95250" bIns="95250">
                      <a:noAutofit/>
                    </a:bodyPr>
                    <a:lstStyle/>
                    <a:p>
                      <a:r>
                        <a:rPr sz="1875" b="1">
                          <a:solidFill>
                            <a:srgbClr val="FFFFFF"/>
                          </a:solidFill>
                          <a:latin typeface="Helvetica Neue"/>
                          <a:ea typeface="Helvetica Neue"/>
                          <a:cs typeface="Helvetica Neue"/>
                        </a:rPr>
                        <a:t>Question</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Evidence-based answer</a:t>
                      </a:r>
                    </a:p>
                  </a:txBody>
                  <a:tcPr marL="95250" marR="95250" marT="85725" marB="85725" anchor="ctr">
                    <a:solidFill>
                      <a:srgbClr val="142C40"/>
                    </a:solidFill>
                  </a:tcPr>
                </a:tc>
              </a:tr>
              <a:tr h="683895">
                <a:tc>
                  <a:txBody>
                    <a:bodyPr lIns="95250" tIns="95250" rIns="95250" bIns="95250">
                      <a:noAutofit/>
                    </a:bodyPr>
                    <a:lstStyle/>
                    <a:p>
                      <a:r>
                        <a:rPr sz="1875" b="0">
                          <a:solidFill>
                            <a:srgbClr val="142C40"/>
                          </a:solidFill>
                          <a:latin typeface="Helvetica Neue"/>
                          <a:ea typeface="Helvetica Neue"/>
                          <a:cs typeface="Helvetica Neue"/>
                        </a:rPr>
                        <a:t>RQ1: Does checking reduce errors?</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 net error-rate and non-correct-rate change</a:t>
                      </a:r>
                    </a:p>
                  </a:txBody>
                  <a:tcPr marL="95250" marR="95250" marT="85725" marB="85725" anchor="ctr">
                    <a:solidFill>
                      <a:srgbClr val="FFFFFF"/>
                    </a:solidFill>
                  </a:tcPr>
                </a:tc>
              </a:tr>
              <a:tr h="683895">
                <a:tc>
                  <a:txBody>
                    <a:bodyPr lIns="95250" tIns="95250" rIns="95250" bIns="95250">
                      <a:noAutofit/>
                    </a:bodyPr>
                    <a:lstStyle/>
                    <a:p>
                      <a:r>
                        <a:rPr sz="1875" b="0">
                          <a:solidFill>
                            <a:srgbClr val="142C40"/>
                          </a:solidFill>
                          <a:latin typeface="Helvetica Neue"/>
                          <a:ea typeface="Helvetica Neue"/>
                          <a:cs typeface="Helvetica Neue"/>
                        </a:rPr>
                        <a:t>RQ2: Which method works better?</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PENDING: paired Self-check vs Natural cross-check</a:t>
                      </a:r>
                    </a:p>
                  </a:txBody>
                  <a:tcPr marL="95250" marR="95250" marT="85725" marB="85725" anchor="ctr">
                    <a:solidFill>
                      <a:srgbClr val="EFF3F7"/>
                    </a:solidFill>
                  </a:tcPr>
                </a:tc>
              </a:tr>
              <a:tr h="683895">
                <a:tc>
                  <a:txBody>
                    <a:bodyPr lIns="95250" tIns="95250" rIns="95250" bIns="95250">
                      <a:noAutofit/>
                    </a:bodyPr>
                    <a:lstStyle/>
                    <a:p>
                      <a:r>
                        <a:rPr sz="1875" b="0">
                          <a:solidFill>
                            <a:srgbClr val="142C40"/>
                          </a:solidFill>
                          <a:latin typeface="Helvetica Neue"/>
                          <a:ea typeface="Helvetica Neue"/>
                          <a:cs typeface="Helvetica Neue"/>
                        </a:rPr>
                        <a:t>RQ3: Can a wrong peer mislead?</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 induced errors and eligible denominator</a:t>
                      </a:r>
                    </a:p>
                  </a:txBody>
                  <a:tcPr marL="95250" marR="95250" marT="85725" marB="85725" anchor="ctr">
                    <a:solidFill>
                      <a:srgbClr val="FFFFFF"/>
                    </a:solidFill>
                  </a:tcPr>
                </a:tc>
              </a:tr>
              <a:tr h="683895">
                <a:tc>
                  <a:txBody>
                    <a:bodyPr lIns="95250" tIns="95250" rIns="95250" bIns="95250">
                      <a:noAutofit/>
                    </a:bodyPr>
                    <a:lstStyle/>
                    <a:p>
                      <a:r>
                        <a:rPr sz="1875" b="0">
                          <a:solidFill>
                            <a:srgbClr val="142C40"/>
                          </a:solidFill>
                          <a:latin typeface="Helvetica Neue"/>
                          <a:ea typeface="Helvetica Neue"/>
                          <a:cs typeface="Helvetica Neue"/>
                        </a:rPr>
                        <a:t>RQ4: Can user mistakes cause errors?</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PENDING: neutral vs scripted user feedback</a:t>
                      </a:r>
                    </a:p>
                  </a:txBody>
                  <a:tcPr marL="95250" marR="95250" marT="85725" marB="85725" anchor="ctr">
                    <a:solidFill>
                      <a:srgbClr val="EFF3F7"/>
                    </a:solidFill>
                  </a:tcPr>
                </a:tc>
              </a:tr>
            </a:tbl>
          </a:graphicData>
        </a:graphic>
      </p:graphicFrame>
      <p:sp>
        <p:nvSpPr>
          <p:cNvPr id="6" name="Conclusion placeholder">
            <a:extLst xmlns:a="http://schemas.openxmlformats.org/drawingml/2006/main">
              <a:ext uri="{FF2B5EF4-FFF2-40B4-BE49-F238E27FC236}">
                <a16:creationId xmlns:a16="http://schemas.microsoft.com/office/drawing/2014/main" id="{4308AC94-BD2F-420F-B5C5-FFA2FC3243D4}"/>
              </a:ext>
            </a:extLst>
          </p:cNvPr>
          <p:cNvSpPr>
            <a:spLocks xmlns:a="http://schemas.openxmlformats.org/drawingml/2006/main" noGrp="1"/>
          </p:cNvSpPr>
          <p:nvPr/>
        </p:nvSpPr>
        <p:spPr>
          <a:xfrm xmlns:a="http://schemas.openxmlformats.org/drawingml/2006/main">
            <a:off x="571500" y="5324475"/>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57C"/>
                </a:solidFill>
                <a:latin typeface="Helvetica Neue"/>
                <a:ea typeface="Helvetica Neue"/>
                <a:cs typeface="Helvetica Neue"/>
              </a:defRPr>
            </a:pPr>
            <a:r>
              <a:rPr sz="2025" b="1">
                <a:solidFill>
                  <a:srgbClr val="00857C"/>
                </a:solidFill>
                <a:latin typeface="Helvetica Neue"/>
                <a:ea typeface="Helvetica Neue"/>
                <a:cs typeface="Helvetica Neue"/>
              </a:rPr>
              <a:t>Final conclusions follow the new data.</a:t>
            </a:r>
          </a:p>
          <a:p xmlns:a="http://schemas.openxmlformats.org/drawingml/2006/main">
            <a:pPr algn="l">
              <a:defRPr sz="2025" b="1">
                <a:solidFill>
                  <a:srgbClr val="00857C"/>
                </a:solidFill>
                <a:latin typeface="Helvetica Neue"/>
                <a:ea typeface="Helvetica Neue"/>
                <a:cs typeface="Helvetica Neue"/>
              </a:defRPr>
            </a:pPr>
            <a:r>
              <a:rPr sz="2025" b="1">
                <a:solidFill>
                  <a:srgbClr val="00857C"/>
                </a:solidFill>
                <a:latin typeface="Helvetica Neue"/>
                <a:ea typeface="Helvetica Neue"/>
                <a:cs typeface="Helvetica Neue"/>
              </a:rPr>
              <a:t>Each answer reports its comparison and denominator.</a:t>
            </a:r>
          </a:p>
        </p:txBody>
      </p:sp>
    </p:spTree>
    <p:extLst>
      <p:ext uri="{BB962C8B-B14F-4D97-AF65-F5344CB8AC3E}">
        <p14:creationId xmlns:p14="http://schemas.microsoft.com/office/powerpoint/2010/main" val="64854683"/>
      </p:ext>
    </p:extLst>
  </p:cSld>
</p:sld>
</file>

<file path=ppt/slides/slide2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FUTURE WORK</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Further tests of reliable checking</a:t>
            </a:r>
          </a:p>
        </p:txBody>
      </p:sp>
      <p:sp>
        <p:nvSpPr>
          <p:cNvPr id="3" name="">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20</a:t>
            </a:r>
          </a:p>
        </p:txBody>
      </p:sp>
      <p:sp>
        <p:nvSpPr>
          <p:cNvPr id="5" name="Number 0">
            <a:extLst xmlns:a="http://schemas.openxmlformats.org/drawingml/2006/main">
              <a:ext uri="{FF2B5EF4-FFF2-40B4-BE49-F238E27FC236}">
                <a16:creationId xmlns:a16="http://schemas.microsoft.com/office/drawing/2014/main" id="{03C23842-1632-4523-BD62-540467F10EF4}"/>
              </a:ext>
            </a:extLst>
          </p:cNvPr>
          <p:cNvSpPr>
            <a:spLocks xmlns:a="http://schemas.openxmlformats.org/drawingml/2006/main" noGrp="1"/>
          </p:cNvSpPr>
          <p:nvPr/>
        </p:nvSpPr>
        <p:spPr>
          <a:xfrm xmlns:a="http://schemas.openxmlformats.org/drawingml/2006/main">
            <a:off x="571500" y="16859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01</a:t>
            </a:r>
          </a:p>
        </p:txBody>
      </p:sp>
      <p:sp>
        <p:nvSpPr>
          <p:cNvPr id="6" name="Topic 0">
            <a:extLst xmlns:a="http://schemas.openxmlformats.org/drawingml/2006/main">
              <a:ext uri="{FF2B5EF4-FFF2-40B4-BE49-F238E27FC236}">
                <a16:creationId xmlns:a16="http://schemas.microsoft.com/office/drawing/2014/main" id="{97BFCB94-0564-4B6A-BF00-31C78B811833}"/>
              </a:ext>
            </a:extLst>
          </p:cNvPr>
          <p:cNvSpPr>
            <a:spLocks xmlns:a="http://schemas.openxmlformats.org/drawingml/2006/main" noGrp="1"/>
          </p:cNvSpPr>
          <p:nvPr/>
        </p:nvSpPr>
        <p:spPr>
          <a:xfrm xmlns:a="http://schemas.openxmlformats.org/drawingml/2006/main">
            <a:off x="1476375"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Model combinations</a:t>
            </a:r>
          </a:p>
        </p:txBody>
      </p:sp>
      <p:sp>
        <p:nvSpPr>
          <p:cNvPr id="7" name="Description 0">
            <a:extLst xmlns:a="http://schemas.openxmlformats.org/drawingml/2006/main">
              <a:ext uri="{FF2B5EF4-FFF2-40B4-BE49-F238E27FC236}">
                <a16:creationId xmlns:a16="http://schemas.microsoft.com/office/drawing/2014/main" id="{30C32C79-412F-48CD-92B3-280F0CC4D2B4}"/>
              </a:ext>
            </a:extLst>
          </p:cNvPr>
          <p:cNvSpPr>
            <a:spLocks xmlns:a="http://schemas.openxmlformats.org/drawingml/2006/main" noGrp="1"/>
          </p:cNvSpPr>
          <p:nvPr/>
        </p:nvSpPr>
        <p:spPr>
          <a:xfrm xmlns:a="http://schemas.openxmlformats.org/drawingml/2006/main">
            <a:off x="1476375" y="21240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Compare more two-model and three-model combinations.</a:t>
            </a:r>
          </a:p>
        </p:txBody>
      </p:sp>
      <p:sp>
        <p:nvSpPr>
          <p:cNvPr id="8" name="">
            <a:extLst xmlns:a="http://schemas.openxmlformats.org/drawingml/2006/main">
              <a:ext uri="{FF2B5EF4-FFF2-40B4-BE49-F238E27FC236}">
                <a16:creationId xmlns:a16="http://schemas.microsoft.com/office/drawing/2014/main" id="{A9C08976-8BCC-4C06-BB85-2B19428B4784}"/>
              </a:ext>
            </a:extLst>
          </p:cNvPr>
          <p:cNvSpPr>
            <a:spLocks xmlns:a="http://schemas.openxmlformats.org/drawingml/2006/main" noGrp="1"/>
          </p:cNvSpPr>
          <p:nvPr/>
        </p:nvSpPr>
        <p:spPr>
          <a:xfrm xmlns:a="http://schemas.openxmlformats.org/drawingml/2006/main">
            <a:off x="1476375" y="2628900"/>
            <a:ext cx="10001250" cy="0"/>
          </a:xfrm>
          <a:prstGeom xmlns:a="http://schemas.openxmlformats.org/drawingml/2006/main" prst="line">
            <a:avLst/>
          </a:prstGeom>
          <a:ln xmlns:a="http://schemas.openxmlformats.org/drawingml/2006/main" w="9525">
            <a:solidFill>
              <a:srgbClr val="D6DFE6"/>
            </a:solidFill>
          </a:ln>
        </p:spPr>
      </p:sp>
      <p:sp>
        <p:nvSpPr>
          <p:cNvPr id="9" name="Number 1">
            <a:extLst xmlns:a="http://schemas.openxmlformats.org/drawingml/2006/main">
              <a:ext uri="{FF2B5EF4-FFF2-40B4-BE49-F238E27FC236}">
                <a16:creationId xmlns:a16="http://schemas.microsoft.com/office/drawing/2014/main" id="{A3D65CF2-09E9-4F02-A67C-BC5C854F4349}"/>
              </a:ext>
            </a:extLst>
          </p:cNvPr>
          <p:cNvSpPr>
            <a:spLocks xmlns:a="http://schemas.openxmlformats.org/drawingml/2006/main" noGrp="1"/>
          </p:cNvSpPr>
          <p:nvPr/>
        </p:nvSpPr>
        <p:spPr>
          <a:xfrm xmlns:a="http://schemas.openxmlformats.org/drawingml/2006/main">
            <a:off x="571500" y="2724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02</a:t>
            </a:r>
          </a:p>
        </p:txBody>
      </p:sp>
      <p:sp>
        <p:nvSpPr>
          <p:cNvPr id="10" name="Topic 1">
            <a:extLst xmlns:a="http://schemas.openxmlformats.org/drawingml/2006/main">
              <a:ext uri="{FF2B5EF4-FFF2-40B4-BE49-F238E27FC236}">
                <a16:creationId xmlns:a16="http://schemas.microsoft.com/office/drawing/2014/main" id="{BB1ABA06-88CB-45EE-BB51-B7C71ED39AF7}"/>
              </a:ext>
            </a:extLst>
          </p:cNvPr>
          <p:cNvSpPr>
            <a:spLocks xmlns:a="http://schemas.openxmlformats.org/drawingml/2006/main" noGrp="1"/>
          </p:cNvSpPr>
          <p:nvPr/>
        </p:nvSpPr>
        <p:spPr>
          <a:xfrm xmlns:a="http://schemas.openxmlformats.org/drawingml/2006/main">
            <a:off x="1476375" y="27241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Tasks beyond mathematics</a:t>
            </a:r>
          </a:p>
        </p:txBody>
      </p:sp>
      <p:sp>
        <p:nvSpPr>
          <p:cNvPr id="11" name="Description 1">
            <a:extLst xmlns:a="http://schemas.openxmlformats.org/drawingml/2006/main">
              <a:ext uri="{FF2B5EF4-FFF2-40B4-BE49-F238E27FC236}">
                <a16:creationId xmlns:a16="http://schemas.microsoft.com/office/drawing/2014/main" id="{0148A5F9-F29F-4D5D-B7FB-B5E1095EA1ED}"/>
              </a:ext>
            </a:extLst>
          </p:cNvPr>
          <p:cNvSpPr>
            <a:spLocks xmlns:a="http://schemas.openxmlformats.org/drawingml/2006/main" noGrp="1"/>
          </p:cNvSpPr>
          <p:nvPr/>
        </p:nvSpPr>
        <p:spPr>
          <a:xfrm xmlns:a="http://schemas.openxmlformats.org/drawingml/2006/main">
            <a:off x="1476375" y="31623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Extend to factual questions, coding, logic and open-ended tasks.</a:t>
            </a:r>
          </a:p>
        </p:txBody>
      </p:sp>
      <p:sp>
        <p:nvSpPr>
          <p:cNvPr id="12" name="">
            <a:extLst xmlns:a="http://schemas.openxmlformats.org/drawingml/2006/main">
              <a:ext uri="{FF2B5EF4-FFF2-40B4-BE49-F238E27FC236}">
                <a16:creationId xmlns:a16="http://schemas.microsoft.com/office/drawing/2014/main" id="{993DD36E-05CF-4E2D-B076-A62337980535}"/>
              </a:ext>
            </a:extLst>
          </p:cNvPr>
          <p:cNvSpPr>
            <a:spLocks xmlns:a="http://schemas.openxmlformats.org/drawingml/2006/main" noGrp="1"/>
          </p:cNvSpPr>
          <p:nvPr/>
        </p:nvSpPr>
        <p:spPr>
          <a:xfrm xmlns:a="http://schemas.openxmlformats.org/drawingml/2006/main">
            <a:off x="1476375" y="3667125"/>
            <a:ext cx="10001250" cy="0"/>
          </a:xfrm>
          <a:prstGeom xmlns:a="http://schemas.openxmlformats.org/drawingml/2006/main" prst="line">
            <a:avLst/>
          </a:prstGeom>
          <a:ln xmlns:a="http://schemas.openxmlformats.org/drawingml/2006/main" w="9525">
            <a:solidFill>
              <a:srgbClr val="D6DFE6"/>
            </a:solidFill>
          </a:ln>
        </p:spPr>
      </p:sp>
      <p:sp>
        <p:nvSpPr>
          <p:cNvPr id="13" name="Number 2">
            <a:extLst xmlns:a="http://schemas.openxmlformats.org/drawingml/2006/main">
              <a:ext uri="{FF2B5EF4-FFF2-40B4-BE49-F238E27FC236}">
                <a16:creationId xmlns:a16="http://schemas.microsoft.com/office/drawing/2014/main" id="{950A67DA-F812-40C4-AC2C-AF69E073F83D}"/>
              </a:ext>
            </a:extLst>
          </p:cNvPr>
          <p:cNvSpPr>
            <a:spLocks xmlns:a="http://schemas.openxmlformats.org/drawingml/2006/main" noGrp="1"/>
          </p:cNvSpPr>
          <p:nvPr/>
        </p:nvSpPr>
        <p:spPr>
          <a:xfrm xmlns:a="http://schemas.openxmlformats.org/drawingml/2006/main">
            <a:off x="571500" y="3762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03</a:t>
            </a:r>
          </a:p>
        </p:txBody>
      </p:sp>
      <p:sp>
        <p:nvSpPr>
          <p:cNvPr id="14" name="Topic 2">
            <a:extLst xmlns:a="http://schemas.openxmlformats.org/drawingml/2006/main">
              <a:ext uri="{FF2B5EF4-FFF2-40B4-BE49-F238E27FC236}">
                <a16:creationId xmlns:a16="http://schemas.microsoft.com/office/drawing/2014/main" id="{125380E5-9AA8-475E-B20F-700E6D5D5DEC}"/>
              </a:ext>
            </a:extLst>
          </p:cNvPr>
          <p:cNvSpPr>
            <a:spLocks xmlns:a="http://schemas.openxmlformats.org/drawingml/2006/main" noGrp="1"/>
          </p:cNvSpPr>
          <p:nvPr/>
        </p:nvSpPr>
        <p:spPr>
          <a:xfrm xmlns:a="http://schemas.openxmlformats.org/drawingml/2006/main">
            <a:off x="1476375" y="37623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Structured agent communication</a:t>
            </a:r>
          </a:p>
        </p:txBody>
      </p:sp>
      <p:sp>
        <p:nvSpPr>
          <p:cNvPr id="15" name="Description 2">
            <a:extLst xmlns:a="http://schemas.openxmlformats.org/drawingml/2006/main">
              <a:ext uri="{FF2B5EF4-FFF2-40B4-BE49-F238E27FC236}">
                <a16:creationId xmlns:a16="http://schemas.microsoft.com/office/drawing/2014/main" id="{EABD6315-4D77-40D4-9C12-2E572C01DC5F}"/>
              </a:ext>
            </a:extLst>
          </p:cNvPr>
          <p:cNvSpPr>
            <a:spLocks xmlns:a="http://schemas.openxmlformats.org/drawingml/2006/main" noGrp="1"/>
          </p:cNvSpPr>
          <p:nvPr/>
        </p:nvSpPr>
        <p:spPr>
          <a:xfrm xmlns:a="http://schemas.openxmlformats.org/drawingml/2006/main">
            <a:off x="1476375" y="420052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Compare structured messages with natural-language peer responses.</a:t>
            </a:r>
          </a:p>
        </p:txBody>
      </p:sp>
      <p:sp>
        <p:nvSpPr>
          <p:cNvPr id="16" name="">
            <a:extLst xmlns:a="http://schemas.openxmlformats.org/drawingml/2006/main">
              <a:ext uri="{FF2B5EF4-FFF2-40B4-BE49-F238E27FC236}">
                <a16:creationId xmlns:a16="http://schemas.microsoft.com/office/drawing/2014/main" id="{82A08D3E-2060-4A8E-B0F5-2F27B8D5E059}"/>
              </a:ext>
            </a:extLst>
          </p:cNvPr>
          <p:cNvSpPr>
            <a:spLocks xmlns:a="http://schemas.openxmlformats.org/drawingml/2006/main" noGrp="1"/>
          </p:cNvSpPr>
          <p:nvPr/>
        </p:nvSpPr>
        <p:spPr>
          <a:xfrm xmlns:a="http://schemas.openxmlformats.org/drawingml/2006/main">
            <a:off x="1476375" y="4705350"/>
            <a:ext cx="10001250" cy="0"/>
          </a:xfrm>
          <a:prstGeom xmlns:a="http://schemas.openxmlformats.org/drawingml/2006/main" prst="line">
            <a:avLst/>
          </a:prstGeom>
          <a:ln xmlns:a="http://schemas.openxmlformats.org/drawingml/2006/main" w="9525">
            <a:solidFill>
              <a:srgbClr val="D6DFE6"/>
            </a:solidFill>
          </a:ln>
        </p:spPr>
      </p:sp>
      <p:sp>
        <p:nvSpPr>
          <p:cNvPr id="17" name="Number 3">
            <a:extLst xmlns:a="http://schemas.openxmlformats.org/drawingml/2006/main">
              <a:ext uri="{FF2B5EF4-FFF2-40B4-BE49-F238E27FC236}">
                <a16:creationId xmlns:a16="http://schemas.microsoft.com/office/drawing/2014/main" id="{5D9B67B6-9F50-4BBA-B8F8-61C712D17F38}"/>
              </a:ext>
            </a:extLst>
          </p:cNvPr>
          <p:cNvSpPr>
            <a:spLocks xmlns:a="http://schemas.openxmlformats.org/drawingml/2006/main" noGrp="1"/>
          </p:cNvSpPr>
          <p:nvPr/>
        </p:nvSpPr>
        <p:spPr>
          <a:xfrm xmlns:a="http://schemas.openxmlformats.org/drawingml/2006/main">
            <a:off x="571500" y="48006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04</a:t>
            </a:r>
          </a:p>
        </p:txBody>
      </p:sp>
      <p:sp>
        <p:nvSpPr>
          <p:cNvPr id="18" name="Topic 3">
            <a:extLst xmlns:a="http://schemas.openxmlformats.org/drawingml/2006/main">
              <a:ext uri="{FF2B5EF4-FFF2-40B4-BE49-F238E27FC236}">
                <a16:creationId xmlns:a16="http://schemas.microsoft.com/office/drawing/2014/main" id="{F3D4BC39-275B-403F-A6B7-0B93CC9F561F}"/>
              </a:ext>
            </a:extLst>
          </p:cNvPr>
          <p:cNvSpPr>
            <a:spLocks xmlns:a="http://schemas.openxmlformats.org/drawingml/2006/main" noGrp="1"/>
          </p:cNvSpPr>
          <p:nvPr/>
        </p:nvSpPr>
        <p:spPr>
          <a:xfrm xmlns:a="http://schemas.openxmlformats.org/drawingml/2006/main">
            <a:off x="1476375" y="4800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Real human–AI interaction</a:t>
            </a:r>
          </a:p>
        </p:txBody>
      </p:sp>
      <p:sp>
        <p:nvSpPr>
          <p:cNvPr id="19" name="Description 3">
            <a:extLst xmlns:a="http://schemas.openxmlformats.org/drawingml/2006/main">
              <a:ext uri="{FF2B5EF4-FFF2-40B4-BE49-F238E27FC236}">
                <a16:creationId xmlns:a16="http://schemas.microsoft.com/office/drawing/2014/main" id="{56A4B716-1539-44D1-A626-86DD3B706FD5}"/>
              </a:ext>
            </a:extLst>
          </p:cNvPr>
          <p:cNvSpPr>
            <a:spLocks xmlns:a="http://schemas.openxmlformats.org/drawingml/2006/main" noGrp="1"/>
          </p:cNvSpPr>
          <p:nvPr/>
        </p:nvSpPr>
        <p:spPr>
          <a:xfrm xmlns:a="http://schemas.openxmlformats.org/drawingml/2006/main">
            <a:off x="1476375" y="5238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Study how user misconceptions, confidence and repeated challenges affect answers.</a:t>
            </a:r>
          </a:p>
        </p:txBody>
      </p:sp>
    </p:spTree>
    <p:extLst>
      <p:ext uri="{BB962C8B-B14F-4D97-AF65-F5344CB8AC3E}">
        <p14:creationId xmlns:p14="http://schemas.microsoft.com/office/powerpoint/2010/main" val="2045484779"/>
      </p:ext>
    </p:extLst>
  </p:cSld>
</p:sld>
</file>

<file path=ppt/slides/slide2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8FCC118-4AA9-4888-A5C3-815D621C1209}"/>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REFERENCES</a:t>
            </a:r>
          </a:p>
        </p:txBody>
      </p:sp>
      <p:sp>
        <p:nvSpPr>
          <p:cNvPr id="2" name="Title">
            <a:extLst xmlns:a="http://schemas.openxmlformats.org/drawingml/2006/main">
              <a:ext uri="{FF2B5EF4-FFF2-40B4-BE49-F238E27FC236}">
                <a16:creationId xmlns:a16="http://schemas.microsoft.com/office/drawing/2014/main" id="{FAE0F257-08BD-4F46-BD88-F59638D041DD}"/>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References and Q&amp;A</a:t>
            </a:r>
          </a:p>
        </p:txBody>
      </p:sp>
      <p:sp>
        <p:nvSpPr>
          <p:cNvPr id="3" name="">
            <a:extLst xmlns:a="http://schemas.openxmlformats.org/drawingml/2006/main">
              <a:ext uri="{FF2B5EF4-FFF2-40B4-BE49-F238E27FC236}">
                <a16:creationId xmlns:a16="http://schemas.microsoft.com/office/drawing/2014/main" id="{F5F2652E-2A32-4A98-ABF6-E23BF56E905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31ED861C-4D2E-4121-AD3E-D61C7E83770F}"/>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21</a:t>
            </a:r>
          </a:p>
        </p:txBody>
      </p:sp>
      <p:graphicFrame>
        <p:nvGraphicFramePr>
          <p:cNvPr id="11" name=""/>
          <p:cNvGraphicFramePr/>
          <p:nvPr/>
        </p:nvGraphicFramePr>
        <p:xfrm>
          <a:off xmlns:a="http://schemas.openxmlformats.org/drawingml/2006/main" x="571500" y="1619250"/>
          <a:ext xmlns:a="http://schemas.openxmlformats.org/drawingml/2006/main" cx="11049000" cy="3209925"/>
        </p:xfrm>
        <a:graphic xmlns:a="http://schemas.openxmlformats.org/drawingml/2006/main">
          <a:graphicData uri="http://schemas.openxmlformats.org/drawingml/2006/table">
            <a:tbl>
              <a:tblPr/>
              <a:tblGrid>
                <a:gridCol w="4000500"/>
                <a:gridCol w="7048500"/>
              </a:tblGrid>
              <a:tr h="534988">
                <a:tc>
                  <a:txBody>
                    <a:bodyPr lIns="95250" tIns="95250" rIns="95250" bIns="95250">
                      <a:noAutofit/>
                    </a:bodyPr>
                    <a:lstStyle/>
                    <a:p>
                      <a:r>
                        <a:rPr sz="1875" b="1">
                          <a:solidFill>
                            <a:srgbClr val="FFFFFF"/>
                          </a:solidFill>
                          <a:latin typeface="Helvetica Neue"/>
                          <a:ea typeface="Helvetica Neue"/>
                          <a:cs typeface="Helvetica Neue"/>
                        </a:rPr>
                        <a:t>Source</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Topic</a:t>
                      </a:r>
                    </a:p>
                  </a:txBody>
                  <a:tcPr marL="95250" marR="95250" marT="85725" marB="85725" anchor="ctr">
                    <a:solidFill>
                      <a:srgbClr val="142C40"/>
                    </a:solidFill>
                  </a:tcPr>
                </a:tc>
              </a:tr>
              <a:tr h="534988">
                <a:tc>
                  <a:txBody>
                    <a:bodyPr lIns="95250" tIns="95250" rIns="95250" bIns="95250">
                      <a:noAutofit/>
                    </a:bodyPr>
                    <a:lstStyle/>
                    <a:p>
                      <a:r>
                        <a:rPr sz="1875" b="0">
                          <a:solidFill>
                            <a:srgbClr val="142C40"/>
                          </a:solidFill>
                          <a:latin typeface="Helvetica Neue"/>
                          <a:ea typeface="Helvetica Neue"/>
                          <a:cs typeface="Helvetica Neue"/>
                        </a:rPr>
                        <a:t>Wang et al. (2023)</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Self-Consistency</a:t>
                      </a:r>
                    </a:p>
                  </a:txBody>
                  <a:tcPr marL="95250" marR="95250" marT="85725" marB="85725" anchor="ctr">
                    <a:solidFill>
                      <a:srgbClr val="FFFFFF"/>
                    </a:solidFill>
                  </a:tcPr>
                </a:tc>
              </a:tr>
              <a:tr h="534988">
                <a:tc>
                  <a:txBody>
                    <a:bodyPr lIns="95250" tIns="95250" rIns="95250" bIns="95250">
                      <a:noAutofit/>
                    </a:bodyPr>
                    <a:lstStyle/>
                    <a:p>
                      <a:r>
                        <a:rPr sz="1875" b="0">
                          <a:solidFill>
                            <a:srgbClr val="142C40"/>
                          </a:solidFill>
                          <a:latin typeface="Helvetica Neue"/>
                          <a:ea typeface="Helvetica Neue"/>
                          <a:cs typeface="Helvetica Neue"/>
                        </a:rPr>
                        <a:t>Huang et al. (2024)</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LLMs Cannot Self-Correct Reasoning Yet</a:t>
                      </a:r>
                    </a:p>
                  </a:txBody>
                  <a:tcPr marL="95250" marR="95250" marT="85725" marB="85725" anchor="ctr">
                    <a:solidFill>
                      <a:srgbClr val="EFF3F7"/>
                    </a:solidFill>
                  </a:tcPr>
                </a:tc>
              </a:tr>
              <a:tr h="534988">
                <a:tc>
                  <a:txBody>
                    <a:bodyPr lIns="95250" tIns="95250" rIns="95250" bIns="95250">
                      <a:noAutofit/>
                    </a:bodyPr>
                    <a:lstStyle/>
                    <a:p>
                      <a:r>
                        <a:rPr sz="1875" b="0">
                          <a:solidFill>
                            <a:srgbClr val="142C40"/>
                          </a:solidFill>
                          <a:latin typeface="Helvetica Neue"/>
                          <a:ea typeface="Helvetica Neue"/>
                          <a:cs typeface="Helvetica Neue"/>
                        </a:rPr>
                        <a:t>Dhuliawala et al. (2024)</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Chain-of-Verification</a:t>
                      </a:r>
                    </a:p>
                  </a:txBody>
                  <a:tcPr marL="95250" marR="95250" marT="85725" marB="85725" anchor="ctr">
                    <a:solidFill>
                      <a:srgbClr val="FFFFFF"/>
                    </a:solidFill>
                  </a:tcPr>
                </a:tc>
              </a:tr>
              <a:tr h="534988">
                <a:tc>
                  <a:txBody>
                    <a:bodyPr lIns="95250" tIns="95250" rIns="95250" bIns="95250">
                      <a:noAutofit/>
                    </a:bodyPr>
                    <a:lstStyle/>
                    <a:p>
                      <a:r>
                        <a:rPr sz="1875" b="0">
                          <a:solidFill>
                            <a:srgbClr val="142C40"/>
                          </a:solidFill>
                          <a:latin typeface="Helvetica Neue"/>
                          <a:ea typeface="Helvetica Neue"/>
                          <a:cs typeface="Helvetica Neue"/>
                        </a:rPr>
                        <a:t>Sharma et al. (2023)</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Sycophancy in Language Models</a:t>
                      </a:r>
                    </a:p>
                  </a:txBody>
                  <a:tcPr marL="95250" marR="95250" marT="85725" marB="85725" anchor="ctr">
                    <a:solidFill>
                      <a:srgbClr val="EFF3F7"/>
                    </a:solidFill>
                  </a:tcPr>
                </a:tc>
              </a:tr>
              <a:tr h="534988">
                <a:tc>
                  <a:txBody>
                    <a:bodyPr lIns="95250" tIns="95250" rIns="95250" bIns="95250">
                      <a:noAutofit/>
                    </a:bodyPr>
                    <a:lstStyle/>
                    <a:p>
                      <a:r>
                        <a:rPr sz="1875" b="0">
                          <a:solidFill>
                            <a:srgbClr val="142C40"/>
                          </a:solidFill>
                          <a:latin typeface="Helvetica Neue"/>
                          <a:ea typeface="Helvetica Neue"/>
                          <a:cs typeface="Helvetica Neue"/>
                        </a:rPr>
                        <a:t>Dataset source</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 source of the new mathematics questions</a:t>
                      </a:r>
                    </a:p>
                  </a:txBody>
                  <a:tcPr marL="95250" marR="95250" marT="85725" marB="85725" anchor="ctr">
                    <a:solidFill>
                      <a:srgbClr val="FFFFFF"/>
                    </a:solidFill>
                  </a:tcPr>
                </a:tc>
              </a:tr>
            </a:tbl>
          </a:graphicData>
        </a:graphic>
      </p:graphicFrame>
      <p:sp>
        <p:nvSpPr>
          <p:cNvPr id="6" name="Questions">
            <a:extLst xmlns:a="http://schemas.openxmlformats.org/drawingml/2006/main">
              <a:ext uri="{FF2B5EF4-FFF2-40B4-BE49-F238E27FC236}">
                <a16:creationId xmlns:a16="http://schemas.microsoft.com/office/drawing/2014/main" id="{F9B331D5-0B0B-4121-A7F5-861860C9FE3D}"/>
              </a:ext>
            </a:extLst>
          </p:cNvPr>
          <p:cNvSpPr>
            <a:spLocks xmlns:a="http://schemas.openxmlformats.org/drawingml/2006/main" noGrp="1"/>
          </p:cNvSpPr>
          <p:nvPr/>
        </p:nvSpPr>
        <p:spPr>
          <a:xfrm xmlns:a="http://schemas.openxmlformats.org/drawingml/2006/main">
            <a:off x="571500" y="5314950"/>
            <a:ext cx="1104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375" b="1">
                <a:solidFill>
                  <a:srgbClr val="142C40"/>
                </a:solidFill>
                <a:latin typeface="Helvetica Neue"/>
                <a:ea typeface="Helvetica Neue"/>
                <a:cs typeface="Helvetica Neue"/>
              </a:defRPr>
            </a:pPr>
            <a:r>
              <a:rPr sz="3375" b="1">
                <a:solidFill>
                  <a:srgbClr val="142C40"/>
                </a:solidFill>
                <a:latin typeface="Helvetica Neue"/>
                <a:ea typeface="Helvetica Neue"/>
                <a:cs typeface="Helvetica Neue"/>
              </a:rPr>
              <a:t>Questions?</a:t>
            </a:r>
          </a:p>
        </p:txBody>
      </p:sp>
    </p:spTree>
    <p:extLst>
      <p:ext uri="{BB962C8B-B14F-4D97-AF65-F5344CB8AC3E}">
        <p14:creationId xmlns:p14="http://schemas.microsoft.com/office/powerpoint/2010/main" val="2134157065"/>
      </p:ext>
    </p:extLst>
  </p:cSld>
</p:sld>
</file>

<file path=ppt/slides/slide2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B3C6772-0F95-45B3-B85E-57BE9355594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APPENDIX</a:t>
            </a:r>
          </a:p>
        </p:txBody>
      </p:sp>
      <p:sp>
        <p:nvSpPr>
          <p:cNvPr id="2" name="Title">
            <a:extLst xmlns:a="http://schemas.openxmlformats.org/drawingml/2006/main">
              <a:ext uri="{FF2B5EF4-FFF2-40B4-BE49-F238E27FC236}">
                <a16:creationId xmlns:a16="http://schemas.microsoft.com/office/drawing/2014/main" id="{0C05C015-062A-4F47-9D4C-A26C513E016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Error reduction and induced-error denominators</a:t>
            </a:r>
          </a:p>
        </p:txBody>
      </p:sp>
      <p:sp>
        <p:nvSpPr>
          <p:cNvPr id="3" name="">
            <a:extLst xmlns:a="http://schemas.openxmlformats.org/drawingml/2006/main">
              <a:ext uri="{FF2B5EF4-FFF2-40B4-BE49-F238E27FC236}">
                <a16:creationId xmlns:a16="http://schemas.microsoft.com/office/drawing/2014/main" id="{EC12F44A-C523-4488-8E92-ABEA75EDEC25}"/>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99D327B4-77BB-44FF-B56D-36E909CE703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22</a:t>
            </a:r>
          </a:p>
        </p:txBody>
      </p:sp>
      <p:graphicFrame>
        <p:nvGraphicFramePr>
          <p:cNvPr id="11" name=""/>
          <p:cNvGraphicFramePr/>
          <p:nvPr/>
        </p:nvGraphicFramePr>
        <p:xfrm>
          <a:off xmlns:a="http://schemas.openxmlformats.org/drawingml/2006/main" x="571500" y="1619250"/>
          <a:ext xmlns:a="http://schemas.openxmlformats.org/drawingml/2006/main" cx="11049000" cy="3476625"/>
        </p:xfrm>
        <a:graphic xmlns:a="http://schemas.openxmlformats.org/drawingml/2006/main">
          <a:graphicData uri="http://schemas.openxmlformats.org/drawingml/2006/table">
            <a:tbl>
              <a:tblPr/>
              <a:tblGrid>
                <a:gridCol w="2619375"/>
                <a:gridCol w="4667250"/>
                <a:gridCol w="3762375"/>
              </a:tblGrid>
              <a:tr h="695325">
                <a:tc>
                  <a:txBody>
                    <a:bodyPr lIns="95250" tIns="95250" rIns="95250" bIns="95250">
                      <a:noAutofit/>
                    </a:bodyPr>
                    <a:lstStyle/>
                    <a:p>
                      <a:r>
                        <a:rPr sz="1725" b="1">
                          <a:solidFill>
                            <a:srgbClr val="FFFFFF"/>
                          </a:solidFill>
                          <a:latin typeface="Helvetica Neue"/>
                          <a:ea typeface="Helvetica Neue"/>
                          <a:cs typeface="Helvetica Neue"/>
                        </a:rPr>
                        <a:t>Metric</a:t>
                      </a:r>
                    </a:p>
                  </a:txBody>
                  <a:tcPr marL="95250" marR="95250" marT="85725" marB="85725" anchor="ctr">
                    <a:solidFill>
                      <a:srgbClr val="142C40"/>
                    </a:solidFill>
                  </a:tcPr>
                </a:tc>
                <a:tc>
                  <a:txBody>
                    <a:bodyPr lIns="95250" tIns="95250" rIns="95250" bIns="95250">
                      <a:noAutofit/>
                    </a:bodyPr>
                    <a:lstStyle/>
                    <a:p>
                      <a:r>
                        <a:rPr sz="1725" b="1">
                          <a:solidFill>
                            <a:srgbClr val="FFFFFF"/>
                          </a:solidFill>
                          <a:latin typeface="Helvetica Neue"/>
                          <a:ea typeface="Helvetica Neue"/>
                          <a:cs typeface="Helvetica Neue"/>
                        </a:rPr>
                        <a:t>Definition</a:t>
                      </a:r>
                    </a:p>
                  </a:txBody>
                  <a:tcPr marL="95250" marR="95250" marT="85725" marB="85725" anchor="ctr">
                    <a:solidFill>
                      <a:srgbClr val="142C40"/>
                    </a:solidFill>
                  </a:tcPr>
                </a:tc>
                <a:tc>
                  <a:txBody>
                    <a:bodyPr lIns="95250" tIns="95250" rIns="95250" bIns="95250">
                      <a:noAutofit/>
                    </a:bodyPr>
                    <a:lstStyle/>
                    <a:p>
                      <a:r>
                        <a:rPr sz="1725" b="1">
                          <a:solidFill>
                            <a:srgbClr val="FFFFFF"/>
                          </a:solidFill>
                          <a:latin typeface="Helvetica Neue"/>
                          <a:ea typeface="Helvetica Neue"/>
                          <a:cs typeface="Helvetica Neue"/>
                        </a:rPr>
                        <a:t>Eligible sample</a:t>
                      </a:r>
                    </a:p>
                  </a:txBody>
                  <a:tcPr marL="95250" marR="95250" marT="85725" marB="85725" anchor="ctr">
                    <a:solidFill>
                      <a:srgbClr val="142C40"/>
                    </a:solidFill>
                  </a:tcPr>
                </a:tc>
              </a:tr>
              <a:tr h="695325">
                <a:tc>
                  <a:txBody>
                    <a:bodyPr lIns="95250" tIns="95250" rIns="95250" bIns="95250">
                      <a:noAutofit/>
                    </a:bodyPr>
                    <a:lstStyle/>
                    <a:p>
                      <a:r>
                        <a:rPr sz="1725" b="0">
                          <a:solidFill>
                            <a:srgbClr val="142C40"/>
                          </a:solidFill>
                          <a:latin typeface="Helvetica Neue"/>
                          <a:ea typeface="Helvetica Neue"/>
                          <a:cs typeface="Helvetica Neue"/>
                        </a:rPr>
                        <a:t>Error correction</a:t>
                      </a:r>
                    </a:p>
                  </a:txBody>
                  <a:tcPr marL="95250" marR="95250" marT="85725" marB="85725" anchor="ctr">
                    <a:solidFill>
                      <a:srgbClr val="FFFFFF"/>
                    </a:solidFill>
                  </a:tcPr>
                </a:tc>
                <a:tc>
                  <a:txBody>
                    <a:bodyPr lIns="95250" tIns="95250" rIns="95250" bIns="95250">
                      <a:noAutofit/>
                    </a:bodyPr>
                    <a:lstStyle/>
                    <a:p>
                      <a:r>
                        <a:rPr sz="1725" b="0">
                          <a:solidFill>
                            <a:srgbClr val="142C40"/>
                          </a:solidFill>
                          <a:latin typeface="Helvetica Neue"/>
                          <a:ea typeface="Helvetica Neue"/>
                          <a:cs typeface="Helvetica Neue"/>
                        </a:rPr>
                        <a:t>Wrong-to-correct / S</a:t>
                      </a:r>
                    </a:p>
                  </a:txBody>
                  <a:tcPr marL="95250" marR="95250" marT="85725" marB="85725" anchor="ctr">
                    <a:solidFill>
                      <a:srgbClr val="FFFFFF"/>
                    </a:solidFill>
                  </a:tcPr>
                </a:tc>
                <a:tc>
                  <a:txBody>
                    <a:bodyPr lIns="95250" tIns="95250" rIns="95250" bIns="95250">
                      <a:noAutofit/>
                    </a:bodyPr>
                    <a:lstStyle/>
                    <a:p>
                      <a:r>
                        <a:rPr sz="1725" b="0">
                          <a:solidFill>
                            <a:srgbClr val="142C40"/>
                          </a:solidFill>
                          <a:latin typeface="Helvetica Neue"/>
                          <a:ea typeface="Helvetica Neue"/>
                          <a:cs typeface="Helvetica Neue"/>
                        </a:rPr>
                        <a:t>MiniMax wrong + DeepSeek correct</a:t>
                      </a:r>
                    </a:p>
                  </a:txBody>
                  <a:tcPr marL="95250" marR="95250" marT="85725" marB="85725" anchor="ctr">
                    <a:solidFill>
                      <a:srgbClr val="FFFFFF"/>
                    </a:solidFill>
                  </a:tcPr>
                </a:tc>
              </a:tr>
              <a:tr h="695325">
                <a:tc>
                  <a:txBody>
                    <a:bodyPr lIns="95250" tIns="95250" rIns="95250" bIns="95250">
                      <a:noAutofit/>
                    </a:bodyPr>
                    <a:lstStyle/>
                    <a:p>
                      <a:r>
                        <a:rPr sz="1725" b="0">
                          <a:solidFill>
                            <a:srgbClr val="142C40"/>
                          </a:solidFill>
                          <a:latin typeface="Helvetica Neue"/>
                          <a:ea typeface="Helvetica Neue"/>
                          <a:cs typeface="Helvetica Neue"/>
                        </a:rPr>
                        <a:t>Error elimination</a:t>
                      </a:r>
                    </a:p>
                  </a:txBody>
                  <a:tcPr marL="95250" marR="95250" marT="85725" marB="85725" anchor="ctr">
                    <a:solidFill>
                      <a:srgbClr val="EFF3F7"/>
                    </a:solidFill>
                  </a:tcPr>
                </a:tc>
                <a:tc>
                  <a:txBody>
                    <a:bodyPr lIns="95250" tIns="95250" rIns="95250" bIns="95250">
                      <a:noAutofit/>
                    </a:bodyPr>
                    <a:lstStyle/>
                    <a:p>
                      <a:r>
                        <a:rPr sz="1725" b="0">
                          <a:solidFill>
                            <a:srgbClr val="142C40"/>
                          </a:solidFill>
                          <a:latin typeface="Helvetica Neue"/>
                          <a:ea typeface="Helvetica Neue"/>
                          <a:cs typeface="Helvetica Neue"/>
                        </a:rPr>
                        <a:t>(Wrong-to-correct + Wrong-to-abstain) / S</a:t>
                      </a:r>
                    </a:p>
                  </a:txBody>
                  <a:tcPr marL="95250" marR="95250" marT="85725" marB="85725" anchor="ctr">
                    <a:solidFill>
                      <a:srgbClr val="EFF3F7"/>
                    </a:solidFill>
                  </a:tcPr>
                </a:tc>
                <a:tc>
                  <a:txBody>
                    <a:bodyPr lIns="95250" tIns="95250" rIns="95250" bIns="95250">
                      <a:noAutofit/>
                    </a:bodyPr>
                    <a:lstStyle/>
                    <a:p>
                      <a:r>
                        <a:rPr sz="1725" b="0">
                          <a:solidFill>
                            <a:srgbClr val="142C40"/>
                          </a:solidFill>
                          <a:latin typeface="Helvetica Neue"/>
                          <a:ea typeface="Helvetica Neue"/>
                          <a:cs typeface="Helvetica Neue"/>
                        </a:rPr>
                        <a:t>Same correction subset S</a:t>
                      </a:r>
                    </a:p>
                  </a:txBody>
                  <a:tcPr marL="95250" marR="95250" marT="85725" marB="85725" anchor="ctr">
                    <a:solidFill>
                      <a:srgbClr val="EFF3F7"/>
                    </a:solidFill>
                  </a:tcPr>
                </a:tc>
              </a:tr>
              <a:tr h="695325">
                <a:tc>
                  <a:txBody>
                    <a:bodyPr lIns="95250" tIns="95250" rIns="95250" bIns="95250">
                      <a:noAutofit/>
                    </a:bodyPr>
                    <a:lstStyle/>
                    <a:p>
                      <a:r>
                        <a:rPr sz="1725" b="0">
                          <a:solidFill>
                            <a:srgbClr val="142C40"/>
                          </a:solidFill>
                          <a:latin typeface="Helvetica Neue"/>
                          <a:ea typeface="Helvetica Neue"/>
                          <a:cs typeface="Helvetica Neue"/>
                        </a:rPr>
                        <a:t>Overall net reduction</a:t>
                      </a:r>
                    </a:p>
                  </a:txBody>
                  <a:tcPr marL="95250" marR="95250" marT="85725" marB="85725" anchor="ctr">
                    <a:solidFill>
                      <a:srgbClr val="FFFFFF"/>
                    </a:solidFill>
                  </a:tcPr>
                </a:tc>
                <a:tc>
                  <a:txBody>
                    <a:bodyPr lIns="95250" tIns="95250" rIns="95250" bIns="95250">
                      <a:noAutofit/>
                    </a:bodyPr>
                    <a:lstStyle/>
                    <a:p>
                      <a:r>
                        <a:rPr sz="1725" b="0">
                          <a:solidFill>
                            <a:srgbClr val="142C40"/>
                          </a:solidFill>
                          <a:latin typeface="Helvetica Neue"/>
                          <a:ea typeface="Helvetica Neue"/>
                          <a:cs typeface="Helvetica Neue"/>
                        </a:rPr>
                        <a:t>100 × (initial errors − final errors) / N</a:t>
                      </a:r>
                    </a:p>
                  </a:txBody>
                  <a:tcPr marL="95250" marR="95250" marT="85725" marB="85725" anchor="ctr">
                    <a:solidFill>
                      <a:srgbClr val="FFFFFF"/>
                    </a:solidFill>
                  </a:tcPr>
                </a:tc>
                <a:tc>
                  <a:txBody>
                    <a:bodyPr lIns="95250" tIns="95250" rIns="95250" bIns="95250">
                      <a:noAutofit/>
                    </a:bodyPr>
                    <a:lstStyle/>
                    <a:p>
                      <a:r>
                        <a:rPr sz="1725" b="0">
                          <a:solidFill>
                            <a:srgbClr val="142C40"/>
                          </a:solidFill>
                          <a:latin typeface="Helvetica Neue"/>
                          <a:ea typeface="Helvetica Neue"/>
                          <a:cs typeface="Helvetica Neue"/>
                        </a:rPr>
                        <a:t>All matched natural cases N</a:t>
                      </a:r>
                    </a:p>
                  </a:txBody>
                  <a:tcPr marL="95250" marR="95250" marT="85725" marB="85725" anchor="ctr">
                    <a:solidFill>
                      <a:srgbClr val="FFFFFF"/>
                    </a:solidFill>
                  </a:tcPr>
                </a:tc>
              </a:tr>
              <a:tr h="695325">
                <a:tc>
                  <a:txBody>
                    <a:bodyPr lIns="95250" tIns="95250" rIns="95250" bIns="95250">
                      <a:noAutofit/>
                    </a:bodyPr>
                    <a:lstStyle/>
                    <a:p>
                      <a:r>
                        <a:rPr sz="1725" b="0">
                          <a:solidFill>
                            <a:srgbClr val="142C40"/>
                          </a:solidFill>
                          <a:latin typeface="Helvetica Neue"/>
                          <a:ea typeface="Helvetica Neue"/>
                          <a:cs typeface="Helvetica Neue"/>
                        </a:rPr>
                        <a:t>Induced error</a:t>
                      </a:r>
                    </a:p>
                  </a:txBody>
                  <a:tcPr marL="95250" marR="95250" marT="85725" marB="85725" anchor="ctr">
                    <a:solidFill>
                      <a:srgbClr val="EFF3F7"/>
                    </a:solidFill>
                  </a:tcPr>
                </a:tc>
                <a:tc>
                  <a:txBody>
                    <a:bodyPr lIns="95250" tIns="95250" rIns="95250" bIns="95250">
                      <a:noAutofit/>
                    </a:bodyPr>
                    <a:lstStyle/>
                    <a:p>
                      <a:r>
                        <a:rPr sz="1725" b="0">
                          <a:solidFill>
                            <a:srgbClr val="142C40"/>
                          </a:solidFill>
                          <a:latin typeface="Helvetica Neue"/>
                          <a:ea typeface="Helvetica Neue"/>
                          <a:cs typeface="Helvetica Neue"/>
                        </a:rPr>
                        <a:t>Correct-to-wrong / T</a:t>
                      </a:r>
                    </a:p>
                  </a:txBody>
                  <a:tcPr marL="95250" marR="95250" marT="85725" marB="85725" anchor="ctr">
                    <a:solidFill>
                      <a:srgbClr val="EFF3F7"/>
                    </a:solidFill>
                  </a:tcPr>
                </a:tc>
                <a:tc>
                  <a:txBody>
                    <a:bodyPr lIns="95250" tIns="95250" rIns="95250" bIns="95250">
                      <a:noAutofit/>
                    </a:bodyPr>
                    <a:lstStyle/>
                    <a:p>
                      <a:r>
                        <a:rPr sz="1725" b="0">
                          <a:solidFill>
                            <a:srgbClr val="142C40"/>
                          </a:solidFill>
                          <a:latin typeface="Helvetica Neue"/>
                          <a:ea typeface="Helvetica Neue"/>
                          <a:cs typeface="Helvetica Neue"/>
                        </a:rPr>
                        <a:t>Initially correct cases exposed to wrong feedback</a:t>
                      </a:r>
                    </a:p>
                  </a:txBody>
                  <a:tcPr marL="95250" marR="95250" marT="85725" marB="85725" anchor="ctr">
                    <a:solidFill>
                      <a:srgbClr val="EFF3F7"/>
                    </a:solidFill>
                  </a:tcPr>
                </a:tc>
              </a:tr>
            </a:tbl>
          </a:graphicData>
        </a:graphic>
      </p:graphicFrame>
      <p:sp>
        <p:nvSpPr>
          <p:cNvPr id="6" name="Footnote">
            <a:extLst xmlns:a="http://schemas.openxmlformats.org/drawingml/2006/main">
              <a:ext uri="{FF2B5EF4-FFF2-40B4-BE49-F238E27FC236}">
                <a16:creationId xmlns:a16="http://schemas.microsoft.com/office/drawing/2014/main" id="{A6635AA3-80FE-4668-A69B-5A5E4DD49F1C}"/>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Report counts, percentages and percentage points with their own denominators.</a:t>
            </a:r>
          </a:p>
        </p:txBody>
      </p:sp>
    </p:spTree>
    <p:extLst>
      <p:ext uri="{BB962C8B-B14F-4D97-AF65-F5344CB8AC3E}">
        <p14:creationId xmlns:p14="http://schemas.microsoft.com/office/powerpoint/2010/main" val="1934564586"/>
      </p:ext>
    </p:extLst>
  </p:cSld>
</p:sld>
</file>

<file path=ppt/slides/slide2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F43400E-7D82-47C0-9F25-C9774AB9EDC3}"/>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APPENDIX</a:t>
            </a:r>
          </a:p>
        </p:txBody>
      </p:sp>
      <p:sp>
        <p:nvSpPr>
          <p:cNvPr id="2" name="Title">
            <a:extLst xmlns:a="http://schemas.openxmlformats.org/drawingml/2006/main">
              <a:ext uri="{FF2B5EF4-FFF2-40B4-BE49-F238E27FC236}">
                <a16:creationId xmlns:a16="http://schemas.microsoft.com/office/drawing/2014/main" id="{277AC358-2236-40D3-82A5-8A0DA377BEB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Data needed for the final presentation</a:t>
            </a:r>
          </a:p>
        </p:txBody>
      </p:sp>
      <p:sp>
        <p:nvSpPr>
          <p:cNvPr id="3" name="">
            <a:extLst xmlns:a="http://schemas.openxmlformats.org/drawingml/2006/main">
              <a:ext uri="{FF2B5EF4-FFF2-40B4-BE49-F238E27FC236}">
                <a16:creationId xmlns:a16="http://schemas.microsoft.com/office/drawing/2014/main" id="{A9BA5EC1-55AE-40E7-9BD0-D46FE00AB9DA}"/>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8499FDFA-3F46-4C57-8503-2A366ED62A49}"/>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23</a:t>
            </a:r>
          </a:p>
        </p:txBody>
      </p:sp>
      <p:graphicFrame>
        <p:nvGraphicFramePr>
          <p:cNvPr id="11" name=""/>
          <p:cNvGraphicFramePr/>
          <p:nvPr/>
        </p:nvGraphicFramePr>
        <p:xfrm>
          <a:off xmlns:a="http://schemas.openxmlformats.org/drawingml/2006/main" x="571500" y="1638300"/>
          <a:ext xmlns:a="http://schemas.openxmlformats.org/drawingml/2006/main" cx="11049000" cy="3467100"/>
        </p:xfrm>
        <a:graphic xmlns:a="http://schemas.openxmlformats.org/drawingml/2006/main">
          <a:graphicData uri="http://schemas.openxmlformats.org/drawingml/2006/table">
            <a:tbl>
              <a:tblPr/>
              <a:tblGrid>
                <a:gridCol w="5810250"/>
                <a:gridCol w="5238750"/>
              </a:tblGrid>
              <a:tr h="577850">
                <a:tc>
                  <a:txBody>
                    <a:bodyPr lIns="95250" tIns="95250" rIns="95250" bIns="95250">
                      <a:noAutofit/>
                    </a:bodyPr>
                    <a:lstStyle/>
                    <a:p>
                      <a:r>
                        <a:rPr sz="1800" b="1">
                          <a:solidFill>
                            <a:srgbClr val="FFFFFF"/>
                          </a:solidFill>
                          <a:latin typeface="Helvetica Neue"/>
                          <a:ea typeface="Helvetica Neue"/>
                          <a:cs typeface="Helvetica Neue"/>
                        </a:rPr>
                        <a:t>Data item</a:t>
                      </a:r>
                    </a:p>
                  </a:txBody>
                  <a:tcPr marL="95250" marR="95250" marT="85725" marB="85725" anchor="ctr">
                    <a:solidFill>
                      <a:srgbClr val="142C40"/>
                    </a:solidFill>
                  </a:tcPr>
                </a:tc>
                <a:tc>
                  <a:txBody>
                    <a:bodyPr lIns="95250" tIns="95250" rIns="95250" bIns="95250">
                      <a:noAutofit/>
                    </a:bodyPr>
                    <a:lstStyle/>
                    <a:p>
                      <a:r>
                        <a:rPr sz="1800" b="1">
                          <a:solidFill>
                            <a:srgbClr val="FFFFFF"/>
                          </a:solidFill>
                          <a:latin typeface="Helvetica Neue"/>
                          <a:ea typeface="Helvetica Neue"/>
                          <a:cs typeface="Helvetica Neue"/>
                        </a:rPr>
                        <a:t>Purpose</a:t>
                      </a:r>
                    </a:p>
                  </a:txBody>
                  <a:tcPr marL="95250" marR="95250" marT="85725" marB="85725" anchor="ctr">
                    <a:solidFill>
                      <a:srgbClr val="142C40"/>
                    </a:solidFill>
                  </a:tcPr>
                </a:tc>
              </a:tr>
              <a:tr h="577850">
                <a:tc>
                  <a:txBody>
                    <a:bodyPr lIns="95250" tIns="95250" rIns="95250" bIns="95250">
                      <a:noAutofit/>
                    </a:bodyPr>
                    <a:lstStyle/>
                    <a:p>
                      <a:r>
                        <a:rPr sz="1800" b="0">
                          <a:solidFill>
                            <a:srgbClr val="142C40"/>
                          </a:solidFill>
                          <a:latin typeface="Helvetica Neue"/>
                          <a:ea typeface="Helvetica Neue"/>
                          <a:cs typeface="Helvetica Neue"/>
                        </a:rPr>
                        <a:t>Questions, references and initial answers</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Baseline counts and grading</a:t>
                      </a:r>
                    </a:p>
                  </a:txBody>
                  <a:tcPr marL="95250" marR="95250" marT="85725" marB="85725" anchor="ctr">
                    <a:solidFill>
                      <a:srgbClr val="FFFFFF"/>
                    </a:solidFill>
                  </a:tcPr>
                </a:tc>
              </a:tr>
              <a:tr h="577850">
                <a:tc>
                  <a:txBody>
                    <a:bodyPr lIns="95250" tIns="95250" rIns="95250" bIns="95250">
                      <a:noAutofit/>
                    </a:bodyPr>
                    <a:lstStyle/>
                    <a:p>
                      <a:r>
                        <a:rPr sz="1800" b="0">
                          <a:solidFill>
                            <a:srgbClr val="142C40"/>
                          </a:solidFill>
                          <a:latin typeface="Helvetica Neue"/>
                          <a:ea typeface="Helvetica Neue"/>
                          <a:cs typeface="Helvetica Neue"/>
                        </a:rPr>
                        <a:t>Self-check and natural cross-check answers</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Matched overall improvement</a:t>
                      </a:r>
                    </a:p>
                  </a:txBody>
                  <a:tcPr marL="95250" marR="95250" marT="85725" marB="85725" anchor="ctr">
                    <a:solidFill>
                      <a:srgbClr val="EFF3F7"/>
                    </a:solidFill>
                  </a:tcPr>
                </a:tc>
              </a:tr>
              <a:tr h="577850">
                <a:tc>
                  <a:txBody>
                    <a:bodyPr lIns="95250" tIns="95250" rIns="95250" bIns="95250">
                      <a:noAutofit/>
                    </a:bodyPr>
                    <a:lstStyle/>
                    <a:p>
                      <a:r>
                        <a:rPr sz="1800" b="0">
                          <a:solidFill>
                            <a:srgbClr val="142C40"/>
                          </a:solidFill>
                          <a:latin typeface="Helvetica Neue"/>
                          <a:ea typeface="Helvetica Neue"/>
                          <a:cs typeface="Helvetica Neue"/>
                        </a:rPr>
                        <a:t>Initially wrong + correct-peer subset</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Error correction and elimination</a:t>
                      </a:r>
                    </a:p>
                  </a:txBody>
                  <a:tcPr marL="95250" marR="95250" marT="85725" marB="85725" anchor="ctr">
                    <a:solidFill>
                      <a:srgbClr val="FFFFFF"/>
                    </a:solidFill>
                  </a:tcPr>
                </a:tc>
              </a:tr>
              <a:tr h="577850">
                <a:tc>
                  <a:txBody>
                    <a:bodyPr lIns="95250" tIns="95250" rIns="95250" bIns="95250">
                      <a:noAutofit/>
                    </a:bodyPr>
                    <a:lstStyle/>
                    <a:p>
                      <a:r>
                        <a:rPr sz="1800" b="0">
                          <a:solidFill>
                            <a:srgbClr val="142C40"/>
                          </a:solidFill>
                          <a:latin typeface="Helvetica Neue"/>
                          <a:ea typeface="Helvetica Neue"/>
                          <a:cs typeface="Helvetica Neue"/>
                        </a:rPr>
                        <a:t>Initially correct + wrong-feedback cases</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Peer and user induced-error rates</a:t>
                      </a:r>
                    </a:p>
                  </a:txBody>
                  <a:tcPr marL="95250" marR="95250" marT="85725" marB="85725" anchor="ctr">
                    <a:solidFill>
                      <a:srgbClr val="EFF3F7"/>
                    </a:solidFill>
                  </a:tcPr>
                </a:tc>
              </a:tr>
              <a:tr h="577850">
                <a:tc>
                  <a:txBody>
                    <a:bodyPr lIns="95250" tIns="95250" rIns="95250" bIns="95250">
                      <a:noAutofit/>
                    </a:bodyPr>
                    <a:lstStyle/>
                    <a:p>
                      <a:r>
                        <a:rPr sz="1800" b="0">
                          <a:solidFill>
                            <a:srgbClr val="142C40"/>
                          </a:solidFill>
                          <a:latin typeface="Helvetica Neue"/>
                          <a:ea typeface="Helvetica Neue"/>
                          <a:cs typeface="Helvetica Neue"/>
                        </a:rPr>
                        <a:t>Excluded records and scoring decisions</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Coverage, denominators and limitations</a:t>
                      </a:r>
                    </a:p>
                  </a:txBody>
                  <a:tcPr marL="95250" marR="95250" marT="85725" marB="85725"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048A8516-16DE-4D18-9E39-F2CAD1BFDAB2}"/>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Counts, rates, figures and conclusions remain pending until replacement data is supplied.</a:t>
            </a:r>
          </a:p>
        </p:txBody>
      </p:sp>
    </p:spTree>
    <p:extLst>
      <p:ext uri="{BB962C8B-B14F-4D97-AF65-F5344CB8AC3E}">
        <p14:creationId xmlns:p14="http://schemas.microsoft.com/office/powerpoint/2010/main" val="6279307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2003</Words>
  <Application>Microsoft Macintosh PowerPoint</Application>
  <DocSecurity>0</DocSecurity>
  <PresentationFormat>Widescreen</PresentationFormat>
  <Paragraphs>365</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thomaslin@connect.hku.hk</cp:lastModifiedBy>
  <cp:revision>1</cp:revision>
  <dcterms:created xsi:type="dcterms:W3CDTF">2026-10-06T13:33:01Z</dcterms:created>
  <dcterms:modified xsi:type="dcterms:W3CDTF">2026-10-06T13:54:25Z</dcterms:modified>
</cp:coreProperties>
</file>