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544dd2b2e14962" /><Relationship Type="http://schemas.openxmlformats.org/officeDocument/2006/relationships/extended-properties" Target="/docProps/app.xml" Id="R0f3d990d73a140b8" /><Relationship Type="http://schemas.openxmlformats.org/officeDocument/2006/relationships/officeDocument" Target="/ppt/presentation.xml" Id="R90bdbc75b5c04748" /></Relationships>
</file>

<file path=ppt/presentation.xml><?xml version="1.0" encoding="utf-8"?>
<p:presentation xmlns:p="http://schemas.openxmlformats.org/presentationml/2006/main">
  <p:sldMasterIdLst>
    <p:sldMasterId xmlns:r="http://schemas.openxmlformats.org/officeDocument/2006/relationships" id="2147483648" r:id="R7aabc049e198449a"/>
  </p:sldMasterIdLst>
  <p:notesMasterIdLst>
    <p:notesMasterId xmlns:r="http://schemas.openxmlformats.org/officeDocument/2006/relationships" r:id="Re0bdaf01f30b461e"/>
  </p:notesMasterIdLst>
  <p:sldIdLst>
    <p:sldId xmlns:r="http://schemas.openxmlformats.org/officeDocument/2006/relationships" id="256" r:id="Rd3e9e350d98f4237"/>
    <p:sldId xmlns:r="http://schemas.openxmlformats.org/officeDocument/2006/relationships" id="257" r:id="R1cccc9b83ce2416a"/>
    <p:sldId xmlns:r="http://schemas.openxmlformats.org/officeDocument/2006/relationships" id="258" r:id="R14b2c162453546ee"/>
    <p:sldId xmlns:r="http://schemas.openxmlformats.org/officeDocument/2006/relationships" id="259" r:id="R86404a42712e44fe"/>
    <p:sldId xmlns:r="http://schemas.openxmlformats.org/officeDocument/2006/relationships" id="260" r:id="R35b85f75387a44cd"/>
    <p:sldId xmlns:r="http://schemas.openxmlformats.org/officeDocument/2006/relationships" id="261" r:id="R3bcd87b7fc034cd6"/>
    <p:sldId xmlns:r="http://schemas.openxmlformats.org/officeDocument/2006/relationships" id="262" r:id="Rec6e75ac9d844e33"/>
    <p:sldId xmlns:r="http://schemas.openxmlformats.org/officeDocument/2006/relationships" id="263" r:id="R91bf6b29185b4011"/>
    <p:sldId xmlns:r="http://schemas.openxmlformats.org/officeDocument/2006/relationships" id="264" r:id="R3f5be164e5e54824"/>
    <p:sldId xmlns:r="http://schemas.openxmlformats.org/officeDocument/2006/relationships" id="265" r:id="R102427ec1a8b4b5f"/>
    <p:sldId xmlns:r="http://schemas.openxmlformats.org/officeDocument/2006/relationships" id="266" r:id="Refc9499389cf4403"/>
    <p:sldId xmlns:r="http://schemas.openxmlformats.org/officeDocument/2006/relationships" id="267" r:id="R8c4787c743ca4f69"/>
    <p:sldId xmlns:r="http://schemas.openxmlformats.org/officeDocument/2006/relationships" id="268" r:id="R3cbc253d88dd46de"/>
    <p:sldId xmlns:r="http://schemas.openxmlformats.org/officeDocument/2006/relationships" id="269" r:id="R1e2d2b51e867446e"/>
    <p:sldId xmlns:r="http://schemas.openxmlformats.org/officeDocument/2006/relationships" id="270" r:id="R81279055a8034931"/>
    <p:sldId xmlns:r="http://schemas.openxmlformats.org/officeDocument/2006/relationships" id="271" r:id="Rd502c12314674dec"/>
    <p:sldId xmlns:r="http://schemas.openxmlformats.org/officeDocument/2006/relationships" id="272" r:id="R9836d724d9164d5d"/>
    <p:sldId xmlns:r="http://schemas.openxmlformats.org/officeDocument/2006/relationships" id="273" r:id="R5fb8ca450bd54820"/>
    <p:sldId xmlns:r="http://schemas.openxmlformats.org/officeDocument/2006/relationships" id="274" r:id="R7abe8835a7864cf5"/>
    <p:sldId xmlns:r="http://schemas.openxmlformats.org/officeDocument/2006/relationships" id="275" r:id="R8a04942ff1e64fb5"/>
    <p:sldId xmlns:r="http://schemas.openxmlformats.org/officeDocument/2006/relationships" id="276" r:id="Rc97655996fd04553"/>
    <p:sldId xmlns:r="http://schemas.openxmlformats.org/officeDocument/2006/relationships" id="277" r:id="R77bc19650dd9459f"/>
    <p:sldId xmlns:r="http://schemas.openxmlformats.org/officeDocument/2006/relationships" id="278" r:id="R00f4d5ff0c7a4b3b"/>
    <p:sldId xmlns:r="http://schemas.openxmlformats.org/officeDocument/2006/relationships" id="279" r:id="Rcbeaa0cab05148d9"/>
    <p:sldId xmlns:r="http://schemas.openxmlformats.org/officeDocument/2006/relationships" id="280" r:id="Re1063635bffa4252"/>
    <p:sldId xmlns:r="http://schemas.openxmlformats.org/officeDocument/2006/relationships" id="281" r:id="R85a5a1b2055b47e8"/>
    <p:sldId xmlns:r="http://schemas.openxmlformats.org/officeDocument/2006/relationships" id="282" r:id="Ra709a480a5924bfd"/>
    <p:sldId xmlns:r="http://schemas.openxmlformats.org/officeDocument/2006/relationships" id="283" r:id="R357f0248b0c24c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39d71c8cb9548a1" /><Relationship Type="http://schemas.openxmlformats.org/officeDocument/2006/relationships/slideMaster" Target="/ppt/slideMasters/slideMaster1.xml" Id="R7aabc049e198449a" /><Relationship Type="http://schemas.openxmlformats.org/officeDocument/2006/relationships/notesMaster" Target="/ppt/notesMasters/notesMaster1.xml" Id="Re0bdaf01f30b461e" /><Relationship Type="http://schemas.openxmlformats.org/officeDocument/2006/relationships/presProps" Target="/ppt/presProps.xml" Id="R2860c4ee12544f8c" /><Relationship Type="http://schemas.openxmlformats.org/officeDocument/2006/relationships/viewProps" Target="/ppt/viewProps.xml" Id="R9f79f3a1531848d3" /><Relationship Type="http://schemas.openxmlformats.org/officeDocument/2006/relationships/tableStyles" Target="/ppt/tableStyles.xml" Id="R8acd8f40614644cb" /><Relationship Type="http://schemas.openxmlformats.org/officeDocument/2006/relationships/slide" Target="/ppt/slides/slide1.xml" Id="Rd3e9e350d98f4237" /><Relationship Type="http://schemas.openxmlformats.org/officeDocument/2006/relationships/slide" Target="/ppt/slides/slide2.xml" Id="R1cccc9b83ce2416a" /><Relationship Type="http://schemas.openxmlformats.org/officeDocument/2006/relationships/slide" Target="/ppt/slides/slide3.xml" Id="R14b2c162453546ee" /><Relationship Type="http://schemas.openxmlformats.org/officeDocument/2006/relationships/slide" Target="/ppt/slides/slide4.xml" Id="R86404a42712e44fe" /><Relationship Type="http://schemas.openxmlformats.org/officeDocument/2006/relationships/slide" Target="/ppt/slides/slide5.xml" Id="R35b85f75387a44cd" /><Relationship Type="http://schemas.openxmlformats.org/officeDocument/2006/relationships/slide" Target="/ppt/slides/slide6.xml" Id="R3bcd87b7fc034cd6" /><Relationship Type="http://schemas.openxmlformats.org/officeDocument/2006/relationships/slide" Target="/ppt/slides/slide7.xml" Id="Rec6e75ac9d844e33" /><Relationship Type="http://schemas.openxmlformats.org/officeDocument/2006/relationships/slide" Target="/ppt/slides/slide8.xml" Id="R91bf6b29185b4011" /><Relationship Type="http://schemas.openxmlformats.org/officeDocument/2006/relationships/slide" Target="/ppt/slides/slide9.xml" Id="R3f5be164e5e54824" /><Relationship Type="http://schemas.openxmlformats.org/officeDocument/2006/relationships/slide" Target="/ppt/slides/slide10.xml" Id="R102427ec1a8b4b5f" /><Relationship Type="http://schemas.openxmlformats.org/officeDocument/2006/relationships/slide" Target="/ppt/slides/slide11.xml" Id="Refc9499389cf4403" /><Relationship Type="http://schemas.openxmlformats.org/officeDocument/2006/relationships/slide" Target="/ppt/slides/slide12.xml" Id="R8c4787c743ca4f69" /><Relationship Type="http://schemas.openxmlformats.org/officeDocument/2006/relationships/slide" Target="/ppt/slides/slide13.xml" Id="R3cbc253d88dd46de" /><Relationship Type="http://schemas.openxmlformats.org/officeDocument/2006/relationships/slide" Target="/ppt/slides/slide14.xml" Id="R1e2d2b51e867446e" /><Relationship Type="http://schemas.openxmlformats.org/officeDocument/2006/relationships/slide" Target="/ppt/slides/slide15.xml" Id="R81279055a8034931" /><Relationship Type="http://schemas.openxmlformats.org/officeDocument/2006/relationships/slide" Target="/ppt/slides/slide16.xml" Id="Rd502c12314674dec" /><Relationship Type="http://schemas.openxmlformats.org/officeDocument/2006/relationships/slide" Target="/ppt/slides/slide17.xml" Id="R9836d724d9164d5d" /><Relationship Type="http://schemas.openxmlformats.org/officeDocument/2006/relationships/slide" Target="/ppt/slides/slide18.xml" Id="R5fb8ca450bd54820" /><Relationship Type="http://schemas.openxmlformats.org/officeDocument/2006/relationships/slide" Target="/ppt/slides/slide19.xml" Id="R7abe8835a7864cf5" /><Relationship Type="http://schemas.openxmlformats.org/officeDocument/2006/relationships/slide" Target="/ppt/slides/slide20.xml" Id="R8a04942ff1e64fb5" /><Relationship Type="http://schemas.openxmlformats.org/officeDocument/2006/relationships/slide" Target="/ppt/slides/slide21.xml" Id="Rc97655996fd04553" /><Relationship Type="http://schemas.openxmlformats.org/officeDocument/2006/relationships/slide" Target="/ppt/slides/slide22.xml" Id="R77bc19650dd9459f" /><Relationship Type="http://schemas.openxmlformats.org/officeDocument/2006/relationships/slide" Target="/ppt/slides/slide23.xml" Id="R00f4d5ff0c7a4b3b" /><Relationship Type="http://schemas.openxmlformats.org/officeDocument/2006/relationships/slide" Target="/ppt/slides/slide24.xml" Id="Rcbeaa0cab05148d9" /><Relationship Type="http://schemas.openxmlformats.org/officeDocument/2006/relationships/slide" Target="/ppt/slides/slide25.xml" Id="Re1063635bffa4252" /><Relationship Type="http://schemas.openxmlformats.org/officeDocument/2006/relationships/slide" Target="/ppt/slides/slide26.xml" Id="R85a5a1b2055b47e8" /><Relationship Type="http://schemas.openxmlformats.org/officeDocument/2006/relationships/slide" Target="/ppt/slides/slide27.xml" Id="Ra709a480a5924bfd" /><Relationship Type="http://schemas.openxmlformats.org/officeDocument/2006/relationships/slide" Target="/ppt/slides/slide28.xml" Id="R357f0248b0c24c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a09e1e7974c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5c92e3450b4bf8" /><Relationship Type="http://schemas.openxmlformats.org/officeDocument/2006/relationships/notesMaster" Target="/ppt/notesMasters/notesMaster1.xml" Id="Rab3b241706bc42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9598494533406b" /><Relationship Type="http://schemas.openxmlformats.org/officeDocument/2006/relationships/notesMaster" Target="/ppt/notesMasters/notesMaster1.xml" Id="Rdb2b773a48d942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54853925ec4b95" /><Relationship Type="http://schemas.openxmlformats.org/officeDocument/2006/relationships/notesMaster" Target="/ppt/notesMasters/notesMaster1.xml" Id="Reb041fa0b7c949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80ad4cbbd34920" /><Relationship Type="http://schemas.openxmlformats.org/officeDocument/2006/relationships/notesMaster" Target="/ppt/notesMasters/notesMaster1.xml" Id="Raffb690f08014c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aabac6c7364cd7" /><Relationship Type="http://schemas.openxmlformats.org/officeDocument/2006/relationships/notesMaster" Target="/ppt/notesMasters/notesMaster1.xml" Id="R3865b7da2adc46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2400806cfb4e87" /><Relationship Type="http://schemas.openxmlformats.org/officeDocument/2006/relationships/notesMaster" Target="/ppt/notesMasters/notesMaster1.xml" Id="R35b40621c1304b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faf137c04a45c4" /><Relationship Type="http://schemas.openxmlformats.org/officeDocument/2006/relationships/notesMaster" Target="/ppt/notesMasters/notesMaster1.xml" Id="R0e6bb08ad42a47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3667cd7f144248" /><Relationship Type="http://schemas.openxmlformats.org/officeDocument/2006/relationships/notesMaster" Target="/ppt/notesMasters/notesMaster1.xml" Id="R964f62f3d3b74c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5a8bd1989f4978" /><Relationship Type="http://schemas.openxmlformats.org/officeDocument/2006/relationships/notesMaster" Target="/ppt/notesMasters/notesMaster1.xml" Id="Rb37773ecb5c846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dc71a9441c4eab" /><Relationship Type="http://schemas.openxmlformats.org/officeDocument/2006/relationships/notesMaster" Target="/ppt/notesMasters/notesMaster1.xml" Id="R446c372978e549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8e5fc21a9c462e" /><Relationship Type="http://schemas.openxmlformats.org/officeDocument/2006/relationships/notesMaster" Target="/ppt/notesMasters/notesMaster1.xml" Id="R888055cbefa64c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903e6e1eb34f50" /><Relationship Type="http://schemas.openxmlformats.org/officeDocument/2006/relationships/notesMaster" Target="/ppt/notesMasters/notesMaster1.xml" Id="Rca64b1af64ab47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a535019f9a4da2" /><Relationship Type="http://schemas.openxmlformats.org/officeDocument/2006/relationships/notesMaster" Target="/ppt/notesMasters/notesMaster1.xml" Id="R55ba4712983b4f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b58198df7d4dc5" /><Relationship Type="http://schemas.openxmlformats.org/officeDocument/2006/relationships/notesMaster" Target="/ppt/notesMasters/notesMaster1.xml" Id="R0c85c900e2d140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aa0f82d6de49c7" /><Relationship Type="http://schemas.openxmlformats.org/officeDocument/2006/relationships/notesMaster" Target="/ppt/notesMasters/notesMaster1.xml" Id="Rc7854003fd0847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b8942178b9456a" /><Relationship Type="http://schemas.openxmlformats.org/officeDocument/2006/relationships/notesMaster" Target="/ppt/notesMasters/notesMaster1.xml" Id="R511d23ae8c7148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0bb4738b6ab4cc5" /><Relationship Type="http://schemas.openxmlformats.org/officeDocument/2006/relationships/notesMaster" Target="/ppt/notesMasters/notesMaster1.xml" Id="R11463dfb26574d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ca05239c9845ea" /><Relationship Type="http://schemas.openxmlformats.org/officeDocument/2006/relationships/notesMaster" Target="/ppt/notesMasters/notesMaster1.xml" Id="R1a316f54ae0d4e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1bb7f801e64823" /><Relationship Type="http://schemas.openxmlformats.org/officeDocument/2006/relationships/notesMaster" Target="/ppt/notesMasters/notesMaster1.xml" Id="R3f5714a5390249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fa991da70d4b66" /><Relationship Type="http://schemas.openxmlformats.org/officeDocument/2006/relationships/notesMaster" Target="/ppt/notesMasters/notesMaster1.xml" Id="Rd267abd1c0b647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b863dca3724024" /><Relationship Type="http://schemas.openxmlformats.org/officeDocument/2006/relationships/notesMaster" Target="/ppt/notesMasters/notesMaster1.xml" Id="R62ada6f781154b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c28b4d1b0a439e" /><Relationship Type="http://schemas.openxmlformats.org/officeDocument/2006/relationships/notesMaster" Target="/ppt/notesMasters/notesMaster1.xml" Id="R32cb24d8539a41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1ac3b60d534d2b" /><Relationship Type="http://schemas.openxmlformats.org/officeDocument/2006/relationships/notesMaster" Target="/ppt/notesMasters/notesMaster1.xml" Id="Rcc504847efe54d1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0ecb4f3c1043a3" /><Relationship Type="http://schemas.openxmlformats.org/officeDocument/2006/relationships/notesMaster" Target="/ppt/notesMasters/notesMaster1.xml" Id="R189e71d477d6477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9db1f8789c40f7" /><Relationship Type="http://schemas.openxmlformats.org/officeDocument/2006/relationships/notesMaster" Target="/ppt/notesMasters/notesMaster1.xml" Id="R9de97a10987f47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846aeb8135e4387" /><Relationship Type="http://schemas.openxmlformats.org/officeDocument/2006/relationships/notesMaster" Target="/ppt/notesMasters/notesMaster1.xml" Id="R2a4511615f0244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fa386f05bb14a9d" /><Relationship Type="http://schemas.openxmlformats.org/officeDocument/2006/relationships/notesMaster" Target="/ppt/notesMasters/notesMaster1.xml" Id="Re2058a6e67004e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18ad57760f4594" /><Relationship Type="http://schemas.openxmlformats.org/officeDocument/2006/relationships/notesMaster" Target="/ppt/notesMasters/notesMaster1.xml" Id="Raf16162916ce4f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Can double-checking reduce AI error rates?</a:t>
            </a:r>
          </a:p>
          <a:p xmlns:a="http://schemas.openxmlformats.org/drawingml/2006/main">
            <a:r>
              <a:t>RQ2: Which double-checking method is most effective in practice?</a:t>
            </a:r>
          </a:p>
          <a:p xmlns:a="http://schemas.openxmlformats.org/drawingml/2006/main">
            <a:r>
              <a:t>RQ3: Can an incorrect peer answer mislead an initially correct model during cross-checking?</a:t>
            </a:r>
          </a:p>
          <a:p xmlns:a="http://schemas.openxmlformats.org/drawingml/2006/main">
            <a:r>
              <a:t>RQ4: Can misleading user input cause an otherwise correct model to give a wrong answer?</a:t>
            </a:r>
          </a:p>
          <a:p xmlns:a="http://schemas.openxmlformats.org/drawingml/2006/main">
            <a:endParaRPr/>
          </a:p>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xmlns:a="http://schemas.openxmlformats.org/drawingml/2006/main">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xmlns:a="http://schemas.openxmlformats.org/drawingml/2006/main">
            <a:endParaRPr/>
          </a:p>
          <a:p xmlns:a="http://schemas.openxmlformats.org/drawingml/2006/main">
            <a:r>
              <a:t>The four research questions remain the user-approved broad questions. This slide lists the narrower tests available in the revised math bank. RQ2 cannot rank methods overall because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xmlns:a="http://schemas.openxmlformats.org/drawingml/2006/main">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endParaRPr/>
          </a:p>
          <a:p xmlns:a="http://schemas.openxmlformats.org/drawingml/2006/main">
            <a:r>
              <a:t>New paired R charts show the same 63 initially wrong questions. Their initial wrong-answer rate is 63/63=100% by selection; self-check ends wrong on 32/63 and DeepSeek cross-check on 8/63. Correction is 31/63 and 55/63, respectively. This is not an overall cross-check error rate for the 500-question bank, because initially correct questions were not sent through the cross-check branch.</a:t>
            </a:r>
          </a:p>
          <a:p xmlns:a="http://schemas.openxmlformats.org/drawingml/2006/main">
            <a:r>
              <a:t/>
            </a:r>
          </a:p>
          <a:p xmlns:a="http://schemas.openxmlformats.org/drawingml/2006/main">
            <a:r>
              <a:t>Denominator clarification: the left chart is the 488 same-question, scorable initial/self-check pairs (66 vs 42 wrong). The right chart is correction among 63 initially wrong questions with scoreable self-check and cross-check replies (31 vs 55 corrected). No observed full-bank cross-check error rate exists because initially correct answers did not receive that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xmlns:a="http://schemas.openxmlformats.org/drawingml/2006/main">
            <a:r>
              <a:t/>
            </a:r>
            <a:endParaRPr/>
          </a:p>
          <a:p xmlns:a="http://schemas.openxmlformats.org/drawingml/2006/main">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a:p xmlns:a="http://schemas.openxmlformats.org/drawingml/2006/main">
            <a:r>
              <a:t/>
            </a:r>
          </a:p>
          <a:p xmlns:a="http://schemas.openxmlformats.org/drawingml/2006/main">
            <a:r>
              <a:t>All 68 cases had correct MiniMax initial answers and were selected for the misleading-condition comparison. Self-check wrong 1/68, scripted AI advice wrong 0/68, scripted user challenge wrong 10/68. These are observed rates on the selected 68 only, not overall post-condition rates out of 493.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Can double-checking reduce AI error rates?</a:t>
            </a:r>
          </a:p>
          <a:p xmlns:a="http://schemas.openxmlformats.org/drawingml/2006/main">
            <a:endParaRPr/>
          </a:p>
          <a:p xmlns:a="http://schemas.openxmlformats.org/drawingml/2006/main">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endParaRPr/>
          </a:p>
          <a:p xmlns:a="http://schemas.openxmlformats.org/drawingml/2006/main">
            <a:r>
              <a:t>The RQ1 chart is the overall same-question initial versus self-check comparison. The conditional cross-check result on 63 selected initial errors is presented separately on the next slide and cannot be appended as a 488-question cross-check rate.</a:t>
            </a:r>
          </a:p>
          <a:p xmlns:a="http://schemas.openxmlformats.org/drawingml/2006/main">
            <a:endParaRPr/>
          </a:p>
          <a:p xmlns:a="http://schemas.openxmlformats.org/drawingml/2006/main">
            <a:r>
              <a:t>The revised RQ1 visual deliberately uses two panels. Overall matched N=488: initial 66 wrong (13.52%), self-check 42 wrong (8.61%). Selected initial-error N=63: initial 63 wrong (100% by selection), self-check 32 wrong (50.79%), cross-check 8 wrong (12.70%). Cross-check was not run on the 488-question full bank, so its 8/63 rate is conditional and must not be read as an overall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Which double-checking method is most effective in practice?</a:t>
            </a:r>
          </a:p>
          <a:p xmlns:a="http://schemas.openxmlformats.org/drawingml/2006/main">
            <a:r>
              <a:t>This study does not identify the most effective method overall; its cross-check branch selected only initially wrong answers.</a:t>
            </a:r>
          </a:p>
          <a:p xmlns:a="http://schemas.openxmlformats.org/drawingml/2006/main">
            <a:r>
              <a:t/>
            </a:r>
            <a:endParaRPr/>
          </a:p>
          <a:p xmlns:a="http://schemas.openxmlformats.org/drawingml/2006/main">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endParaRPr/>
          </a:p>
          <a:p xmlns:a="http://schemas.openxmlformats.org/drawingml/2006/main">
            <a:r>
              <a:t>Added error-rate panel uses the identical63 initially wrong valid M2/C1 pairs. Self-check has63-31=32 wrong(50.79%);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xmlns:a="http://schemas.openxmlformats.org/drawingml/2006/main">
            <a:r>
              <a:t/>
            </a:r>
            <a:endParaRPr/>
          </a:p>
          <a:p xmlns:a="http://schemas.openxmlformats.org/drawingml/2006/main">
            <a:r>
              <a:t>The left green plot is correction rate: 31/63=49.21% after self-check and 55/63=87.30% after cross-check. The right blue plot shows wrong-answer rate for exactly those selected 63: initial 63/63=100%, self-check 32/63=50.79%, cross-check 8/63=12.70%. The two metrics are complementary on this conditional subset. We cannot rank practical overall effectiveness without running cross-check also on initially correct answers.</a:t>
            </a:r>
          </a:p>
          <a:p xmlns:a="http://schemas.openxmlformats.org/drawingml/2006/main">
            <a:r>
              <a:t/>
            </a:r>
          </a:p>
          <a:p xmlns:a="http://schemas.openxmlformats.org/drawingml/2006/main">
            <a:r>
              <a:t>Paired outcomes: both self-check and cross-check correct 30/63; only cross-check correct 25/63; only self-check correct 1/63; both wrong 7/63. The 63 cases were selected for being initially wrong. Do not report 8/63 as the overall cross-check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questions: RQ3: Can an incorrect peer answer mislead an initially correct model during cross-checking? RQ4: Can misleading user input cause an otherwise correct model to give a wrong answer?</a:t>
            </a:r>
          </a:p>
          <a:p xmlns:a="http://schemas.openxmlformats.org/drawingml/2006/main">
            <a:r>
              <a:t>RQ3 is not directly answered by the revised-bank experiment: its wrong AI advice was researcher-scripted, not an independently generated incorrect peer reply. RQ4 is supported as a possibility by the scripted post-answer user challenge, not by a recruited human participant.</a:t>
            </a:r>
          </a:p>
          <a:p xmlns:a="http://schemas.openxmlformats.org/drawingml/2006/main">
            <a:r>
              <a:t/>
            </a:r>
            <a:endParaRPr/>
          </a:p>
          <a:p xmlns:a="http://schemas.openxmlformats.org/drawingml/2006/main">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p>
          <a:p xmlns:a="http://schemas.openxmlformats.org/drawingml/2006/main">
            <a:r>
              <a:t/>
            </a:r>
            <a:endParaRPr/>
          </a:p>
          <a:p xmlns:a="http://schemas.openxmlformats.org/drawingml/2006/main">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p>
          <a:p xmlns:a="http://schemas.openxmlformats.org/drawingml/2006/main">
            <a:r>
              <a:t/>
            </a:r>
            <a:endParaRPr/>
          </a:p>
          <a:p xmlns:a="http://schemas.openxmlformats.org/drawingml/2006/main">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a:p xmlns:a="http://schemas.openxmlformats.org/drawingml/2006/main">
            <a:r>
              <a:t/>
            </a:r>
            <a:endParaRPr/>
          </a:p>
          <a:p xmlns:a="http://schemas.openxmlformats.org/drawingml/2006/main">
            <a:r>
              <a:t>RQ3 evidence has two different sources. In the separate historical cross-check Polynomial 11 example, DeepSeek initially answered 20 correctly, a genuinely wrong MiniMax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a:p xmlns:a="http://schemas.openxmlformats.org/drawingml/2006/main">
            <a:r>
              <a:t/>
            </a:r>
          </a:p>
          <a:p xmlns:a="http://schemas.openxmlformats.org/drawingml/2006/main">
            <a:r>
              <a:t>The 68-case branch provides conditional new-error rates after correct initial answers. Reporting its final wrong counts over 493 would require an untested assumption that all other answers remained unchanged, and would be a hypothetical partial rollout, not an observed full-bank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xmlns:a="http://schemas.openxmlformats.org/drawingml/2006/main">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closing reflection. About45–60 seconds; skip if time is short. This is a personal perspective, not an additional result of the mathematics experiment.</a:t>
            </a:r>
          </a:p>
          <a:p xmlns:a="http://schemas.openxmlformats.org/drawingml/2006/main">
            <a:endParaRPr/>
          </a:p>
          <a:p xmlns:a="http://schemas.openxmlformats.org/drawingml/2006/main">
            <a:r>
              <a:t>Suggested English narration:</a:t>
            </a:r>
          </a:p>
          <a:p xmlns:a="http://schemas.openxmlformats.org/drawingml/2006/main">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xmlns:a="http://schemas.openxmlformats.org/drawingml/2006/main">
            <a:endParaRPr/>
          </a:p>
          <a:p xmlns:a="http://schemas.openxmlformats.org/drawingml/2006/main">
            <a:r>
              <a:t>中文讲述参考：</a:t>
            </a:r>
          </a:p>
          <a:p xmlns:a="http://schemas.openxmlformats.org/drawingml/2006/main">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xmlns:a="http://schemas.openxmlformats.org/drawingml/2006/main">
            <a:endParaRPr/>
          </a:p>
          <a:p xmlns:a="http://schemas.openxmlformats.org/drawingml/2006/main">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1aac99bf1941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9773c89dfa4d86" /><Relationship Type="http://schemas.openxmlformats.org/officeDocument/2006/relationships/slideLayout" Target="/ppt/slideLayouts/slideLayout1.xml" Id="R80733e67ecdd46e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733e67ecdd46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2b5e25f124cc3" /><Relationship Type="http://schemas.openxmlformats.org/officeDocument/2006/relationships/notesSlide" Target="/ppt/notesSlides/notesSlide1.xml" Id="Rc6c5b80f8fbf40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baa230f6b24b16" /><Relationship Type="http://schemas.openxmlformats.org/officeDocument/2006/relationships/notesSlide" Target="/ppt/notesSlides/notesSlide2.xml" Id="Rd85981b54c1b42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f52e54c38b46f6" /><Relationship Type="http://schemas.openxmlformats.org/officeDocument/2006/relationships/notesSlide" Target="/ppt/notesSlides/notesSlide3.xml" Id="Re1073f91753f4c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411e90cb954b0b" /><Relationship Type="http://schemas.openxmlformats.org/officeDocument/2006/relationships/image" Target="/ppt/media/image.jpeg" Id="R139cde175a9a491f" /><Relationship Type="http://schemas.openxmlformats.org/officeDocument/2006/relationships/notesSlide" Target="/ppt/notesSlides/notesSlide4.xml" Id="Rf48e2b95d66b41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679abaf2fd4ba8" /><Relationship Type="http://schemas.openxmlformats.org/officeDocument/2006/relationships/hyperlink" Target="https://github.com/ThomasLin070217/claude-codex-collab" TargetMode="External" Id="R05cdaef463394a03" /><Relationship Type="http://schemas.openxmlformats.org/officeDocument/2006/relationships/notesSlide" Target="/ppt/notesSlides/notesSlide5.xml" Id="R7360dcaaf31b43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0bba6d85354f60" /><Relationship Type="http://schemas.openxmlformats.org/officeDocument/2006/relationships/notesSlide" Target="/ppt/notesSlides/notesSlide6.xml" Id="Rb2624ffe50de46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1f1096199946a5" /><Relationship Type="http://schemas.openxmlformats.org/officeDocument/2006/relationships/notesSlide" Target="/ppt/notesSlides/notesSlide7.xml" Id="R5019ff8d5ccc42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fb2d7db30543ee" /><Relationship Type="http://schemas.openxmlformats.org/officeDocument/2006/relationships/image" Target="/ppt/media/image2.jpeg" Id="Rb6fa32ee4a214e95" /><Relationship Type="http://schemas.openxmlformats.org/officeDocument/2006/relationships/notesSlide" Target="/ppt/notesSlides/notesSlide8.xml" Id="R4889ea78d2c540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bbb6975eb1437f" /><Relationship Type="http://schemas.openxmlformats.org/officeDocument/2006/relationships/notesSlide" Target="/ppt/notesSlides/notesSlide9.xml" Id="R7c1c11adc86043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26cd1212c44578" /><Relationship Type="http://schemas.openxmlformats.org/officeDocument/2006/relationships/notesSlide" Target="/ppt/notesSlides/notesSlide10.xml" Id="Rdb20311e86f844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d946aef59d46c7" /><Relationship Type="http://schemas.openxmlformats.org/officeDocument/2006/relationships/image" Target="/ppt/media/image.png" Id="Rec5fd81204e64d81" /><Relationship Type="http://schemas.openxmlformats.org/officeDocument/2006/relationships/notesSlide" Target="/ppt/notesSlides/notesSlide11.xml" Id="R6e5e7ee62b4d47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e9605419f540c1" /><Relationship Type="http://schemas.openxmlformats.org/officeDocument/2006/relationships/notesSlide" Target="/ppt/notesSlides/notesSlide12.xml" Id="R0bfdacdf109841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21cd77a12a848d7" /><Relationship Type="http://schemas.openxmlformats.org/officeDocument/2006/relationships/notesSlide" Target="/ppt/notesSlides/notesSlide13.xml" Id="R5477c85d7a5b43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977c7ae59c4045" /><Relationship Type="http://schemas.openxmlformats.org/officeDocument/2006/relationships/image" Target="/ppt/media/image2.png" Id="R8947f0a6ba8049e9" /><Relationship Type="http://schemas.openxmlformats.org/officeDocument/2006/relationships/notesSlide" Target="/ppt/notesSlides/notesSlide14.xml" Id="R0a9abce2a8fe42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936b56c6974aef" /><Relationship Type="http://schemas.openxmlformats.org/officeDocument/2006/relationships/notesSlide" Target="/ppt/notesSlides/notesSlide15.xml" Id="R0b1d964cfd3c4c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df6865f9ea448f" /><Relationship Type="http://schemas.openxmlformats.org/officeDocument/2006/relationships/image" Target="/ppt/media/image3.png" Id="R5acdbb47e77042ee" /><Relationship Type="http://schemas.openxmlformats.org/officeDocument/2006/relationships/image" Target="/ppt/media/image4.png" Id="R1b00db044708487a" /><Relationship Type="http://schemas.openxmlformats.org/officeDocument/2006/relationships/notesSlide" Target="/ppt/notesSlides/notesSlide16.xml" Id="Rdda2953d3fcc4c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233a1243aa4ffa" /><Relationship Type="http://schemas.openxmlformats.org/officeDocument/2006/relationships/image" Target="/ppt/media/image5.png" Id="R2f721db19af14367" /><Relationship Type="http://schemas.openxmlformats.org/officeDocument/2006/relationships/notesSlide" Target="/ppt/notesSlides/notesSlide17.xml" Id="Rcfa8106244084a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2aaa7ae1ad34bfc" /><Relationship Type="http://schemas.openxmlformats.org/officeDocument/2006/relationships/image" Target="/ppt/media/image6.png" Id="Rbd17e1185b5c4c27" /><Relationship Type="http://schemas.openxmlformats.org/officeDocument/2006/relationships/image" Target="/ppt/media/image7.png" Id="Redf18eb3f4b9422e" /><Relationship Type="http://schemas.openxmlformats.org/officeDocument/2006/relationships/notesSlide" Target="/ppt/notesSlides/notesSlide18.xml" Id="R222e4fda0ddf43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4aaa2f5ea74133" /><Relationship Type="http://schemas.openxmlformats.org/officeDocument/2006/relationships/image" Target="/ppt/media/image8.png" Id="Rc624b2ac1ee04446" /><Relationship Type="http://schemas.openxmlformats.org/officeDocument/2006/relationships/notesSlide" Target="/ppt/notesSlides/notesSlide19.xml" Id="Re6953355de124d4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af219d6cee14feb" /><Relationship Type="http://schemas.openxmlformats.org/officeDocument/2006/relationships/notesSlide" Target="/ppt/notesSlides/notesSlide20.xml" Id="R4f1810f0ce7645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08e334d715b4fed" /><Relationship Type="http://schemas.openxmlformats.org/officeDocument/2006/relationships/notesSlide" Target="/ppt/notesSlides/notesSlide21.xml" Id="R3a6357b473fb4b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77eb15e271d4dce" /><Relationship Type="http://schemas.openxmlformats.org/officeDocument/2006/relationships/image" Target="/ppt/media/image9.png" Id="Rc4f4e39f14ca4983" /><Relationship Type="http://schemas.openxmlformats.org/officeDocument/2006/relationships/notesSlide" Target="/ppt/notesSlides/notesSlide22.xml" Id="R29bec399b05848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a80b878c11a455e" /><Relationship Type="http://schemas.openxmlformats.org/officeDocument/2006/relationships/image" Target="/ppt/media/image10.png" Id="R5fd4dfab32a4414d" /><Relationship Type="http://schemas.openxmlformats.org/officeDocument/2006/relationships/image" Target="/ppt/media/image11.png" Id="R9be6ba2dabb94bf2" /><Relationship Type="http://schemas.openxmlformats.org/officeDocument/2006/relationships/notesSlide" Target="/ppt/notesSlides/notesSlide23.xml" Id="R5da7816ad40c40c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e15f5f7f00d43b8" /><Relationship Type="http://schemas.openxmlformats.org/officeDocument/2006/relationships/image" Target="/ppt/media/image12.png" Id="R69d163513d514eb7" /><Relationship Type="http://schemas.openxmlformats.org/officeDocument/2006/relationships/image" Target="/ppt/media/image13.png" Id="R453530ce078f4fea" /><Relationship Type="http://schemas.openxmlformats.org/officeDocument/2006/relationships/notesSlide" Target="/ppt/notesSlides/notesSlide24.xml" Id="Rbb269bd6aacd45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f580c9275d4629" /><Relationship Type="http://schemas.openxmlformats.org/officeDocument/2006/relationships/notesSlide" Target="/ppt/notesSlides/notesSlide25.xml" Id="R2bda5ce4afe04d0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58350ae05f5471b" /><Relationship Type="http://schemas.openxmlformats.org/officeDocument/2006/relationships/notesSlide" Target="/ppt/notesSlides/notesSlide26.xml" Id="R7303b836469549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dc6fa8cdf5c4aef" /><Relationship Type="http://schemas.openxmlformats.org/officeDocument/2006/relationships/notesSlide" Target="/ppt/notesSlides/notesSlide27.xml" Id="Rfcc5fefa1e1e4e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acdd0028ff419d" /><Relationship Type="http://schemas.openxmlformats.org/officeDocument/2006/relationships/notesSlide" Target="/ppt/notesSlides/notesSlide28.xml" Id="R4f549f724a3a4fbf"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FFFF743-D9C0-4B25-911F-68E6AA149A2C}"/>
              </a:ext>
            </a:extLst>
          </p:cNvPr>
          <p:cNvSpPr>
            <a:spLocks xmlns:a="http://schemas.openxmlformats.org/drawingml/2006/main" noGrp="1"/>
          </p:cNvSpPr>
          <p:nvPr/>
        </p:nvSpPr>
        <p:spPr>
          <a:xfrm xmlns:a="http://schemas.openxmlformats.org/drawingml/2006/main">
            <a:off x="594360" y="1554480"/>
            <a:ext cx="1078992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xmlns:a="http://schemas.openxmlformats.org/drawingml/2006/main">
              <a:ext uri="{FF2B5EF4-FFF2-40B4-BE49-F238E27FC236}">
                <a16:creationId xmlns:a16="http://schemas.microsoft.com/office/drawing/2014/main" id="{FE68179C-EC62-4845-899E-A624243BCB5A}"/>
              </a:ext>
            </a:extLst>
          </p:cNvPr>
          <p:cNvSpPr>
            <a:spLocks xmlns:a="http://schemas.openxmlformats.org/drawingml/2006/main" noGrp="1"/>
          </p:cNvSpPr>
          <p:nvPr/>
        </p:nvSpPr>
        <p:spPr>
          <a:xfrm xmlns:a="http://schemas.openxmlformats.org/drawingml/2006/main">
            <a:off x="594360" y="3383280"/>
            <a:ext cx="1078992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xmlns:a="http://schemas.openxmlformats.org/drawingml/2006/main">
              <a:ext uri="{FF2B5EF4-FFF2-40B4-BE49-F238E27FC236}">
                <a16:creationId xmlns:a16="http://schemas.microsoft.com/office/drawing/2014/main" id="{DFF37FE1-5E70-478D-9FB0-361469E23270}"/>
              </a:ext>
            </a:extLst>
          </p:cNvPr>
          <p:cNvSpPr>
            <a:spLocks xmlns:a="http://schemas.openxmlformats.org/drawingml/2006/main" noGrp="1"/>
          </p:cNvSpPr>
          <p:nvPr/>
        </p:nvSpPr>
        <p:spPr>
          <a:xfrm xmlns:a="http://schemas.openxmlformats.org/drawingml/2006/main">
            <a:off x="594360" y="4233672"/>
            <a:ext cx="5760720" cy="0"/>
          </a:xfrm>
          <a:prstGeom xmlns:a="http://schemas.openxmlformats.org/drawingml/2006/main" prst="line">
            <a:avLst/>
          </a:prstGeom>
          <a:noFill xmlns:a="http://schemas.openxmlformats.org/drawingml/2006/main"/>
          <a:ln xmlns:a="http://schemas.openxmlformats.org/drawingml/2006/main" w="47625">
            <a:solidFill>
              <a:srgbClr val="147E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2F285466-3A65-438A-AECB-CF4B489AD9C4}"/>
              </a:ext>
            </a:extLst>
          </p:cNvPr>
          <p:cNvSpPr>
            <a:spLocks xmlns:a="http://schemas.openxmlformats.org/drawingml/2006/main" noGrp="1"/>
          </p:cNvSpPr>
          <p:nvPr/>
        </p:nvSpPr>
        <p:spPr>
          <a:xfrm xmlns:a="http://schemas.openxmlformats.org/drawingml/2006/main">
            <a:off x="594360" y="4663440"/>
            <a:ext cx="8229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xmlns:a="http://schemas.openxmlformats.org/drawingml/2006/main">
              <a:ext uri="{FF2B5EF4-FFF2-40B4-BE49-F238E27FC236}">
                <a16:creationId xmlns:a16="http://schemas.microsoft.com/office/drawing/2014/main" id="{DB3806B8-6F49-4011-84F4-16EB007D2F7B}"/>
              </a:ext>
            </a:extLst>
          </p:cNvPr>
          <p:cNvSpPr>
            <a:spLocks xmlns:a="http://schemas.openxmlformats.org/drawingml/2006/main" noGrp="1"/>
          </p:cNvSpPr>
          <p:nvPr/>
        </p:nvSpPr>
        <p:spPr>
          <a:xfrm xmlns:a="http://schemas.openxmlformats.org/drawingml/2006/main">
            <a:off x="594360" y="5897880"/>
            <a:ext cx="73152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xmlns:a="http://schemas.openxmlformats.org/drawingml/2006/main">
              <a:ext uri="{FF2B5EF4-FFF2-40B4-BE49-F238E27FC236}">
                <a16:creationId xmlns:a16="http://schemas.microsoft.com/office/drawing/2014/main" id="{6F60BF80-FB70-4A78-B059-2391819DF752}"/>
              </a:ext>
            </a:extLst>
          </p:cNvPr>
          <p:cNvSpPr>
            <a:spLocks xmlns:a="http://schemas.openxmlformats.org/drawingml/2006/main" noGrp="1"/>
          </p:cNvSpPr>
          <p:nvPr/>
        </p:nvSpPr>
        <p:spPr>
          <a:xfrm xmlns:a="http://schemas.openxmlformats.org/drawingml/2006/main">
            <a:off x="11353800" y="64770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xmlns:a="http://schemas.openxmlformats.org/drawingml/2006/main">
              <a:ext uri="{FF2B5EF4-FFF2-40B4-BE49-F238E27FC236}">
                <a16:creationId xmlns:a16="http://schemas.microsoft.com/office/drawing/2014/main" id="{5F683B88-0145-44B2-AA22-47DB38CC1B4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1A953889-8C55-4620-9095-4B8314710C61}"/>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xmlns:a="http://schemas.openxmlformats.org/drawingml/2006/main">
              <a:ext uri="{FF2B5EF4-FFF2-40B4-BE49-F238E27FC236}">
                <a16:creationId xmlns:a16="http://schemas.microsoft.com/office/drawing/2014/main" id="{6B88168B-3994-4428-A8BE-534A30F698C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xmlns:a="http://schemas.openxmlformats.org/drawingml/2006/main">
              <a:ext uri="{FF2B5EF4-FFF2-40B4-BE49-F238E27FC236}">
                <a16:creationId xmlns:a16="http://schemas.microsoft.com/office/drawing/2014/main" id="{AE9C499F-F964-4F21-A1CD-624B32A67198}"/>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Outline number 1">
            <a:extLst xmlns:a="http://schemas.openxmlformats.org/drawingml/2006/main">
              <a:ext uri="{FF2B5EF4-FFF2-40B4-BE49-F238E27FC236}">
                <a16:creationId xmlns:a16="http://schemas.microsoft.com/office/drawing/2014/main" id="{F4F80A83-81FA-4CE1-A1A9-3944F153DBFA}"/>
              </a:ext>
            </a:extLst>
          </p:cNvPr>
          <p:cNvSpPr>
            <a:spLocks xmlns:a="http://schemas.openxmlformats.org/drawingml/2006/main" noGrp="1"/>
          </p:cNvSpPr>
          <p:nvPr/>
        </p:nvSpPr>
        <p:spPr>
          <a:xfrm xmlns:a="http://schemas.openxmlformats.org/drawingml/2006/main">
            <a:off x="5715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xmlns:a="http://schemas.openxmlformats.org/drawingml/2006/main">
              <a:ext uri="{FF2B5EF4-FFF2-40B4-BE49-F238E27FC236}">
                <a16:creationId xmlns:a16="http://schemas.microsoft.com/office/drawing/2014/main" id="{38F19952-F4CF-4386-86DE-2F7186DF6BEB}"/>
              </a:ext>
            </a:extLst>
          </p:cNvPr>
          <p:cNvSpPr>
            <a:spLocks xmlns:a="http://schemas.openxmlformats.org/drawingml/2006/main" noGrp="1"/>
          </p:cNvSpPr>
          <p:nvPr/>
        </p:nvSpPr>
        <p:spPr>
          <a:xfrm xmlns:a="http://schemas.openxmlformats.org/drawingml/2006/main">
            <a:off x="13811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xmlns:a="http://schemas.openxmlformats.org/drawingml/2006/main">
              <a:ext uri="{FF2B5EF4-FFF2-40B4-BE49-F238E27FC236}">
                <a16:creationId xmlns:a16="http://schemas.microsoft.com/office/drawing/2014/main" id="{1FD1DE43-A18F-4C2C-BC47-81EB60FE63E4}"/>
              </a:ext>
            </a:extLst>
          </p:cNvPr>
          <p:cNvSpPr>
            <a:spLocks xmlns:a="http://schemas.openxmlformats.org/drawingml/2006/main" noGrp="1"/>
          </p:cNvSpPr>
          <p:nvPr/>
        </p:nvSpPr>
        <p:spPr>
          <a:xfrm xmlns:a="http://schemas.openxmlformats.org/drawingml/2006/main">
            <a:off x="5715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xmlns:a="http://schemas.openxmlformats.org/drawingml/2006/main">
              <a:ext uri="{FF2B5EF4-FFF2-40B4-BE49-F238E27FC236}">
                <a16:creationId xmlns:a16="http://schemas.microsoft.com/office/drawing/2014/main" id="{3F1B47B4-5CBC-4ECE-AF42-5FE1C1D4196A}"/>
              </a:ext>
            </a:extLst>
          </p:cNvPr>
          <p:cNvSpPr>
            <a:spLocks xmlns:a="http://schemas.openxmlformats.org/drawingml/2006/main" noGrp="1"/>
          </p:cNvSpPr>
          <p:nvPr/>
        </p:nvSpPr>
        <p:spPr>
          <a:xfrm xmlns:a="http://schemas.openxmlformats.org/drawingml/2006/main">
            <a:off x="13811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xmlns:a="http://schemas.openxmlformats.org/drawingml/2006/main">
              <a:ext uri="{FF2B5EF4-FFF2-40B4-BE49-F238E27FC236}">
                <a16:creationId xmlns:a16="http://schemas.microsoft.com/office/drawing/2014/main" id="{B8B39D1B-9DFC-41F7-B340-D4A00450A50C}"/>
              </a:ext>
            </a:extLst>
          </p:cNvPr>
          <p:cNvSpPr>
            <a:spLocks xmlns:a="http://schemas.openxmlformats.org/drawingml/2006/main" noGrp="1"/>
          </p:cNvSpPr>
          <p:nvPr/>
        </p:nvSpPr>
        <p:spPr>
          <a:xfrm xmlns:a="http://schemas.openxmlformats.org/drawingml/2006/main">
            <a:off x="5715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xmlns:a="http://schemas.openxmlformats.org/drawingml/2006/main">
              <a:ext uri="{FF2B5EF4-FFF2-40B4-BE49-F238E27FC236}">
                <a16:creationId xmlns:a16="http://schemas.microsoft.com/office/drawing/2014/main" id="{79C3947A-15E6-4B6B-B238-D9E32DE77996}"/>
              </a:ext>
            </a:extLst>
          </p:cNvPr>
          <p:cNvSpPr>
            <a:spLocks xmlns:a="http://schemas.openxmlformats.org/drawingml/2006/main" noGrp="1"/>
          </p:cNvSpPr>
          <p:nvPr/>
        </p:nvSpPr>
        <p:spPr>
          <a:xfrm xmlns:a="http://schemas.openxmlformats.org/drawingml/2006/main">
            <a:off x="13811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xmlns:a="http://schemas.openxmlformats.org/drawingml/2006/main">
              <a:ext uri="{FF2B5EF4-FFF2-40B4-BE49-F238E27FC236}">
                <a16:creationId xmlns:a16="http://schemas.microsoft.com/office/drawing/2014/main" id="{2A95BA8C-4B6E-4103-BDAD-A745785527AE}"/>
              </a:ext>
            </a:extLst>
          </p:cNvPr>
          <p:cNvSpPr>
            <a:spLocks xmlns:a="http://schemas.openxmlformats.org/drawingml/2006/main" noGrp="1"/>
          </p:cNvSpPr>
          <p:nvPr/>
        </p:nvSpPr>
        <p:spPr>
          <a:xfrm xmlns:a="http://schemas.openxmlformats.org/drawingml/2006/main">
            <a:off x="5715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xmlns:a="http://schemas.openxmlformats.org/drawingml/2006/main">
              <a:ext uri="{FF2B5EF4-FFF2-40B4-BE49-F238E27FC236}">
                <a16:creationId xmlns:a16="http://schemas.microsoft.com/office/drawing/2014/main" id="{B0DF4148-AE6C-45FE-A410-1445DE176028}"/>
              </a:ext>
            </a:extLst>
          </p:cNvPr>
          <p:cNvSpPr>
            <a:spLocks xmlns:a="http://schemas.openxmlformats.org/drawingml/2006/main" noGrp="1"/>
          </p:cNvSpPr>
          <p:nvPr/>
        </p:nvSpPr>
        <p:spPr>
          <a:xfrm xmlns:a="http://schemas.openxmlformats.org/drawingml/2006/main">
            <a:off x="13811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xmlns:a="http://schemas.openxmlformats.org/drawingml/2006/main">
              <a:ext uri="{FF2B5EF4-FFF2-40B4-BE49-F238E27FC236}">
                <a16:creationId xmlns:a16="http://schemas.microsoft.com/office/drawing/2014/main" id="{11D6CD7A-81F6-4C70-9AA4-A8D8A4090DD5}"/>
              </a:ext>
            </a:extLst>
          </p:cNvPr>
          <p:cNvSpPr>
            <a:spLocks xmlns:a="http://schemas.openxmlformats.org/drawingml/2006/main" noGrp="1"/>
          </p:cNvSpPr>
          <p:nvPr/>
        </p:nvSpPr>
        <p:spPr>
          <a:xfrm xmlns:a="http://schemas.openxmlformats.org/drawingml/2006/main">
            <a:off x="5715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xmlns:a="http://schemas.openxmlformats.org/drawingml/2006/main">
              <a:ext uri="{FF2B5EF4-FFF2-40B4-BE49-F238E27FC236}">
                <a16:creationId xmlns:a16="http://schemas.microsoft.com/office/drawing/2014/main" id="{F951D00D-15FC-4D6C-B2BC-B417E974957D}"/>
              </a:ext>
            </a:extLst>
          </p:cNvPr>
          <p:cNvSpPr>
            <a:spLocks xmlns:a="http://schemas.openxmlformats.org/drawingml/2006/main" noGrp="1"/>
          </p:cNvSpPr>
          <p:nvPr/>
        </p:nvSpPr>
        <p:spPr>
          <a:xfrm xmlns:a="http://schemas.openxmlformats.org/drawingml/2006/main">
            <a:off x="13811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xmlns:a="http://schemas.openxmlformats.org/drawingml/2006/main">
              <a:ext uri="{FF2B5EF4-FFF2-40B4-BE49-F238E27FC236}">
                <a16:creationId xmlns:a16="http://schemas.microsoft.com/office/drawing/2014/main" id="{58C650B3-C53B-4A6A-AC35-914B7CA604E9}"/>
              </a:ext>
            </a:extLst>
          </p:cNvPr>
          <p:cNvSpPr>
            <a:spLocks xmlns:a="http://schemas.openxmlformats.org/drawingml/2006/main" noGrp="1"/>
          </p:cNvSpPr>
          <p:nvPr/>
        </p:nvSpPr>
        <p:spPr>
          <a:xfrm xmlns:a="http://schemas.openxmlformats.org/drawingml/2006/main">
            <a:off x="5715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xmlns:a="http://schemas.openxmlformats.org/drawingml/2006/main">
              <a:ext uri="{FF2B5EF4-FFF2-40B4-BE49-F238E27FC236}">
                <a16:creationId xmlns:a16="http://schemas.microsoft.com/office/drawing/2014/main" id="{64362A0D-566E-4DD8-A327-68CB44ED725F}"/>
              </a:ext>
            </a:extLst>
          </p:cNvPr>
          <p:cNvSpPr>
            <a:spLocks xmlns:a="http://schemas.openxmlformats.org/drawingml/2006/main" noGrp="1"/>
          </p:cNvSpPr>
          <p:nvPr/>
        </p:nvSpPr>
        <p:spPr>
          <a:xfrm xmlns:a="http://schemas.openxmlformats.org/drawingml/2006/main">
            <a:off x="13811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xmlns:a="http://schemas.openxmlformats.org/drawingml/2006/main">
              <a:ext uri="{FF2B5EF4-FFF2-40B4-BE49-F238E27FC236}">
                <a16:creationId xmlns:a16="http://schemas.microsoft.com/office/drawing/2014/main" id="{693B301A-5871-4C4B-A873-83D27BF9862B}"/>
              </a:ext>
            </a:extLst>
          </p:cNvPr>
          <p:cNvSpPr>
            <a:spLocks xmlns:a="http://schemas.openxmlformats.org/drawingml/2006/main" noGrp="1"/>
          </p:cNvSpPr>
          <p:nvPr/>
        </p:nvSpPr>
        <p:spPr>
          <a:xfrm xmlns:a="http://schemas.openxmlformats.org/drawingml/2006/main">
            <a:off x="64770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xmlns:a="http://schemas.openxmlformats.org/drawingml/2006/main">
              <a:ext uri="{FF2B5EF4-FFF2-40B4-BE49-F238E27FC236}">
                <a16:creationId xmlns:a16="http://schemas.microsoft.com/office/drawing/2014/main" id="{427ADBFE-967B-4439-BFA0-8F6C5163EACC}"/>
              </a:ext>
            </a:extLst>
          </p:cNvPr>
          <p:cNvSpPr>
            <a:spLocks xmlns:a="http://schemas.openxmlformats.org/drawingml/2006/main" noGrp="1"/>
          </p:cNvSpPr>
          <p:nvPr/>
        </p:nvSpPr>
        <p:spPr>
          <a:xfrm xmlns:a="http://schemas.openxmlformats.org/drawingml/2006/main">
            <a:off x="72866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xmlns:a="http://schemas.openxmlformats.org/drawingml/2006/main">
              <a:ext uri="{FF2B5EF4-FFF2-40B4-BE49-F238E27FC236}">
                <a16:creationId xmlns:a16="http://schemas.microsoft.com/office/drawing/2014/main" id="{03ED7AB7-C974-4638-BD99-5EBDCB425219}"/>
              </a:ext>
            </a:extLst>
          </p:cNvPr>
          <p:cNvSpPr>
            <a:spLocks xmlns:a="http://schemas.openxmlformats.org/drawingml/2006/main" noGrp="1"/>
          </p:cNvSpPr>
          <p:nvPr/>
        </p:nvSpPr>
        <p:spPr>
          <a:xfrm xmlns:a="http://schemas.openxmlformats.org/drawingml/2006/main">
            <a:off x="64770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xmlns:a="http://schemas.openxmlformats.org/drawingml/2006/main">
              <a:ext uri="{FF2B5EF4-FFF2-40B4-BE49-F238E27FC236}">
                <a16:creationId xmlns:a16="http://schemas.microsoft.com/office/drawing/2014/main" id="{09D1F112-65DD-424C-8481-2D6703797B45}"/>
              </a:ext>
            </a:extLst>
          </p:cNvPr>
          <p:cNvSpPr>
            <a:spLocks xmlns:a="http://schemas.openxmlformats.org/drawingml/2006/main" noGrp="1"/>
          </p:cNvSpPr>
          <p:nvPr/>
        </p:nvSpPr>
        <p:spPr>
          <a:xfrm xmlns:a="http://schemas.openxmlformats.org/drawingml/2006/main">
            <a:off x="72866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xmlns:a="http://schemas.openxmlformats.org/drawingml/2006/main">
              <a:ext uri="{FF2B5EF4-FFF2-40B4-BE49-F238E27FC236}">
                <a16:creationId xmlns:a16="http://schemas.microsoft.com/office/drawing/2014/main" id="{FCCCA1D6-27A0-442E-A5EE-14EEB5CFED7A}"/>
              </a:ext>
            </a:extLst>
          </p:cNvPr>
          <p:cNvSpPr>
            <a:spLocks xmlns:a="http://schemas.openxmlformats.org/drawingml/2006/main" noGrp="1"/>
          </p:cNvSpPr>
          <p:nvPr/>
        </p:nvSpPr>
        <p:spPr>
          <a:xfrm xmlns:a="http://schemas.openxmlformats.org/drawingml/2006/main">
            <a:off x="64770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xmlns:a="http://schemas.openxmlformats.org/drawingml/2006/main">
              <a:ext uri="{FF2B5EF4-FFF2-40B4-BE49-F238E27FC236}">
                <a16:creationId xmlns:a16="http://schemas.microsoft.com/office/drawing/2014/main" id="{75488D10-7B89-40E8-85F3-0606B16408BF}"/>
              </a:ext>
            </a:extLst>
          </p:cNvPr>
          <p:cNvSpPr>
            <a:spLocks xmlns:a="http://schemas.openxmlformats.org/drawingml/2006/main" noGrp="1"/>
          </p:cNvSpPr>
          <p:nvPr/>
        </p:nvSpPr>
        <p:spPr>
          <a:xfrm xmlns:a="http://schemas.openxmlformats.org/drawingml/2006/main">
            <a:off x="72866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xmlns:a="http://schemas.openxmlformats.org/drawingml/2006/main">
              <a:ext uri="{FF2B5EF4-FFF2-40B4-BE49-F238E27FC236}">
                <a16:creationId xmlns:a16="http://schemas.microsoft.com/office/drawing/2014/main" id="{AB8FA947-2CE5-43C8-89F4-C99F79F4FAE6}"/>
              </a:ext>
            </a:extLst>
          </p:cNvPr>
          <p:cNvSpPr>
            <a:spLocks xmlns:a="http://schemas.openxmlformats.org/drawingml/2006/main" noGrp="1"/>
          </p:cNvSpPr>
          <p:nvPr/>
        </p:nvSpPr>
        <p:spPr>
          <a:xfrm xmlns:a="http://schemas.openxmlformats.org/drawingml/2006/main">
            <a:off x="64770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xmlns:a="http://schemas.openxmlformats.org/drawingml/2006/main">
              <a:ext uri="{FF2B5EF4-FFF2-40B4-BE49-F238E27FC236}">
                <a16:creationId xmlns:a16="http://schemas.microsoft.com/office/drawing/2014/main" id="{AAE4029B-5D3F-4DD1-8CFC-A6DADC85D7A5}"/>
              </a:ext>
            </a:extLst>
          </p:cNvPr>
          <p:cNvSpPr>
            <a:spLocks xmlns:a="http://schemas.openxmlformats.org/drawingml/2006/main" noGrp="1"/>
          </p:cNvSpPr>
          <p:nvPr/>
        </p:nvSpPr>
        <p:spPr>
          <a:xfrm xmlns:a="http://schemas.openxmlformats.org/drawingml/2006/main">
            <a:off x="72866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xmlns:a="http://schemas.openxmlformats.org/drawingml/2006/main">
              <a:ext uri="{FF2B5EF4-FFF2-40B4-BE49-F238E27FC236}">
                <a16:creationId xmlns:a16="http://schemas.microsoft.com/office/drawing/2014/main" id="{52963BA8-3B2E-4736-8A62-A669860B9845}"/>
              </a:ext>
            </a:extLst>
          </p:cNvPr>
          <p:cNvSpPr>
            <a:spLocks xmlns:a="http://schemas.openxmlformats.org/drawingml/2006/main" noGrp="1"/>
          </p:cNvSpPr>
          <p:nvPr/>
        </p:nvSpPr>
        <p:spPr>
          <a:xfrm xmlns:a="http://schemas.openxmlformats.org/drawingml/2006/main">
            <a:off x="64770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xmlns:a="http://schemas.openxmlformats.org/drawingml/2006/main">
              <a:ext uri="{FF2B5EF4-FFF2-40B4-BE49-F238E27FC236}">
                <a16:creationId xmlns:a16="http://schemas.microsoft.com/office/drawing/2014/main" id="{1CFECA98-F01B-443E-A561-DC4046B253AD}"/>
              </a:ext>
            </a:extLst>
          </p:cNvPr>
          <p:cNvSpPr>
            <a:spLocks xmlns:a="http://schemas.openxmlformats.org/drawingml/2006/main" noGrp="1"/>
          </p:cNvSpPr>
          <p:nvPr/>
        </p:nvSpPr>
        <p:spPr>
          <a:xfrm xmlns:a="http://schemas.openxmlformats.org/drawingml/2006/main">
            <a:off x="72866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xmlns:a="http://schemas.openxmlformats.org/drawingml/2006/main">
              <a:ext uri="{FF2B5EF4-FFF2-40B4-BE49-F238E27FC236}">
                <a16:creationId xmlns:a16="http://schemas.microsoft.com/office/drawing/2014/main" id="{2904CEB7-D110-4BE9-9D4D-05585B81BD7F}"/>
              </a:ext>
            </a:extLst>
          </p:cNvPr>
          <p:cNvSpPr>
            <a:spLocks xmlns:a="http://schemas.openxmlformats.org/drawingml/2006/main" noGrp="1"/>
          </p:cNvSpPr>
          <p:nvPr/>
        </p:nvSpPr>
        <p:spPr>
          <a:xfrm xmlns:a="http://schemas.openxmlformats.org/drawingml/2006/main">
            <a:off x="64770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xmlns:a="http://schemas.openxmlformats.org/drawingml/2006/main">
              <a:ext uri="{FF2B5EF4-FFF2-40B4-BE49-F238E27FC236}">
                <a16:creationId xmlns:a16="http://schemas.microsoft.com/office/drawing/2014/main" id="{CE8A2A00-D1DC-4A07-A3D7-8EC2E9DCE54F}"/>
              </a:ext>
            </a:extLst>
          </p:cNvPr>
          <p:cNvSpPr>
            <a:spLocks xmlns:a="http://schemas.openxmlformats.org/drawingml/2006/main" noGrp="1"/>
          </p:cNvSpPr>
          <p:nvPr/>
        </p:nvSpPr>
        <p:spPr>
          <a:xfrm xmlns:a="http://schemas.openxmlformats.org/drawingml/2006/main">
            <a:off x="72866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xmlns:a="http://schemas.openxmlformats.org/drawingml/2006/main">
              <a:ext uri="{FF2B5EF4-FFF2-40B4-BE49-F238E27FC236}">
                <a16:creationId xmlns:a16="http://schemas.microsoft.com/office/drawing/2014/main" id="{F20EA2B3-394D-45C3-BDCB-2CD301CF8FA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xmlns:a="http://schemas.openxmlformats.org/drawingml/2006/main">
              <a:ext uri="{FF2B5EF4-FFF2-40B4-BE49-F238E27FC236}">
                <a16:creationId xmlns:a16="http://schemas.microsoft.com/office/drawing/2014/main" id="{86A747C1-E068-4D26-9217-958B8957FA6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92241C-0D4A-41A7-866F-5DC13D796B0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33F464DF-F7B8-46ED-8F04-8F3814EB2E10}"/>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C4FF23E9-0A4A-4BC8-A11F-538F5E44D96F}"/>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B010EEF3-064C-4606-A97A-E35272AA43D2}"/>
              </a:ext>
            </a:extLst>
          </p:cNvPr>
          <p:cNvSpPr>
            <a:spLocks xmlns:a="http://schemas.openxmlformats.org/drawingml/2006/main" noGrp="1"/>
          </p:cNvSpPr>
          <p:nvPr/>
        </p:nvSpPr>
        <p:spPr>
          <a:xfrm xmlns:a="http://schemas.openxmlformats.org/drawingml/2006/main">
            <a:off x="1097280" y="2880360"/>
            <a:ext cx="9994392"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xmlns:a="http://schemas.openxmlformats.org/drawingml/2006/main">
              <a:ext uri="{FF2B5EF4-FFF2-40B4-BE49-F238E27FC236}">
                <a16:creationId xmlns:a16="http://schemas.microsoft.com/office/drawing/2014/main" id="{C6E9E11C-A3E5-4D0B-8AED-74D4666B30CD}"/>
              </a:ext>
            </a:extLst>
          </p:cNvPr>
          <p:cNvSpPr>
            <a:spLocks xmlns:a="http://schemas.openxmlformats.org/drawingml/2006/main" noGrp="1"/>
          </p:cNvSpPr>
          <p:nvPr/>
        </p:nvSpPr>
        <p:spPr>
          <a:xfrm xmlns:a="http://schemas.openxmlformats.org/drawingml/2006/main">
            <a:off x="4584065" y="4004945"/>
            <a:ext cx="370014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E53BE704-A8C4-4608-BA1D-F0617C32003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xmlns:a="http://schemas.openxmlformats.org/drawingml/2006/main">
              <a:ext uri="{FF2B5EF4-FFF2-40B4-BE49-F238E27FC236}">
                <a16:creationId xmlns:a16="http://schemas.microsoft.com/office/drawing/2014/main" id="{C9EADA81-7085-4569-9429-79348494AD9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CAEC468-C90A-4640-9CCE-812F07A423BE}"/>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A7638D24-19B3-4A61-8D6D-DFC6EF314E48}"/>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13BD3AD8-FD90-4BC9-8551-F41D7B719F9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s 8">
            <a:extLst xmlns:a="http://schemas.openxmlformats.org/drawingml/2006/main">
              <a:ext uri="{FF2B5EF4-FFF2-40B4-BE49-F238E27FC236}">
                <a16:creationId xmlns:a16="http://schemas.microsoft.com/office/drawing/2014/main" id="{2B9437CB-6A6B-4661-9D3A-0473BF61C994}"/>
              </a:ext>
            </a:extLst>
          </p:cNvPr>
          <p:cNvSpPr>
            <a:spLocks xmlns:a="http://schemas.openxmlformats.org/drawingml/2006/main" noGrp="1"/>
          </p:cNvSpPr>
          <p:nvPr/>
        </p:nvSpPr>
        <p:spPr>
          <a:xfrm xmlns:a="http://schemas.openxmlformats.org/drawingml/2006/main">
            <a:off x="1005840" y="2606040"/>
            <a:ext cx="43891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B79CF4FE-D9E7-49B3-83BF-DC9DAD29157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xmlns:a="http://schemas.openxmlformats.org/drawingml/2006/main">
              <a:ext uri="{FF2B5EF4-FFF2-40B4-BE49-F238E27FC236}">
                <a16:creationId xmlns:a16="http://schemas.microsoft.com/office/drawing/2014/main" id="{B1D16D23-13BD-4DFD-9272-30DD9F64C935}"/>
              </a:ext>
            </a:extLst>
          </p:cNvPr>
          <p:cNvSpPr>
            <a:spLocks xmlns:a="http://schemas.openxmlformats.org/drawingml/2006/main" noGrp="1"/>
          </p:cNvSpPr>
          <p:nvPr/>
        </p:nvSpPr>
        <p:spPr>
          <a:xfrm xmlns:a="http://schemas.openxmlformats.org/drawingml/2006/main">
            <a:off x="1005840" y="4023360"/>
            <a:ext cx="438912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xmlns:a="http://schemas.openxmlformats.org/drawingml/2006/main" noChangeAspect="1"/>
          </p:cNvPicPr>
          <p:nvPr/>
        </p:nvPicPr>
        <p:blipFill>
          <a:blip xmlns:r="http://schemas.openxmlformats.org/officeDocument/2006/relationships" xmlns:a="http://schemas.openxmlformats.org/drawingml/2006/main" r:embed="R139cde175a9a491f"/>
          <a:stretch xmlns:a="http://schemas.openxmlformats.org/drawingml/2006/main">
            <a:fillRect l="0" t="0" r="0" b="0"/>
          </a:stretch>
        </p:blipFill>
        <p:spPr>
          <a:xfrm xmlns:a="http://schemas.openxmlformats.org/drawingml/2006/main">
            <a:off x="6240145" y="1904365"/>
            <a:ext cx="5266055" cy="3735070"/>
          </a:xfrm>
          <a:prstGeom xmlns:a="http://schemas.openxmlformats.org/drawingml/2006/main" prst="rect">
            <a:avLst/>
          </a:prstGeom>
        </p:spPr>
      </p:pic>
      <p:sp>
        <p:nvSpPr>
          <p:cNvPr id="18" name="Speaker">
            <a:extLst xmlns:a="http://schemas.openxmlformats.org/drawingml/2006/main">
              <a:ext uri="{FF2B5EF4-FFF2-40B4-BE49-F238E27FC236}">
                <a16:creationId xmlns:a16="http://schemas.microsoft.com/office/drawing/2014/main" id="{FF4DBA24-D594-47E1-99C8-D3BB55C9714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8B0EB274-B049-4B82-A8DF-C212C4B504A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EE13DC4F-EC80-4DDB-A0A1-083F86970694}"/>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xmlns:a="http://schemas.openxmlformats.org/drawingml/2006/main">
              <a:ext uri="{FF2B5EF4-FFF2-40B4-BE49-F238E27FC236}">
                <a16:creationId xmlns:a16="http://schemas.microsoft.com/office/drawing/2014/main" id="{8A969675-C6DB-4A30-9E44-FF14F38E20A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s 9">
            <a:extLst xmlns:a="http://schemas.openxmlformats.org/drawingml/2006/main">
              <a:ext uri="{FF2B5EF4-FFF2-40B4-BE49-F238E27FC236}">
                <a16:creationId xmlns:a16="http://schemas.microsoft.com/office/drawing/2014/main" id="{CD2CB5F1-DF29-4CF4-B742-F4F1E4DF317B}"/>
              </a:ext>
            </a:extLst>
          </p:cNvPr>
          <p:cNvSpPr>
            <a:spLocks xmlns:a="http://schemas.openxmlformats.org/drawingml/2006/main" noGrp="1"/>
          </p:cNvSpPr>
          <p:nvPr/>
        </p:nvSpPr>
        <p:spPr>
          <a:xfrm xmlns:a="http://schemas.openxmlformats.org/drawingml/2006/main">
            <a:off x="6080760" y="1874520"/>
            <a:ext cx="53949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xmlns:a="http://schemas.openxmlformats.org/drawingml/2006/main">
              <a:ext uri="{FF2B5EF4-FFF2-40B4-BE49-F238E27FC236}">
                <a16:creationId xmlns:a16="http://schemas.microsoft.com/office/drawing/2014/main" id="{08C66FA3-A620-4D12-A009-8FC4B0897659}"/>
              </a:ext>
            </a:extLst>
          </p:cNvPr>
          <p:cNvSpPr>
            <a:spLocks xmlns:a="http://schemas.openxmlformats.org/drawingml/2006/main" noGrp="1"/>
          </p:cNvSpPr>
          <p:nvPr/>
        </p:nvSpPr>
        <p:spPr>
          <a:xfrm xmlns:a="http://schemas.openxmlformats.org/drawingml/2006/main">
            <a:off x="6080760" y="2468880"/>
            <a:ext cx="539496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xmlns:a="http://schemas.openxmlformats.org/drawingml/2006/main">
              <a:ext uri="{FF2B5EF4-FFF2-40B4-BE49-F238E27FC236}">
                <a16:creationId xmlns:a16="http://schemas.microsoft.com/office/drawing/2014/main" id="{DDB7589D-3F45-4F71-8512-2BDE71766B28}"/>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xmlns:a="http://schemas.openxmlformats.org/drawingml/2006/main">
              <a:ext uri="{FF2B5EF4-FFF2-40B4-BE49-F238E27FC236}">
                <a16:creationId xmlns:a16="http://schemas.microsoft.com/office/drawing/2014/main" id="{4DA116CD-485F-4665-B064-A5288DCC42D0}"/>
              </a:ext>
            </a:extLst>
          </p:cNvPr>
          <p:cNvSpPr>
            <a:spLocks xmlns:a="http://schemas.openxmlformats.org/drawingml/2006/main" noGrp="1"/>
          </p:cNvSpPr>
          <p:nvPr/>
        </p:nvSpPr>
        <p:spPr>
          <a:xfrm xmlns:a="http://schemas.openxmlformats.org/drawingml/2006/main">
            <a:off x="731520" y="1876425"/>
            <a:ext cx="4983480" cy="619125"/>
          </a:xfrm>
          <a:prstGeom xmlns:a="http://schemas.openxmlformats.org/drawingml/2006/main" prst="rect">
            <a:avLst/>
          </a:prstGeom>
        </p:spPr>
        <p:txBody>
          <a:bodyPr xmlns:a="http://schemas.openxmlformats.org/drawingml/2006/main">
            <a:noAutofit/>
          </a:bodyPr>
          <a:lstStyle xmlns:a="http://schemas.openxmlformats.org/drawingml/2006/main"/>
          <a:p xmlns:a="http://schemas.openxmlformats.org/drawingml/2006/main">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xmlns:a="http://schemas.openxmlformats.org/drawingml/2006/main">
              <a:ext uri="{FF2B5EF4-FFF2-40B4-BE49-F238E27FC236}">
                <a16:creationId xmlns:a16="http://schemas.microsoft.com/office/drawing/2014/main" id="{FF88D945-3BA3-467F-AB29-FA43173CE255}"/>
              </a:ext>
            </a:extLst>
          </p:cNvPr>
          <p:cNvSpPr>
            <a:spLocks xmlns:a="http://schemas.openxmlformats.org/drawingml/2006/main" noGrp="1"/>
          </p:cNvSpPr>
          <p:nvPr/>
        </p:nvSpPr>
        <p:spPr>
          <a:xfrm xmlns:a="http://schemas.openxmlformats.org/drawingml/2006/main">
            <a:off x="6080760" y="4224528"/>
            <a:ext cx="5394960" cy="1631216"/>
          </a:xfrm>
          <a:prstGeom xmlns:a="http://schemas.openxmlformats.org/drawingml/2006/main" prst="rect">
            <a:avLst/>
          </a:prstGeom>
        </p:spPr>
        <p:txBody>
          <a:bodyPr xmlns:a="http://schemas.openxmlformats.org/drawingml/2006/main">
            <a:spAutoFit/>
          </a:bodyPr>
          <a:lstStyle xmlns:a="http://schemas.openxmlformats.org/drawingml/2006/main"/>
          <a:p xmlns:a="http://schemas.openxmlformats.org/drawingml/2006/main">
            <a:r>
              <a:rPr sz="2000">
                <a:latin typeface="Helvetica Neue"/>
                <a:ea typeface="Helvetica Neue"/>
                <a:cs typeface="Helvetica Neue"/>
              </a:rPr>
              <a:t>If yes, then</a:t>
            </a:r>
          </a:p>
          <a:p xmlns:a="http://schemas.openxmlformats.org/drawingml/2006/main">
            <a:r>
              <a:rPr sz="2000">
                <a:latin typeface="Helvetica Neue"/>
                <a:ea typeface="Helvetica Neue"/>
                <a:cs typeface="Helvetica Neue"/>
              </a:rPr>
              <a:t>Which double-checking method is most effective?</a:t>
            </a:r>
          </a:p>
          <a:p xmlns:a="http://schemas.openxmlformats.org/drawingml/2006/main">
            <a:r>
              <a:rPr sz="2000">
                <a:latin typeface="Helvetica Neue"/>
                <a:ea typeface="Helvetica Neue"/>
                <a:cs typeface="Helvetica Neue"/>
              </a:rPr>
              <a:t>Can either method introduce new errors?</a:t>
            </a:r>
          </a:p>
          <a:p xmlns:a="http://schemas.openxmlformats.org/drawingml/2006/main">
            <a:r>
              <a:rPr sz="2000">
                <a:latin typeface="Helvetica Neue"/>
                <a:ea typeface="Helvetica Neue"/>
                <a:cs typeface="Helvetica Neue"/>
              </a:rPr>
              <a:t>Humans？</a:t>
            </a:r>
          </a:p>
        </p:txBody>
      </p:sp>
      <p:sp>
        <p:nvSpPr>
          <p:cNvPr id="13" name="Self-checking definition">
            <a:extLst xmlns:a="http://schemas.openxmlformats.org/drawingml/2006/main">
              <a:ext uri="{FF2B5EF4-FFF2-40B4-BE49-F238E27FC236}">
                <a16:creationId xmlns:a16="http://schemas.microsoft.com/office/drawing/2014/main" id="{01089FBC-3824-4359-B2BA-1E0D0A3CA812}"/>
              </a:ext>
            </a:extLst>
          </p:cNvPr>
          <p:cNvSpPr>
            <a:spLocks xmlns:a="http://schemas.openxmlformats.org/drawingml/2006/main" noGrp="1"/>
          </p:cNvSpPr>
          <p:nvPr/>
        </p:nvSpPr>
        <p:spPr>
          <a:xfrm xmlns:a="http://schemas.openxmlformats.org/drawingml/2006/main">
            <a:off x="1000125" y="2876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xmlns:a="http://schemas.openxmlformats.org/drawingml/2006/main">
              <a:ext uri="{FF2B5EF4-FFF2-40B4-BE49-F238E27FC236}">
                <a16:creationId xmlns:a16="http://schemas.microsoft.com/office/drawing/2014/main" id="{C8ACC141-17CB-4EB2-B9D3-404017CA6AD6}"/>
              </a:ext>
            </a:extLst>
          </p:cNvPr>
          <p:cNvSpPr>
            <a:spLocks xmlns:a="http://schemas.openxmlformats.org/drawingml/2006/main" noGrp="1"/>
          </p:cNvSpPr>
          <p:nvPr/>
        </p:nvSpPr>
        <p:spPr>
          <a:xfrm xmlns:a="http://schemas.openxmlformats.org/drawingml/2006/main">
            <a:off x="1000125" y="3381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xmlns:a="http://schemas.openxmlformats.org/drawingml/2006/main">
              <a:ext uri="{FF2B5EF4-FFF2-40B4-BE49-F238E27FC236}">
                <a16:creationId xmlns:a16="http://schemas.microsoft.com/office/drawing/2014/main" id="{088DFA89-49B7-4803-BA7C-449BB43B7DA7}"/>
              </a:ext>
            </a:extLst>
          </p:cNvPr>
          <p:cNvSpPr>
            <a:spLocks xmlns:a="http://schemas.openxmlformats.org/drawingml/2006/main" noGrp="1"/>
          </p:cNvSpPr>
          <p:nvPr/>
        </p:nvSpPr>
        <p:spPr>
          <a:xfrm xmlns:a="http://schemas.openxmlformats.org/drawingml/2006/main">
            <a:off x="1000125" y="43529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xmlns:a="http://schemas.openxmlformats.org/drawingml/2006/main">
              <a:ext uri="{FF2B5EF4-FFF2-40B4-BE49-F238E27FC236}">
                <a16:creationId xmlns:a16="http://schemas.microsoft.com/office/drawing/2014/main" id="{15FC0991-408A-40B8-A1FB-4FD12B1F7D03}"/>
              </a:ext>
            </a:extLst>
          </p:cNvPr>
          <p:cNvSpPr>
            <a:spLocks xmlns:a="http://schemas.openxmlformats.org/drawingml/2006/main" noGrp="1"/>
          </p:cNvSpPr>
          <p:nvPr/>
        </p:nvSpPr>
        <p:spPr>
          <a:xfrm xmlns:a="http://schemas.openxmlformats.org/drawingml/2006/main">
            <a:off x="1000125" y="4857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xmlns:a="http://schemas.openxmlformats.org/drawingml/2006/main">
              <a:ext uri="{FF2B5EF4-FFF2-40B4-BE49-F238E27FC236}">
                <a16:creationId xmlns:a16="http://schemas.microsoft.com/office/drawing/2014/main" id="{A0F62706-B2FE-4520-B590-EEFC9512A3CD}"/>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xmlns:a="http://schemas.openxmlformats.org/drawingml/2006/main">
              <a:ext uri="{FF2B5EF4-FFF2-40B4-BE49-F238E27FC236}">
                <a16:creationId xmlns:a16="http://schemas.microsoft.com/office/drawing/2014/main" id="{CA6F7951-3C8D-B6BC-ECDB-8F4ADF15179F}"/>
              </a:ext>
            </a:extLst>
          </p:cNvPr>
          <p:cNvSpPr>
            <a:spLocks xmlns:a="http://schemas.openxmlformats.org/drawingml/2006/main" noGrp="1"/>
          </p:cNvSpPr>
          <p:nvPr/>
        </p:nvSpPr>
        <p:spPr>
          <a:xfrm xmlns:a="http://schemas.openxmlformats.org/drawingml/2006/main">
            <a:off x="888402" y="2324119"/>
            <a:ext cx="6099586"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sng">
                <a:solidFill>
                  <a:schemeClr val="tx1"/>
                </a:solidFill>
                <a:latin typeface="+mn-lt"/>
                <a:ea typeface="+mn-lt"/>
                <a:cs typeface="+mn-lt"/>
                <a:hlinkClick xmlns:r="http://schemas.openxmlformats.org/officeDocument/2006/relationships" r:id="R05cdaef463394a03"/>
              </a:rPr>
              <a:t>claude-codex-collab</a:t>
            </a:r>
            <a:endParaRPr/>
          </a:p>
        </p:txBody>
      </p:sp>
    </p:spTree>
    <p:extLst>
      <p:ext uri="{BB962C8B-B14F-4D97-AF65-F5344CB8AC3E}">
        <p14:creationId xmlns:p14="http://schemas.microsoft.com/office/powerpoint/2010/main" val="1950990821"/>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AAD1A64C-6DC4-44C4-8E9C-7B63C6BF5ACC}"/>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C82D5820-D13D-46F4-B7D5-6313C876C4E5}"/>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xmlns:a="http://schemas.openxmlformats.org/drawingml/2006/main">
              <a:ext uri="{FF2B5EF4-FFF2-40B4-BE49-F238E27FC236}">
                <a16:creationId xmlns:a16="http://schemas.microsoft.com/office/drawing/2014/main" id="{C8B6E4AF-E36B-4D7F-A412-21DF581E6996}"/>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DA3BD8EB-7268-47B5-A8BB-A07B376F3E2D}"/>
              </a:ext>
            </a:extLst>
          </p:cNvPr>
          <p:cNvSpPr>
            <a:spLocks xmlns:a="http://schemas.openxmlformats.org/drawingml/2006/main" noGrp="1"/>
          </p:cNvSpPr>
          <p:nvPr/>
        </p:nvSpPr>
        <p:spPr>
          <a:xfrm xmlns:a="http://schemas.openxmlformats.org/drawingml/2006/main">
            <a:off x="657860" y="3101340"/>
            <a:ext cx="2000250" cy="666750"/>
          </a:xfrm>
          <a:prstGeom xmlns:a="http://schemas.openxmlformats.org/drawingml/2006/main" prst="roundRect">
            <a:avLst>
              <a:gd name="adj" fmla="val 14286"/>
            </a:avLst>
          </a:prstGeom>
          <a:solidFill xmlns:a="http://schemas.openxmlformats.org/drawingml/2006/main">
            <a:srgbClr val="E7EFF5"/>
          </a:solidFill>
          <a:ln xmlns:a="http://schemas.openxmlformats.org/drawingml/2006/main" w="9525">
            <a:solidFill>
              <a:srgbClr val="C5CED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xmlns:a="http://schemas.openxmlformats.org/drawingml/2006/main">
              <a:ext uri="{FF2B5EF4-FFF2-40B4-BE49-F238E27FC236}">
                <a16:creationId xmlns:a16="http://schemas.microsoft.com/office/drawing/2014/main" id="{96C4852E-7A9C-4646-AF4E-C1DB04CC4656}"/>
              </a:ext>
            </a:extLst>
          </p:cNvPr>
          <p:cNvSpPr>
            <a:spLocks xmlns:a="http://schemas.openxmlformats.org/drawingml/2006/main" noGrp="1"/>
          </p:cNvSpPr>
          <p:nvPr/>
        </p:nvSpPr>
        <p:spPr>
          <a:xfrm xmlns:a="http://schemas.openxmlformats.org/drawingml/2006/main">
            <a:off x="7176135" y="17678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xmlns:a="http://schemas.openxmlformats.org/drawingml/2006/main">
              <a:ext uri="{FF2B5EF4-FFF2-40B4-BE49-F238E27FC236}">
                <a16:creationId xmlns:a16="http://schemas.microsoft.com/office/drawing/2014/main" id="{FDF84FEB-8223-4DB7-A0F8-DE865D44C931}"/>
              </a:ext>
            </a:extLst>
          </p:cNvPr>
          <p:cNvSpPr>
            <a:spLocks xmlns:a="http://schemas.openxmlformats.org/drawingml/2006/main" noGrp="1"/>
          </p:cNvSpPr>
          <p:nvPr/>
        </p:nvSpPr>
        <p:spPr>
          <a:xfrm xmlns:a="http://schemas.openxmlformats.org/drawingml/2006/main">
            <a:off x="9176004" y="172364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xmlns:a="http://schemas.openxmlformats.org/drawingml/2006/main">
              <a:ext uri="{FF2B5EF4-FFF2-40B4-BE49-F238E27FC236}">
                <a16:creationId xmlns:a16="http://schemas.microsoft.com/office/drawing/2014/main" id="{7AC81DB6-AE8C-4381-AA39-4ABD252122A5}"/>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65" name="Elbow Connector 27"/>
          <p:cNvCxnSpPr>
            <a:endCxn xmlns:a="http://schemas.openxmlformats.org/drawingml/2006/main" id="6" idx="1"/>
          </p:cNvCxnSpPr>
          <p:nvPr/>
        </p:nvCxnSpPr>
        <p:spPr>
          <a:xfrm xmlns:a="http://schemas.openxmlformats.org/drawingml/2006/main" flipV="1">
            <a:off x="2890520" y="2025015"/>
            <a:ext cx="4285615" cy="1384300"/>
          </a:xfrm>
          <a:prstGeom xmlns:a="http://schemas.openxmlformats.org/drawingml/2006/main" prst="bentConnector3">
            <a:avLst>
              <a:gd name="adj1" fmla="val 50007"/>
            </a:avLst>
          </a:prstGeom>
          <a:ln xmlns:a="http://schemas.openxmlformats.org/drawingml/2006/main" w="19050">
            <a:solidFill>
              <a:srgbClr val="2E9D59"/>
            </a:solidFill>
            <a:prstDash val="solid"/>
            <a:tailEnd type="arrow" w="sm" len="sm"/>
          </a:ln>
        </p:spPr>
      </p:cxnSp>
      <p:sp>
        <p:nvSpPr>
          <p:cNvPr id="10" name="Rectangles 9">
            <a:extLst xmlns:a="http://schemas.openxmlformats.org/drawingml/2006/main">
              <a:ext uri="{FF2B5EF4-FFF2-40B4-BE49-F238E27FC236}">
                <a16:creationId xmlns:a16="http://schemas.microsoft.com/office/drawing/2014/main" id="{0382F2A0-80E7-463B-9BB6-4829E1E17663}"/>
              </a:ext>
            </a:extLst>
          </p:cNvPr>
          <p:cNvSpPr>
            <a:spLocks xmlns:a="http://schemas.openxmlformats.org/drawingml/2006/main" noGrp="1"/>
          </p:cNvSpPr>
          <p:nvPr/>
        </p:nvSpPr>
        <p:spPr>
          <a:xfrm xmlns:a="http://schemas.openxmlformats.org/drawingml/2006/main">
            <a:off x="7176135" y="31775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xmlns:a="http://schemas.openxmlformats.org/drawingml/2006/main">
              <a:ext uri="{FF2B5EF4-FFF2-40B4-BE49-F238E27FC236}">
                <a16:creationId xmlns:a16="http://schemas.microsoft.com/office/drawing/2014/main" id="{E95AB1E8-8DBC-4759-A86B-42CD98D03F31}"/>
              </a:ext>
            </a:extLst>
          </p:cNvPr>
          <p:cNvSpPr>
            <a:spLocks xmlns:a="http://schemas.openxmlformats.org/drawingml/2006/main" noGrp="1"/>
          </p:cNvSpPr>
          <p:nvPr/>
        </p:nvSpPr>
        <p:spPr>
          <a:xfrm xmlns:a="http://schemas.openxmlformats.org/drawingml/2006/main">
            <a:off x="9176004" y="313273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xmlns:a="http://schemas.openxmlformats.org/drawingml/2006/main">
              <a:ext uri="{FF2B5EF4-FFF2-40B4-BE49-F238E27FC236}">
                <a16:creationId xmlns:a16="http://schemas.microsoft.com/office/drawing/2014/main" id="{FF9AC8F7-375C-433B-86E9-E7B8A7011894}"/>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69" name="Elbow Connector 31"/>
          <p:cNvCxnSpPr>
            <a:endCxn xmlns:a="http://schemas.openxmlformats.org/drawingml/2006/main" id="10" idx="1"/>
          </p:cNvCxnSpPr>
          <p:nvPr/>
        </p:nvCxnSpPr>
        <p:spPr>
          <a:xfrm xmlns:a="http://schemas.openxmlformats.org/drawingml/2006/main">
            <a:off x="2890520" y="3409315"/>
            <a:ext cx="4285615" cy="25400"/>
          </a:xfrm>
          <a:prstGeom xmlns:a="http://schemas.openxmlformats.org/drawingml/2006/main" prst="bentConnector3">
            <a:avLst>
              <a:gd name="adj1" fmla="val 50007"/>
            </a:avLst>
          </a:prstGeom>
          <a:ln xmlns:a="http://schemas.openxmlformats.org/drawingml/2006/main" w="19050">
            <a:solidFill>
              <a:srgbClr val="657586"/>
            </a:solidFill>
            <a:prstDash val="solid"/>
            <a:tailEnd type="arrow" w="sm" len="sm"/>
          </a:ln>
        </p:spPr>
      </p:cxnSp>
      <p:sp>
        <p:nvSpPr>
          <p:cNvPr id="14" name="Rectangles 13">
            <a:extLst xmlns:a="http://schemas.openxmlformats.org/drawingml/2006/main">
              <a:ext uri="{FF2B5EF4-FFF2-40B4-BE49-F238E27FC236}">
                <a16:creationId xmlns:a16="http://schemas.microsoft.com/office/drawing/2014/main" id="{481F2F91-F9B1-4588-8E7F-DA139ADDE998}"/>
              </a:ext>
            </a:extLst>
          </p:cNvPr>
          <p:cNvSpPr>
            <a:spLocks xmlns:a="http://schemas.openxmlformats.org/drawingml/2006/main" noGrp="1"/>
          </p:cNvSpPr>
          <p:nvPr/>
        </p:nvSpPr>
        <p:spPr>
          <a:xfrm xmlns:a="http://schemas.openxmlformats.org/drawingml/2006/main">
            <a:off x="7176135" y="45872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xmlns:a="http://schemas.openxmlformats.org/drawingml/2006/main">
              <a:ext uri="{FF2B5EF4-FFF2-40B4-BE49-F238E27FC236}">
                <a16:creationId xmlns:a16="http://schemas.microsoft.com/office/drawing/2014/main" id="{517BB2B3-0008-416D-A929-E04C0EC43E9A}"/>
              </a:ext>
            </a:extLst>
          </p:cNvPr>
          <p:cNvSpPr>
            <a:spLocks xmlns:a="http://schemas.openxmlformats.org/drawingml/2006/main" noGrp="1"/>
          </p:cNvSpPr>
          <p:nvPr/>
        </p:nvSpPr>
        <p:spPr>
          <a:xfrm xmlns:a="http://schemas.openxmlformats.org/drawingml/2006/main">
            <a:off x="9176004" y="4542739"/>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xmlns:a="http://schemas.openxmlformats.org/drawingml/2006/main">
              <a:ext uri="{FF2B5EF4-FFF2-40B4-BE49-F238E27FC236}">
                <a16:creationId xmlns:a16="http://schemas.microsoft.com/office/drawing/2014/main" id="{FAB5C2FD-682E-4BBE-BA18-6ECC47E15D3E}"/>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73" name="Elbow Connector 35"/>
          <p:cNvCxnSpPr>
            <a:endCxn xmlns:a="http://schemas.openxmlformats.org/drawingml/2006/main" id="14" idx="1"/>
          </p:cNvCxnSpPr>
          <p:nvPr/>
        </p:nvCxnSpPr>
        <p:spPr>
          <a:xfrm xmlns:a="http://schemas.openxmlformats.org/drawingml/2006/main">
            <a:off x="2889885" y="3425190"/>
            <a:ext cx="4286250" cy="1419225"/>
          </a:xfrm>
          <a:prstGeom xmlns:a="http://schemas.openxmlformats.org/drawingml/2006/main" prst="bentConnector3">
            <a:avLst>
              <a:gd name="adj1" fmla="val 50015"/>
            </a:avLst>
          </a:prstGeom>
          <a:ln xmlns:a="http://schemas.openxmlformats.org/drawingml/2006/main" w="19050">
            <a:solidFill>
              <a:srgbClr val="D64545"/>
            </a:solidFill>
            <a:prstDash val="solid"/>
            <a:tailEnd type="arrow" w="sm" len="sm"/>
          </a:ln>
        </p:spPr>
      </p:cxnSp>
      <p:sp>
        <p:nvSpPr>
          <p:cNvPr id="18" name="Rectangles 17">
            <a:extLst xmlns:a="http://schemas.openxmlformats.org/drawingml/2006/main">
              <a:ext uri="{FF2B5EF4-FFF2-40B4-BE49-F238E27FC236}">
                <a16:creationId xmlns:a16="http://schemas.microsoft.com/office/drawing/2014/main" id="{7228DE8B-3B2D-4F89-8FFB-0DF41CBCB1ED}"/>
              </a:ext>
            </a:extLst>
          </p:cNvPr>
          <p:cNvSpPr>
            <a:spLocks xmlns:a="http://schemas.openxmlformats.org/drawingml/2006/main" noGrp="1"/>
          </p:cNvSpPr>
          <p:nvPr/>
        </p:nvSpPr>
        <p:spPr>
          <a:xfrm xmlns:a="http://schemas.openxmlformats.org/drawingml/2006/main">
            <a:off x="685800" y="5614416"/>
            <a:ext cx="10789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xmlns:a="http://schemas.openxmlformats.org/drawingml/2006/main">
              <a:ext uri="{FF2B5EF4-FFF2-40B4-BE49-F238E27FC236}">
                <a16:creationId xmlns:a16="http://schemas.microsoft.com/office/drawing/2014/main" id="{D0B6DA6A-B16F-4D51-BB47-338517CF7226}"/>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xmlns:a="http://schemas.openxmlformats.org/drawingml/2006/main">
              <a:ext uri="{FF2B5EF4-FFF2-40B4-BE49-F238E27FC236}">
                <a16:creationId xmlns:a16="http://schemas.microsoft.com/office/drawing/2014/main" id="{BAE0949A-1F89-46A9-BD2B-6A59B617DD69}"/>
              </a:ext>
            </a:extLst>
          </p:cNvPr>
          <p:cNvSpPr>
            <a:spLocks xmlns:a="http://schemas.openxmlformats.org/drawingml/2006/main" noGrp="1"/>
          </p:cNvSpPr>
          <p:nvPr/>
        </p:nvSpPr>
        <p:spPr>
          <a:xfrm xmlns:a="http://schemas.openxmlformats.org/drawingml/2006/main">
            <a:off x="7487285" y="4561205"/>
            <a:ext cx="1224280" cy="575945"/>
          </a:xfrm>
          <a:prstGeom xmlns:a="http://schemas.openxmlformats.org/drawingml/2006/main" prst="rect">
            <a:avLst/>
          </a:prstGeom>
          <a:noFill xmlns:a="http://schemas.openxmlformats.org/drawingml/2006/main"/>
          <a:ln xmlns:a="http://schemas.openxmlformats.org/drawingml/2006/main" w="38100">
            <a:solidFill>
              <a:srgbClr val="C00000"/>
            </a:solid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Speaker">
            <a:extLst xmlns:a="http://schemas.openxmlformats.org/drawingml/2006/main">
              <a:ext uri="{FF2B5EF4-FFF2-40B4-BE49-F238E27FC236}">
                <a16:creationId xmlns:a16="http://schemas.microsoft.com/office/drawing/2014/main" id="{B24BCA53-D3D0-4BF2-B79A-990AFDFE9D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53EE79B-0396-485C-A9CE-A3649794FFE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xmlns:a="http://schemas.openxmlformats.org/drawingml/2006/main">
              <a:ext uri="{FF2B5EF4-FFF2-40B4-BE49-F238E27FC236}">
                <a16:creationId xmlns:a16="http://schemas.microsoft.com/office/drawing/2014/main" id="{270E0346-CAAE-44AA-AF5F-8F4DDAE82D8E}"/>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xmlns:a="http://schemas.openxmlformats.org/drawingml/2006/main">
              <a:ext uri="{FF2B5EF4-FFF2-40B4-BE49-F238E27FC236}">
                <a16:creationId xmlns:a16="http://schemas.microsoft.com/office/drawing/2014/main" id="{EF4048E5-2967-4D65-9A60-BE1F9E5E2E4A}"/>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B6F984F3-EA43-4AF0-B597-ACAA372BB6F3}"/>
              </a:ext>
            </a:extLst>
          </p:cNvPr>
          <p:cNvSpPr>
            <a:spLocks xmlns:a="http://schemas.openxmlformats.org/drawingml/2006/main" noGrp="1"/>
          </p:cNvSpPr>
          <p:nvPr/>
        </p:nvSpPr>
        <p:spPr>
          <a:xfrm xmlns:a="http://schemas.openxmlformats.org/drawingml/2006/main">
            <a:off x="685800" y="150495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xmlns:a="http://schemas.openxmlformats.org/drawingml/2006/main">
              <a:ext uri="{FF2B5EF4-FFF2-40B4-BE49-F238E27FC236}">
                <a16:creationId xmlns:a16="http://schemas.microsoft.com/office/drawing/2014/main" id="{867DCC62-C19F-4837-9040-5DF85F2FCA71}"/>
              </a:ext>
            </a:extLst>
          </p:cNvPr>
          <p:cNvSpPr>
            <a:spLocks xmlns:a="http://schemas.openxmlformats.org/drawingml/2006/main" noGrp="1"/>
          </p:cNvSpPr>
          <p:nvPr/>
        </p:nvSpPr>
        <p:spPr>
          <a:xfrm xmlns:a="http://schemas.openxmlformats.org/drawingml/2006/main">
            <a:off x="1809598" y="1649731"/>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400" b="1">
                <a:solidFill>
                  <a:srgbClr val="142C40"/>
                </a:solidFill>
                <a:latin typeface="Helvetica Neue"/>
                <a:ea typeface="Helvetica Neue"/>
                <a:cs typeface="Helvetica Neue"/>
              </a:defRPr>
            </a:pPr>
            <a:r>
              <a:rPr sz="2250" b="0">
                <a:solidFill>
                  <a:srgbClr val="163149"/>
                </a:solidFill>
                <a:latin typeface="Helvetica Neue"/>
                <a:ea typeface="Helvetica Neue"/>
                <a:cs typeface="Helvetica Neue"/>
              </a:rPr>
              <a:t>Can double-checking reduce AI error rates?</a:t>
            </a:r>
          </a:p>
          <a:p xmlns:a="http://schemas.openxmlformats.org/drawingml/2006/main">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xmlns:a="http://schemas.openxmlformats.org/drawingml/2006/main">
              <a:ext uri="{FF2B5EF4-FFF2-40B4-BE49-F238E27FC236}">
                <a16:creationId xmlns:a16="http://schemas.microsoft.com/office/drawing/2014/main" id="{E5ABCE56-25B3-48AC-8588-6131465BE2F6}"/>
              </a:ext>
            </a:extLst>
          </p:cNvPr>
          <p:cNvSpPr>
            <a:spLocks xmlns:a="http://schemas.openxmlformats.org/drawingml/2006/main" noGrp="1"/>
          </p:cNvSpPr>
          <p:nvPr/>
        </p:nvSpPr>
        <p:spPr>
          <a:xfrm xmlns:a="http://schemas.openxmlformats.org/drawingml/2006/main">
            <a:off x="1809750" y="22479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ounded Rectangle 7">
            <a:extLst xmlns:a="http://schemas.openxmlformats.org/drawingml/2006/main">
              <a:ext uri="{FF2B5EF4-FFF2-40B4-BE49-F238E27FC236}">
                <a16:creationId xmlns:a16="http://schemas.microsoft.com/office/drawing/2014/main" id="{DADCC2C5-F15A-4F6E-A47F-C48A0CF4AC22}"/>
              </a:ext>
            </a:extLst>
          </p:cNvPr>
          <p:cNvSpPr>
            <a:spLocks xmlns:a="http://schemas.openxmlformats.org/drawingml/2006/main" noGrp="1"/>
          </p:cNvSpPr>
          <p:nvPr/>
        </p:nvSpPr>
        <p:spPr>
          <a:xfrm xmlns:a="http://schemas.openxmlformats.org/drawingml/2006/main">
            <a:off x="685800" y="262890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xmlns:a="http://schemas.openxmlformats.org/drawingml/2006/main">
              <a:ext uri="{FF2B5EF4-FFF2-40B4-BE49-F238E27FC236}">
                <a16:creationId xmlns:a16="http://schemas.microsoft.com/office/drawing/2014/main" id="{89E91913-9216-44B2-BA14-8137FB7FAEAC}"/>
              </a:ext>
            </a:extLst>
          </p:cNvPr>
          <p:cNvSpPr>
            <a:spLocks xmlns:a="http://schemas.openxmlformats.org/drawingml/2006/main" noGrp="1"/>
          </p:cNvSpPr>
          <p:nvPr/>
        </p:nvSpPr>
        <p:spPr>
          <a:xfrm xmlns:a="http://schemas.openxmlformats.org/drawingml/2006/main">
            <a:off x="1809598" y="260604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Which double-checking method is most effective in practice?</a:t>
            </a:r>
          </a:p>
        </p:txBody>
      </p:sp>
      <p:sp>
        <p:nvSpPr>
          <p:cNvPr id="10" name="Straight Connector 9">
            <a:extLst xmlns:a="http://schemas.openxmlformats.org/drawingml/2006/main">
              <a:ext uri="{FF2B5EF4-FFF2-40B4-BE49-F238E27FC236}">
                <a16:creationId xmlns:a16="http://schemas.microsoft.com/office/drawing/2014/main" id="{593208D9-9157-4E65-BFEF-4490F0FECBB4}"/>
              </a:ext>
            </a:extLst>
          </p:cNvPr>
          <p:cNvSpPr>
            <a:spLocks xmlns:a="http://schemas.openxmlformats.org/drawingml/2006/main" noGrp="1"/>
          </p:cNvSpPr>
          <p:nvPr/>
        </p:nvSpPr>
        <p:spPr>
          <a:xfrm xmlns:a="http://schemas.openxmlformats.org/drawingml/2006/main">
            <a:off x="1809750" y="337185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ounded Rectangle 10">
            <a:extLst xmlns:a="http://schemas.openxmlformats.org/drawingml/2006/main">
              <a:ext uri="{FF2B5EF4-FFF2-40B4-BE49-F238E27FC236}">
                <a16:creationId xmlns:a16="http://schemas.microsoft.com/office/drawing/2014/main" id="{BCAD8DE7-AF06-4D47-A634-A8C50417E947}"/>
              </a:ext>
            </a:extLst>
          </p:cNvPr>
          <p:cNvSpPr>
            <a:spLocks xmlns:a="http://schemas.openxmlformats.org/drawingml/2006/main" noGrp="1"/>
          </p:cNvSpPr>
          <p:nvPr/>
        </p:nvSpPr>
        <p:spPr>
          <a:xfrm xmlns:a="http://schemas.openxmlformats.org/drawingml/2006/main">
            <a:off x="685800" y="375285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xmlns:a="http://schemas.openxmlformats.org/drawingml/2006/main">
              <a:ext uri="{FF2B5EF4-FFF2-40B4-BE49-F238E27FC236}">
                <a16:creationId xmlns:a16="http://schemas.microsoft.com/office/drawing/2014/main" id="{227A4C82-E3DE-486B-8E9E-B9199398E045}"/>
              </a:ext>
            </a:extLst>
          </p:cNvPr>
          <p:cNvSpPr>
            <a:spLocks xmlns:a="http://schemas.openxmlformats.org/drawingml/2006/main" noGrp="1"/>
          </p:cNvSpPr>
          <p:nvPr/>
        </p:nvSpPr>
        <p:spPr>
          <a:xfrm xmlns:a="http://schemas.openxmlformats.org/drawingml/2006/main">
            <a:off x="1809598" y="373075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an incorrect peer answer mislead an initially correct model during cross-checking?</a:t>
            </a:r>
            <a:endParaRPr sz="2400"/>
          </a:p>
        </p:txBody>
      </p:sp>
      <p:sp>
        <p:nvSpPr>
          <p:cNvPr id="13" name="Straight Connector 12">
            <a:extLst xmlns:a="http://schemas.openxmlformats.org/drawingml/2006/main">
              <a:ext uri="{FF2B5EF4-FFF2-40B4-BE49-F238E27FC236}">
                <a16:creationId xmlns:a16="http://schemas.microsoft.com/office/drawing/2014/main" id="{B270D670-D38D-4156-9E77-31E45444CEAE}"/>
              </a:ext>
            </a:extLst>
          </p:cNvPr>
          <p:cNvSpPr>
            <a:spLocks xmlns:a="http://schemas.openxmlformats.org/drawingml/2006/main" noGrp="1"/>
          </p:cNvSpPr>
          <p:nvPr/>
        </p:nvSpPr>
        <p:spPr>
          <a:xfrm xmlns:a="http://schemas.openxmlformats.org/drawingml/2006/main">
            <a:off x="1809750" y="44958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ounded Rectangle 13">
            <a:extLst xmlns:a="http://schemas.openxmlformats.org/drawingml/2006/main">
              <a:ext uri="{FF2B5EF4-FFF2-40B4-BE49-F238E27FC236}">
                <a16:creationId xmlns:a16="http://schemas.microsoft.com/office/drawing/2014/main" id="{A9DA6750-D657-4C4D-88EA-607BAF9A012F}"/>
              </a:ext>
            </a:extLst>
          </p:cNvPr>
          <p:cNvSpPr>
            <a:spLocks xmlns:a="http://schemas.openxmlformats.org/drawingml/2006/main" noGrp="1"/>
          </p:cNvSpPr>
          <p:nvPr/>
        </p:nvSpPr>
        <p:spPr>
          <a:xfrm xmlns:a="http://schemas.openxmlformats.org/drawingml/2006/main">
            <a:off x="685800" y="487680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xmlns:a="http://schemas.openxmlformats.org/drawingml/2006/main">
              <a:ext uri="{FF2B5EF4-FFF2-40B4-BE49-F238E27FC236}">
                <a16:creationId xmlns:a16="http://schemas.microsoft.com/office/drawing/2014/main" id="{D861B929-4F01-4AE6-9436-7B7C889A8E3E}"/>
              </a:ext>
            </a:extLst>
          </p:cNvPr>
          <p:cNvSpPr>
            <a:spLocks xmlns:a="http://schemas.openxmlformats.org/drawingml/2006/main" noGrp="1"/>
          </p:cNvSpPr>
          <p:nvPr/>
        </p:nvSpPr>
        <p:spPr>
          <a:xfrm xmlns:a="http://schemas.openxmlformats.org/drawingml/2006/main">
            <a:off x="1809598" y="485455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misleading user input cause an otherwise correct model to give a wrong answer?</a:t>
            </a:r>
          </a:p>
        </p:txBody>
      </p:sp>
      <p:sp>
        <p:nvSpPr>
          <p:cNvPr id="16" name="Rectangles 15">
            <a:extLst xmlns:a="http://schemas.openxmlformats.org/drawingml/2006/main">
              <a:ext uri="{FF2B5EF4-FFF2-40B4-BE49-F238E27FC236}">
                <a16:creationId xmlns:a16="http://schemas.microsoft.com/office/drawing/2014/main" id="{1E786F98-30C0-4916-9C9B-0CA360D592CA}"/>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xmlns:a="http://schemas.openxmlformats.org/drawingml/2006/main">
              <a:ext uri="{FF2B5EF4-FFF2-40B4-BE49-F238E27FC236}">
                <a16:creationId xmlns:a16="http://schemas.microsoft.com/office/drawing/2014/main" id="{E5CFF8DB-75DE-44FE-AEDF-53F9816BB42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3FABF1-A302-4836-9CB9-3244237E5987}"/>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2B2674F9-2D79-42B4-9A11-5A5C827D3088}"/>
              </a:ext>
            </a:extLst>
          </p:cNvPr>
          <p:cNvSpPr>
            <a:spLocks xmlns:a="http://schemas.openxmlformats.org/drawingml/2006/main" noGrp="1"/>
          </p:cNvSpPr>
          <p:nvPr/>
        </p:nvSpPr>
        <p:spPr>
          <a:xfrm xmlns:a="http://schemas.openxmlformats.org/drawingml/2006/main">
            <a:off x="640080" y="2926080"/>
            <a:ext cx="60350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2A827082-D5A8-4CCA-AB39-84557BDAAF8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s 14">
            <a:extLst xmlns:a="http://schemas.openxmlformats.org/drawingml/2006/main">
              <a:ext uri="{FF2B5EF4-FFF2-40B4-BE49-F238E27FC236}">
                <a16:creationId xmlns:a16="http://schemas.microsoft.com/office/drawing/2014/main" id="{7F8AFADF-36EC-475A-8366-A60926228141}"/>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xmlns:a="http://schemas.openxmlformats.org/drawingml/2006/main" noChangeAspect="1"/>
          </p:cNvPicPr>
          <p:nvPr/>
        </p:nvPicPr>
        <p:blipFill>
          <a:blip xmlns:r="http://schemas.openxmlformats.org/officeDocument/2006/relationships" xmlns:a="http://schemas.openxmlformats.org/drawingml/2006/main" r:embed="Rb6fa32ee4a214e95"/>
          <a:stretch xmlns:a="http://schemas.openxmlformats.org/drawingml/2006/main">
            <a:fillRect l="0" t="0" r="0" b="0"/>
          </a:stretch>
        </p:blipFill>
        <p:spPr>
          <a:xfrm xmlns:a="http://schemas.openxmlformats.org/drawingml/2006/main">
            <a:off x="7176135" y="1845310"/>
            <a:ext cx="4274185" cy="3096260"/>
          </a:xfrm>
          <a:prstGeom xmlns:a="http://schemas.openxmlformats.org/drawingml/2006/main" prst="rect">
            <a:avLst/>
          </a:prstGeom>
        </p:spPr>
      </p:pic>
      <p:sp>
        <p:nvSpPr>
          <p:cNvPr id="17" name="Speaker">
            <a:extLst xmlns:a="http://schemas.openxmlformats.org/drawingml/2006/main">
              <a:ext uri="{FF2B5EF4-FFF2-40B4-BE49-F238E27FC236}">
                <a16:creationId xmlns:a16="http://schemas.microsoft.com/office/drawing/2014/main" id="{065D5DA1-9573-4063-A4A8-36AEE1BD423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77ED9F2-EEDA-4630-8931-5A5D6296EFD0}"/>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459B6060-89D1-4250-964F-0450C9836272}"/>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AD0485AA-606E-4E89-B58A-0B1FAB323C4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1849F6D9-A2DD-4618-94BE-3AF59C1F6BF6}"/>
              </a:ext>
            </a:extLst>
          </p:cNvPr>
          <p:cNvSpPr>
            <a:spLocks xmlns:a="http://schemas.openxmlformats.org/drawingml/2006/main" noGrp="1"/>
          </p:cNvSpPr>
          <p:nvPr/>
        </p:nvSpPr>
        <p:spPr>
          <a:xfrm xmlns:a="http://schemas.openxmlformats.org/drawingml/2006/main">
            <a:off x="59436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xmlns:a="http://schemas.openxmlformats.org/drawingml/2006/main">
              <a:ext uri="{FF2B5EF4-FFF2-40B4-BE49-F238E27FC236}">
                <a16:creationId xmlns:a16="http://schemas.microsoft.com/office/drawing/2014/main" id="{497623CC-93BB-46F6-9EBA-564CBDFEE6C6}"/>
              </a:ext>
            </a:extLst>
          </p:cNvPr>
          <p:cNvSpPr>
            <a:spLocks xmlns:a="http://schemas.openxmlformats.org/drawingml/2006/main" noGrp="1"/>
          </p:cNvSpPr>
          <p:nvPr/>
        </p:nvSpPr>
        <p:spPr>
          <a:xfrm xmlns:a="http://schemas.openxmlformats.org/drawingml/2006/main">
            <a:off x="59436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xmlns:a="http://schemas.openxmlformats.org/drawingml/2006/main">
              <a:ext uri="{FF2B5EF4-FFF2-40B4-BE49-F238E27FC236}">
                <a16:creationId xmlns:a16="http://schemas.microsoft.com/office/drawing/2014/main" id="{B99DA390-0BBF-4123-B867-DABCD1C029FB}"/>
              </a:ext>
            </a:extLst>
          </p:cNvPr>
          <p:cNvSpPr>
            <a:spLocks xmlns:a="http://schemas.openxmlformats.org/drawingml/2006/main" noGrp="1"/>
          </p:cNvSpPr>
          <p:nvPr/>
        </p:nvSpPr>
        <p:spPr>
          <a:xfrm xmlns:a="http://schemas.openxmlformats.org/drawingml/2006/main">
            <a:off x="59436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xmlns:a="http://schemas.openxmlformats.org/drawingml/2006/main">
              <a:ext uri="{FF2B5EF4-FFF2-40B4-BE49-F238E27FC236}">
                <a16:creationId xmlns:a16="http://schemas.microsoft.com/office/drawing/2014/main" id="{A7F5EF0A-3A6B-46D2-B6F0-88D9C6712F9D}"/>
              </a:ext>
            </a:extLst>
          </p:cNvPr>
          <p:cNvSpPr>
            <a:spLocks xmlns:a="http://schemas.openxmlformats.org/drawingml/2006/main" noGrp="1"/>
          </p:cNvSpPr>
          <p:nvPr/>
        </p:nvSpPr>
        <p:spPr>
          <a:xfrm xmlns:a="http://schemas.openxmlformats.org/drawingml/2006/main">
            <a:off x="438912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xmlns:a="http://schemas.openxmlformats.org/drawingml/2006/main">
              <a:ext uri="{FF2B5EF4-FFF2-40B4-BE49-F238E27FC236}">
                <a16:creationId xmlns:a16="http://schemas.microsoft.com/office/drawing/2014/main" id="{2F15BD71-9816-4333-951A-9462A9980B90}"/>
              </a:ext>
            </a:extLst>
          </p:cNvPr>
          <p:cNvSpPr>
            <a:spLocks xmlns:a="http://schemas.openxmlformats.org/drawingml/2006/main" noGrp="1"/>
          </p:cNvSpPr>
          <p:nvPr/>
        </p:nvSpPr>
        <p:spPr>
          <a:xfrm xmlns:a="http://schemas.openxmlformats.org/drawingml/2006/main">
            <a:off x="438912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xmlns:a="http://schemas.openxmlformats.org/drawingml/2006/main">
              <a:ext uri="{FF2B5EF4-FFF2-40B4-BE49-F238E27FC236}">
                <a16:creationId xmlns:a16="http://schemas.microsoft.com/office/drawing/2014/main" id="{CAF7CF77-62B5-4D72-8D95-9B72BB84733C}"/>
              </a:ext>
            </a:extLst>
          </p:cNvPr>
          <p:cNvSpPr>
            <a:spLocks xmlns:a="http://schemas.openxmlformats.org/drawingml/2006/main" noGrp="1"/>
          </p:cNvSpPr>
          <p:nvPr/>
        </p:nvSpPr>
        <p:spPr>
          <a:xfrm xmlns:a="http://schemas.openxmlformats.org/drawingml/2006/main">
            <a:off x="438912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xmlns:a="http://schemas.openxmlformats.org/drawingml/2006/main">
              <a:ext uri="{FF2B5EF4-FFF2-40B4-BE49-F238E27FC236}">
                <a16:creationId xmlns:a16="http://schemas.microsoft.com/office/drawing/2014/main" id="{2AB3C272-D3F7-45AB-B845-36B1E2391A7B}"/>
              </a:ext>
            </a:extLst>
          </p:cNvPr>
          <p:cNvSpPr>
            <a:spLocks xmlns:a="http://schemas.openxmlformats.org/drawingml/2006/main" noGrp="1"/>
          </p:cNvSpPr>
          <p:nvPr/>
        </p:nvSpPr>
        <p:spPr>
          <a:xfrm xmlns:a="http://schemas.openxmlformats.org/drawingml/2006/main">
            <a:off x="818388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xmlns:a="http://schemas.openxmlformats.org/drawingml/2006/main">
              <a:ext uri="{FF2B5EF4-FFF2-40B4-BE49-F238E27FC236}">
                <a16:creationId xmlns:a16="http://schemas.microsoft.com/office/drawing/2014/main" id="{512E3213-D5B4-4B9E-BDF1-274D91DE514B}"/>
              </a:ext>
            </a:extLst>
          </p:cNvPr>
          <p:cNvSpPr>
            <a:spLocks xmlns:a="http://schemas.openxmlformats.org/drawingml/2006/main" noGrp="1"/>
          </p:cNvSpPr>
          <p:nvPr/>
        </p:nvSpPr>
        <p:spPr>
          <a:xfrm xmlns:a="http://schemas.openxmlformats.org/drawingml/2006/main">
            <a:off x="818388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xmlns:a="http://schemas.openxmlformats.org/drawingml/2006/main">
              <a:ext uri="{FF2B5EF4-FFF2-40B4-BE49-F238E27FC236}">
                <a16:creationId xmlns:a16="http://schemas.microsoft.com/office/drawing/2014/main" id="{CFBFDD5C-EE25-4D2F-AD85-D3FC34084EEA}"/>
              </a:ext>
            </a:extLst>
          </p:cNvPr>
          <p:cNvSpPr>
            <a:spLocks xmlns:a="http://schemas.openxmlformats.org/drawingml/2006/main" noGrp="1"/>
          </p:cNvSpPr>
          <p:nvPr/>
        </p:nvSpPr>
        <p:spPr>
          <a:xfrm xmlns:a="http://schemas.openxmlformats.org/drawingml/2006/main">
            <a:off x="818388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xmlns:a="http://schemas.openxmlformats.org/drawingml/2006/main">
              <a:ext uri="{FF2B5EF4-FFF2-40B4-BE49-F238E27FC236}">
                <a16:creationId xmlns:a16="http://schemas.microsoft.com/office/drawing/2014/main" id="{91F83469-C01F-45AD-835E-2389964886F1}"/>
              </a:ext>
            </a:extLst>
          </p:cNvPr>
          <p:cNvSpPr>
            <a:spLocks xmlns:a="http://schemas.openxmlformats.org/drawingml/2006/main" noGrp="1"/>
          </p:cNvSpPr>
          <p:nvPr/>
        </p:nvSpPr>
        <p:spPr>
          <a:xfrm xmlns:a="http://schemas.openxmlformats.org/drawingml/2006/main">
            <a:off x="731520" y="5559552"/>
            <a:ext cx="1069848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xmlns:a="http://schemas.openxmlformats.org/drawingml/2006/main">
              <a:ext uri="{FF2B5EF4-FFF2-40B4-BE49-F238E27FC236}">
                <a16:creationId xmlns:a16="http://schemas.microsoft.com/office/drawing/2014/main" id="{128895FA-3363-46DB-8F24-1DDDE0F77D95}"/>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xmlns:a="http://schemas.openxmlformats.org/drawingml/2006/main">
              <a:ext uri="{FF2B5EF4-FFF2-40B4-BE49-F238E27FC236}">
                <a16:creationId xmlns:a16="http://schemas.microsoft.com/office/drawing/2014/main" id="{7117DE32-4C5E-4D11-996F-C3767F071324}"/>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graphicFrame>
        <p:nvGraphicFramePr>
          <p:cNvPr id="14" name="Table 11"/>
          <p:cNvGraphicFramePr/>
          <p:nvPr/>
        </p:nvGraphicFramePr>
        <p:xfrm>
          <a:off xmlns:a="http://schemas.openxmlformats.org/drawingml/2006/main" x="548640" y="1572768"/>
          <a:ext xmlns:a="http://schemas.openxmlformats.org/drawingml/2006/main" cx="11064240" cy="4069080"/>
        </p:xfrm>
        <a:graphic xmlns:a="http://schemas.openxmlformats.org/drawingml/2006/main">
          <a:graphicData uri="http://schemas.openxmlformats.org/drawingml/2006/table">
            <a:tbl>
              <a:tblPr/>
              <a:tblGrid>
                <a:gridCol w="2273474"/>
                <a:gridCol w="4452220"/>
                <a:gridCol w="4338546"/>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tr>
            </a:tbl>
          </a:graphicData>
        </a:graphic>
      </p:graphicFrame>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731520" y="5824728"/>
            <a:ext cx="1069848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xmlns:a="http://schemas.openxmlformats.org/drawingml/2006/main">
              <a:ext uri="{FF2B5EF4-FFF2-40B4-BE49-F238E27FC236}">
                <a16:creationId xmlns:a16="http://schemas.microsoft.com/office/drawing/2014/main" id="{E4B21738-243A-450E-B0A4-65EB034D3CD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625145" y="598551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ec5fd81204e64d81"/>
          <a:stretch xmlns:a="http://schemas.openxmlformats.org/drawingml/2006/main"/>
        </p:blipFill>
        <p:spPr>
          <a:xfrm xmlns:a="http://schemas.openxmlformats.org/drawingml/2006/main">
            <a:off x="1224017" y="1438275"/>
            <a:ext cx="9743966" cy="4238625"/>
          </a:xfrm>
          <a:prstGeom xmlns:a="http://schemas.openxmlformats.org/drawingml/2006/main" prst="rect">
            <a:avLst/>
          </a:prstGeom>
        </p:spPr>
      </p:pic>
      <p:sp>
        <p:nvSpPr>
          <p:cNvPr id="9" name="Map interpretation">
            <a:extLst xmlns:a="http://schemas.openxmlformats.org/drawingml/2006/main">
              <a:ext uri="{FF2B5EF4-FFF2-40B4-BE49-F238E27FC236}">
                <a16:creationId xmlns:a16="http://schemas.microsoft.com/office/drawing/2014/main" id="{FDD4A10D-5CD6-4381-A08C-65562D43A268}"/>
              </a:ext>
            </a:extLst>
          </p:cNvPr>
          <p:cNvSpPr>
            <a:spLocks xmlns:a="http://schemas.openxmlformats.org/drawingml/2006/main" noGrp="1"/>
          </p:cNvSpPr>
          <p:nvPr/>
        </p:nvSpPr>
        <p:spPr>
          <a:xfrm xmlns:a="http://schemas.openxmlformats.org/drawingml/2006/main">
            <a:off x="-1859728" y="647669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xmlns:a="http://schemas.openxmlformats.org/drawingml/2006/main">
              <a:ext uri="{FF2B5EF4-FFF2-40B4-BE49-F238E27FC236}">
                <a16:creationId xmlns:a16="http://schemas.microsoft.com/office/drawing/2014/main" id="{21E406D5-4065-4B55-9149-37BE5A07AC5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5. DATA</a:t>
            </a:r>
          </a:p>
        </p:txBody>
      </p:sp>
      <p:sp>
        <p:nvSpPr>
          <p:cNvPr id="3" name="Straight Connector 2">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280 UGMathBench; 214 MATH test; 6 HKU math questions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Over 10,000 responses collected (only 2000 useful cases)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Cross-check targets 70 initial errors; 63 complete self/cross pairs are available.</a:t>
            </a:r>
          </a:p>
        </p:txBody>
      </p:sp>
      <p:sp>
        <p:nvSpPr>
          <p:cNvPr id="9" name="Speaker">
            <a:extLst xmlns:a="http://schemas.openxmlformats.org/drawingml/2006/main">
              <a:ext uri="{FF2B5EF4-FFF2-40B4-BE49-F238E27FC236}">
                <a16:creationId xmlns:a16="http://schemas.microsoft.com/office/drawing/2014/main" id="{4294519D-B32B-442B-A2BD-C50DB72457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mlns:a="http://schemas.openxmlformats.org/drawingml/2006/main" x="571500" y="1962150"/>
          <a:ext xmlns:a="http://schemas.openxmlformats.org/drawingml/2006/main" cx="11049000" cy="3765550"/>
        </p:xfrm>
        <a:graphic xmlns:a="http://schemas.openxmlformats.org/drawingml/2006/main">
          <a:graphicData uri="http://schemas.openxmlformats.org/drawingml/2006/table">
            <a:tbl>
              <a:tblPr/>
              <a:tblGrid>
                <a:gridCol w="2333625"/>
                <a:gridCol w="4333875"/>
                <a:gridCol w="4381500"/>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xmlns:a="http://schemas.openxmlformats.org/drawingml/2006/main">
              <a:ext uri="{FF2B5EF4-FFF2-40B4-BE49-F238E27FC236}">
                <a16:creationId xmlns:a16="http://schemas.microsoft.com/office/drawing/2014/main" id="{77BEB836-2215-4BB9-852E-26C9B7DB8C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2567182-AAAF-1280-D95E-970CEEE6A97A}"/>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2AF7BC1-E70F-76C1-55A3-9FC3FFDC9F8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FFC184D1-B5C7-8364-9552-AFEA09519AE9}"/>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293E00-4BD6-CDC9-C86E-819735CD271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xmlns:a="http://schemas.openxmlformats.org/drawingml/2006/main">
              <a:ext uri="{FF2B5EF4-FFF2-40B4-BE49-F238E27FC236}">
                <a16:creationId xmlns:a16="http://schemas.microsoft.com/office/drawing/2014/main" id="{65651B6B-216D-F230-DD54-5F156E6C3F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8947f0a6ba8049e9"/>
          <a:stretch xmlns:a="http://schemas.openxmlformats.org/drawingml/2006/main">
            <a:fillRect l="0" t="0" r="0" b="0"/>
          </a:stretch>
        </p:blipFill>
        <p:spPr>
          <a:xfrm xmlns:a="http://schemas.openxmlformats.org/drawingml/2006/main">
            <a:off x="1692984" y="1328541"/>
            <a:ext cx="9043147" cy="5086769"/>
          </a:xfrm>
          <a:prstGeom xmlns:a="http://schemas.openxmlformats.org/drawingml/2006/main" prst="rect">
            <a:avLst/>
          </a:prstGeom>
        </p:spPr>
      </p:pic>
    </p:spTree>
    <p:extLst>
      <p:ext uri="{BB962C8B-B14F-4D97-AF65-F5344CB8AC3E}">
        <p14:creationId xmlns:p14="http://schemas.microsoft.com/office/powerpoint/2010/main" val="3765297850"/>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0999" y="552450"/>
            <a:ext cx="1225923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mlns:a="http://schemas.openxmlformats.org/drawingml/2006/main" x="571500" y="1571625"/>
          <a:ext xmlns:a="http://schemas.openxmlformats.org/drawingml/2006/main" cx="11049000" cy="2476500"/>
        </p:xfrm>
        <a:graphic xmlns:a="http://schemas.openxmlformats.org/drawingml/2006/main">
          <a:graphicData uri="http://schemas.openxmlformats.org/drawingml/2006/table">
            <a:tbl>
              <a:tblPr/>
              <a:tblGrid>
                <a:gridCol w="4667250"/>
                <a:gridCol w="6381750"/>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438092"/>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3998707" y="4851701"/>
            <a:ext cx="11430000" cy="534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xmlns:a="http://schemas.openxmlformats.org/drawingml/2006/main">
              <a:ext uri="{FF2B5EF4-FFF2-40B4-BE49-F238E27FC236}">
                <a16:creationId xmlns:a16="http://schemas.microsoft.com/office/drawing/2014/main" id="{67756C5F-26C6-4BAF-8B36-D5DD8B442D03}"/>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a:t>
            </a:r>
            <a:r>
              <a:rPr sz="2800" b="1">
                <a:solidFill>
                  <a:srgbClr val="142C40"/>
                </a:solidFill>
                <a:latin typeface="Helvetica Neue"/>
                <a:ea typeface="Helvetica Neue"/>
                <a:cs typeface="Helvetica Neue"/>
              </a:rPr>
              <a:t>Result </a:t>
            </a:r>
            <a:r>
              <a:rPr sz="2800" b="1">
                <a:solidFill>
                  <a:srgbClr val="142C40"/>
                </a:solidFill>
                <a:latin typeface="Helvetica Neue"/>
                <a:ea typeface="Helvetica Neue"/>
                <a:cs typeface="Helvetica Neue"/>
              </a:rPr>
              <a:t>&amp; </a:t>
            </a:r>
            <a:r>
              <a:rPr sz="2800" b="1">
                <a:solidFill>
                  <a:srgbClr val="142C40"/>
                </a:solidFill>
                <a:latin typeface="Helvetica Neue"/>
                <a:ea typeface="Helvetica Neue"/>
                <a:cs typeface="Helvetica Neue"/>
              </a:rPr>
              <a:t>Findings </a:t>
            </a:r>
            <a:r>
              <a:rPr sz="2800" b="1">
                <a:solidFill>
                  <a:srgbClr val="142C40"/>
                </a:solidFill>
                <a:latin typeface="Helvetica Neue"/>
                <a:ea typeface="Helvetica Neue"/>
                <a:cs typeface="Helvetica Neue"/>
              </a:rPr>
              <a:t>: </a:t>
            </a:r>
            <a:r>
              <a:rPr sz="2800" b="1">
                <a:solidFill>
                  <a:srgbClr val="142C40"/>
                </a:solidFill>
                <a:latin typeface="Helvetica Neue"/>
                <a:ea typeface="Helvetica Neue"/>
                <a:cs typeface="Helvetica Neue"/>
              </a:rPr>
              <a:t>Self-check</a:t>
            </a:r>
          </a:p>
        </p:txBody>
      </p:sp>
      <p:sp>
        <p:nvSpPr>
          <p:cNvPr id="3" name="Straight Connector 2">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23" name="Picture 12"/>
          <p:cNvPicPr>
            <a:picLocks xmlns:a="http://schemas.openxmlformats.org/drawingml/2006/main" noChangeAspect="1"/>
          </p:cNvPicPr>
          <p:nvPr/>
        </p:nvPicPr>
        <p:blipFill>
          <a:blip xmlns:r="http://schemas.openxmlformats.org/officeDocument/2006/relationships" xmlns:a="http://schemas.openxmlformats.org/drawingml/2006/main" r:embed="R5acdbb47e77042ee"/>
          <a:stretch xmlns:a="http://schemas.openxmlformats.org/drawingml/2006/main"/>
        </p:blipFill>
        <p:spPr>
          <a:xfrm xmlns:a="http://schemas.openxmlformats.org/drawingml/2006/main">
            <a:off x="556054" y="1857375"/>
            <a:ext cx="5174392" cy="3190875"/>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xmlns:a="http://schemas.openxmlformats.org/drawingml/2006/main" noChangeAspect="1"/>
          </p:cNvPicPr>
          <p:nvPr/>
        </p:nvPicPr>
        <p:blipFill>
          <a:blip xmlns:r="http://schemas.openxmlformats.org/officeDocument/2006/relationships" xmlns:a="http://schemas.openxmlformats.org/drawingml/2006/main" r:embed="R1b00db044708487a"/>
          <a:stretch xmlns:a="http://schemas.openxmlformats.org/drawingml/2006/main"/>
        </p:blipFill>
        <p:spPr>
          <a:xfrm xmlns:a="http://schemas.openxmlformats.org/drawingml/2006/main">
            <a:off x="6461554" y="1857375"/>
            <a:ext cx="5174392" cy="3190875"/>
          </a:xfrm>
          <a:prstGeom xmlns:a="http://schemas.openxmlformats.org/drawingml/2006/main" prst="rect">
            <a:avLst/>
          </a:prstGeom>
        </p:spPr>
      </p:pic>
      <p:sp>
        <p:nvSpPr>
          <p:cNvPr id="11" name="Overall error panel title">
            <a:extLst xmlns:a="http://schemas.openxmlformats.org/drawingml/2006/main">
              <a:ext uri="{FF2B5EF4-FFF2-40B4-BE49-F238E27FC236}">
                <a16:creationId xmlns:a16="http://schemas.microsoft.com/office/drawing/2014/main" id="{8A2508C9-306D-45B1-BE80-D9C1FFFD0CE3}"/>
              </a:ext>
            </a:extLst>
          </p:cNvPr>
          <p:cNvSpPr>
            <a:spLocks xmlns:a="http://schemas.openxmlformats.org/drawingml/2006/main" noGrp="1"/>
          </p:cNvSpPr>
          <p:nvPr/>
        </p:nvSpPr>
        <p:spPr>
          <a:xfrm xmlns:a="http://schemas.openxmlformats.org/drawingml/2006/main">
            <a:off x="57150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xmlns:a="http://schemas.openxmlformats.org/drawingml/2006/main">
              <a:ext uri="{FF2B5EF4-FFF2-40B4-BE49-F238E27FC236}">
                <a16:creationId xmlns:a16="http://schemas.microsoft.com/office/drawing/2014/main" id="{D3D90660-C6E8-4DB5-B9C4-F872C10FE68A}"/>
              </a:ext>
            </a:extLst>
          </p:cNvPr>
          <p:cNvSpPr>
            <a:spLocks xmlns:a="http://schemas.openxmlformats.org/drawingml/2006/main" noGrp="1"/>
          </p:cNvSpPr>
          <p:nvPr/>
        </p:nvSpPr>
        <p:spPr>
          <a:xfrm xmlns:a="http://schemas.openxmlformats.org/drawingml/2006/main">
            <a:off x="6286500" y="147637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xmlns:a="http://schemas.openxmlformats.org/drawingml/2006/main">
              <a:ext uri="{FF2B5EF4-FFF2-40B4-BE49-F238E27FC236}">
                <a16:creationId xmlns:a16="http://schemas.microsoft.com/office/drawing/2014/main" id="{FF5ECFD8-B7A9-445B-81B4-4C54DF9D961C}"/>
              </a:ext>
            </a:extLst>
          </p:cNvPr>
          <p:cNvSpPr>
            <a:spLocks xmlns:a="http://schemas.openxmlformats.org/drawingml/2006/main" noGrp="1"/>
          </p:cNvSpPr>
          <p:nvPr/>
        </p:nvSpPr>
        <p:spPr>
          <a:xfrm xmlns:a="http://schemas.openxmlformats.org/drawingml/2006/main">
            <a:off x="571500" y="5143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xmlns:a="http://schemas.openxmlformats.org/drawingml/2006/main">
              <a:ext uri="{FF2B5EF4-FFF2-40B4-BE49-F238E27FC236}">
                <a16:creationId xmlns:a16="http://schemas.microsoft.com/office/drawing/2014/main" id="{AD213B38-EA36-4251-875D-FBF005E45952}"/>
              </a:ext>
            </a:extLst>
          </p:cNvPr>
          <p:cNvSpPr>
            <a:spLocks xmlns:a="http://schemas.openxmlformats.org/drawingml/2006/main" noGrp="1"/>
          </p:cNvSpPr>
          <p:nvPr/>
        </p:nvSpPr>
        <p:spPr>
          <a:xfrm xmlns:a="http://schemas.openxmlformats.org/drawingml/2006/main">
            <a:off x="6286500" y="51435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xmlns:a="http://schemas.openxmlformats.org/drawingml/2006/main">
              <a:ext uri="{FF2B5EF4-FFF2-40B4-BE49-F238E27FC236}">
                <a16:creationId xmlns:a16="http://schemas.microsoft.com/office/drawing/2014/main" id="{CBD96195-0BAB-47E5-A168-56B5E640AD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a:t>
            </a:r>
            <a:r>
              <a:rPr sz="2800" b="1">
                <a:solidFill>
                  <a:srgbClr val="142C40"/>
                </a:solidFill>
                <a:latin typeface="Helvetica Neue"/>
                <a:ea typeface="Helvetica Neue"/>
                <a:cs typeface="Helvetica Neue"/>
              </a:rPr>
              <a:t>.Result &amp; Finds : </a:t>
            </a:r>
            <a:r>
              <a:rPr sz="2800" b="1">
                <a:solidFill>
                  <a:srgbClr val="142C40"/>
                </a:solidFill>
                <a:latin typeface="Helvetica Neue"/>
                <a:ea typeface="Helvetica Neue"/>
                <a:cs typeface="Helvetica Neue"/>
              </a:rPr>
              <a:t>Cross-check</a:t>
            </a:r>
          </a:p>
        </p:txBody>
      </p:sp>
      <p:sp>
        <p:nvSpPr>
          <p:cNvPr id="3" name="Straight Connector 2">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2f721db19af14367"/>
          <a:srcRect xmlns:a="http://schemas.openxmlformats.org/drawingml/2006/main" l="0" t="0" r="0" b="0"/>
          <a:stretch xmlns:a="http://schemas.openxmlformats.org/drawingml/2006/main">
            <a:fillRect l="0" t="0" r="0" b="0"/>
          </a:stretch>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Overall self-check: 66/488 → 42/488 wrong. On 63 initial errors, cross-check corrected 55 vs 31.</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Cross-check was tested only on initial errors; its overall error rate was not measured.</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xmlns:a="http://schemas.openxmlformats.org/drawingml/2006/main">
              <a:ext uri="{FF2B5EF4-FFF2-40B4-BE49-F238E27FC236}">
                <a16:creationId xmlns:a16="http://schemas.microsoft.com/office/drawing/2014/main" id="{28BAD8F0-7556-4209-B61E-A998927BB24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F624FE0-D9BC-4D77-906E-AF6389DF0C9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xmlns:a="http://schemas.openxmlformats.org/drawingml/2006/main">
              <a:ext uri="{FF2B5EF4-FFF2-40B4-BE49-F238E27FC236}">
                <a16:creationId xmlns:a16="http://schemas.microsoft.com/office/drawing/2014/main" id="{A341981B-6843-4565-93A1-89618615983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xmlns:a="http://schemas.openxmlformats.org/drawingml/2006/main">
              <a:ext uri="{FF2B5EF4-FFF2-40B4-BE49-F238E27FC236}">
                <a16:creationId xmlns:a16="http://schemas.microsoft.com/office/drawing/2014/main" id="{03381659-F48B-4070-B13F-8608B4AEF45F}"/>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bd17e1185b5c4c27"/>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Summary">
            <a:extLst xmlns:a="http://schemas.openxmlformats.org/drawingml/2006/main">
              <a:ext uri="{FF2B5EF4-FFF2-40B4-BE49-F238E27FC236}">
                <a16:creationId xmlns:a16="http://schemas.microsoft.com/office/drawing/2014/main" id="{B8C095C8-2E70-4DEE-9CC5-8A8C7EE8C867}"/>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xmlns:a="http://schemas.openxmlformats.org/drawingml/2006/main">
              <a:ext uri="{FF2B5EF4-FFF2-40B4-BE49-F238E27FC236}">
                <a16:creationId xmlns:a16="http://schemas.microsoft.com/office/drawing/2014/main" id="{280FC65F-C89D-4628-A0C2-21644AC2FA6C}"/>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xmlns:a="http://schemas.openxmlformats.org/drawingml/2006/main">
              <a:ext uri="{FF2B5EF4-FFF2-40B4-BE49-F238E27FC236}">
                <a16:creationId xmlns:a16="http://schemas.microsoft.com/office/drawing/2014/main" id="{F543B412-1C39-4C0F-8FD6-4E24F17387B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17</a:t>
            </a:r>
          </a:p>
        </p:txBody>
      </p:sp>
      <p:sp>
        <p:nvSpPr>
          <p:cNvPr id="10" name="Speaker">
            <a:extLst xmlns:a="http://schemas.openxmlformats.org/drawingml/2006/main">
              <a:ext uri="{FF2B5EF4-FFF2-40B4-BE49-F238E27FC236}">
                <a16:creationId xmlns:a16="http://schemas.microsoft.com/office/drawing/2014/main" id="{AD25DE80-BC70-4CC7-B078-4C4414219A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edf18eb3f4b9422e"/>
          <a:stretch xmlns:a="http://schemas.openxmlformats.org/drawingml/2006/main"/>
        </p:blipFill>
        <p:spPr>
          <a:xfrm xmlns:a="http://schemas.openxmlformats.org/drawingml/2006/main">
            <a:off x="1316814" y="1285875"/>
            <a:ext cx="2449035" cy="1882467"/>
          </a:xfrm>
          <a:prstGeom xmlns:a="http://schemas.openxmlformats.org/drawingml/2006/main" prst="rect">
            <a:avLst/>
          </a:prstGeom>
        </p:spPr>
      </p:pic>
    </p:spTree>
    <p:extLst>
      <p:ext uri="{BB962C8B-B14F-4D97-AF65-F5344CB8AC3E}">
        <p14:creationId xmlns:p14="http://schemas.microsoft.com/office/powerpoint/2010/main" val="137330671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A06AB72-8626-402D-A84A-96C817765B9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xmlns:a="http://schemas.openxmlformats.org/drawingml/2006/main">
              <a:ext uri="{FF2B5EF4-FFF2-40B4-BE49-F238E27FC236}">
                <a16:creationId xmlns:a16="http://schemas.microsoft.com/office/drawing/2014/main" id="{8770963E-2813-4316-8D92-9BC91C9A2335}"/>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errors across three checking conditions</a:t>
            </a:r>
          </a:p>
        </p:txBody>
      </p:sp>
      <p:sp>
        <p:nvSpPr>
          <p:cNvPr id="3" name="Divider">
            <a:extLst xmlns:a="http://schemas.openxmlformats.org/drawingml/2006/main">
              <a:ext uri="{FF2B5EF4-FFF2-40B4-BE49-F238E27FC236}">
                <a16:creationId xmlns:a16="http://schemas.microsoft.com/office/drawing/2014/main" id="{D81BBEED-D0AF-4E3A-8242-5145C1D3C63A}"/>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Summary">
            <a:extLst xmlns:a="http://schemas.openxmlformats.org/drawingml/2006/main">
              <a:ext uri="{FF2B5EF4-FFF2-40B4-BE49-F238E27FC236}">
                <a16:creationId xmlns:a16="http://schemas.microsoft.com/office/drawing/2014/main" id="{0B1EAE8C-AF55-431C-8628-3AB94EC8B86C}"/>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Same 68 cases: self-check 1 error, user induction 10, AI induction 0</a:t>
            </a:r>
          </a:p>
        </p:txBody>
      </p:sp>
      <p:sp>
        <p:nvSpPr>
          <p:cNvPr id="6" name="Figure context">
            <a:extLst xmlns:a="http://schemas.openxmlformats.org/drawingml/2006/main">
              <a:ext uri="{FF2B5EF4-FFF2-40B4-BE49-F238E27FC236}">
                <a16:creationId xmlns:a16="http://schemas.microsoft.com/office/drawing/2014/main" id="{AD25C590-BEE2-4CE0-B267-147E27F5C4FB}"/>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User challenge: 10/68 adopted the false target. Full-bank post-challenge error rates were not measured.</a:t>
            </a:r>
          </a:p>
        </p:txBody>
      </p:sp>
      <p:sp>
        <p:nvSpPr>
          <p:cNvPr id="7" name="Page">
            <a:extLst xmlns:a="http://schemas.openxmlformats.org/drawingml/2006/main">
              <a:ext uri="{FF2B5EF4-FFF2-40B4-BE49-F238E27FC236}">
                <a16:creationId xmlns:a16="http://schemas.microsoft.com/office/drawing/2014/main" id="{31BB5DDF-A9D3-479F-9AC3-143D6C8795F1}"/>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18</a:t>
            </a:r>
          </a:p>
        </p:txBody>
      </p:sp>
      <p:pic>
        <p:nvPicPr>
          <p:cNvPr id="24" name="Picture 15"/>
          <p:cNvPicPr>
            <a:picLocks xmlns:a="http://schemas.openxmlformats.org/drawingml/2006/main" noChangeAspect="1"/>
          </p:cNvPicPr>
          <p:nvPr/>
        </p:nvPicPr>
        <p:blipFill>
          <a:blip xmlns:r="http://schemas.openxmlformats.org/officeDocument/2006/relationships" xmlns:a="http://schemas.openxmlformats.org/drawingml/2006/main" r:embed="Rc624b2ac1ee04446"/>
          <a:stretch xmlns:a="http://schemas.openxmlformats.org/drawingml/2006/main"/>
        </p:blipFill>
        <p:spPr>
          <a:xfrm xmlns:a="http://schemas.openxmlformats.org/drawingml/2006/main">
            <a:off x="381000" y="1771650"/>
            <a:ext cx="8858250" cy="3543300"/>
          </a:xfrm>
          <a:prstGeom xmlns:a="http://schemas.openxmlformats.org/drawingml/2006/main" prst="rect">
            <a:avLst/>
          </a:prstGeom>
        </p:spPr>
      </p:pic>
      <p:sp>
        <p:nvSpPr>
          <p:cNvPr id="10" name="Matched denominator">
            <a:extLst xmlns:a="http://schemas.openxmlformats.org/drawingml/2006/main">
              <a:ext uri="{FF2B5EF4-FFF2-40B4-BE49-F238E27FC236}">
                <a16:creationId xmlns:a16="http://schemas.microsoft.com/office/drawing/2014/main" id="{53D91F63-A81E-4EEA-8BEF-8DA02EF3A50D}"/>
              </a:ext>
            </a:extLst>
          </p:cNvPr>
          <p:cNvSpPr>
            <a:spLocks xmlns:a="http://schemas.openxmlformats.org/drawingml/2006/main" noGrp="1"/>
          </p:cNvSpPr>
          <p:nvPr/>
        </p:nvSpPr>
        <p:spPr>
          <a:xfrm xmlns:a="http://schemas.openxmlformats.org/drawingml/2006/main">
            <a:off x="571500" y="5629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Error rate on 68 selected initially correct, scoreable cases</a:t>
            </a:r>
          </a:p>
        </p:txBody>
      </p:sp>
      <p:sp>
        <p:nvSpPr>
          <p:cNvPr id="16" name="Speaker">
            <a:extLst xmlns:a="http://schemas.openxmlformats.org/drawingml/2006/main">
              <a:ext uri="{FF2B5EF4-FFF2-40B4-BE49-F238E27FC236}">
                <a16:creationId xmlns:a16="http://schemas.microsoft.com/office/drawing/2014/main" id="{EDD69F61-0A03-4EDB-A92D-A49F420FB2E5}"/>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80835499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xmlns:a="http://schemas.openxmlformats.org/drawingml/2006/main">
              <a:ext uri="{FF2B5EF4-FFF2-40B4-BE49-F238E27FC236}">
                <a16:creationId xmlns:a16="http://schemas.microsoft.com/office/drawing/2014/main" id="{8A844C63-0E98-41D8-88FA-8E5954EC37FC}"/>
              </a:ext>
            </a:extLst>
          </p:cNvPr>
          <p:cNvSpPr>
            <a:spLocks xmlns:a="http://schemas.openxmlformats.org/drawingml/2006/main" noGrp="1"/>
          </p:cNvSpPr>
          <p:nvPr/>
        </p:nvSpPr>
        <p:spPr>
          <a:xfrm xmlns:a="http://schemas.openxmlformats.org/drawingml/2006/main">
            <a:off x="571500" y="14954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xmlns:a="http://schemas.openxmlformats.org/drawingml/2006/main">
              <a:ext uri="{FF2B5EF4-FFF2-40B4-BE49-F238E27FC236}">
                <a16:creationId xmlns:a16="http://schemas.microsoft.com/office/drawing/2014/main" id="{C27C678E-ADDA-4FB8-B2D3-8D4603769866}"/>
              </a:ext>
            </a:extLst>
          </p:cNvPr>
          <p:cNvSpPr>
            <a:spLocks xmlns:a="http://schemas.openxmlformats.org/drawingml/2006/main" noGrp="1"/>
          </p:cNvSpPr>
          <p:nvPr/>
        </p:nvSpPr>
        <p:spPr>
          <a:xfrm xmlns:a="http://schemas.openxmlformats.org/drawingml/2006/main">
            <a:off x="571500"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xmlns:a="http://schemas.openxmlformats.org/drawingml/2006/main">
              <a:ext uri="{FF2B5EF4-FFF2-40B4-BE49-F238E27FC236}">
                <a16:creationId xmlns:a16="http://schemas.microsoft.com/office/drawing/2014/main" id="{202AAD98-5FF3-42E2-B6B5-DC878C9A01AB}"/>
              </a:ext>
            </a:extLst>
          </p:cNvPr>
          <p:cNvSpPr>
            <a:spLocks xmlns:a="http://schemas.openxmlformats.org/drawingml/2006/main" noGrp="1"/>
          </p:cNvSpPr>
          <p:nvPr/>
        </p:nvSpPr>
        <p:spPr>
          <a:xfrm xmlns:a="http://schemas.openxmlformats.org/drawingml/2006/main">
            <a:off x="6429375"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xmlns:a="http://schemas.openxmlformats.org/drawingml/2006/main">
              <a:ext uri="{FF2B5EF4-FFF2-40B4-BE49-F238E27FC236}">
                <a16:creationId xmlns:a16="http://schemas.microsoft.com/office/drawing/2014/main" id="{EB2172F9-BF06-47E4-A346-837BDCD5FFF9}"/>
              </a:ext>
            </a:extLst>
          </p:cNvPr>
          <p:cNvSpPr>
            <a:spLocks xmlns:a="http://schemas.openxmlformats.org/drawingml/2006/main" noGrp="1"/>
          </p:cNvSpPr>
          <p:nvPr/>
        </p:nvSpPr>
        <p:spPr>
          <a:xfrm xmlns:a="http://schemas.openxmlformats.org/drawingml/2006/main">
            <a:off x="571500"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xmlns:a="http://schemas.openxmlformats.org/drawingml/2006/main">
              <a:ext uri="{FF2B5EF4-FFF2-40B4-BE49-F238E27FC236}">
                <a16:creationId xmlns:a16="http://schemas.microsoft.com/office/drawing/2014/main" id="{4E140731-3940-4564-AB8D-D9DDFFA0C7AC}"/>
              </a:ext>
            </a:extLst>
          </p:cNvPr>
          <p:cNvSpPr>
            <a:spLocks xmlns:a="http://schemas.openxmlformats.org/drawingml/2006/main" noGrp="1"/>
          </p:cNvSpPr>
          <p:nvPr/>
        </p:nvSpPr>
        <p:spPr>
          <a:xfrm xmlns:a="http://schemas.openxmlformats.org/drawingml/2006/main">
            <a:off x="6429375"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xmlns:a="http://schemas.openxmlformats.org/drawingml/2006/main">
              <a:ext uri="{FF2B5EF4-FFF2-40B4-BE49-F238E27FC236}">
                <a16:creationId xmlns:a16="http://schemas.microsoft.com/office/drawing/2014/main" id="{11CC430C-127D-4815-A8F2-9300766F3716}"/>
              </a:ext>
            </a:extLst>
          </p:cNvPr>
          <p:cNvSpPr>
            <a:spLocks xmlns:a="http://schemas.openxmlformats.org/drawingml/2006/main" noGrp="1"/>
          </p:cNvSpPr>
          <p:nvPr/>
        </p:nvSpPr>
        <p:spPr>
          <a:xfrm xmlns:a="http://schemas.openxmlformats.org/drawingml/2006/main">
            <a:off x="571500" y="5943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xmlns:a="http://schemas.openxmlformats.org/drawingml/2006/main">
              <a:ext uri="{FF2B5EF4-FFF2-40B4-BE49-F238E27FC236}">
                <a16:creationId xmlns:a16="http://schemas.microsoft.com/office/drawing/2014/main" id="{40FA822A-7509-4E4E-94E9-6753E5826495}"/>
              </a:ext>
            </a:extLst>
          </p:cNvPr>
          <p:cNvSpPr>
            <a:spLocks xmlns:a="http://schemas.openxmlformats.org/drawingml/2006/main" noGrp="1"/>
          </p:cNvSpPr>
          <p:nvPr/>
        </p:nvSpPr>
        <p:spPr>
          <a:xfrm xmlns:a="http://schemas.openxmlformats.org/drawingml/2006/main">
            <a:off x="571500" y="63055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xmlns:a="http://schemas.openxmlformats.org/drawingml/2006/main">
              <a:ext uri="{FF2B5EF4-FFF2-40B4-BE49-F238E27FC236}">
                <a16:creationId xmlns:a16="http://schemas.microsoft.com/office/drawing/2014/main" id="{26B59A45-D1E0-4D86-98C6-45CDB192D7E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LIMITATIONS</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Limitations</a:t>
            </a:r>
          </a:p>
        </p:txBody>
      </p:sp>
      <p:sp>
        <p:nvSpPr>
          <p:cNvPr id="3" name="Straight Connector 2">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2190750" y="16287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2381250" y="2238375"/>
            <a:ext cx="7429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1. </a:t>
            </a:r>
            <a:r>
              <a:rPr sz="2025" b="0">
                <a:solidFill>
                  <a:srgbClr val="142C40"/>
                </a:solidFill>
                <a:latin typeface="Helvetica Neue"/>
                <a:ea typeface="Helvetica Neue"/>
                <a:cs typeface="Helvetica Neue"/>
              </a:rPr>
              <a:t>Selected math bank; </a:t>
            </a:r>
            <a:r>
              <a:rPr sz="2025" b="0">
                <a:solidFill>
                  <a:srgbClr val="142C40"/>
                </a:solidFill>
                <a:latin typeface="Helvetica Neue"/>
                <a:ea typeface="Helvetica Neue"/>
                <a:cs typeface="Helvetica Neue"/>
              </a:rPr>
              <a:t>MiniMax</a:t>
            </a:r>
            <a:r>
              <a:rPr sz="2025" b="0">
                <a:solidFill>
                  <a:srgbClr val="142C40"/>
                </a:solidFill>
                <a:latin typeface="Helvetica Neue"/>
                <a:ea typeface="Helvetica Neue"/>
                <a:cs typeface="Helvetica Neue"/>
              </a:rPr>
              <a:t> is the receiving model.</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2. </a:t>
            </a:r>
            <a:r>
              <a:rPr sz="2025" b="0">
                <a:solidFill>
                  <a:srgbClr val="142C40"/>
                </a:solidFill>
                <a:latin typeface="Helvetica Neue"/>
                <a:ea typeface="Helvetica Neue"/>
                <a:cs typeface="Helvetica Neue"/>
              </a:rPr>
              <a:t>Only initially wrong answers enter cross-check.</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3. </a:t>
            </a:r>
            <a:r>
              <a:rPr sz="2025" b="0">
                <a:solidFill>
                  <a:srgbClr val="142C40"/>
                </a:solidFill>
                <a:latin typeface="Helvetica Neue"/>
                <a:ea typeface="Helvetica Neue"/>
                <a:cs typeface="Helvetica Neue"/>
              </a:rPr>
              <a:t>AI/user prompts differ in wording and source framing.</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4. </a:t>
            </a:r>
            <a:r>
              <a:rPr sz="2025" b="0">
                <a:solidFill>
                  <a:srgbClr val="142C40"/>
                </a:solidFill>
                <a:latin typeface="Helvetica Neue"/>
                <a:ea typeface="Helvetica Neue"/>
                <a:cs typeface="Helvetica Neue"/>
              </a:rPr>
              <a:t>Keys use AI-assisted review; ambiguous and technical cases are excluded.</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xmlns:a="http://schemas.openxmlformats.org/drawingml/2006/main">
              <a:ext uri="{FF2B5EF4-FFF2-40B4-BE49-F238E27FC236}">
                <a16:creationId xmlns:a16="http://schemas.microsoft.com/office/drawing/2014/main" id="{4ABDCEF8-D121-474C-9152-2196F106A8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xmlns:a="http://schemas.openxmlformats.org/drawingml/2006/main">
              <a:ext uri="{FF2B5EF4-FFF2-40B4-BE49-F238E27FC236}">
                <a16:creationId xmlns:a16="http://schemas.microsoft.com/office/drawing/2014/main" id="{87B74A35-7C20-4198-9E32-1000BDE6CDA0}"/>
              </a:ext>
            </a:extLst>
          </p:cNvPr>
          <p:cNvSpPr>
            <a:spLocks xmlns:a="http://schemas.openxmlformats.org/drawingml/2006/main" noGrp="1"/>
          </p:cNvSpPr>
          <p:nvPr/>
        </p:nvSpPr>
        <p:spPr>
          <a:xfrm xmlns:a="http://schemas.openxmlformats.org/drawingml/2006/main">
            <a:off x="571500" y="149542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xmlns:a="http://schemas.openxmlformats.org/drawingml/2006/main">
              <a:ext uri="{FF2B5EF4-FFF2-40B4-BE49-F238E27FC236}">
                <a16:creationId xmlns:a16="http://schemas.microsoft.com/office/drawing/2014/main" id="{CC929D33-4A1F-419A-BE0F-863450922C01}"/>
              </a:ext>
            </a:extLst>
          </p:cNvPr>
          <p:cNvSpPr>
            <a:spLocks xmlns:a="http://schemas.openxmlformats.org/drawingml/2006/main" noGrp="1"/>
          </p:cNvSpPr>
          <p:nvPr/>
        </p:nvSpPr>
        <p:spPr>
          <a:xfrm xmlns:a="http://schemas.openxmlformats.org/drawingml/2006/main">
            <a:off x="571500" y="220027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Overall self-check: 488 matched questions  |  Cross-check: 63 selected initial errors</a:t>
            </a:r>
          </a:p>
        </p:txBody>
      </p:sp>
      <p:pic>
        <p:nvPicPr>
          <p:cNvPr id="22" name="Picture 19"/>
          <p:cNvPicPr>
            <a:picLocks xmlns:a="http://schemas.openxmlformats.org/drawingml/2006/main" noChangeAspect="1"/>
          </p:cNvPicPr>
          <p:nvPr/>
        </p:nvPicPr>
        <p:blipFill>
          <a:blip xmlns:r="http://schemas.openxmlformats.org/officeDocument/2006/relationships" xmlns:a="http://schemas.openxmlformats.org/drawingml/2006/main" r:embed="Rc4f4e39f14ca4983"/>
          <a:srcRect xmlns:a="http://schemas.openxmlformats.org/drawingml/2006/main" l="0" t="663" r="0" b="663"/>
          <a:stretch xmlns:a="http://schemas.openxmlformats.org/drawingml/2006/main">
            <a:fillRect l="0" t="0" r="0" b="0"/>
          </a:stretch>
        </p:blipFill>
        <p:spPr>
          <a:xfrm xmlns:a="http://schemas.openxmlformats.org/drawingml/2006/main">
            <a:off x="571500" y="2457450"/>
            <a:ext cx="11049000" cy="2952750"/>
          </a:xfrm>
          <a:prstGeom xmlns:a="http://schemas.openxmlformats.org/drawingml/2006/main" prst="rect">
            <a:avLst/>
          </a:prstGeom>
        </p:spPr>
      </p:pic>
      <p:sp>
        <p:nvSpPr>
          <p:cNvPr id="11" name="Final answer">
            <a:extLst xmlns:a="http://schemas.openxmlformats.org/drawingml/2006/main">
              <a:ext uri="{FF2B5EF4-FFF2-40B4-BE49-F238E27FC236}">
                <a16:creationId xmlns:a16="http://schemas.microsoft.com/office/drawing/2014/main" id="{594F0221-0095-42A1-AB65-03A44E0D940A}"/>
              </a:ext>
            </a:extLst>
          </p:cNvPr>
          <p:cNvSpPr>
            <a:spLocks xmlns:a="http://schemas.openxmlformats.org/drawingml/2006/main" noGrp="1"/>
          </p:cNvSpPr>
          <p:nvPr/>
        </p:nvSpPr>
        <p:spPr>
          <a:xfrm xmlns:a="http://schemas.openxmlformats.org/drawingml/2006/main">
            <a:off x="571500" y="55340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Overall: 66/488 → 42/488 wrong after self-check. Selected initial errors: 63/63 → 8/63 wrong after cross-check.</a:t>
            </a:r>
          </a:p>
        </p:txBody>
      </p:sp>
      <p:sp>
        <p:nvSpPr>
          <p:cNvPr id="12" name="Evidence boundary">
            <a:extLst xmlns:a="http://schemas.openxmlformats.org/drawingml/2006/main">
              <a:ext uri="{FF2B5EF4-FFF2-40B4-BE49-F238E27FC236}">
                <a16:creationId xmlns:a16="http://schemas.microsoft.com/office/drawing/2014/main" id="{F77F69EF-2F85-43EA-A6FA-94364F81EF34}"/>
              </a:ext>
            </a:extLst>
          </p:cNvPr>
          <p:cNvSpPr>
            <a:spLocks xmlns:a="http://schemas.openxmlformats.org/drawingml/2006/main" noGrp="1"/>
          </p:cNvSpPr>
          <p:nvPr/>
        </p:nvSpPr>
        <p:spPr>
          <a:xfrm xmlns:a="http://schemas.openxmlformats.org/drawingml/2006/main">
            <a:off x="571500" y="6229350"/>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Cross-check tested initial errors only; 8/63 is not an overall 488-question error rate.</a:t>
            </a:r>
          </a:p>
        </p:txBody>
      </p:sp>
      <p:sp>
        <p:nvSpPr>
          <p:cNvPr id="14" name="Speaker">
            <a:extLst xmlns:a="http://schemas.openxmlformats.org/drawingml/2006/main">
              <a:ext uri="{FF2B5EF4-FFF2-40B4-BE49-F238E27FC236}">
                <a16:creationId xmlns:a16="http://schemas.microsoft.com/office/drawing/2014/main" id="{C456C193-0CC5-4B81-B0B7-75F6727791E8}"/>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xmlns:a="http://schemas.openxmlformats.org/drawingml/2006/main">
              <a:ext uri="{FF2B5EF4-FFF2-40B4-BE49-F238E27FC236}">
                <a16:creationId xmlns:a16="http://schemas.microsoft.com/office/drawing/2014/main" id="{1C945F44-49DA-4BBA-BB2E-8D29FD6AAD20}"/>
              </a:ext>
            </a:extLst>
          </p:cNvPr>
          <p:cNvSpPr>
            <a:spLocks xmlns:a="http://schemas.openxmlformats.org/drawingml/2006/main" noGrp="1"/>
          </p:cNvSpPr>
          <p:nvPr/>
        </p:nvSpPr>
        <p:spPr>
          <a:xfrm xmlns:a="http://schemas.openxmlformats.org/drawingml/2006/main">
            <a:off x="571500" y="14954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xmlns:a="http://schemas.openxmlformats.org/drawingml/2006/main">
              <a:ext uri="{FF2B5EF4-FFF2-40B4-BE49-F238E27FC236}">
                <a16:creationId xmlns:a16="http://schemas.microsoft.com/office/drawing/2014/main" id="{3FBAAC63-6A2A-40ED-B612-C42B0F7199E4}"/>
              </a:ext>
            </a:extLst>
          </p:cNvPr>
          <p:cNvSpPr>
            <a:spLocks xmlns:a="http://schemas.openxmlformats.org/drawingml/2006/main" noGrp="1"/>
          </p:cNvSpPr>
          <p:nvPr/>
        </p:nvSpPr>
        <p:spPr>
          <a:xfrm xmlns:a="http://schemas.openxmlformats.org/drawingml/2006/main">
            <a:off x="571500" y="2028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The same 63 initial errors: correction rates and paired outcomes</a:t>
            </a:r>
          </a:p>
        </p:txBody>
      </p:sp>
      <p:sp>
        <p:nvSpPr>
          <p:cNvPr id="16" name="Correction panel heading">
            <a:extLst xmlns:a="http://schemas.openxmlformats.org/drawingml/2006/main">
              <a:ext uri="{FF2B5EF4-FFF2-40B4-BE49-F238E27FC236}">
                <a16:creationId xmlns:a16="http://schemas.microsoft.com/office/drawing/2014/main" id="{E2B4E524-B05B-4B4D-9EE2-BE326011156C}"/>
              </a:ext>
            </a:extLst>
          </p:cNvPr>
          <p:cNvSpPr>
            <a:spLocks xmlns:a="http://schemas.openxmlformats.org/drawingml/2006/main" noGrp="1"/>
          </p:cNvSpPr>
          <p:nvPr/>
        </p:nvSpPr>
        <p:spPr>
          <a:xfrm xmlns:a="http://schemas.openxmlformats.org/drawingml/2006/main">
            <a:off x="571500" y="2362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xmlns:a="http://schemas.openxmlformats.org/drawingml/2006/main">
              <a:ext uri="{FF2B5EF4-FFF2-40B4-BE49-F238E27FC236}">
                <a16:creationId xmlns:a16="http://schemas.microsoft.com/office/drawing/2014/main" id="{45699A03-AAD2-4966-A462-B85D45AE7B4F}"/>
              </a:ext>
            </a:extLst>
          </p:cNvPr>
          <p:cNvSpPr>
            <a:spLocks xmlns:a="http://schemas.openxmlformats.org/drawingml/2006/main" noGrp="1"/>
          </p:cNvSpPr>
          <p:nvPr/>
        </p:nvSpPr>
        <p:spPr>
          <a:xfrm xmlns:a="http://schemas.openxmlformats.org/drawingml/2006/main">
            <a:off x="6429375" y="2362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Paired outcomes on 63 questions</a:t>
            </a:r>
          </a:p>
        </p:txBody>
      </p:sp>
      <p:pic>
        <p:nvPicPr>
          <p:cNvPr id="35" name="Picture 32"/>
          <p:cNvPicPr>
            <a:picLocks xmlns:a="http://schemas.openxmlformats.org/drawingml/2006/main" noChangeAspect="1"/>
          </p:cNvPicPr>
          <p:nvPr/>
        </p:nvPicPr>
        <p:blipFill>
          <a:blip xmlns:r="http://schemas.openxmlformats.org/officeDocument/2006/relationships" xmlns:a="http://schemas.openxmlformats.org/drawingml/2006/main" r:embed="R5fd4dfab32a4414d"/>
          <a:srcRect xmlns:a="http://schemas.openxmlformats.org/drawingml/2006/main" l="0" t="14" r="0" b="14"/>
          <a:stretch xmlns:a="http://schemas.openxmlformats.org/drawingml/2006/main">
            <a:fillRect l="0" t="0" r="0" b="0"/>
          </a:stretch>
        </p:blipFill>
        <p:spPr>
          <a:xfrm xmlns:a="http://schemas.openxmlformats.org/drawingml/2006/main">
            <a:off x="571500" y="2686050"/>
            <a:ext cx="5238750" cy="2837656"/>
          </a:xfrm>
          <a:prstGeom xmlns:a="http://schemas.openxmlformats.org/drawingml/2006/main" prst="rect">
            <a:avLst/>
          </a:prstGeom>
        </p:spPr>
      </p:pic>
      <p:pic>
        <p:nvPicPr>
          <p:cNvPr id="36" name="Picture 33"/>
          <p:cNvPicPr>
            <a:picLocks xmlns:a="http://schemas.openxmlformats.org/drawingml/2006/main" noChangeAspect="1"/>
          </p:cNvPicPr>
          <p:nvPr/>
        </p:nvPicPr>
        <p:blipFill>
          <a:blip xmlns:r="http://schemas.openxmlformats.org/officeDocument/2006/relationships" xmlns:a="http://schemas.openxmlformats.org/drawingml/2006/main" r:embed="R9be6ba2dabb94bf2"/>
          <a:srcRect xmlns:a="http://schemas.openxmlformats.org/drawingml/2006/main" l="0" t="1161" r="0" b="1161"/>
          <a:stretch xmlns:a="http://schemas.openxmlformats.org/drawingml/2006/main">
            <a:fillRect l="0" t="0" r="0" b="0"/>
          </a:stretch>
        </p:blipFill>
        <p:spPr>
          <a:xfrm xmlns:a="http://schemas.openxmlformats.org/drawingml/2006/main">
            <a:off x="6429375" y="2686050"/>
            <a:ext cx="5238750" cy="2837656"/>
          </a:xfrm>
          <a:prstGeom xmlns:a="http://schemas.openxmlformats.org/drawingml/2006/main" prst="rect">
            <a:avLst/>
          </a:prstGeom>
        </p:spPr>
      </p:pic>
      <p:sp>
        <p:nvSpPr>
          <p:cNvPr id="20" name="Final answer">
            <a:extLst xmlns:a="http://schemas.openxmlformats.org/drawingml/2006/main">
              <a:ext uri="{FF2B5EF4-FFF2-40B4-BE49-F238E27FC236}">
                <a16:creationId xmlns:a16="http://schemas.microsoft.com/office/drawing/2014/main" id="{ABF4CDDD-06B0-4416-930E-50327B42944A}"/>
              </a:ext>
            </a:extLst>
          </p:cNvPr>
          <p:cNvSpPr>
            <a:spLocks xmlns:a="http://schemas.openxmlformats.org/drawingml/2006/main" noGrp="1"/>
          </p:cNvSpPr>
          <p:nvPr/>
        </p:nvSpPr>
        <p:spPr>
          <a:xfrm xmlns:a="http://schemas.openxmlformats.org/drawingml/2006/main">
            <a:off x="571500" y="56578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more initial errors (55 vs 31/63),</a:t>
            </a:r>
          </a:p>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but no overall best method is established.</a:t>
            </a:r>
          </a:p>
        </p:txBody>
      </p:sp>
      <p:sp>
        <p:nvSpPr>
          <p:cNvPr id="21" name="Evidence boundary">
            <a:extLst xmlns:a="http://schemas.openxmlformats.org/drawingml/2006/main">
              <a:ext uri="{FF2B5EF4-FFF2-40B4-BE49-F238E27FC236}">
                <a16:creationId xmlns:a16="http://schemas.microsoft.com/office/drawing/2014/main" id="{74DBB099-BDDE-4D2E-8023-CD512DBEEFC5}"/>
              </a:ext>
            </a:extLst>
          </p:cNvPr>
          <p:cNvSpPr>
            <a:spLocks xmlns:a="http://schemas.openxmlformats.org/drawingml/2006/main" noGrp="1"/>
          </p:cNvSpPr>
          <p:nvPr/>
        </p:nvSpPr>
        <p:spPr>
          <a:xfrm xmlns:a="http://schemas.openxmlformats.org/drawingml/2006/main">
            <a:off x="571500" y="62769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The full-bank cross-check error rate is unknown because initially correct cases were not tested.</a:t>
            </a:r>
          </a:p>
        </p:txBody>
      </p:sp>
      <p:sp>
        <p:nvSpPr>
          <p:cNvPr id="24" name="Speaker">
            <a:extLst xmlns:a="http://schemas.openxmlformats.org/drawingml/2006/main">
              <a:ext uri="{FF2B5EF4-FFF2-40B4-BE49-F238E27FC236}">
                <a16:creationId xmlns:a16="http://schemas.microsoft.com/office/drawing/2014/main" id="{D32707EA-8896-49DC-B78C-D2E16CD210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xmlns:a="http://schemas.openxmlformats.org/drawingml/2006/main">
              <a:ext uri="{FF2B5EF4-FFF2-40B4-BE49-F238E27FC236}">
                <a16:creationId xmlns:a16="http://schemas.microsoft.com/office/drawing/2014/main" id="{B12E5EFA-276D-4900-9669-3CF08DF36CE0}"/>
              </a:ext>
            </a:extLst>
          </p:cNvPr>
          <p:cNvSpPr>
            <a:spLocks xmlns:a="http://schemas.openxmlformats.org/drawingml/2006/main" noGrp="1"/>
          </p:cNvSpPr>
          <p:nvPr/>
        </p:nvSpPr>
        <p:spPr>
          <a:xfrm xmlns:a="http://schemas.openxmlformats.org/drawingml/2006/main">
            <a:off x="571500" y="14954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xmlns:a="http://schemas.openxmlformats.org/drawingml/2006/main">
              <a:ext uri="{FF2B5EF4-FFF2-40B4-BE49-F238E27FC236}">
                <a16:creationId xmlns:a16="http://schemas.microsoft.com/office/drawing/2014/main" id="{479FD909-7789-42A3-9160-E86537EFA295}"/>
              </a:ext>
            </a:extLst>
          </p:cNvPr>
          <p:cNvSpPr>
            <a:spLocks xmlns:a="http://schemas.openxmlformats.org/drawingml/2006/main" noGrp="1"/>
          </p:cNvSpPr>
          <p:nvPr/>
        </p:nvSpPr>
        <p:spPr>
          <a:xfrm xmlns:a="http://schemas.openxmlformats.org/drawingml/2006/main">
            <a:off x="1314450" y="1495425"/>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xmlns:a="http://schemas.openxmlformats.org/drawingml/2006/main">
              <a:ext uri="{FF2B5EF4-FFF2-40B4-BE49-F238E27FC236}">
                <a16:creationId xmlns:a16="http://schemas.microsoft.com/office/drawing/2014/main" id="{C4FADADF-DA23-431C-AB49-005EC6A44DAB}"/>
              </a:ext>
            </a:extLst>
          </p:cNvPr>
          <p:cNvSpPr>
            <a:spLocks xmlns:a="http://schemas.openxmlformats.org/drawingml/2006/main" noGrp="1"/>
          </p:cNvSpPr>
          <p:nvPr/>
        </p:nvSpPr>
        <p:spPr>
          <a:xfrm xmlns:a="http://schemas.openxmlformats.org/drawingml/2006/main">
            <a:off x="571500" y="1943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xmlns:a="http://schemas.openxmlformats.org/drawingml/2006/main">
              <a:ext uri="{FF2B5EF4-FFF2-40B4-BE49-F238E27FC236}">
                <a16:creationId xmlns:a16="http://schemas.microsoft.com/office/drawing/2014/main" id="{5780F438-8BBC-44F6-ADA1-B2E19C219FBA}"/>
              </a:ext>
            </a:extLst>
          </p:cNvPr>
          <p:cNvSpPr>
            <a:spLocks xmlns:a="http://schemas.openxmlformats.org/drawingml/2006/main" noGrp="1"/>
          </p:cNvSpPr>
          <p:nvPr/>
        </p:nvSpPr>
        <p:spPr>
          <a:xfrm xmlns:a="http://schemas.openxmlformats.org/drawingml/2006/main">
            <a:off x="1314450" y="1943100"/>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xmlns:a="http://schemas.openxmlformats.org/drawingml/2006/main">
              <a:ext uri="{FF2B5EF4-FFF2-40B4-BE49-F238E27FC236}">
                <a16:creationId xmlns:a16="http://schemas.microsoft.com/office/drawing/2014/main" id="{EC09E890-DB11-4298-8EE6-E6674C050C5A}"/>
              </a:ext>
            </a:extLst>
          </p:cNvPr>
          <p:cNvSpPr>
            <a:spLocks xmlns:a="http://schemas.openxmlformats.org/drawingml/2006/main" noGrp="1"/>
          </p:cNvSpPr>
          <p:nvPr/>
        </p:nvSpPr>
        <p:spPr>
          <a:xfrm xmlns:a="http://schemas.openxmlformats.org/drawingml/2006/main">
            <a:off x="571500" y="2409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68 initially correct answers: scripted post-answer AI advice vs user challenge</a:t>
            </a:r>
          </a:p>
        </p:txBody>
      </p:sp>
      <p:pic>
        <p:nvPicPr>
          <p:cNvPr id="41" name="Picture 38"/>
          <p:cNvPicPr>
            <a:picLocks xmlns:a="http://schemas.openxmlformats.org/drawingml/2006/main" noChangeAspect="1"/>
          </p:cNvPicPr>
          <p:nvPr/>
        </p:nvPicPr>
        <p:blipFill>
          <a:blip xmlns:r="http://schemas.openxmlformats.org/officeDocument/2006/relationships" xmlns:a="http://schemas.openxmlformats.org/drawingml/2006/main" r:embed="R69d163513d514eb7"/>
          <a:srcRect xmlns:a="http://schemas.openxmlformats.org/drawingml/2006/main" l="26" t="0" r="26" b="0"/>
          <a:stretch xmlns:a="http://schemas.openxmlformats.org/drawingml/2006/main">
            <a:fillRect l="0" t="0" r="0" b="0"/>
          </a:stretch>
        </p:blipFill>
        <p:spPr>
          <a:xfrm xmlns:a="http://schemas.openxmlformats.org/drawingml/2006/main">
            <a:off x="381000" y="2790825"/>
            <a:ext cx="7239000" cy="3016250"/>
          </a:xfrm>
          <a:prstGeom xmlns:a="http://schemas.openxmlformats.org/drawingml/2006/main" prst="rect">
            <a:avLst/>
          </a:prstGeom>
        </p:spPr>
      </p:pic>
      <p:sp>
        <p:nvSpPr>
          <p:cNvPr id="22" name="AI answer heading">
            <a:extLst xmlns:a="http://schemas.openxmlformats.org/drawingml/2006/main">
              <a:ext uri="{FF2B5EF4-FFF2-40B4-BE49-F238E27FC236}">
                <a16:creationId xmlns:a16="http://schemas.microsoft.com/office/drawing/2014/main" id="{1C29F0CA-BA07-48E2-86B1-A2FF2F40F4F8}"/>
              </a:ext>
            </a:extLst>
          </p:cNvPr>
          <p:cNvSpPr>
            <a:spLocks xmlns:a="http://schemas.openxmlformats.org/drawingml/2006/main" noGrp="1"/>
          </p:cNvSpPr>
          <p:nvPr/>
        </p:nvSpPr>
        <p:spPr>
          <a:xfrm xmlns:a="http://schemas.openxmlformats.org/drawingml/2006/main">
            <a:off x="8001000" y="27146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endParaRPr sz="1875" b="1">
              <a:solidFill>
                <a:srgbClr val="128A83"/>
              </a:solidFill>
              <a:latin typeface="Helvetica Neue"/>
              <a:ea typeface="Helvetica Neue"/>
              <a:cs typeface="Helvetica Neue"/>
            </a:endParaRPr>
          </a:p>
        </p:txBody>
      </p:sp>
      <p:sp>
        <p:nvSpPr>
          <p:cNvPr id="23" name="AI answer">
            <a:extLst xmlns:a="http://schemas.openxmlformats.org/drawingml/2006/main">
              <a:ext uri="{FF2B5EF4-FFF2-40B4-BE49-F238E27FC236}">
                <a16:creationId xmlns:a16="http://schemas.microsoft.com/office/drawing/2014/main" id="{09656526-B146-484B-8FB3-20C36EACD045}"/>
              </a:ext>
            </a:extLst>
          </p:cNvPr>
          <p:cNvSpPr>
            <a:spLocks xmlns:a="http://schemas.openxmlformats.org/drawingml/2006/main" noGrp="1"/>
          </p:cNvSpPr>
          <p:nvPr/>
        </p:nvSpPr>
        <p:spPr>
          <a:xfrm xmlns:a="http://schemas.openxmlformats.org/drawingml/2006/main">
            <a:off x="8001000" y="3124200"/>
            <a:ext cx="361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endParaRPr sz="1575" b="0">
              <a:solidFill>
                <a:srgbClr val="17324D"/>
              </a:solidFill>
              <a:latin typeface="Helvetica Neue"/>
              <a:ea typeface="Helvetica Neue"/>
              <a:cs typeface="Helvetica Neue"/>
            </a:endParaRPr>
          </a:p>
        </p:txBody>
      </p:sp>
      <p:sp>
        <p:nvSpPr>
          <p:cNvPr id="26" name="Final answer">
            <a:extLst xmlns:a="http://schemas.openxmlformats.org/drawingml/2006/main">
              <a:ext uri="{FF2B5EF4-FFF2-40B4-BE49-F238E27FC236}">
                <a16:creationId xmlns:a16="http://schemas.microsoft.com/office/drawing/2014/main" id="{1499F98E-E0DD-428E-A137-D684789C02EF}"/>
              </a:ext>
            </a:extLst>
          </p:cNvPr>
          <p:cNvSpPr>
            <a:spLocks xmlns:a="http://schemas.openxmlformats.org/drawingml/2006/main" noGrp="1"/>
          </p:cNvSpPr>
          <p:nvPr/>
        </p:nvSpPr>
        <p:spPr>
          <a:xfrm xmlns:a="http://schemas.openxmlformats.org/drawingml/2006/main">
            <a:off x="571500" y="5895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possible in one verified case. RQ4: 10/68 induced errors in this selected sample.</a:t>
            </a:r>
          </a:p>
        </p:txBody>
      </p:sp>
      <p:sp>
        <p:nvSpPr>
          <p:cNvPr id="27" name="Evidence boundary">
            <a:extLst xmlns:a="http://schemas.openxmlformats.org/drawingml/2006/main">
              <a:ext uri="{FF2B5EF4-FFF2-40B4-BE49-F238E27FC236}">
                <a16:creationId xmlns:a16="http://schemas.microsoft.com/office/drawing/2014/main" id="{2E6C0291-2E1B-4AC3-9DF6-95FA2201D554}"/>
              </a:ext>
            </a:extLst>
          </p:cNvPr>
          <p:cNvSpPr>
            <a:spLocks xmlns:a="http://schemas.openxmlformats.org/drawingml/2006/main" noGrp="1"/>
          </p:cNvSpPr>
          <p:nvPr/>
        </p:nvSpPr>
        <p:spPr>
          <a:xfrm xmlns:a="http://schemas.openxmlformats.org/drawingml/2006/main">
            <a:off x="5715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Scripted advice/challenge tested 68 selected correct cases; full-bank final error rates were not measured.</a:t>
            </a:r>
          </a:p>
        </p:txBody>
      </p:sp>
      <p:sp>
        <p:nvSpPr>
          <p:cNvPr id="29" name="Speaker">
            <a:extLst xmlns:a="http://schemas.openxmlformats.org/drawingml/2006/main">
              <a:ext uri="{FF2B5EF4-FFF2-40B4-BE49-F238E27FC236}">
                <a16:creationId xmlns:a16="http://schemas.microsoft.com/office/drawing/2014/main" id="{1419630A-9C8C-4357-A6FE-14FC810013A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xmlns:a="http://schemas.openxmlformats.org/drawingml/2006/main">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pic>
        <p:nvPicPr>
          <p:cNvPr id="47" name="Picture 4"/>
          <p:cNvPicPr>
            <a:picLocks xmlns:a="http://schemas.openxmlformats.org/drawingml/2006/main" noChangeAspect="1"/>
          </p:cNvPicPr>
          <p:nvPr/>
        </p:nvPicPr>
        <p:blipFill>
          <a:blip xmlns:r="http://schemas.openxmlformats.org/officeDocument/2006/relationships" xmlns:a="http://schemas.openxmlformats.org/drawingml/2006/main" r:embed="R453530ce078f4fea"/>
          <a:stretch xmlns:a="http://schemas.openxmlformats.org/drawingml/2006/main">
            <a:fillRect l="0" t="0" r="0" b="0"/>
          </a:stretch>
        </p:blipFill>
        <p:spPr>
          <a:xfrm xmlns:a="http://schemas.openxmlformats.org/drawingml/2006/main">
            <a:off x="7501683" y="2846635"/>
            <a:ext cx="4118817" cy="2745877"/>
          </a:xfrm>
          <a:prstGeom xmlns:a="http://schemas.openxmlformats.org/drawingml/2006/main" prst="rect">
            <a:avLst/>
          </a:prstGeom>
        </p:spPr>
      </p:pic>
    </p:spTree>
    <p:extLst>
      <p:ext uri="{BB962C8B-B14F-4D97-AF65-F5344CB8AC3E}">
        <p14:creationId xmlns:p14="http://schemas.microsoft.com/office/powerpoint/2010/main" val="64854683"/>
      </p:ext>
    </p:extLst>
  </p:cSld>
</p:sld>
</file>

<file path=ppt/slides/slide2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Cross-checking on all initial answers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sld>
</file>

<file path=ppt/slides/slide2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mlns:a="http://schemas.openxmlformats.org/drawingml/2006/main" x="571500" y="1619250"/>
          <a:ext xmlns:a="http://schemas.openxmlformats.org/drawingml/2006/main" cx="11049000" cy="3209928"/>
        </p:xfrm>
        <a:graphic xmlns:a="http://schemas.openxmlformats.org/drawingml/2006/main">
          <a:graphicData uri="http://schemas.openxmlformats.org/drawingml/2006/table">
            <a:tbl>
              <a:tblPr/>
              <a:tblGrid>
                <a:gridCol w="4000500"/>
                <a:gridCol w="7048500"/>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67690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xmlns:a="http://schemas.openxmlformats.org/drawingml/2006/main">
              <a:ext uri="{FF2B5EF4-FFF2-40B4-BE49-F238E27FC236}">
                <a16:creationId xmlns:a16="http://schemas.microsoft.com/office/drawing/2014/main" id="{F6F877BE-0EE4-4CD2-8FFA-4C514EE9793E}"/>
              </a:ext>
            </a:extLst>
          </p:cNvPr>
          <p:cNvSpPr>
            <a:spLocks xmlns:a="http://schemas.openxmlformats.org/drawingml/2006/main" noGrp="1"/>
          </p:cNvSpPr>
          <p:nvPr/>
        </p:nvSpPr>
        <p:spPr>
          <a:xfrm xmlns:a="http://schemas.openxmlformats.org/drawingml/2006/main">
            <a:off x="571500" y="50196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xmlns:a="http://schemas.openxmlformats.org/drawingml/2006/main">
              <a:ext uri="{FF2B5EF4-FFF2-40B4-BE49-F238E27FC236}">
                <a16:creationId xmlns:a16="http://schemas.microsoft.com/office/drawing/2014/main" id="{3E51B9A2-4BE1-4618-87F8-B788CE829DE6}"/>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sld>
</file>

<file path=ppt/slides/slide2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Cross-check</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xmlns:a="http://schemas.openxmlformats.org/drawingml/2006/main">
              <a:ext uri="{FF2B5EF4-FFF2-40B4-BE49-F238E27FC236}">
                <a16:creationId xmlns:a16="http://schemas.microsoft.com/office/drawing/2014/main" id="{383EBBE7-6C15-48FE-BA79-6E6707B7E2E7}"/>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sld>
</file>

<file path=ppt/slides/slide2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xmlns:a="http://schemas.openxmlformats.org/drawingml/2006/main">
              <a:ext uri="{FF2B5EF4-FFF2-40B4-BE49-F238E27FC236}">
                <a16:creationId xmlns:a16="http://schemas.microsoft.com/office/drawing/2014/main" id="{FE9CA4B3-E655-4C2E-9C14-6939F3C43830}"/>
              </a:ext>
            </a:extLst>
          </p:cNvPr>
          <p:cNvSpPr>
            <a:spLocks xmlns:a="http://schemas.openxmlformats.org/drawingml/2006/main" noGrp="1"/>
          </p:cNvSpPr>
          <p:nvPr/>
        </p:nvSpPr>
        <p:spPr>
          <a:xfrm xmlns:a="http://schemas.openxmlformats.org/drawingml/2006/main">
            <a:off x="571500" y="1519237"/>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 are not reliable because they are making mistakes.</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p>
        </p:txBody>
      </p:sp>
      <p:sp>
        <p:nvSpPr>
          <p:cNvPr id="24" name="Consequences heading">
            <a:extLst xmlns:a="http://schemas.openxmlformats.org/drawingml/2006/main">
              <a:ext uri="{FF2B5EF4-FFF2-40B4-BE49-F238E27FC236}">
                <a16:creationId xmlns:a16="http://schemas.microsoft.com/office/drawing/2014/main" id="{F9028199-D210-44FC-84CA-47EB82BCF6AB}"/>
              </a:ext>
            </a:extLst>
          </p:cNvPr>
          <p:cNvSpPr>
            <a:spLocks xmlns:a="http://schemas.openxmlformats.org/drawingml/2006/main" noGrp="1"/>
          </p:cNvSpPr>
          <p:nvPr/>
        </p:nvSpPr>
        <p:spPr>
          <a:xfrm xmlns:a="http://schemas.openxmlformats.org/drawingml/2006/main">
            <a:off x="571500" y="2762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xmlns:a="http://schemas.openxmlformats.org/drawingml/2006/main">
              <a:ext uri="{FF2B5EF4-FFF2-40B4-BE49-F238E27FC236}">
                <a16:creationId xmlns:a16="http://schemas.microsoft.com/office/drawing/2014/main" id="{03C87E14-6764-4DDA-8FFA-7FCB97F83CB3}"/>
              </a:ext>
            </a:extLst>
          </p:cNvPr>
          <p:cNvSpPr>
            <a:spLocks xmlns:a="http://schemas.openxmlformats.org/drawingml/2006/main" noGrp="1"/>
          </p:cNvSpPr>
          <p:nvPr/>
        </p:nvSpPr>
        <p:spPr>
          <a:xfrm xmlns:a="http://schemas.openxmlformats.org/drawingml/2006/main">
            <a:off x="1047750" y="3181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xmlns:a="http://schemas.openxmlformats.org/drawingml/2006/main">
              <a:ext uri="{FF2B5EF4-FFF2-40B4-BE49-F238E27FC236}">
                <a16:creationId xmlns:a16="http://schemas.microsoft.com/office/drawing/2014/main" id="{04FDAC62-8753-47F1-80D9-47AD774694B4}"/>
              </a:ext>
            </a:extLst>
          </p:cNvPr>
          <p:cNvSpPr>
            <a:spLocks xmlns:a="http://schemas.openxmlformats.org/drawingml/2006/main" noGrp="1"/>
          </p:cNvSpPr>
          <p:nvPr/>
        </p:nvSpPr>
        <p:spPr>
          <a:xfrm xmlns:a="http://schemas.openxmlformats.org/drawingml/2006/main">
            <a:off x="571500" y="37719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xmlns:a="http://schemas.openxmlformats.org/drawingml/2006/main">
              <a:ext uri="{FF2B5EF4-FFF2-40B4-BE49-F238E27FC236}">
                <a16:creationId xmlns:a16="http://schemas.microsoft.com/office/drawing/2014/main" id="{95FEB276-D85A-4289-982C-F68E971F14D0}"/>
              </a:ext>
            </a:extLst>
          </p:cNvPr>
          <p:cNvSpPr>
            <a:spLocks xmlns:a="http://schemas.openxmlformats.org/drawingml/2006/main" noGrp="1"/>
          </p:cNvSpPr>
          <p:nvPr/>
        </p:nvSpPr>
        <p:spPr>
          <a:xfrm xmlns:a="http://schemas.openxmlformats.org/drawingml/2006/main">
            <a:off x="104775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xmlns:a="http://schemas.openxmlformats.org/drawingml/2006/main">
              <a:ext uri="{FF2B5EF4-FFF2-40B4-BE49-F238E27FC236}">
                <a16:creationId xmlns:a16="http://schemas.microsoft.com/office/drawing/2014/main" id="{11FEFB7D-E423-4090-8BE2-2070EDA48C80}"/>
              </a:ext>
            </a:extLst>
          </p:cNvPr>
          <p:cNvSpPr>
            <a:spLocks xmlns:a="http://schemas.openxmlformats.org/drawingml/2006/main" noGrp="1"/>
          </p:cNvSpPr>
          <p:nvPr/>
        </p:nvSpPr>
        <p:spPr>
          <a:xfrm xmlns:a="http://schemas.openxmlformats.org/drawingml/2006/main">
            <a:off x="571500" y="4781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xmlns:a="http://schemas.openxmlformats.org/drawingml/2006/main">
              <a:ext uri="{FF2B5EF4-FFF2-40B4-BE49-F238E27FC236}">
                <a16:creationId xmlns:a16="http://schemas.microsoft.com/office/drawing/2014/main" id="{D4EED00A-24DC-417D-A94E-2D3959D5456A}"/>
              </a:ext>
            </a:extLst>
          </p:cNvPr>
          <p:cNvSpPr>
            <a:spLocks xmlns:a="http://schemas.openxmlformats.org/drawingml/2006/main" noGrp="1"/>
          </p:cNvSpPr>
          <p:nvPr/>
        </p:nvSpPr>
        <p:spPr>
          <a:xfrm xmlns:a="http://schemas.openxmlformats.org/drawingml/2006/main">
            <a:off x="1047750" y="5200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xmlns:a="http://schemas.openxmlformats.org/drawingml/2006/main">
              <a:ext uri="{FF2B5EF4-FFF2-40B4-BE49-F238E27FC236}">
                <a16:creationId xmlns:a16="http://schemas.microsoft.com/office/drawing/2014/main" id="{4EF8D7E5-79E8-4B0C-87EE-9B050000E36E}"/>
              </a:ext>
            </a:extLst>
          </p:cNvPr>
          <p:cNvSpPr>
            <a:spLocks xmlns:a="http://schemas.openxmlformats.org/drawingml/2006/main" noGrp="1"/>
          </p:cNvSpPr>
          <p:nvPr/>
        </p:nvSpPr>
        <p:spPr>
          <a:xfrm xmlns:a="http://schemas.openxmlformats.org/drawingml/2006/main">
            <a:off x="571500" y="5981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2026-10-07T07:14:07.3460000Z</dcterms:created>
  <dcterms:modified xsi:type="dcterms:W3CDTF">2026-10-07T07:14:07.3460000Z</dcterms:modified>
</coreProperties>
</file>