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 Can double-checking reduce AI error rates?</a:t>
            </a:r>
          </a:p>
          <a:p>
            <a:r>
              <a:t>RQ2: Which double-checking method is most effective in practice?</a:t>
            </a:r>
          </a:p>
          <a:p>
            <a:r>
              <a:t>RQ3: Can an incorrect peer answer mislead an initially correct model during cross-checking?</a:t>
            </a:r>
          </a:p>
          <a:p>
            <a:r>
              <a:t>RQ4: Can misleading user input cause an otherwise correct model to give a wrong answer?</a:t>
            </a:r>
          </a:p>
          <a:p>
            <a:endParaRPr/>
          </a:p>
          <a:p>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Related work: Wang et al., Self-Consistency Improves Chain of Thought Reasoning in Language Models, ICLR 2023, https://arxiv.org/abs/2203.11171. Huang et al., Large Language Models Cannot Self-Correct Reasoning Yet, ICLR 2024, https://arxiv.org/abs/2310.01798. Dhuliawala et al., Chain-of-Verification Reduces Hallucination in Large Language Models, Findings ACL 2024, https://aclanthology.org/2024.findings-acl.212/. Sharma et al., Towards Understanding Sycophancy in Language Models, https://arxiv.org/abs/2310.13548. These methods motivate the project; self-consistency voting and Chain-of-Verification are not separately tested conditions.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research positioning map adapted from the two-axis competitive positioning map / perceptual map format. Diagram format reference: https://www.shopify.com/blog/competitive-positioning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https://arxiv.org/abs/2203.11171 : samples multiple reasoning paths and selects consistent answers, not the identical neutral self-check used here. Dhuliawala et al. (Findings ACL 2024), https://aclanthology.org/2024.findings-acl.212/ : draft, verification questions, independent model answers and final revision, not a separately tested condition in this experiment. Huang et al. (ICLR 2024), https://arxiv.org/abs/2310.01798 : intrinsic self-correction without external feedback can fail or degrade performance. Du et al. (ICML 2024), https://proceedings.mlr.press/v235/du24e.html : multiple model instances debate answers and reasoning over multiple rounds, distinct from our single incoming real peer reply. Sharma et al. (arXiv 2023), https://arxiv.org/abs/2310.13548 : examines models agreeing with stated user beliefs and human preferences. These papers support the broad classifications; the spatial placement is our interpretation.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Bank composition: 280 source UGMathBench numeric items, 214 Hendrycks MATH test level 3–4 numeric items, 3 local MATH1013 exam questions and 3 local workbook statistics questions. These are not 500 HKU exam questions. M1 has 423 correct, 70 wrong, 5 ambiguous prompts and 2 unscorable responses after four flagged continuations; original single-request budget had 419 correct, 70 wrong and 4 technical incompletes. M2 has 446 correct, 42 wrong, 1 unscorable and 4 technical answers. Task counts are not scored denominators. Seven completed supplemental M2 tasks bring coverage to 500 unique IDs, but add no M1/M2 scoreable pairs because those M1 endpoints were unscorable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a:endParaRPr/>
          </a:p>
          <a:p>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a:p>
          <a:p>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a:p>
          <a:p>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a:p>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a:endParaRPr/>
          </a:p>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a:r>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technical/ambiguous/unscorable endpoints stay excluded.</a:t>
            </a:r>
          </a:p>
          <a:p>
            <a:endParaRPr/>
          </a:p>
          <a:p>
            <a:r>
              <a:t>The four research questions remain the user-approved broad questions. This slide lists the narrower tests available in the revised math bank. RQ2 cannot rank methods overall because cross-check was restricted to initially wrong answers. RQ3 uses scripted AI advice as a proxy; it does not directly test an incorrect independent peer reply given to an initially correct MiniMax answer. RQ4 uses a scripted post-answer user challenge.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unscorable and four technical outputs. Exact paired McNemar p=0.000182; result describes this selected bank and prompt.</a:t>
            </a:r>
          </a:p>
          <a:p>
            <a:r>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a:endParaRPr/>
          </a:p>
          <a:p>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a:p>
          <a:p>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a:p>
          <a:p>
            <a:r>
              <a:t>New paired R charts show the same 63 initially wrong questions. Their initial wrong-answer rate is 63/63=100% by selection; self-check ends wrong on 32/63 and DeepSeek cross-check on 8/63. Correction is 31/63 and 55/63, respectively. This is not an overall cross-check error rate for the 500-question bank, because initially correct questions were not sent through the cross-check branch.</a:t>
            </a:r>
          </a:p>
          <a:p>
            <a:endParaRPr/>
          </a:p>
          <a:p>
            <a:r>
              <a:t>Denominator clarification: the left chart is the 488 same-question, scorable initial/self-check pairs (66 vs 42 wrong). The right chart is correction among 63 initially wrong questions with scoreable self-check and cross-check replies (31 vs 55 corrected). No observed full-bank cross-check error rate exists because initially correct answers did not receive that branch.</a:t>
            </a:r>
          </a:p>
          <a:p>
            <a:endParaRPr/>
          </a:p>
          <a:p>
            <a:r>
              <a:t>Clarification requested by the presenter: the red chart denominator is all 493 scoreable initial answers. The 63 initially wrong selected cases received follow-ups; the other 430 answers keep their observed initial status. Therefore the reconstructed bank totals are initial 70 wrong, self-check 7 unchanged wrong plus 32 remaining wrong = 39, and cross-check 7 plus 8 = 15. These are illustrative retrospective partial-intervention rates, not observed rates after sending every question to both methods. Selecting questions by known initial error is not an available deployment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joins the active 70-case wrong_agent roster with M2 on question_id.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unscorable pair excluded. M2 1/69=1.45%; M3 0/69=0%. The archived decimal-slip case OPT500_299 is excluded from this active roster and its raw records remain untouched. Zero observed induced errors or adoptions does not prove immunity and does not estimate natural DeepSeek risk.</a:t>
            </a:r>
          </a:p>
          <a:p>
            <a:endParaRPr/>
          </a:p>
          <a:p>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a:p>
          <a:p>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question_id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unscorable records are excluded. Sources and aggregate chart values are recorded in the accompanying R output.</a:t>
            </a:r>
          </a:p>
          <a:p>
            <a:endParaRPr/>
          </a:p>
          <a:p>
            <a:r>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a:p>
            <a:endParaRPr/>
          </a:p>
          <a:p>
            <a:r>
              <a:t>All 68 cases had correct MiniMax initial answers and were selected for the misleading-condition comparison. Self-check wrong 1/68, scripted AI advice wrong 0/68, scripted user challenge wrong 10/68. These are observed rates on the selected 68 only, not overall post-condition rates out of 493.</a:t>
            </a:r>
          </a:p>
          <a:p>
            <a:endParaRPr/>
          </a:p>
          <a:p>
            <a:r>
              <a:t>Figure update: the chart now shows new wrong answers after each parallel follow-up on the same 68 initially correct cases. It uses a zero-based count axis, so differences of 0, 1, and 10 are visible. The 493-denominator labels are retrospective partial-rollout totals: 70 initial errors plus the branch's new errors, assuming all other 425 answers retain their initial status. They are not observed 493-question interventions.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a:endParaRPr/>
          </a:p>
          <a:p>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a:p>
          <a:p>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a:p>
          <a:p>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research question: Can double-checking reduce AI error rates?</a:t>
            </a:r>
          </a:p>
          <a:p>
            <a:endParaRPr/>
          </a:p>
          <a:p>
            <a:r>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a:endParaRPr/>
          </a:p>
          <a:p>
            <a:r>
              <a:t>The RQ1 chart is the overall same-question initial versus self-check comparison. The conditional cross-check result on 63 selected initial errors is presented separately on the next slide and cannot be appended as a 488-question cross-check rate.</a:t>
            </a:r>
          </a:p>
          <a:p>
            <a:endParaRPr/>
          </a:p>
          <a:p>
            <a:r>
              <a:t>The revised RQ1 visual deliberately uses two panels. Overall matched N=488: initial 66 wrong (13.52%), self-check 42 wrong (8.61%). Selected initial-error N=63: initial 63 wrong (100% by selection), self-check 32 wrong (50.79%), cross-check 8 wrong (12.70%). Cross-check was not run on the 488-question full bank, so its 8/63 rate is conditional and must not be read as an overall error rate.</a:t>
            </a:r>
          </a:p>
          <a:p>
            <a:endParaRPr/>
          </a:p>
          <a:p>
            <a:r>
              <a:t>The left panel is the observed same-question self-check comparison on 488 scorable pairs. The right panel is a retrospective partial-intervention calculation on the 493 scoreable initial answers: check only the 63 known initial errors and hold all other initial answers fixed. Its 15/493 is not an empirical error rate from cross-checking all 493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research question: Which double-checking method is most effective in practice?</a:t>
            </a:r>
          </a:p>
          <a:p>
            <a:r>
              <a:t>This study does not identify the most effective method overall; its cross-check branch selected only initially wrong answers.</a:t>
            </a:r>
          </a:p>
          <a:p>
            <a:endParaRPr/>
          </a:p>
          <a:p>
            <a:r>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MiniMax answer independently, C1 additionally sees the actual DeepSeek answer and reasoning. This targeted sample cannot estimate overall C1 error rate on500 questions or risk on initially correct answers.</a:t>
            </a:r>
          </a:p>
          <a:p>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a:endParaRPr/>
          </a:p>
          <a:p>
            <a:r>
              <a:t>Added error-rate panel uses the identical63 initially wrong valid M2/C1 pairs. Self-check has63-31=32 wrong(50.79%);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a:p>
            <a:endParaRPr/>
          </a:p>
          <a:p>
            <a:r>
              <a:t>The left green plot is correction rate: 31/63=49.21% after self-check and 55/63=87.30% after cross-check. The right blue plot shows wrong-answer rate for exactly those selected 63: initial 63/63=100%, self-check 32/63=50.79%, cross-check 8/63=12.70%. The two metrics are complementary on this conditional subset. We cannot rank practical overall effectiveness without running cross-check also on initially correct answers.</a:t>
            </a:r>
          </a:p>
          <a:p>
            <a:endParaRPr/>
          </a:p>
          <a:p>
            <a:r>
              <a:t>Paired outcomes: both self-check and cross-check correct 30/63; only cross-check correct 25/63; only self-check correct 1/63; both wrong 7/63. The 63 cases were selected for being initially wrong. Do not report 8/63 as the overall cross-check error rate.</a:t>
            </a:r>
          </a:p>
          <a:p>
            <a:endParaRPr/>
          </a:p>
          <a:p>
            <a:r>
              <a:t>The left green panel reports correction among 63 known initial errors. The right red panel reports an illustrative 493-question partial rollout: all 430 unselected answers retain their observed initial status, including 7 wrong answers. Thus initial 70/493, self-check 39/493 and cross-check 15/493. It should not be interpreted as asking a model to select errors without a gold answer, nor as cross-checking every question.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research questions: RQ3: Can an incorrect peer answer mislead an initially correct model during cross-checking? RQ4: Can misleading user input cause an otherwise correct model to give a wrong answer?</a:t>
            </a:r>
          </a:p>
          <a:p>
            <a:r>
              <a:t>RQ3 is not directly answered by the revised-bank experiment: its wrong AI advice was researcher-scripted, not an independently generated incorrect peer reply. RQ4 is supported as a possibility by the scripted post-answer user challenge, not by a recruited human participant.</a:t>
            </a:r>
          </a:p>
          <a:p>
            <a:endParaRPr/>
          </a:p>
          <a:p>
            <a:r>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p>
          <a:p>
            <a:endParaRPr/>
          </a:p>
          <a:p>
            <a:r>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p>
          <a:p>
            <a:endParaRPr/>
          </a:p>
          <a:p>
            <a:r>
              <a:t>The user-added interpretation is expressed as an observation limited to the matched68-case sample. All processing and plotting uses R. Explicit abstention counts wrong. Technical/ambiguous/unscorable responses remain excluded. Scores are descriptive AI-assisted semantic evaluations without independent human adjudication. Frozen original records remain unchanged.</a:t>
            </a:r>
          </a:p>
          <a:p>
            <a:endParaRPr/>
          </a:p>
          <a:p>
            <a:r>
              <a:t>RQ3 evidence has two different sources. In the separate historical cross-check Polynomial 11 example, DeepSeek initially answered 20 correctly, a genuinely wrong MiniMax peer answered 24, and DeepSeek adopted 24. That establishes an observed possibility, not a general error rate. The current revised-bank chart is a proxy with researcher-scripted AI advice: 0/68 wrong on the common selected cases. RQ4 uses a researcher-scripted post-answer user challenge on the same 68 selected initially correct cases: 10/68 wrong; neutral self-check 1/68 wrong; scripted AI advice 0/68 wrong. Source identity and wording vary together; this is not a pure source-label causal test.</a:t>
            </a:r>
          </a:p>
          <a:p>
            <a:endParaRPr/>
          </a:p>
          <a:p>
            <a:r>
              <a:t>The 68-case branch provides conditional new-error rates after correct initial answers. Reporting its final wrong counts over 493 would require an untested assumption that all other answers remained unchanged, and would be a hypothetical partial rollout, not an observed full-bank error 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Research links: https://arxiv.org/abs/2203.11171 ; https://arxiv.org/abs/2310.01798 ; https://aclanthology.org/2024.findings-acl.212/ ; https://arxiv.org/abs/2310.13548 . Dataset sources: UGMathBench and Hendrycks MATH test; local contributions are three MATH1013 exam items and three workbook statistics items. Dataset version bindings, source IDs and licenses are preserved in the private source_and_scoring_key_500.csv and source_hashes.csv. Presentation statistics are R-derived from versioned M1–M4 semantic ledgers, with raw-response hashes preserved in the private release.</a:t>
            </a:r>
          </a:p>
          <a:p>
            <a:r>
              <a:t>Additional reference on the positioning map: Du, Y., Li, S., Torralba, A., Tenenbaum, J. B., and Mordatch, I. Improving Factuality and Reasoning in Language Models through Multiagent Debate. ICML 2024, PMLR 235:11733–11763. https://proceedings.mlr.press/v235/du24e.html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a:endParaRPr/>
          </a:p>
          <a:p>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a:endParaRPr/>
          </a:p>
          <a:p>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a:endParaRPr/>
          </a:p>
          <a:p>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closing reflection. About45–60 seconds; skip if time is short. This is a personal perspective, not an additional result of the mathematics experiment.</a:t>
            </a:r>
          </a:p>
          <a:p>
            <a:endParaRPr/>
          </a:p>
          <a:p>
            <a:r>
              <a:t>Suggested English narration:</a:t>
            </a:r>
          </a:p>
          <a:p>
            <a:r>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a:endParaRPr/>
          </a:p>
          <a:p>
            <a:r>
              <a:t>中文讲述参考：</a:t>
            </a:r>
          </a:p>
          <a:p>
            <a:r>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a:endParaRPr/>
          </a:p>
          <a:p>
            <a:r>
              <a:t>Source: user-provided reflection screenshot in this chat, /var/folders/xb/wbhc565s2xgbv6cj84fp81rm0000gn/T/codex-clipboard-129ec71f-d424-4460-995b-4caa86ea052e.png.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ThomasLin070217/claude-codex-collab"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FFFF743-D9C0-4B25-911F-68E6AA149A2C}"/>
              </a:ext>
            </a:extLst>
          </p:cNvPr>
          <p:cNvSpPr>
            <a:spLocks noGrp="1"/>
          </p:cNvSpPr>
          <p:nvPr/>
        </p:nvSpPr>
        <p:spPr>
          <a:xfrm>
            <a:off x="594360" y="1554480"/>
            <a:ext cx="10789920" cy="1600200"/>
          </a:xfrm>
          <a:prstGeom prst="rect">
            <a:avLst/>
          </a:prstGeom>
          <a:noFill/>
          <a:ln w="0">
            <a:noFill/>
          </a:ln>
        </p:spPr>
        <p:txBody>
          <a:bodyPr wrap="square" lIns="0" tIns="0" rIns="0" bIns="0" anchor="ctr">
            <a:noAutofit/>
          </a:bodyPr>
          <a:lstStyle/>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a:ext uri="{FF2B5EF4-FFF2-40B4-BE49-F238E27FC236}">
                <a16:creationId xmlns:a16="http://schemas.microsoft.com/office/drawing/2014/main" id="{FE68179C-EC62-4845-899E-A624243BCB5A}"/>
              </a:ext>
            </a:extLst>
          </p:cNvPr>
          <p:cNvSpPr>
            <a:spLocks noGrp="1"/>
          </p:cNvSpPr>
          <p:nvPr/>
        </p:nvSpPr>
        <p:spPr>
          <a:xfrm>
            <a:off x="594360" y="3383280"/>
            <a:ext cx="10789920" cy="594360"/>
          </a:xfrm>
          <a:prstGeom prst="rect">
            <a:avLst/>
          </a:prstGeom>
          <a:noFill/>
          <a:ln w="0">
            <a:noFill/>
          </a:ln>
        </p:spPr>
        <p:txBody>
          <a:bodyPr wrap="square" lIns="0" tIns="0" rIns="0" bIns="0" anchor="t">
            <a:noAutofit/>
          </a:bodyPr>
          <a:lstStyle/>
          <a:p>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a:ext uri="{FF2B5EF4-FFF2-40B4-BE49-F238E27FC236}">
                <a16:creationId xmlns:a16="http://schemas.microsoft.com/office/drawing/2014/main" id="{DFF37FE1-5E70-478D-9FB0-361469E23270}"/>
              </a:ext>
            </a:extLst>
          </p:cNvPr>
          <p:cNvSpPr>
            <a:spLocks noGrp="1"/>
          </p:cNvSpPr>
          <p:nvPr/>
        </p:nvSpPr>
        <p:spPr>
          <a:xfrm>
            <a:off x="594360" y="4233672"/>
            <a:ext cx="5760720" cy="0"/>
          </a:xfrm>
          <a:prstGeom prst="line">
            <a:avLst/>
          </a:prstGeom>
          <a:noFill/>
          <a:ln w="47625">
            <a:solidFill>
              <a:srgbClr val="147E77"/>
            </a:solidFill>
            <a:prstDash val="solid"/>
          </a:ln>
        </p:spPr>
        <p:txBody>
          <a:bodyPr/>
          <a:lstStyle/>
          <a:p>
            <a:endParaRPr/>
          </a:p>
        </p:txBody>
      </p:sp>
      <p:sp>
        <p:nvSpPr>
          <p:cNvPr id="5" name="Rectangles 4">
            <a:extLst>
              <a:ext uri="{FF2B5EF4-FFF2-40B4-BE49-F238E27FC236}">
                <a16:creationId xmlns:a16="http://schemas.microsoft.com/office/drawing/2014/main" id="{2F285466-3A65-438A-AECB-CF4B489AD9C4}"/>
              </a:ext>
            </a:extLst>
          </p:cNvPr>
          <p:cNvSpPr>
            <a:spLocks noGrp="1"/>
          </p:cNvSpPr>
          <p:nvPr/>
        </p:nvSpPr>
        <p:spPr>
          <a:xfrm>
            <a:off x="594360" y="4663440"/>
            <a:ext cx="8229600" cy="502920"/>
          </a:xfrm>
          <a:prstGeom prst="rect">
            <a:avLst/>
          </a:prstGeom>
          <a:noFill/>
          <a:ln w="0">
            <a:noFill/>
          </a:ln>
        </p:spPr>
        <p:txBody>
          <a:bodyPr wrap="square" lIns="0" tIns="0" rIns="0" bIns="0" anchor="t">
            <a:noAutofit/>
          </a:bodyPr>
          <a:lstStyle/>
          <a:p>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and PAN ZHENGYU</a:t>
            </a:r>
          </a:p>
        </p:txBody>
      </p:sp>
      <p:sp>
        <p:nvSpPr>
          <p:cNvPr id="6" name="Rectangles 5">
            <a:extLst>
              <a:ext uri="{FF2B5EF4-FFF2-40B4-BE49-F238E27FC236}">
                <a16:creationId xmlns:a16="http://schemas.microsoft.com/office/drawing/2014/main" id="{DB3806B8-6F49-4011-84F4-16EB007D2F7B}"/>
              </a:ext>
            </a:extLst>
          </p:cNvPr>
          <p:cNvSpPr>
            <a:spLocks noGrp="1"/>
          </p:cNvSpPr>
          <p:nvPr/>
        </p:nvSpPr>
        <p:spPr>
          <a:xfrm>
            <a:off x="594360" y="5897880"/>
            <a:ext cx="7315200" cy="365760"/>
          </a:xfrm>
          <a:prstGeom prst="rect">
            <a:avLst/>
          </a:prstGeom>
          <a:noFill/>
          <a:ln w="0">
            <a:noFill/>
          </a:ln>
        </p:spPr>
        <p:txBody>
          <a:bodyPr wrap="square" lIns="0" tIns="0" rIns="0" bIns="0" anchor="t">
            <a:noAutofit/>
          </a:bodyPr>
          <a:lstStyle/>
          <a:p>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a:ext uri="{FF2B5EF4-FFF2-40B4-BE49-F238E27FC236}">
                <a16:creationId xmlns:a16="http://schemas.microsoft.com/office/drawing/2014/main" id="{6F60BF80-FB70-4A78-B059-2391819DF752}"/>
              </a:ext>
            </a:extLst>
          </p:cNvPr>
          <p:cNvSpPr>
            <a:spLocks noGrp="1"/>
          </p:cNvSpPr>
          <p:nvPr/>
        </p:nvSpPr>
        <p:spPr>
          <a:xfrm>
            <a:off x="11353800" y="6477000"/>
            <a:ext cx="457200" cy="17145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a:ext uri="{FF2B5EF4-FFF2-40B4-BE49-F238E27FC236}">
                <a16:creationId xmlns:a16="http://schemas.microsoft.com/office/drawing/2014/main" id="{5F683B88-0145-44B2-AA22-47DB38CC1B41}"/>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6321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9" name="Section">
            <a:extLst>
              <a:ext uri="{FF2B5EF4-FFF2-40B4-BE49-F238E27FC236}">
                <a16:creationId xmlns:a16="http://schemas.microsoft.com/office/drawing/2014/main" id="{1A953889-8C55-4620-9095-4B8314710C61}"/>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a:ext uri="{FF2B5EF4-FFF2-40B4-BE49-F238E27FC236}">
                <a16:creationId xmlns:a16="http://schemas.microsoft.com/office/drawing/2014/main" id="{6B88168B-3994-4428-A8BE-534A30F698CF}"/>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a:ext uri="{FF2B5EF4-FFF2-40B4-BE49-F238E27FC236}">
                <a16:creationId xmlns:a16="http://schemas.microsoft.com/office/drawing/2014/main" id="{AE9C499F-F964-4F21-A1CD-624B32A67198}"/>
              </a:ext>
            </a:extLst>
          </p:cNvPr>
          <p:cNvSpPr>
            <a:spLocks noGrp="1"/>
          </p:cNvSpPr>
          <p:nvPr/>
        </p:nvSpPr>
        <p:spPr>
          <a:xfrm>
            <a:off x="381000" y="1238250"/>
            <a:ext cx="11430000" cy="0"/>
          </a:xfrm>
          <a:prstGeom prst="line">
            <a:avLst/>
          </a:prstGeom>
          <a:noFill/>
          <a:ln w="9525">
            <a:solidFill>
              <a:srgbClr val="C5CED6"/>
            </a:solidFill>
            <a:prstDash val="solid"/>
          </a:ln>
        </p:spPr>
        <p:txBody>
          <a:bodyPr/>
          <a:lstStyle/>
          <a:p>
            <a:endParaRPr/>
          </a:p>
        </p:txBody>
      </p:sp>
      <p:sp>
        <p:nvSpPr>
          <p:cNvPr id="4" name="Outline number 1">
            <a:extLst>
              <a:ext uri="{FF2B5EF4-FFF2-40B4-BE49-F238E27FC236}">
                <a16:creationId xmlns:a16="http://schemas.microsoft.com/office/drawing/2014/main" id="{F4F80A83-81FA-4CE1-A1A9-3944F153DBFA}"/>
              </a:ext>
            </a:extLst>
          </p:cNvPr>
          <p:cNvSpPr>
            <a:spLocks noGrp="1"/>
          </p:cNvSpPr>
          <p:nvPr/>
        </p:nvSpPr>
        <p:spPr>
          <a:xfrm>
            <a:off x="571500" y="17335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a:ext uri="{FF2B5EF4-FFF2-40B4-BE49-F238E27FC236}">
                <a16:creationId xmlns:a16="http://schemas.microsoft.com/office/drawing/2014/main" id="{38F19952-F4CF-4386-86DE-2F7186DF6BEB}"/>
              </a:ext>
            </a:extLst>
          </p:cNvPr>
          <p:cNvSpPr>
            <a:spLocks noGrp="1"/>
          </p:cNvSpPr>
          <p:nvPr/>
        </p:nvSpPr>
        <p:spPr>
          <a:xfrm>
            <a:off x="1381125" y="17430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background</a:t>
            </a:r>
          </a:p>
        </p:txBody>
      </p:sp>
      <p:sp>
        <p:nvSpPr>
          <p:cNvPr id="6" name="Outline number 2">
            <a:extLst>
              <a:ext uri="{FF2B5EF4-FFF2-40B4-BE49-F238E27FC236}">
                <a16:creationId xmlns:a16="http://schemas.microsoft.com/office/drawing/2014/main" id="{1FD1DE43-A18F-4C2C-BC47-81EB60FE63E4}"/>
              </a:ext>
            </a:extLst>
          </p:cNvPr>
          <p:cNvSpPr>
            <a:spLocks noGrp="1"/>
          </p:cNvSpPr>
          <p:nvPr/>
        </p:nvSpPr>
        <p:spPr>
          <a:xfrm>
            <a:off x="571500" y="24574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a:ext uri="{FF2B5EF4-FFF2-40B4-BE49-F238E27FC236}">
                <a16:creationId xmlns:a16="http://schemas.microsoft.com/office/drawing/2014/main" id="{3F1B47B4-5CBC-4ECE-AF42-5FE1C1D4196A}"/>
              </a:ext>
            </a:extLst>
          </p:cNvPr>
          <p:cNvSpPr>
            <a:spLocks noGrp="1"/>
          </p:cNvSpPr>
          <p:nvPr/>
        </p:nvSpPr>
        <p:spPr>
          <a:xfrm>
            <a:off x="1381125" y="24669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a:ext uri="{FF2B5EF4-FFF2-40B4-BE49-F238E27FC236}">
                <a16:creationId xmlns:a16="http://schemas.microsoft.com/office/drawing/2014/main" id="{B8B39D1B-9DFC-41F7-B340-D4A00450A50C}"/>
              </a:ext>
            </a:extLst>
          </p:cNvPr>
          <p:cNvSpPr>
            <a:spLocks noGrp="1"/>
          </p:cNvSpPr>
          <p:nvPr/>
        </p:nvSpPr>
        <p:spPr>
          <a:xfrm>
            <a:off x="571500" y="31813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a:ext uri="{FF2B5EF4-FFF2-40B4-BE49-F238E27FC236}">
                <a16:creationId xmlns:a16="http://schemas.microsoft.com/office/drawing/2014/main" id="{79C3947A-15E6-4B6B-B238-D9E32DE77996}"/>
              </a:ext>
            </a:extLst>
          </p:cNvPr>
          <p:cNvSpPr>
            <a:spLocks noGrp="1"/>
          </p:cNvSpPr>
          <p:nvPr/>
        </p:nvSpPr>
        <p:spPr>
          <a:xfrm>
            <a:off x="1381125" y="31908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a:ext uri="{FF2B5EF4-FFF2-40B4-BE49-F238E27FC236}">
                <a16:creationId xmlns:a16="http://schemas.microsoft.com/office/drawing/2014/main" id="{2A95BA8C-4B6E-4103-BDAD-A745785527AE}"/>
              </a:ext>
            </a:extLst>
          </p:cNvPr>
          <p:cNvSpPr>
            <a:spLocks noGrp="1"/>
          </p:cNvSpPr>
          <p:nvPr/>
        </p:nvSpPr>
        <p:spPr>
          <a:xfrm>
            <a:off x="571500" y="39052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a:ext uri="{FF2B5EF4-FFF2-40B4-BE49-F238E27FC236}">
                <a16:creationId xmlns:a16="http://schemas.microsoft.com/office/drawing/2014/main" id="{B0DF4148-AE6C-45FE-A410-1445DE176028}"/>
              </a:ext>
            </a:extLst>
          </p:cNvPr>
          <p:cNvSpPr>
            <a:spLocks noGrp="1"/>
          </p:cNvSpPr>
          <p:nvPr/>
        </p:nvSpPr>
        <p:spPr>
          <a:xfrm>
            <a:off x="1381125" y="39147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a:ext uri="{FF2B5EF4-FFF2-40B4-BE49-F238E27FC236}">
                <a16:creationId xmlns:a16="http://schemas.microsoft.com/office/drawing/2014/main" id="{11D6CD7A-81F6-4C70-9AA4-A8D8A4090DD5}"/>
              </a:ext>
            </a:extLst>
          </p:cNvPr>
          <p:cNvSpPr>
            <a:spLocks noGrp="1"/>
          </p:cNvSpPr>
          <p:nvPr/>
        </p:nvSpPr>
        <p:spPr>
          <a:xfrm>
            <a:off x="571500" y="46291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a:ext uri="{FF2B5EF4-FFF2-40B4-BE49-F238E27FC236}">
                <a16:creationId xmlns:a16="http://schemas.microsoft.com/office/drawing/2014/main" id="{F951D00D-15FC-4D6C-B2BC-B417E974957D}"/>
              </a:ext>
            </a:extLst>
          </p:cNvPr>
          <p:cNvSpPr>
            <a:spLocks noGrp="1"/>
          </p:cNvSpPr>
          <p:nvPr/>
        </p:nvSpPr>
        <p:spPr>
          <a:xfrm>
            <a:off x="1381125" y="46386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a:ext uri="{FF2B5EF4-FFF2-40B4-BE49-F238E27FC236}">
                <a16:creationId xmlns:a16="http://schemas.microsoft.com/office/drawing/2014/main" id="{58C650B3-C53B-4A6A-AC35-914B7CA604E9}"/>
              </a:ext>
            </a:extLst>
          </p:cNvPr>
          <p:cNvSpPr>
            <a:spLocks noGrp="1"/>
          </p:cNvSpPr>
          <p:nvPr/>
        </p:nvSpPr>
        <p:spPr>
          <a:xfrm>
            <a:off x="571500" y="53530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a:ext uri="{FF2B5EF4-FFF2-40B4-BE49-F238E27FC236}">
                <a16:creationId xmlns:a16="http://schemas.microsoft.com/office/drawing/2014/main" id="{64362A0D-566E-4DD8-A327-68CB44ED725F}"/>
              </a:ext>
            </a:extLst>
          </p:cNvPr>
          <p:cNvSpPr>
            <a:spLocks noGrp="1"/>
          </p:cNvSpPr>
          <p:nvPr/>
        </p:nvSpPr>
        <p:spPr>
          <a:xfrm>
            <a:off x="1381125" y="53625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a:ext uri="{FF2B5EF4-FFF2-40B4-BE49-F238E27FC236}">
                <a16:creationId xmlns:a16="http://schemas.microsoft.com/office/drawing/2014/main" id="{693B301A-5871-4C4B-A873-83D27BF9862B}"/>
              </a:ext>
            </a:extLst>
          </p:cNvPr>
          <p:cNvSpPr>
            <a:spLocks noGrp="1"/>
          </p:cNvSpPr>
          <p:nvPr/>
        </p:nvSpPr>
        <p:spPr>
          <a:xfrm>
            <a:off x="6477000" y="17335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a:ext uri="{FF2B5EF4-FFF2-40B4-BE49-F238E27FC236}">
                <a16:creationId xmlns:a16="http://schemas.microsoft.com/office/drawing/2014/main" id="{427ADBFE-967B-4439-BFA0-8F6C5163EACC}"/>
              </a:ext>
            </a:extLst>
          </p:cNvPr>
          <p:cNvSpPr>
            <a:spLocks noGrp="1"/>
          </p:cNvSpPr>
          <p:nvPr/>
        </p:nvSpPr>
        <p:spPr>
          <a:xfrm>
            <a:off x="7286625" y="17430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a:ext uri="{FF2B5EF4-FFF2-40B4-BE49-F238E27FC236}">
                <a16:creationId xmlns:a16="http://schemas.microsoft.com/office/drawing/2014/main" id="{03ED7AB7-C974-4638-BD99-5EBDCB425219}"/>
              </a:ext>
            </a:extLst>
          </p:cNvPr>
          <p:cNvSpPr>
            <a:spLocks noGrp="1"/>
          </p:cNvSpPr>
          <p:nvPr/>
        </p:nvSpPr>
        <p:spPr>
          <a:xfrm>
            <a:off x="6477000" y="24574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a:ext uri="{FF2B5EF4-FFF2-40B4-BE49-F238E27FC236}">
                <a16:creationId xmlns:a16="http://schemas.microsoft.com/office/drawing/2014/main" id="{09D1F112-65DD-424C-8481-2D6703797B45}"/>
              </a:ext>
            </a:extLst>
          </p:cNvPr>
          <p:cNvSpPr>
            <a:spLocks noGrp="1"/>
          </p:cNvSpPr>
          <p:nvPr/>
        </p:nvSpPr>
        <p:spPr>
          <a:xfrm>
            <a:off x="7286625" y="24669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a:ext uri="{FF2B5EF4-FFF2-40B4-BE49-F238E27FC236}">
                <a16:creationId xmlns:a16="http://schemas.microsoft.com/office/drawing/2014/main" id="{FCCCA1D6-27A0-442E-A5EE-14EEB5CFED7A}"/>
              </a:ext>
            </a:extLst>
          </p:cNvPr>
          <p:cNvSpPr>
            <a:spLocks noGrp="1"/>
          </p:cNvSpPr>
          <p:nvPr/>
        </p:nvSpPr>
        <p:spPr>
          <a:xfrm>
            <a:off x="6477000" y="31813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a:ext uri="{FF2B5EF4-FFF2-40B4-BE49-F238E27FC236}">
                <a16:creationId xmlns:a16="http://schemas.microsoft.com/office/drawing/2014/main" id="{75488D10-7B89-40E8-85F3-0606B16408BF}"/>
              </a:ext>
            </a:extLst>
          </p:cNvPr>
          <p:cNvSpPr>
            <a:spLocks noGrp="1"/>
          </p:cNvSpPr>
          <p:nvPr/>
        </p:nvSpPr>
        <p:spPr>
          <a:xfrm>
            <a:off x="7286625" y="31908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a:ext uri="{FF2B5EF4-FFF2-40B4-BE49-F238E27FC236}">
                <a16:creationId xmlns:a16="http://schemas.microsoft.com/office/drawing/2014/main" id="{AB8FA947-2CE5-43C8-89F4-C99F79F4FAE6}"/>
              </a:ext>
            </a:extLst>
          </p:cNvPr>
          <p:cNvSpPr>
            <a:spLocks noGrp="1"/>
          </p:cNvSpPr>
          <p:nvPr/>
        </p:nvSpPr>
        <p:spPr>
          <a:xfrm>
            <a:off x="6477000" y="39052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a:ext uri="{FF2B5EF4-FFF2-40B4-BE49-F238E27FC236}">
                <a16:creationId xmlns:a16="http://schemas.microsoft.com/office/drawing/2014/main" id="{AAE4029B-5D3F-4DD1-8CFC-A6DADC85D7A5}"/>
              </a:ext>
            </a:extLst>
          </p:cNvPr>
          <p:cNvSpPr>
            <a:spLocks noGrp="1"/>
          </p:cNvSpPr>
          <p:nvPr/>
        </p:nvSpPr>
        <p:spPr>
          <a:xfrm>
            <a:off x="7286625" y="39147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a:ext uri="{FF2B5EF4-FFF2-40B4-BE49-F238E27FC236}">
                <a16:creationId xmlns:a16="http://schemas.microsoft.com/office/drawing/2014/main" id="{52963BA8-3B2E-4736-8A62-A669860B9845}"/>
              </a:ext>
            </a:extLst>
          </p:cNvPr>
          <p:cNvSpPr>
            <a:spLocks noGrp="1"/>
          </p:cNvSpPr>
          <p:nvPr/>
        </p:nvSpPr>
        <p:spPr>
          <a:xfrm>
            <a:off x="6477000" y="46291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a:ext uri="{FF2B5EF4-FFF2-40B4-BE49-F238E27FC236}">
                <a16:creationId xmlns:a16="http://schemas.microsoft.com/office/drawing/2014/main" id="{1CFECA98-F01B-443E-A561-DC4046B253AD}"/>
              </a:ext>
            </a:extLst>
          </p:cNvPr>
          <p:cNvSpPr>
            <a:spLocks noGrp="1"/>
          </p:cNvSpPr>
          <p:nvPr/>
        </p:nvSpPr>
        <p:spPr>
          <a:xfrm>
            <a:off x="7286625" y="46386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a:ext uri="{FF2B5EF4-FFF2-40B4-BE49-F238E27FC236}">
                <a16:creationId xmlns:a16="http://schemas.microsoft.com/office/drawing/2014/main" id="{2904CEB7-D110-4BE9-9D4D-05585B81BD7F}"/>
              </a:ext>
            </a:extLst>
          </p:cNvPr>
          <p:cNvSpPr>
            <a:spLocks noGrp="1"/>
          </p:cNvSpPr>
          <p:nvPr/>
        </p:nvSpPr>
        <p:spPr>
          <a:xfrm>
            <a:off x="6477000" y="5353050"/>
            <a:ext cx="666750" cy="428625"/>
          </a:xfrm>
          <a:prstGeom prst="rect">
            <a:avLst/>
          </a:prstGeom>
          <a:noFill/>
          <a:ln w="0">
            <a:noFill/>
          </a:ln>
        </p:spPr>
        <p:txBody>
          <a:bodyPr wrap="square" lIns="0" tIns="0" rIns="0" bIns="0" anchor="t">
            <a:noAutofit/>
          </a:bodyPr>
          <a:lstStyle/>
          <a:p>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a:ext uri="{FF2B5EF4-FFF2-40B4-BE49-F238E27FC236}">
                <a16:creationId xmlns:a16="http://schemas.microsoft.com/office/drawing/2014/main" id="{CE8A2A00-D1DC-4A07-A3D7-8EC2E9DCE54F}"/>
              </a:ext>
            </a:extLst>
          </p:cNvPr>
          <p:cNvSpPr>
            <a:spLocks noGrp="1"/>
          </p:cNvSpPr>
          <p:nvPr/>
        </p:nvSpPr>
        <p:spPr>
          <a:xfrm>
            <a:off x="7286625" y="5362575"/>
            <a:ext cx="4333875" cy="438150"/>
          </a:xfrm>
          <a:prstGeom prst="rect">
            <a:avLst/>
          </a:prstGeom>
          <a:noFill/>
          <a:ln w="0">
            <a:noFill/>
          </a:ln>
        </p:spPr>
        <p:txBody>
          <a:bodyPr wrap="square" lIns="0" tIns="0" rIns="0" bIns="0" anchor="t">
            <a:noAutofit/>
          </a:bodyPr>
          <a:lstStyle/>
          <a:p>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a:ext uri="{FF2B5EF4-FFF2-40B4-BE49-F238E27FC236}">
                <a16:creationId xmlns:a16="http://schemas.microsoft.com/office/drawing/2014/main" id="{F20EA2B3-394D-45C3-BDCB-2CD301CF8FA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a:ext uri="{FF2B5EF4-FFF2-40B4-BE49-F238E27FC236}">
                <a16:creationId xmlns:a16="http://schemas.microsoft.com/office/drawing/2014/main" id="{86A747C1-E068-4D26-9217-958B8957FA6E}"/>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92241C-0D4A-41A7-866F-5DC13D796B0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33F464DF-F7B8-46ED-8F04-8F3814EB2E10}"/>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defRPr sz="2800" b="1">
                <a:solidFill>
                  <a:srgbClr val="142C40"/>
                </a:solidFill>
                <a:latin typeface="Helvetica Neue"/>
                <a:ea typeface="Helvetica Neue"/>
                <a:cs typeface="Helvetica Neue"/>
              </a:defRPr>
            </a:pPr>
            <a:r>
              <a:rPr lang="en-HK" sz="2800" b="1" dirty="0">
                <a:solidFill>
                  <a:srgbClr val="142C40"/>
                </a:solidFill>
                <a:latin typeface="Helvetica Neue"/>
                <a:ea typeface="Helvetica Neue"/>
                <a:cs typeface="Helvetica Neue"/>
              </a:rPr>
              <a:t>1. Where the research Topic came from</a:t>
            </a:r>
          </a:p>
        </p:txBody>
      </p:sp>
      <p:sp>
        <p:nvSpPr>
          <p:cNvPr id="4" name="Straight Connector 3">
            <a:extLst>
              <a:ext uri="{FF2B5EF4-FFF2-40B4-BE49-F238E27FC236}">
                <a16:creationId xmlns:a16="http://schemas.microsoft.com/office/drawing/2014/main" id="{C4FF23E9-0A4A-4BC8-A11F-538F5E44D96F}"/>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B010EEF3-064C-4606-A97A-E35272AA43D2}"/>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a:ext uri="{FF2B5EF4-FFF2-40B4-BE49-F238E27FC236}">
                <a16:creationId xmlns:a16="http://schemas.microsoft.com/office/drawing/2014/main" id="{C6E9E11C-A3E5-4D0B-8AED-74D4666B30CD}"/>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E53BE704-A8C4-4608-BA1D-F0617C32003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a:ext uri="{FF2B5EF4-FFF2-40B4-BE49-F238E27FC236}">
                <a16:creationId xmlns:a16="http://schemas.microsoft.com/office/drawing/2014/main" id="{C9EADA81-7085-4569-9429-79348494AD9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62387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CAEC468-C90A-4640-9CCE-812F07A423BE}"/>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A7638D24-19B3-4A61-8D6D-DFC6EF314E48}"/>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a:ext uri="{FF2B5EF4-FFF2-40B4-BE49-F238E27FC236}">
                <a16:creationId xmlns:a16="http://schemas.microsoft.com/office/drawing/2014/main" id="{13BD3AD8-FD90-4BC9-8551-F41D7B719F9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9" name="Rectangles 8">
            <a:extLst>
              <a:ext uri="{FF2B5EF4-FFF2-40B4-BE49-F238E27FC236}">
                <a16:creationId xmlns:a16="http://schemas.microsoft.com/office/drawing/2014/main" id="{2B9437CB-6A6B-4661-9D3A-0473BF61C994}"/>
              </a:ext>
            </a:extLst>
          </p:cNvPr>
          <p:cNvSpPr>
            <a:spLocks noGrp="1"/>
          </p:cNvSpPr>
          <p:nvPr/>
        </p:nvSpPr>
        <p:spPr>
          <a:xfrm>
            <a:off x="1005840" y="2606040"/>
            <a:ext cx="4389120" cy="914400"/>
          </a:xfrm>
          <a:prstGeom prst="rect">
            <a:avLst/>
          </a:prstGeom>
          <a:noFill/>
          <a:ln w="0">
            <a:noFill/>
          </a:ln>
        </p:spPr>
        <p:txBody>
          <a:bodyPr wrap="square" lIns="0" tIns="0" rIns="0" bIns="0" anchor="t">
            <a:noAutofit/>
          </a:bodyPr>
          <a:lstStyle/>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B79CF4FE-D9E7-49B3-83BF-DC9DAD29157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6" name="Text Box 15">
            <a:extLst>
              <a:ext uri="{FF2B5EF4-FFF2-40B4-BE49-F238E27FC236}">
                <a16:creationId xmlns:a16="http://schemas.microsoft.com/office/drawing/2014/main" id="{B1D16D23-13BD-4DFD-9272-30DD9F64C935}"/>
              </a:ext>
            </a:extLst>
          </p:cNvPr>
          <p:cNvSpPr>
            <a:spLocks noGrp="1"/>
          </p:cNvSpPr>
          <p:nvPr/>
        </p:nvSpPr>
        <p:spPr>
          <a:xfrm>
            <a:off x="1005840" y="4023360"/>
            <a:ext cx="4389120" cy="914400"/>
          </a:xfrm>
          <a:prstGeom prst="rect">
            <a:avLst/>
          </a:prstGeom>
          <a:noFill/>
        </p:spPr>
        <p:txBody>
          <a:bodyPr wrap="square" anchor="t">
            <a:spAutoFit/>
          </a:bodyPr>
          <a:lstStyle/>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noChangeAspect="1"/>
          </p:cNvPicPr>
          <p:nvPr/>
        </p:nvPicPr>
        <p:blipFill>
          <a:blip r:embed="rId3"/>
          <a:stretch>
            <a:fillRect/>
          </a:stretch>
        </p:blipFill>
        <p:spPr>
          <a:xfrm>
            <a:off x="6240145" y="1904365"/>
            <a:ext cx="5266055" cy="3735070"/>
          </a:xfrm>
          <a:prstGeom prst="rect">
            <a:avLst/>
          </a:prstGeom>
        </p:spPr>
      </p:pic>
      <p:sp>
        <p:nvSpPr>
          <p:cNvPr id="18" name="Speaker">
            <a:extLst>
              <a:ext uri="{FF2B5EF4-FFF2-40B4-BE49-F238E27FC236}">
                <a16:creationId xmlns:a16="http://schemas.microsoft.com/office/drawing/2014/main" id="{FF4DBA24-D594-47E1-99C8-D3BB55C9714F}"/>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8B0EB274-B049-4B82-A8DF-C212C4B504A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EE13DC4F-EC80-4DDB-A0A1-083F86970694}"/>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a:ext uri="{FF2B5EF4-FFF2-40B4-BE49-F238E27FC236}">
                <a16:creationId xmlns:a16="http://schemas.microsoft.com/office/drawing/2014/main" id="{8A969675-C6DB-4A30-9E44-FF14F38E20A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10" name="Rectangles 9">
            <a:extLst>
              <a:ext uri="{FF2B5EF4-FFF2-40B4-BE49-F238E27FC236}">
                <a16:creationId xmlns:a16="http://schemas.microsoft.com/office/drawing/2014/main" id="{CD2CB5F1-DF29-4CF4-B742-F4F1E4DF317B}"/>
              </a:ext>
            </a:extLst>
          </p:cNvPr>
          <p:cNvSpPr>
            <a:spLocks noGrp="1"/>
          </p:cNvSpPr>
          <p:nvPr/>
        </p:nvSpPr>
        <p:spPr>
          <a:xfrm>
            <a:off x="6080760" y="1874520"/>
            <a:ext cx="5394960" cy="365760"/>
          </a:xfrm>
          <a:prstGeom prst="rect">
            <a:avLst/>
          </a:prstGeom>
          <a:noFill/>
          <a:ln w="0">
            <a:noFill/>
          </a:ln>
        </p:spPr>
        <p:txBody>
          <a:bodyPr wrap="square" lIns="0" tIns="0" rIns="0" bIns="0" anchor="t">
            <a:noAutofit/>
          </a:bodyPr>
          <a:lstStyle/>
          <a:p>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RESEARCH QUESTION</a:t>
            </a:r>
          </a:p>
        </p:txBody>
      </p:sp>
      <p:sp>
        <p:nvSpPr>
          <p:cNvPr id="11" name="Rectangles 10">
            <a:extLst>
              <a:ext uri="{FF2B5EF4-FFF2-40B4-BE49-F238E27FC236}">
                <a16:creationId xmlns:a16="http://schemas.microsoft.com/office/drawing/2014/main" id="{08C66FA3-A620-4D12-A009-8FC4B0897659}"/>
              </a:ext>
            </a:extLst>
          </p:cNvPr>
          <p:cNvSpPr>
            <a:spLocks noGrp="1"/>
          </p:cNvSpPr>
          <p:nvPr/>
        </p:nvSpPr>
        <p:spPr>
          <a:xfrm>
            <a:off x="6080760" y="2468880"/>
            <a:ext cx="5394960" cy="1325880"/>
          </a:xfrm>
          <a:prstGeom prst="rect">
            <a:avLst/>
          </a:prstGeom>
          <a:noFill/>
          <a:ln w="0">
            <a:noFill/>
          </a:ln>
        </p:spPr>
        <p:txBody>
          <a:bodyPr wrap="square" lIns="0" tIns="0" rIns="0" bIns="0" anchor="t">
            <a:noAutofit/>
          </a:bodyPr>
          <a:lstStyle/>
          <a:p>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a:ext uri="{FF2B5EF4-FFF2-40B4-BE49-F238E27FC236}">
                <a16:creationId xmlns:a16="http://schemas.microsoft.com/office/drawing/2014/main" id="{DDB7589D-3F45-4F71-8512-2BDE71766B28}"/>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5" name="Text Box 4">
            <a:extLst>
              <a:ext uri="{FF2B5EF4-FFF2-40B4-BE49-F238E27FC236}">
                <a16:creationId xmlns:a16="http://schemas.microsoft.com/office/drawing/2014/main" id="{4DA116CD-485F-4665-B064-A5288DCC42D0}"/>
              </a:ext>
            </a:extLst>
          </p:cNvPr>
          <p:cNvSpPr>
            <a:spLocks noGrp="1"/>
          </p:cNvSpPr>
          <p:nvPr/>
        </p:nvSpPr>
        <p:spPr>
          <a:xfrm>
            <a:off x="731520" y="1876425"/>
            <a:ext cx="4983480" cy="619125"/>
          </a:xfrm>
          <a:prstGeom prst="rect">
            <a:avLst/>
          </a:prstGeom>
        </p:spPr>
        <p:txBody>
          <a:bodyPr>
            <a:noAutofit/>
          </a:bodyPr>
          <a:lstStyle/>
          <a:p>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a:ext uri="{FF2B5EF4-FFF2-40B4-BE49-F238E27FC236}">
                <a16:creationId xmlns:a16="http://schemas.microsoft.com/office/drawing/2014/main" id="{FF88D945-3BA3-467F-AB29-FA43173CE255}"/>
              </a:ext>
            </a:extLst>
          </p:cNvPr>
          <p:cNvSpPr>
            <a:spLocks noGrp="1"/>
          </p:cNvSpPr>
          <p:nvPr/>
        </p:nvSpPr>
        <p:spPr>
          <a:xfrm>
            <a:off x="6080760" y="4224528"/>
            <a:ext cx="5394960" cy="1631216"/>
          </a:xfrm>
          <a:prstGeom prst="rect">
            <a:avLst/>
          </a:prstGeom>
        </p:spPr>
        <p:txBody>
          <a:bodyPr>
            <a:spAutoFit/>
          </a:bodyPr>
          <a:lstStyle/>
          <a:p>
            <a:r>
              <a:rPr sz="2000">
                <a:latin typeface="Helvetica Neue"/>
                <a:ea typeface="Helvetica Neue"/>
                <a:cs typeface="Helvetica Neue"/>
              </a:rPr>
              <a:t>If yes, then</a:t>
            </a:r>
          </a:p>
          <a:p>
            <a:r>
              <a:rPr sz="2000">
                <a:latin typeface="Helvetica Neue"/>
                <a:ea typeface="Helvetica Neue"/>
                <a:cs typeface="Helvetica Neue"/>
              </a:rPr>
              <a:t>Which double-checking method is most effective?</a:t>
            </a:r>
          </a:p>
          <a:p>
            <a:r>
              <a:rPr sz="2000">
                <a:latin typeface="Helvetica Neue"/>
                <a:ea typeface="Helvetica Neue"/>
                <a:cs typeface="Helvetica Neue"/>
              </a:rPr>
              <a:t>Can either method introduce new errors?</a:t>
            </a:r>
          </a:p>
          <a:p>
            <a:r>
              <a:rPr sz="2000">
                <a:latin typeface="Helvetica Neue"/>
                <a:ea typeface="Helvetica Neue"/>
                <a:cs typeface="Helvetica Neue"/>
              </a:rPr>
              <a:t>Humans？</a:t>
            </a:r>
          </a:p>
        </p:txBody>
      </p:sp>
      <p:sp>
        <p:nvSpPr>
          <p:cNvPr id="13" name="Self-checking definition">
            <a:extLst>
              <a:ext uri="{FF2B5EF4-FFF2-40B4-BE49-F238E27FC236}">
                <a16:creationId xmlns:a16="http://schemas.microsoft.com/office/drawing/2014/main" id="{01089FBC-3824-4359-B2BA-1E0D0A3CA812}"/>
              </a:ext>
            </a:extLst>
          </p:cNvPr>
          <p:cNvSpPr>
            <a:spLocks noGrp="1"/>
          </p:cNvSpPr>
          <p:nvPr/>
        </p:nvSpPr>
        <p:spPr>
          <a:xfrm>
            <a:off x="1000125" y="2876550"/>
            <a:ext cx="4572000" cy="428625"/>
          </a:xfrm>
          <a:prstGeom prst="rect">
            <a:avLst/>
          </a:prstGeom>
          <a:noFill/>
          <a:ln w="0">
            <a:noFill/>
          </a:ln>
        </p:spPr>
        <p:txBody>
          <a:bodyPr wrap="square" anchor="t">
            <a:noAutofit/>
          </a:bodyPr>
          <a:lstStyle/>
          <a:p>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a:ext uri="{FF2B5EF4-FFF2-40B4-BE49-F238E27FC236}">
                <a16:creationId xmlns:a16="http://schemas.microsoft.com/office/drawing/2014/main" id="{C8ACC141-17CB-4EB2-B9D3-404017CA6AD6}"/>
              </a:ext>
            </a:extLst>
          </p:cNvPr>
          <p:cNvSpPr>
            <a:spLocks noGrp="1"/>
          </p:cNvSpPr>
          <p:nvPr/>
        </p:nvSpPr>
        <p:spPr>
          <a:xfrm>
            <a:off x="1000125" y="3381375"/>
            <a:ext cx="4572000" cy="619125"/>
          </a:xfrm>
          <a:prstGeom prst="rect">
            <a:avLst/>
          </a:prstGeom>
          <a:noFill/>
          <a:ln w="0">
            <a:noFill/>
          </a:ln>
        </p:spPr>
        <p:txBody>
          <a:bodyPr wrap="square" anchor="t">
            <a:noAutofit/>
          </a:bodyPr>
          <a:lstStyle/>
          <a:p>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a:ext uri="{FF2B5EF4-FFF2-40B4-BE49-F238E27FC236}">
                <a16:creationId xmlns:a16="http://schemas.microsoft.com/office/drawing/2014/main" id="{088DFA89-49B7-4803-BA7C-449BB43B7DA7}"/>
              </a:ext>
            </a:extLst>
          </p:cNvPr>
          <p:cNvSpPr>
            <a:spLocks noGrp="1"/>
          </p:cNvSpPr>
          <p:nvPr/>
        </p:nvSpPr>
        <p:spPr>
          <a:xfrm>
            <a:off x="1000125" y="4352925"/>
            <a:ext cx="4572000" cy="428625"/>
          </a:xfrm>
          <a:prstGeom prst="rect">
            <a:avLst/>
          </a:prstGeom>
          <a:noFill/>
          <a:ln w="0">
            <a:noFill/>
          </a:ln>
        </p:spPr>
        <p:txBody>
          <a:bodyPr wrap="square" anchor="t">
            <a:noAutofit/>
          </a:bodyPr>
          <a:lstStyle/>
          <a:p>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a:ext uri="{FF2B5EF4-FFF2-40B4-BE49-F238E27FC236}">
                <a16:creationId xmlns:a16="http://schemas.microsoft.com/office/drawing/2014/main" id="{15FC0991-408A-40B8-A1FB-4FD12B1F7D03}"/>
              </a:ext>
            </a:extLst>
          </p:cNvPr>
          <p:cNvSpPr>
            <a:spLocks noGrp="1"/>
          </p:cNvSpPr>
          <p:nvPr/>
        </p:nvSpPr>
        <p:spPr>
          <a:xfrm>
            <a:off x="1000125" y="4868508"/>
            <a:ext cx="4572000" cy="857250"/>
          </a:xfrm>
          <a:prstGeom prst="rect">
            <a:avLst/>
          </a:prstGeom>
          <a:noFill/>
          <a:ln w="0">
            <a:noFill/>
          </a:ln>
        </p:spPr>
        <p:txBody>
          <a:bodyPr wrap="square" anchor="t">
            <a:noAutofit/>
          </a:bodyPr>
          <a:lstStyle/>
          <a:p>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a:ext uri="{FF2B5EF4-FFF2-40B4-BE49-F238E27FC236}">
                <a16:creationId xmlns:a16="http://schemas.microsoft.com/office/drawing/2014/main" id="{A0F62706-B2FE-4520-B590-EEFC9512A3CD}"/>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a:ext uri="{FF2B5EF4-FFF2-40B4-BE49-F238E27FC236}">
                <a16:creationId xmlns:a16="http://schemas.microsoft.com/office/drawing/2014/main" id="{CA6F7951-3C8D-B6BC-ECDB-8F4ADF15179F}"/>
              </a:ext>
            </a:extLst>
          </p:cNvPr>
          <p:cNvSpPr>
            <a:spLocks noGrp="1"/>
          </p:cNvSpPr>
          <p:nvPr/>
        </p:nvSpPr>
        <p:spPr>
          <a:xfrm>
            <a:off x="888402" y="2324119"/>
            <a:ext cx="6099586" cy="323165"/>
          </a:xfrm>
          <a:prstGeom prst="rect">
            <a:avLst/>
          </a:prstGeom>
          <a:noFill/>
        </p:spPr>
        <p:txBody>
          <a:bodyPr wrap="square">
            <a:spAutoFit/>
          </a:bodyPr>
          <a:lstStyle/>
          <a:p>
            <a:r>
              <a:rPr sz="1800" b="1" i="0" u="sng">
                <a:solidFill>
                  <a:schemeClr val="tx1"/>
                </a:solidFill>
                <a:latin typeface="+mn-lt"/>
                <a:ea typeface="+mn-lt"/>
                <a:cs typeface="+mn-lt"/>
                <a:hlinkClick r:id="rId3"/>
              </a:rPr>
              <a:t>claude-codex-collab</a:t>
            </a:r>
            <a:endParaRPr/>
          </a:p>
        </p:txBody>
      </p:sp>
    </p:spTree>
    <p:extLst>
      <p:ext uri="{BB962C8B-B14F-4D97-AF65-F5344CB8AC3E}">
        <p14:creationId xmlns:p14="http://schemas.microsoft.com/office/powerpoint/2010/main" val="1950990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AAD1A64C-6DC4-44C4-8E9C-7B63C6BF5ACC}"/>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a:ext uri="{FF2B5EF4-FFF2-40B4-BE49-F238E27FC236}">
                <a16:creationId xmlns:a16="http://schemas.microsoft.com/office/drawing/2014/main" id="{C82D5820-D13D-46F4-B7D5-6313C876C4E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a:ext uri="{FF2B5EF4-FFF2-40B4-BE49-F238E27FC236}">
                <a16:creationId xmlns:a16="http://schemas.microsoft.com/office/drawing/2014/main" id="{C8B6E4AF-E36B-4D7F-A412-21DF581E6996}"/>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ounded Rectangle 4">
            <a:extLst>
              <a:ext uri="{FF2B5EF4-FFF2-40B4-BE49-F238E27FC236}">
                <a16:creationId xmlns:a16="http://schemas.microsoft.com/office/drawing/2014/main" id="{DA3BD8EB-7268-47B5-A8BB-A07B376F3E2D}"/>
              </a:ext>
            </a:extLst>
          </p:cNvPr>
          <p:cNvSpPr>
            <a:spLocks noGrp="1"/>
          </p:cNvSpPr>
          <p:nvPr/>
        </p:nvSpPr>
        <p:spPr>
          <a:xfrm>
            <a:off x="657860" y="3101340"/>
            <a:ext cx="2000250" cy="666750"/>
          </a:xfrm>
          <a:prstGeom prst="roundRect">
            <a:avLst>
              <a:gd name="adj" fmla="val 14286"/>
            </a:avLst>
          </a:prstGeom>
          <a:solidFill>
            <a:srgbClr val="E7EFF5"/>
          </a:solidFill>
          <a:ln w="9525">
            <a:solidFill>
              <a:srgbClr val="C5CED6"/>
            </a:solidFill>
            <a:prstDash val="solid"/>
          </a:ln>
        </p:spPr>
        <p:txBody>
          <a:bodyPr wrap="square" lIns="76200" tIns="38100" rIns="76200" bIns="38100" anchor="ctr">
            <a:noAutofit/>
          </a:bodyPr>
          <a:lstStyle/>
          <a:p>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a:ext uri="{FF2B5EF4-FFF2-40B4-BE49-F238E27FC236}">
                <a16:creationId xmlns:a16="http://schemas.microsoft.com/office/drawing/2014/main" id="{96C4852E-7A9C-4646-AF4E-C1DB04CC4656}"/>
              </a:ext>
            </a:extLst>
          </p:cNvPr>
          <p:cNvSpPr>
            <a:spLocks noGrp="1"/>
          </p:cNvSpPr>
          <p:nvPr/>
        </p:nvSpPr>
        <p:spPr>
          <a:xfrm>
            <a:off x="7176135" y="1767840"/>
            <a:ext cx="1809750" cy="514350"/>
          </a:xfrm>
          <a:prstGeom prst="rect">
            <a:avLst/>
          </a:prstGeom>
          <a:noFill/>
          <a:ln w="0">
            <a:noFill/>
          </a:ln>
        </p:spPr>
        <p:txBody>
          <a:bodyPr wrap="square" lIns="0" tIns="0" rIns="0" bIns="0" anchor="ctr">
            <a:noAutofit/>
          </a:bodyPr>
          <a:lstStyle/>
          <a:p>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a:ext uri="{FF2B5EF4-FFF2-40B4-BE49-F238E27FC236}">
                <a16:creationId xmlns:a16="http://schemas.microsoft.com/office/drawing/2014/main" id="{FDF84FEB-8223-4DB7-A0F8-DE865D44C931}"/>
              </a:ext>
            </a:extLst>
          </p:cNvPr>
          <p:cNvSpPr>
            <a:spLocks noGrp="1"/>
          </p:cNvSpPr>
          <p:nvPr/>
        </p:nvSpPr>
        <p:spPr>
          <a:xfrm>
            <a:off x="9176004" y="172364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a:ext uri="{FF2B5EF4-FFF2-40B4-BE49-F238E27FC236}">
                <a16:creationId xmlns:a16="http://schemas.microsoft.com/office/drawing/2014/main" id="{7AC81DB6-AE8C-4381-AA39-4ABD252122A5}"/>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397" name="Elbow Connector 27"/>
          <p:cNvCxnSpPr>
            <a:endCxn id="6" idx="1"/>
          </p:cNvCxnSpPr>
          <p:nvPr/>
        </p:nvCxnSpPr>
        <p:spPr>
          <a:xfrm flipV="1">
            <a:off x="2890520" y="2025015"/>
            <a:ext cx="4285615" cy="1384300"/>
          </a:xfrm>
          <a:prstGeom prst="bentConnector3">
            <a:avLst>
              <a:gd name="adj1" fmla="val 50007"/>
            </a:avLst>
          </a:prstGeom>
          <a:ln w="19050">
            <a:solidFill>
              <a:srgbClr val="2E9D59"/>
            </a:solidFill>
            <a:prstDash val="solid"/>
            <a:tailEnd type="arrow" w="sm" len="sm"/>
          </a:ln>
        </p:spPr>
      </p:cxnSp>
      <p:sp>
        <p:nvSpPr>
          <p:cNvPr id="10" name="Rectangles 9">
            <a:extLst>
              <a:ext uri="{FF2B5EF4-FFF2-40B4-BE49-F238E27FC236}">
                <a16:creationId xmlns:a16="http://schemas.microsoft.com/office/drawing/2014/main" id="{0382F2A0-80E7-463B-9BB6-4829E1E17663}"/>
              </a:ext>
            </a:extLst>
          </p:cNvPr>
          <p:cNvSpPr>
            <a:spLocks noGrp="1"/>
          </p:cNvSpPr>
          <p:nvPr/>
        </p:nvSpPr>
        <p:spPr>
          <a:xfrm>
            <a:off x="7176135" y="3177540"/>
            <a:ext cx="1809750" cy="514350"/>
          </a:xfrm>
          <a:prstGeom prst="rect">
            <a:avLst/>
          </a:prstGeom>
          <a:noFill/>
          <a:ln w="0">
            <a:noFill/>
          </a:ln>
        </p:spPr>
        <p:txBody>
          <a:bodyPr wrap="square" lIns="0" tIns="0" rIns="0" bIns="0" anchor="ctr">
            <a:noAutofit/>
          </a:bodyPr>
          <a:lstStyle/>
          <a:p>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a:ext uri="{FF2B5EF4-FFF2-40B4-BE49-F238E27FC236}">
                <a16:creationId xmlns:a16="http://schemas.microsoft.com/office/drawing/2014/main" id="{E95AB1E8-8DBC-4759-A86B-42CD98D03F31}"/>
              </a:ext>
            </a:extLst>
          </p:cNvPr>
          <p:cNvSpPr>
            <a:spLocks noGrp="1"/>
          </p:cNvSpPr>
          <p:nvPr/>
        </p:nvSpPr>
        <p:spPr>
          <a:xfrm>
            <a:off x="9176004" y="313273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a:ext uri="{FF2B5EF4-FFF2-40B4-BE49-F238E27FC236}">
                <a16:creationId xmlns:a16="http://schemas.microsoft.com/office/drawing/2014/main" id="{FF9AC8F7-375C-433B-86E9-E7B8A7011894}"/>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01" name="Elbow Connector 31"/>
          <p:cNvCxnSpPr>
            <a:endCxn id="10" idx="1"/>
          </p:cNvCxnSpPr>
          <p:nvPr/>
        </p:nvCxnSpPr>
        <p:spPr>
          <a:xfrm>
            <a:off x="2890520" y="3409315"/>
            <a:ext cx="4285615" cy="25400"/>
          </a:xfrm>
          <a:prstGeom prst="bentConnector3">
            <a:avLst>
              <a:gd name="adj1" fmla="val 50007"/>
            </a:avLst>
          </a:prstGeom>
          <a:ln w="19050">
            <a:solidFill>
              <a:srgbClr val="657586"/>
            </a:solidFill>
            <a:prstDash val="solid"/>
            <a:tailEnd type="arrow" w="sm" len="sm"/>
          </a:ln>
        </p:spPr>
      </p:cxnSp>
      <p:sp>
        <p:nvSpPr>
          <p:cNvPr id="14" name="Rectangles 13">
            <a:extLst>
              <a:ext uri="{FF2B5EF4-FFF2-40B4-BE49-F238E27FC236}">
                <a16:creationId xmlns:a16="http://schemas.microsoft.com/office/drawing/2014/main" id="{481F2F91-F9B1-4588-8E7F-DA139ADDE998}"/>
              </a:ext>
            </a:extLst>
          </p:cNvPr>
          <p:cNvSpPr>
            <a:spLocks noGrp="1"/>
          </p:cNvSpPr>
          <p:nvPr/>
        </p:nvSpPr>
        <p:spPr>
          <a:xfrm>
            <a:off x="7176135" y="4587240"/>
            <a:ext cx="1809750" cy="514350"/>
          </a:xfrm>
          <a:prstGeom prst="rect">
            <a:avLst/>
          </a:prstGeom>
          <a:noFill/>
          <a:ln w="0">
            <a:noFill/>
          </a:ln>
        </p:spPr>
        <p:txBody>
          <a:bodyPr wrap="square" lIns="0" tIns="0" rIns="0" bIns="0" anchor="ctr">
            <a:noAutofit/>
          </a:bodyPr>
          <a:lstStyle/>
          <a:p>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a:ext uri="{FF2B5EF4-FFF2-40B4-BE49-F238E27FC236}">
                <a16:creationId xmlns:a16="http://schemas.microsoft.com/office/drawing/2014/main" id="{517BB2B3-0008-416D-A929-E04C0EC43E9A}"/>
              </a:ext>
            </a:extLst>
          </p:cNvPr>
          <p:cNvSpPr>
            <a:spLocks noGrp="1"/>
          </p:cNvSpPr>
          <p:nvPr/>
        </p:nvSpPr>
        <p:spPr>
          <a:xfrm>
            <a:off x="9176004" y="4542739"/>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a:ext uri="{FF2B5EF4-FFF2-40B4-BE49-F238E27FC236}">
                <a16:creationId xmlns:a16="http://schemas.microsoft.com/office/drawing/2014/main" id="{FAB5C2FD-682E-4BBE-BA18-6ECC47E15D3E}"/>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05" name="Elbow Connector 35"/>
          <p:cNvCxnSpPr>
            <a:endCxn id="14" idx="1"/>
          </p:cNvCxnSpPr>
          <p:nvPr/>
        </p:nvCxnSpPr>
        <p:spPr>
          <a:xfrm>
            <a:off x="2889885" y="3425190"/>
            <a:ext cx="4286250" cy="1419225"/>
          </a:xfrm>
          <a:prstGeom prst="bentConnector3">
            <a:avLst>
              <a:gd name="adj1" fmla="val 50015"/>
            </a:avLst>
          </a:prstGeom>
          <a:ln w="19050">
            <a:solidFill>
              <a:srgbClr val="D64545"/>
            </a:solidFill>
            <a:prstDash val="solid"/>
            <a:tailEnd type="arrow" w="sm" len="sm"/>
          </a:ln>
        </p:spPr>
      </p:cxnSp>
      <p:sp>
        <p:nvSpPr>
          <p:cNvPr id="18" name="Rectangles 17">
            <a:extLst>
              <a:ext uri="{FF2B5EF4-FFF2-40B4-BE49-F238E27FC236}">
                <a16:creationId xmlns:a16="http://schemas.microsoft.com/office/drawing/2014/main" id="{7228DE8B-3B2D-4F89-8FFB-0DF41CBCB1ED}"/>
              </a:ext>
            </a:extLst>
          </p:cNvPr>
          <p:cNvSpPr>
            <a:spLocks noGrp="1"/>
          </p:cNvSpPr>
          <p:nvPr/>
        </p:nvSpPr>
        <p:spPr>
          <a:xfrm>
            <a:off x="685800" y="5614416"/>
            <a:ext cx="10789920" cy="658368"/>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a:ext uri="{FF2B5EF4-FFF2-40B4-BE49-F238E27FC236}">
                <a16:creationId xmlns:a16="http://schemas.microsoft.com/office/drawing/2014/main" id="{D0B6DA6A-B16F-4D51-BB47-338517CF7226}"/>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13" name="Rectangles 12">
            <a:extLst>
              <a:ext uri="{FF2B5EF4-FFF2-40B4-BE49-F238E27FC236}">
                <a16:creationId xmlns:a16="http://schemas.microsoft.com/office/drawing/2014/main" id="{BAE0949A-1F89-46A9-BD2B-6A59B617DD69}"/>
              </a:ext>
            </a:extLst>
          </p:cNvPr>
          <p:cNvSpPr>
            <a:spLocks noGrp="1"/>
          </p:cNvSpPr>
          <p:nvPr/>
        </p:nvSpPr>
        <p:spPr>
          <a:xfrm>
            <a:off x="7487285" y="4561205"/>
            <a:ext cx="1224280" cy="575945"/>
          </a:xfrm>
          <a:prstGeom prst="rect">
            <a:avLst/>
          </a:prstGeom>
          <a:noFill/>
          <a:ln w="381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a:p>
        </p:txBody>
      </p:sp>
      <p:sp>
        <p:nvSpPr>
          <p:cNvPr id="277" name="Speaker">
            <a:extLst>
              <a:ext uri="{FF2B5EF4-FFF2-40B4-BE49-F238E27FC236}">
                <a16:creationId xmlns:a16="http://schemas.microsoft.com/office/drawing/2014/main" id="{B24BCA53-D3D0-4BF2-B79A-990AFDFE9D4E}"/>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53EE79B-0396-485C-A9CE-A3649794FFE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a:ext uri="{FF2B5EF4-FFF2-40B4-BE49-F238E27FC236}">
                <a16:creationId xmlns:a16="http://schemas.microsoft.com/office/drawing/2014/main" id="{270E0346-CAAE-44AA-AF5F-8F4DDAE82D8E}"/>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a:ext uri="{FF2B5EF4-FFF2-40B4-BE49-F238E27FC236}">
                <a16:creationId xmlns:a16="http://schemas.microsoft.com/office/drawing/2014/main" id="{EF4048E5-2967-4D65-9A60-BE1F9E5E2E4A}"/>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ounded Rectangle 4">
            <a:extLst>
              <a:ext uri="{FF2B5EF4-FFF2-40B4-BE49-F238E27FC236}">
                <a16:creationId xmlns:a16="http://schemas.microsoft.com/office/drawing/2014/main" id="{B6F984F3-EA43-4AF0-B597-ACAA372BB6F3}"/>
              </a:ext>
            </a:extLst>
          </p:cNvPr>
          <p:cNvSpPr>
            <a:spLocks noGrp="1"/>
          </p:cNvSpPr>
          <p:nvPr/>
        </p:nvSpPr>
        <p:spPr>
          <a:xfrm>
            <a:off x="685800" y="150495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a:ext uri="{FF2B5EF4-FFF2-40B4-BE49-F238E27FC236}">
                <a16:creationId xmlns:a16="http://schemas.microsoft.com/office/drawing/2014/main" id="{867DCC62-C19F-4837-9040-5DF85F2FCA71}"/>
              </a:ext>
            </a:extLst>
          </p:cNvPr>
          <p:cNvSpPr>
            <a:spLocks noGrp="1"/>
          </p:cNvSpPr>
          <p:nvPr/>
        </p:nvSpPr>
        <p:spPr>
          <a:xfrm>
            <a:off x="1809598" y="1649731"/>
            <a:ext cx="9738360" cy="777240"/>
          </a:xfrm>
          <a:prstGeom prst="rect">
            <a:avLst/>
          </a:prstGeom>
          <a:noFill/>
          <a:ln w="0">
            <a:noFill/>
          </a:ln>
        </p:spPr>
        <p:txBody>
          <a:bodyPr wrap="square" lIns="0" tIns="0" rIns="0" bIns="0" anchor="ctr">
            <a:noAutofit/>
          </a:bodyPr>
          <a:lstStyle/>
          <a:p>
            <a:pPr>
              <a:buNone/>
              <a:defRPr sz="2400" b="1">
                <a:solidFill>
                  <a:srgbClr val="142C40"/>
                </a:solidFill>
                <a:latin typeface="Helvetica Neue"/>
                <a:ea typeface="Helvetica Neue"/>
                <a:cs typeface="Helvetica Neue"/>
              </a:defRPr>
            </a:pPr>
            <a:r>
              <a:rPr sz="2250" b="0">
                <a:solidFill>
                  <a:srgbClr val="163149"/>
                </a:solidFill>
                <a:latin typeface="Helvetica Neue"/>
                <a:ea typeface="Helvetica Neue"/>
                <a:cs typeface="Helvetica Neue"/>
              </a:rPr>
              <a:t>Can double-checking reduce AI error rates?</a:t>
            </a:r>
          </a:p>
          <a:p>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a:ext uri="{FF2B5EF4-FFF2-40B4-BE49-F238E27FC236}">
                <a16:creationId xmlns:a16="http://schemas.microsoft.com/office/drawing/2014/main" id="{E5ABCE56-25B3-48AC-8588-6131465BE2F6}"/>
              </a:ext>
            </a:extLst>
          </p:cNvPr>
          <p:cNvSpPr>
            <a:spLocks noGrp="1"/>
          </p:cNvSpPr>
          <p:nvPr/>
        </p:nvSpPr>
        <p:spPr>
          <a:xfrm>
            <a:off x="1809750" y="2247900"/>
            <a:ext cx="9334500" cy="0"/>
          </a:xfrm>
          <a:prstGeom prst="line">
            <a:avLst/>
          </a:prstGeom>
          <a:noFill/>
          <a:ln w="9525">
            <a:solidFill>
              <a:srgbClr val="C5CED6"/>
            </a:solidFill>
            <a:prstDash val="solid"/>
          </a:ln>
        </p:spPr>
        <p:txBody>
          <a:bodyPr/>
          <a:lstStyle/>
          <a:p>
            <a:endParaRPr/>
          </a:p>
        </p:txBody>
      </p:sp>
      <p:sp>
        <p:nvSpPr>
          <p:cNvPr id="8" name="Rounded Rectangle 7">
            <a:extLst>
              <a:ext uri="{FF2B5EF4-FFF2-40B4-BE49-F238E27FC236}">
                <a16:creationId xmlns:a16="http://schemas.microsoft.com/office/drawing/2014/main" id="{DADCC2C5-F15A-4F6E-A47F-C48A0CF4AC22}"/>
              </a:ext>
            </a:extLst>
          </p:cNvPr>
          <p:cNvSpPr>
            <a:spLocks noGrp="1"/>
          </p:cNvSpPr>
          <p:nvPr/>
        </p:nvSpPr>
        <p:spPr>
          <a:xfrm>
            <a:off x="685800" y="262890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a:ext uri="{FF2B5EF4-FFF2-40B4-BE49-F238E27FC236}">
                <a16:creationId xmlns:a16="http://schemas.microsoft.com/office/drawing/2014/main" id="{89E91913-9216-44B2-BA14-8137FB7FAEAC}"/>
              </a:ext>
            </a:extLst>
          </p:cNvPr>
          <p:cNvSpPr>
            <a:spLocks noGrp="1"/>
          </p:cNvSpPr>
          <p:nvPr/>
        </p:nvSpPr>
        <p:spPr>
          <a:xfrm>
            <a:off x="1809598" y="2606040"/>
            <a:ext cx="9738360" cy="777240"/>
          </a:xfrm>
          <a:prstGeom prst="rect">
            <a:avLst/>
          </a:prstGeom>
          <a:noFill/>
          <a:ln w="0">
            <a:noFill/>
          </a:ln>
        </p:spPr>
        <p:txBody>
          <a:bodyPr wrap="square" lIns="0" tIns="0" rIns="0" bIns="0" anchor="ctr">
            <a:noAutofit/>
          </a:bodyPr>
          <a:lstStyle/>
          <a:p>
            <a:pPr lvl="0">
              <a:buNone/>
            </a:pPr>
            <a:r>
              <a:rPr sz="2250" b="0">
                <a:solidFill>
                  <a:srgbClr val="163149"/>
                </a:solidFill>
              </a:rPr>
              <a:t>Which double-checking method is most effective in practice?</a:t>
            </a:r>
          </a:p>
        </p:txBody>
      </p:sp>
      <p:sp>
        <p:nvSpPr>
          <p:cNvPr id="10" name="Straight Connector 9">
            <a:extLst>
              <a:ext uri="{FF2B5EF4-FFF2-40B4-BE49-F238E27FC236}">
                <a16:creationId xmlns:a16="http://schemas.microsoft.com/office/drawing/2014/main" id="{593208D9-9157-4E65-BFEF-4490F0FECBB4}"/>
              </a:ext>
            </a:extLst>
          </p:cNvPr>
          <p:cNvSpPr>
            <a:spLocks noGrp="1"/>
          </p:cNvSpPr>
          <p:nvPr/>
        </p:nvSpPr>
        <p:spPr>
          <a:xfrm>
            <a:off x="1809750" y="3371850"/>
            <a:ext cx="9334500" cy="0"/>
          </a:xfrm>
          <a:prstGeom prst="line">
            <a:avLst/>
          </a:prstGeom>
          <a:noFill/>
          <a:ln w="9525">
            <a:solidFill>
              <a:srgbClr val="C5CED6"/>
            </a:solidFill>
            <a:prstDash val="solid"/>
          </a:ln>
        </p:spPr>
        <p:txBody>
          <a:bodyPr/>
          <a:lstStyle/>
          <a:p>
            <a:endParaRPr/>
          </a:p>
        </p:txBody>
      </p:sp>
      <p:sp>
        <p:nvSpPr>
          <p:cNvPr id="11" name="Rounded Rectangle 10">
            <a:extLst>
              <a:ext uri="{FF2B5EF4-FFF2-40B4-BE49-F238E27FC236}">
                <a16:creationId xmlns:a16="http://schemas.microsoft.com/office/drawing/2014/main" id="{BCAD8DE7-AF06-4D47-A634-A8C50417E947}"/>
              </a:ext>
            </a:extLst>
          </p:cNvPr>
          <p:cNvSpPr>
            <a:spLocks noGrp="1"/>
          </p:cNvSpPr>
          <p:nvPr/>
        </p:nvSpPr>
        <p:spPr>
          <a:xfrm>
            <a:off x="685800" y="375285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a:ext uri="{FF2B5EF4-FFF2-40B4-BE49-F238E27FC236}">
                <a16:creationId xmlns:a16="http://schemas.microsoft.com/office/drawing/2014/main" id="{227A4C82-E3DE-486B-8E9E-B9199398E045}"/>
              </a:ext>
            </a:extLst>
          </p:cNvPr>
          <p:cNvSpPr>
            <a:spLocks noGrp="1"/>
          </p:cNvSpPr>
          <p:nvPr/>
        </p:nvSpPr>
        <p:spPr>
          <a:xfrm>
            <a:off x="1809598" y="3730752"/>
            <a:ext cx="9738360" cy="777240"/>
          </a:xfrm>
          <a:prstGeom prst="rect">
            <a:avLst/>
          </a:prstGeom>
          <a:noFill/>
          <a:ln w="0">
            <a:noFill/>
          </a:ln>
        </p:spPr>
        <p:txBody>
          <a:bodyPr wrap="square" lIns="0" tIns="0" rIns="0" bIns="0" anchor="ctr">
            <a:noAutofit/>
          </a:bodyPr>
          <a:lstStyle/>
          <a:p>
            <a:pPr lvl="0">
              <a:buNone/>
            </a:pPr>
            <a:r>
              <a:rPr sz="2250" b="0">
                <a:solidFill>
                  <a:srgbClr val="163149"/>
                </a:solidFill>
              </a:rPr>
              <a:t>Can an incorrect peer answer mislead an initially correct model during cross-checking?</a:t>
            </a:r>
            <a:endParaRPr sz="2400"/>
          </a:p>
        </p:txBody>
      </p:sp>
      <p:sp>
        <p:nvSpPr>
          <p:cNvPr id="13" name="Straight Connector 12">
            <a:extLst>
              <a:ext uri="{FF2B5EF4-FFF2-40B4-BE49-F238E27FC236}">
                <a16:creationId xmlns:a16="http://schemas.microsoft.com/office/drawing/2014/main" id="{B270D670-D38D-4156-9E77-31E45444CEAE}"/>
              </a:ext>
            </a:extLst>
          </p:cNvPr>
          <p:cNvSpPr>
            <a:spLocks noGrp="1"/>
          </p:cNvSpPr>
          <p:nvPr/>
        </p:nvSpPr>
        <p:spPr>
          <a:xfrm>
            <a:off x="1809750" y="4495800"/>
            <a:ext cx="9334500" cy="0"/>
          </a:xfrm>
          <a:prstGeom prst="line">
            <a:avLst/>
          </a:prstGeom>
          <a:noFill/>
          <a:ln w="9525">
            <a:solidFill>
              <a:srgbClr val="C5CED6"/>
            </a:solidFill>
            <a:prstDash val="solid"/>
          </a:ln>
        </p:spPr>
        <p:txBody>
          <a:bodyPr/>
          <a:lstStyle/>
          <a:p>
            <a:endParaRPr/>
          </a:p>
        </p:txBody>
      </p:sp>
      <p:sp>
        <p:nvSpPr>
          <p:cNvPr id="14" name="Rounded Rectangle 13">
            <a:extLst>
              <a:ext uri="{FF2B5EF4-FFF2-40B4-BE49-F238E27FC236}">
                <a16:creationId xmlns:a16="http://schemas.microsoft.com/office/drawing/2014/main" id="{A9DA6750-D657-4C4D-88EA-607BAF9A012F}"/>
              </a:ext>
            </a:extLst>
          </p:cNvPr>
          <p:cNvSpPr>
            <a:spLocks noGrp="1"/>
          </p:cNvSpPr>
          <p:nvPr/>
        </p:nvSpPr>
        <p:spPr>
          <a:xfrm>
            <a:off x="685800" y="487680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a:ext uri="{FF2B5EF4-FFF2-40B4-BE49-F238E27FC236}">
                <a16:creationId xmlns:a16="http://schemas.microsoft.com/office/drawing/2014/main" id="{D861B929-4F01-4AE6-9436-7B7C889A8E3E}"/>
              </a:ext>
            </a:extLst>
          </p:cNvPr>
          <p:cNvSpPr>
            <a:spLocks noGrp="1"/>
          </p:cNvSpPr>
          <p:nvPr/>
        </p:nvSpPr>
        <p:spPr>
          <a:xfrm>
            <a:off x="1809598" y="4854550"/>
            <a:ext cx="9738360" cy="777240"/>
          </a:xfrm>
          <a:prstGeom prst="rect">
            <a:avLst/>
          </a:prstGeom>
          <a:noFill/>
          <a:ln w="0">
            <a:noFill/>
          </a:ln>
        </p:spPr>
        <p:txBody>
          <a:bodyPr wrap="square" lIns="0" tIns="0" rIns="0" bIns="0" anchor="ctr">
            <a:noAutofit/>
          </a:bodyPr>
          <a:lstStyle/>
          <a:p>
            <a:pPr lvl="0">
              <a:buNone/>
            </a:pPr>
            <a:r>
              <a:rPr sz="2250" b="0">
                <a:solidFill>
                  <a:srgbClr val="163149"/>
                </a:solidFill>
              </a:rPr>
              <a:t>Can misleading user input cause an otherwise correct model to give a wrong answer?</a:t>
            </a:r>
          </a:p>
        </p:txBody>
      </p:sp>
      <p:sp>
        <p:nvSpPr>
          <p:cNvPr id="16" name="Rectangles 15">
            <a:extLst>
              <a:ext uri="{FF2B5EF4-FFF2-40B4-BE49-F238E27FC236}">
                <a16:creationId xmlns:a16="http://schemas.microsoft.com/office/drawing/2014/main" id="{1E786F98-30C0-4916-9C9B-0CA360D592CA}"/>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7" name="Speaker">
            <a:extLst>
              <a:ext uri="{FF2B5EF4-FFF2-40B4-BE49-F238E27FC236}">
                <a16:creationId xmlns:a16="http://schemas.microsoft.com/office/drawing/2014/main" id="{E5CFF8DB-75DE-44FE-AEDF-53F9816BB42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3FABF1-A302-4836-9CB9-3244237E5987}"/>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a:ext uri="{FF2B5EF4-FFF2-40B4-BE49-F238E27FC236}">
                <a16:creationId xmlns:a16="http://schemas.microsoft.com/office/drawing/2014/main" id="{2B2674F9-2D79-42B4-9A11-5A5C827D3088}"/>
              </a:ext>
            </a:extLst>
          </p:cNvPr>
          <p:cNvSpPr>
            <a:spLocks noGrp="1"/>
          </p:cNvSpPr>
          <p:nvPr/>
        </p:nvSpPr>
        <p:spPr>
          <a:xfrm>
            <a:off x="640080" y="2926080"/>
            <a:ext cx="6035040" cy="914400"/>
          </a:xfrm>
          <a:prstGeom prst="rect">
            <a:avLst/>
          </a:prstGeom>
          <a:noFill/>
          <a:ln w="0">
            <a:noFill/>
          </a:ln>
        </p:spPr>
        <p:txBody>
          <a:bodyPr wrap="square" lIns="0" tIns="0" rIns="0" bIns="0" anchor="ctr">
            <a:noAutofit/>
          </a:bodyPr>
          <a:lstStyle/>
          <a:p>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a:ext uri="{FF2B5EF4-FFF2-40B4-BE49-F238E27FC236}">
                <a16:creationId xmlns:a16="http://schemas.microsoft.com/office/drawing/2014/main" id="{2A827082-D5A8-4CCA-AB39-84557BDAAF8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15" name="Rectangles 14">
            <a:extLst>
              <a:ext uri="{FF2B5EF4-FFF2-40B4-BE49-F238E27FC236}">
                <a16:creationId xmlns:a16="http://schemas.microsoft.com/office/drawing/2014/main" id="{7F8AFADF-36EC-475A-8366-A60926228141}"/>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pic>
        <p:nvPicPr>
          <p:cNvPr id="23" name="Picture 18"/>
          <p:cNvPicPr>
            <a:picLocks noChangeAspect="1"/>
          </p:cNvPicPr>
          <p:nvPr/>
        </p:nvPicPr>
        <p:blipFill>
          <a:blip r:embed="rId3"/>
          <a:stretch>
            <a:fillRect/>
          </a:stretch>
        </p:blipFill>
        <p:spPr>
          <a:xfrm>
            <a:off x="7176135" y="1845310"/>
            <a:ext cx="4274185" cy="3096260"/>
          </a:xfrm>
          <a:prstGeom prst="rect">
            <a:avLst/>
          </a:prstGeom>
        </p:spPr>
      </p:pic>
      <p:sp>
        <p:nvSpPr>
          <p:cNvPr id="17" name="Speaker">
            <a:extLst>
              <a:ext uri="{FF2B5EF4-FFF2-40B4-BE49-F238E27FC236}">
                <a16:creationId xmlns:a16="http://schemas.microsoft.com/office/drawing/2014/main" id="{065D5DA1-9573-4063-A4A8-36AEE1BD423F}"/>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77ED9F2-EEDA-4630-8931-5A5D6296EFD0}"/>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a:ext uri="{FF2B5EF4-FFF2-40B4-BE49-F238E27FC236}">
                <a16:creationId xmlns:a16="http://schemas.microsoft.com/office/drawing/2014/main" id="{459B6060-89D1-4250-964F-0450C9836272}"/>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a:ext uri="{FF2B5EF4-FFF2-40B4-BE49-F238E27FC236}">
                <a16:creationId xmlns:a16="http://schemas.microsoft.com/office/drawing/2014/main" id="{AD0485AA-606E-4E89-B58A-0B1FAB323C4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5" name="Rectangles 4">
            <a:extLst>
              <a:ext uri="{FF2B5EF4-FFF2-40B4-BE49-F238E27FC236}">
                <a16:creationId xmlns:a16="http://schemas.microsoft.com/office/drawing/2014/main" id="{1849F6D9-A2DD-4618-94BE-3AF59C1F6BF6}"/>
              </a:ext>
            </a:extLst>
          </p:cNvPr>
          <p:cNvSpPr>
            <a:spLocks noGrp="1"/>
          </p:cNvSpPr>
          <p:nvPr/>
        </p:nvSpPr>
        <p:spPr>
          <a:xfrm>
            <a:off x="59436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a:ext uri="{FF2B5EF4-FFF2-40B4-BE49-F238E27FC236}">
                <a16:creationId xmlns:a16="http://schemas.microsoft.com/office/drawing/2014/main" id="{497623CC-93BB-46F6-9EBA-564CBDFEE6C6}"/>
              </a:ext>
            </a:extLst>
          </p:cNvPr>
          <p:cNvSpPr>
            <a:spLocks noGrp="1"/>
          </p:cNvSpPr>
          <p:nvPr/>
        </p:nvSpPr>
        <p:spPr>
          <a:xfrm>
            <a:off x="59436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a:ext uri="{FF2B5EF4-FFF2-40B4-BE49-F238E27FC236}">
                <a16:creationId xmlns:a16="http://schemas.microsoft.com/office/drawing/2014/main" id="{B99DA390-0BBF-4123-B867-DABCD1C029FB}"/>
              </a:ext>
            </a:extLst>
          </p:cNvPr>
          <p:cNvSpPr>
            <a:spLocks noGrp="1"/>
          </p:cNvSpPr>
          <p:nvPr/>
        </p:nvSpPr>
        <p:spPr>
          <a:xfrm>
            <a:off x="59436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a:ext uri="{FF2B5EF4-FFF2-40B4-BE49-F238E27FC236}">
                <a16:creationId xmlns:a16="http://schemas.microsoft.com/office/drawing/2014/main" id="{A7F5EF0A-3A6B-46D2-B6F0-88D9C6712F9D}"/>
              </a:ext>
            </a:extLst>
          </p:cNvPr>
          <p:cNvSpPr>
            <a:spLocks noGrp="1"/>
          </p:cNvSpPr>
          <p:nvPr/>
        </p:nvSpPr>
        <p:spPr>
          <a:xfrm>
            <a:off x="438912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a:ext uri="{FF2B5EF4-FFF2-40B4-BE49-F238E27FC236}">
                <a16:creationId xmlns:a16="http://schemas.microsoft.com/office/drawing/2014/main" id="{2F15BD71-9816-4333-951A-9462A9980B90}"/>
              </a:ext>
            </a:extLst>
          </p:cNvPr>
          <p:cNvSpPr>
            <a:spLocks noGrp="1"/>
          </p:cNvSpPr>
          <p:nvPr/>
        </p:nvSpPr>
        <p:spPr>
          <a:xfrm>
            <a:off x="438912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a:ext uri="{FF2B5EF4-FFF2-40B4-BE49-F238E27FC236}">
                <a16:creationId xmlns:a16="http://schemas.microsoft.com/office/drawing/2014/main" id="{CAF7CF77-62B5-4D72-8D95-9B72BB84733C}"/>
              </a:ext>
            </a:extLst>
          </p:cNvPr>
          <p:cNvSpPr>
            <a:spLocks noGrp="1"/>
          </p:cNvSpPr>
          <p:nvPr/>
        </p:nvSpPr>
        <p:spPr>
          <a:xfrm>
            <a:off x="438912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a:ext uri="{FF2B5EF4-FFF2-40B4-BE49-F238E27FC236}">
                <a16:creationId xmlns:a16="http://schemas.microsoft.com/office/drawing/2014/main" id="{2AB3C272-D3F7-45AB-B845-36B1E2391A7B}"/>
              </a:ext>
            </a:extLst>
          </p:cNvPr>
          <p:cNvSpPr>
            <a:spLocks noGrp="1"/>
          </p:cNvSpPr>
          <p:nvPr/>
        </p:nvSpPr>
        <p:spPr>
          <a:xfrm>
            <a:off x="818388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a:ext uri="{FF2B5EF4-FFF2-40B4-BE49-F238E27FC236}">
                <a16:creationId xmlns:a16="http://schemas.microsoft.com/office/drawing/2014/main" id="{512E3213-D5B4-4B9E-BDF1-274D91DE514B}"/>
              </a:ext>
            </a:extLst>
          </p:cNvPr>
          <p:cNvSpPr>
            <a:spLocks noGrp="1"/>
          </p:cNvSpPr>
          <p:nvPr/>
        </p:nvSpPr>
        <p:spPr>
          <a:xfrm>
            <a:off x="818388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a:ext uri="{FF2B5EF4-FFF2-40B4-BE49-F238E27FC236}">
                <a16:creationId xmlns:a16="http://schemas.microsoft.com/office/drawing/2014/main" id="{CFBFDD5C-EE25-4D2F-AD85-D3FC34084EEA}"/>
              </a:ext>
            </a:extLst>
          </p:cNvPr>
          <p:cNvSpPr>
            <a:spLocks noGrp="1"/>
          </p:cNvSpPr>
          <p:nvPr/>
        </p:nvSpPr>
        <p:spPr>
          <a:xfrm>
            <a:off x="818388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a:ext uri="{FF2B5EF4-FFF2-40B4-BE49-F238E27FC236}">
                <a16:creationId xmlns:a16="http://schemas.microsoft.com/office/drawing/2014/main" id="{91F83469-C01F-45AD-835E-2389964886F1}"/>
              </a:ext>
            </a:extLst>
          </p:cNvPr>
          <p:cNvSpPr>
            <a:spLocks noGrp="1"/>
          </p:cNvSpPr>
          <p:nvPr/>
        </p:nvSpPr>
        <p:spPr>
          <a:xfrm>
            <a:off x="731520" y="5559552"/>
            <a:ext cx="10698480" cy="640080"/>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a:ext uri="{FF2B5EF4-FFF2-40B4-BE49-F238E27FC236}">
                <a16:creationId xmlns:a16="http://schemas.microsoft.com/office/drawing/2014/main" id="{128895FA-3363-46DB-8F24-1DDDE0F77D95}"/>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6" name="Speaker">
            <a:extLst>
              <a:ext uri="{FF2B5EF4-FFF2-40B4-BE49-F238E27FC236}">
                <a16:creationId xmlns:a16="http://schemas.microsoft.com/office/drawing/2014/main" id="{7117DE32-4C5E-4D11-996F-C3767F071324}"/>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934053C-C6D8-4E6A-B2D0-078F141561E1}"/>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a:ext uri="{FF2B5EF4-FFF2-40B4-BE49-F238E27FC236}">
                <a16:creationId xmlns:a16="http://schemas.microsoft.com/office/drawing/2014/main" id="{35E2C083-B255-4DE0-BB45-16C94EFE480A}"/>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a:ext uri="{FF2B5EF4-FFF2-40B4-BE49-F238E27FC236}">
                <a16:creationId xmlns:a16="http://schemas.microsoft.com/office/drawing/2014/main" id="{69D84866-64BD-4976-A9B5-5342FD3A55C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graphicFrame>
        <p:nvGraphicFramePr>
          <p:cNvPr id="14" name="Table 11"/>
          <p:cNvGraphicFramePr/>
          <p:nvPr/>
        </p:nvGraphicFramePr>
        <p:xfrm>
          <a:off x="548640" y="1572768"/>
          <a:ext cx="11064240" cy="4069080"/>
        </p:xfrm>
        <a:graphic>
          <a:graphicData uri="http://schemas.openxmlformats.org/drawingml/2006/table">
            <a:tbl>
              <a:tblPr/>
              <a:tblGrid>
                <a:gridCol w="2273474">
                  <a:extLst>
                    <a:ext uri="{9D8B030D-6E8A-4147-A177-3AD203B41FA5}">
                      <a16:colId xmlns:a16="http://schemas.microsoft.com/office/drawing/2014/main" val="20000"/>
                    </a:ext>
                  </a:extLst>
                </a:gridCol>
                <a:gridCol w="4452220">
                  <a:extLst>
                    <a:ext uri="{9D8B030D-6E8A-4147-A177-3AD203B41FA5}">
                      <a16:colId xmlns:a16="http://schemas.microsoft.com/office/drawing/2014/main" val="20001"/>
                    </a:ext>
                  </a:extLst>
                </a:gridCol>
                <a:gridCol w="4338546">
                  <a:extLst>
                    <a:ext uri="{9D8B030D-6E8A-4147-A177-3AD203B41FA5}">
                      <a16:colId xmlns:a16="http://schemas.microsoft.com/office/drawing/2014/main" val="20002"/>
                    </a:ext>
                  </a:extLst>
                </a:gridCol>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extLst>
                  <a:ext uri="{0D108BD9-81ED-4DB2-BD59-A6C34878D82A}">
                    <a16:rowId xmlns:a16="http://schemas.microsoft.com/office/drawing/2014/main" val="10000"/>
                  </a:ext>
                </a:extLst>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extLst>
                  <a:ext uri="{0D108BD9-81ED-4DB2-BD59-A6C34878D82A}">
                    <a16:rowId xmlns:a16="http://schemas.microsoft.com/office/drawing/2014/main" val="10001"/>
                  </a:ext>
                </a:extLst>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extLst>
                  <a:ext uri="{0D108BD9-81ED-4DB2-BD59-A6C34878D82A}">
                    <a16:rowId xmlns:a16="http://schemas.microsoft.com/office/drawing/2014/main" val="10002"/>
                  </a:ext>
                </a:extLst>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extLst>
                  <a:ext uri="{0D108BD9-81ED-4DB2-BD59-A6C34878D82A}">
                    <a16:rowId xmlns:a16="http://schemas.microsoft.com/office/drawing/2014/main" val="10003"/>
                  </a:ext>
                </a:extLst>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extLst>
                  <a:ext uri="{0D108BD9-81ED-4DB2-BD59-A6C34878D82A}">
                    <a16:rowId xmlns:a16="http://schemas.microsoft.com/office/drawing/2014/main" val="10004"/>
                  </a:ext>
                </a:extLst>
              </a:tr>
            </a:tbl>
          </a:graphicData>
        </a:graphic>
      </p:graphicFrame>
      <p:sp>
        <p:nvSpPr>
          <p:cNvPr id="6" name="Rectangles 5">
            <a:extLst>
              <a:ext uri="{FF2B5EF4-FFF2-40B4-BE49-F238E27FC236}">
                <a16:creationId xmlns:a16="http://schemas.microsoft.com/office/drawing/2014/main" id="{4353548E-EDAA-4F4B-ADBD-E3936FC10495}"/>
              </a:ext>
            </a:extLst>
          </p:cNvPr>
          <p:cNvSpPr>
            <a:spLocks noGrp="1"/>
          </p:cNvSpPr>
          <p:nvPr/>
        </p:nvSpPr>
        <p:spPr>
          <a:xfrm>
            <a:off x="731520" y="5824728"/>
            <a:ext cx="10698480" cy="603504"/>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a:ext uri="{FF2B5EF4-FFF2-40B4-BE49-F238E27FC236}">
                <a16:creationId xmlns:a16="http://schemas.microsoft.com/office/drawing/2014/main" id="{A39A45C1-E0E2-40D7-94FB-E27116C1FB6E}"/>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sp>
        <p:nvSpPr>
          <p:cNvPr id="9" name="Speaker">
            <a:extLst>
              <a:ext uri="{FF2B5EF4-FFF2-40B4-BE49-F238E27FC236}">
                <a16:creationId xmlns:a16="http://schemas.microsoft.com/office/drawing/2014/main" id="{E4B21738-243A-450E-B0A4-65EB034D3CD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934053C-C6D8-4E6A-B2D0-078F141561E1}"/>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a:ext uri="{FF2B5EF4-FFF2-40B4-BE49-F238E27FC236}">
                <a16:creationId xmlns:a16="http://schemas.microsoft.com/office/drawing/2014/main" id="{35E2C083-B255-4DE0-BB45-16C94EFE480A}"/>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a:ext uri="{FF2B5EF4-FFF2-40B4-BE49-F238E27FC236}">
                <a16:creationId xmlns:a16="http://schemas.microsoft.com/office/drawing/2014/main" id="{69D84866-64BD-4976-A9B5-5342FD3A55C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a:p>
        </p:txBody>
      </p:sp>
      <p:sp>
        <p:nvSpPr>
          <p:cNvPr id="6" name="Rectangles 5">
            <a:extLst>
              <a:ext uri="{FF2B5EF4-FFF2-40B4-BE49-F238E27FC236}">
                <a16:creationId xmlns:a16="http://schemas.microsoft.com/office/drawing/2014/main" id="{4353548E-EDAA-4F4B-ADBD-E3936FC10495}"/>
              </a:ext>
            </a:extLst>
          </p:cNvPr>
          <p:cNvSpPr>
            <a:spLocks noGrp="1"/>
          </p:cNvSpPr>
          <p:nvPr/>
        </p:nvSpPr>
        <p:spPr>
          <a:xfrm>
            <a:off x="625145" y="5985510"/>
            <a:ext cx="11049000" cy="323850"/>
          </a:xfrm>
          <a:prstGeom prst="rect">
            <a:avLst/>
          </a:prstGeom>
          <a:noFill/>
          <a:ln w="0">
            <a:noFill/>
          </a:ln>
        </p:spPr>
        <p:txBody>
          <a:bodyPr wrap="square" lIns="0" tIns="0" rIns="0" bIns="0" anchor="t">
            <a:noAutofit/>
          </a:bodyPr>
          <a:lstStyle/>
          <a:p>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a:ext uri="{FF2B5EF4-FFF2-40B4-BE49-F238E27FC236}">
                <a16:creationId xmlns:a16="http://schemas.microsoft.com/office/drawing/2014/main" id="{A39A45C1-E0E2-40D7-94FB-E27116C1FB6E}"/>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pic>
        <p:nvPicPr>
          <p:cNvPr id="18" name="Picture 14"/>
          <p:cNvPicPr>
            <a:picLocks noChangeAspect="1"/>
          </p:cNvPicPr>
          <p:nvPr/>
        </p:nvPicPr>
        <p:blipFill>
          <a:blip r:embed="rId3"/>
          <a:stretch/>
        </p:blipFill>
        <p:spPr>
          <a:xfrm>
            <a:off x="1224017" y="1438275"/>
            <a:ext cx="9743966" cy="4238625"/>
          </a:xfrm>
          <a:prstGeom prst="rect">
            <a:avLst/>
          </a:prstGeom>
        </p:spPr>
      </p:pic>
      <p:sp>
        <p:nvSpPr>
          <p:cNvPr id="9" name="Map interpretation">
            <a:extLst>
              <a:ext uri="{FF2B5EF4-FFF2-40B4-BE49-F238E27FC236}">
                <a16:creationId xmlns:a16="http://schemas.microsoft.com/office/drawing/2014/main" id="{FDD4A10D-5CD6-4381-A08C-65562D43A268}"/>
              </a:ext>
            </a:extLst>
          </p:cNvPr>
          <p:cNvSpPr>
            <a:spLocks noGrp="1"/>
          </p:cNvSpPr>
          <p:nvPr/>
        </p:nvSpPr>
        <p:spPr>
          <a:xfrm>
            <a:off x="-1859728" y="6476695"/>
            <a:ext cx="11049000" cy="266700"/>
          </a:xfrm>
          <a:prstGeom prst="rect">
            <a:avLst/>
          </a:prstGeom>
          <a:noFill/>
          <a:ln w="0">
            <a:noFill/>
          </a:ln>
        </p:spPr>
        <p:txBody>
          <a:bodyPr wrap="square" anchor="t">
            <a:noAutofit/>
          </a:bodyPr>
          <a:lstStyle/>
          <a:p>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a:ext uri="{FF2B5EF4-FFF2-40B4-BE49-F238E27FC236}">
                <a16:creationId xmlns:a16="http://schemas.microsoft.com/office/drawing/2014/main" id="{21E406D5-4065-4B55-9149-37BE5A07AC5B}"/>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6FE62E99-4B57-41F5-AC24-B792EC5D6272}"/>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a:ext uri="{FF2B5EF4-FFF2-40B4-BE49-F238E27FC236}">
                <a16:creationId xmlns:a16="http://schemas.microsoft.com/office/drawing/2014/main" id="{11B8EFB1-757A-4F2C-B62E-4A1B6192DAC7}"/>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dirty="0">
                <a:solidFill>
                  <a:srgbClr val="142C40"/>
                </a:solidFill>
                <a:latin typeface="Helvetica Neue"/>
                <a:ea typeface="Helvetica Neue"/>
                <a:cs typeface="Helvetica Neue"/>
              </a:rPr>
              <a:t>5. DATA</a:t>
            </a:r>
          </a:p>
        </p:txBody>
      </p:sp>
      <p:sp>
        <p:nvSpPr>
          <p:cNvPr id="3" name="Straight Connector 2">
            <a:extLst>
              <a:ext uri="{FF2B5EF4-FFF2-40B4-BE49-F238E27FC236}">
                <a16:creationId xmlns:a16="http://schemas.microsoft.com/office/drawing/2014/main" id="{ADCC8163-94AF-44FA-A0DF-E15F2D964F8F}"/>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CE93E15D-9340-42AA-AB56-EA4B3BE0A2E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graphicFrame>
        <p:nvGraphicFramePr>
          <p:cNvPr id="15" name="Table 12"/>
          <p:cNvGraphicFramePr/>
          <p:nvPr>
            <p:extLst>
              <p:ext uri="{D42A27DB-BD31-4B8C-83A1-F6EECF244321}">
                <p14:modId xmlns:p14="http://schemas.microsoft.com/office/powerpoint/2010/main" val="1571551106"/>
              </p:ext>
            </p:extLst>
          </p:nvPr>
        </p:nvGraphicFramePr>
        <p:xfrm>
          <a:off x="571500" y="1647825"/>
          <a:ext cx="11049000" cy="3448050"/>
        </p:xfrm>
        <a:graphic>
          <a:graphicData uri="http://schemas.openxmlformats.org/drawingml/2006/table">
            <a:tbl>
              <a:tblPr/>
              <a:tblGrid>
                <a:gridCol w="4572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574675">
                <a:tc>
                  <a:txBody>
                    <a:bodyPr/>
                    <a:lstStyle/>
                    <a:p>
                      <a:pPr algn="l">
                        <a:buNone/>
                      </a:pPr>
                      <a:r>
                        <a:rPr sz="1725" b="1">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extLst>
                  <a:ext uri="{0D108BD9-81ED-4DB2-BD59-A6C34878D82A}">
                    <a16:rowId xmlns:a16="http://schemas.microsoft.com/office/drawing/2014/main" val="10000"/>
                  </a:ext>
                </a:extLst>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extLst>
                  <a:ext uri="{0D108BD9-81ED-4DB2-BD59-A6C34878D82A}">
                    <a16:rowId xmlns:a16="http://schemas.microsoft.com/office/drawing/2014/main" val="10001"/>
                  </a:ext>
                </a:extLst>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dirty="0">
                          <a:solidFill>
                            <a:srgbClr val="17324D"/>
                          </a:solidFill>
                          <a:latin typeface="Helvetica Neue"/>
                          <a:ea typeface="Helvetica Neue"/>
                          <a:cs typeface="Helvetica Neue"/>
                        </a:rPr>
                        <a:t>280 </a:t>
                      </a:r>
                      <a:r>
                        <a:rPr sz="1725" b="0" dirty="0" err="1">
                          <a:solidFill>
                            <a:srgbClr val="17324D"/>
                          </a:solidFill>
                          <a:latin typeface="Helvetica Neue"/>
                          <a:ea typeface="Helvetica Neue"/>
                          <a:cs typeface="Helvetica Neue"/>
                        </a:rPr>
                        <a:t>UGMathBench</a:t>
                      </a:r>
                      <a:r>
                        <a:rPr sz="1725" b="0" dirty="0">
                          <a:solidFill>
                            <a:srgbClr val="17324D"/>
                          </a:solidFill>
                          <a:latin typeface="Helvetica Neue"/>
                          <a:ea typeface="Helvetica Neue"/>
                          <a:cs typeface="Helvetica Neue"/>
                        </a:rPr>
                        <a:t>; 214 MATH test; 6 HKU math questions</a:t>
                      </a:r>
                    </a:p>
                  </a:txBody>
                  <a:tcPr marL="114300" marR="114300" marT="76200" marB="76200" anchor="ctr">
                    <a:solidFill>
                      <a:srgbClr val="EFF3F7"/>
                    </a:solidFill>
                  </a:tcPr>
                </a:tc>
                <a:extLst>
                  <a:ext uri="{0D108BD9-81ED-4DB2-BD59-A6C34878D82A}">
                    <a16:rowId xmlns:a16="http://schemas.microsoft.com/office/drawing/2014/main" val="10002"/>
                  </a:ext>
                </a:extLst>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extLst>
                  <a:ext uri="{0D108BD9-81ED-4DB2-BD59-A6C34878D82A}">
                    <a16:rowId xmlns:a16="http://schemas.microsoft.com/office/drawing/2014/main" val="10003"/>
                  </a:ext>
                </a:extLst>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dirty="0">
                          <a:solidFill>
                            <a:srgbClr val="17324D"/>
                          </a:solidFill>
                          <a:latin typeface="Helvetica Neue"/>
                          <a:ea typeface="Helvetica Neue"/>
                          <a:cs typeface="Helvetica Neue"/>
                        </a:rPr>
                        <a:t>Over </a:t>
                      </a:r>
                      <a:r>
                        <a:rPr sz="1725" b="0" dirty="0">
                          <a:solidFill>
                            <a:srgbClr val="17324D"/>
                          </a:solidFill>
                          <a:highlight>
                            <a:srgbClr val="FF0000"/>
                          </a:highlight>
                          <a:latin typeface="Helvetica Neue"/>
                          <a:ea typeface="Helvetica Neue"/>
                          <a:cs typeface="Helvetica Neue"/>
                        </a:rPr>
                        <a:t>10,000 responses </a:t>
                      </a:r>
                      <a:r>
                        <a:rPr sz="1725" b="0" dirty="0">
                          <a:solidFill>
                            <a:srgbClr val="17324D"/>
                          </a:solidFill>
                          <a:latin typeface="Helvetica Neue"/>
                          <a:ea typeface="Helvetica Neue"/>
                          <a:cs typeface="Helvetica Neue"/>
                        </a:rPr>
                        <a:t>collected (only </a:t>
                      </a:r>
                      <a:r>
                        <a:rPr sz="1725" b="0" dirty="0">
                          <a:solidFill>
                            <a:srgbClr val="17324D"/>
                          </a:solidFill>
                          <a:highlight>
                            <a:srgbClr val="00FF00"/>
                          </a:highlight>
                          <a:latin typeface="Helvetica Neue"/>
                          <a:ea typeface="Helvetica Neue"/>
                          <a:cs typeface="Helvetica Neue"/>
                        </a:rPr>
                        <a:t>2000 useful cases</a:t>
                      </a:r>
                      <a:r>
                        <a:rPr sz="1725" b="0" dirty="0">
                          <a:solidFill>
                            <a:srgbClr val="17324D"/>
                          </a:solidFill>
                          <a:latin typeface="Helvetica Neue"/>
                          <a:ea typeface="Helvetica Neue"/>
                          <a:cs typeface="Helvetica Neue"/>
                        </a:rPr>
                        <a:t>)</a:t>
                      </a:r>
                    </a:p>
                  </a:txBody>
                  <a:tcPr marL="114300" marR="114300" marT="76200" marB="76200" anchor="ctr">
                    <a:solidFill>
                      <a:srgbClr val="EFF3F7"/>
                    </a:solidFill>
                  </a:tcPr>
                </a:tc>
                <a:extLst>
                  <a:ext uri="{0D108BD9-81ED-4DB2-BD59-A6C34878D82A}">
                    <a16:rowId xmlns:a16="http://schemas.microsoft.com/office/drawing/2014/main" val="10004"/>
                  </a:ext>
                </a:extLst>
              </a:tr>
              <a:tr h="574675">
                <a:tc>
                  <a:txBody>
                    <a:bodyPr/>
                    <a:lstStyle/>
                    <a:p>
                      <a:pPr algn="l">
                        <a:buNone/>
                      </a:pPr>
                      <a:r>
                        <a:rPr lang="en-HK" sz="1725" b="0" dirty="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lang="en-HK" sz="1725" b="0" dirty="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6" name="Footnote">
            <a:extLst>
              <a:ext uri="{FF2B5EF4-FFF2-40B4-BE49-F238E27FC236}">
                <a16:creationId xmlns:a16="http://schemas.microsoft.com/office/drawing/2014/main" id="{534D895A-D0F5-4A48-86C7-4BB9EA31FD35}"/>
              </a:ext>
            </a:extLst>
          </p:cNvPr>
          <p:cNvSpPr>
            <a:spLocks noGrp="1"/>
          </p:cNvSpPr>
          <p:nvPr/>
        </p:nvSpPr>
        <p:spPr>
          <a:xfrm>
            <a:off x="571500" y="5857875"/>
            <a:ext cx="11049000" cy="485775"/>
          </a:xfrm>
          <a:prstGeom prst="rect">
            <a:avLst/>
          </a:prstGeom>
          <a:noFill/>
          <a:ln w="0">
            <a:noFill/>
          </a:ln>
        </p:spPr>
        <p:txBody>
          <a:bodyPr wrap="square" lIns="0" tIns="0" rIns="0" bIns="0" anchor="t">
            <a:noAutofit/>
          </a:bodyPr>
          <a:lstStyle/>
          <a:p>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Cross-check targets 70 initial errors; 63 complete self/cross pairs are available.</a:t>
            </a:r>
          </a:p>
        </p:txBody>
      </p:sp>
      <p:sp>
        <p:nvSpPr>
          <p:cNvPr id="9" name="Speaker">
            <a:extLst>
              <a:ext uri="{FF2B5EF4-FFF2-40B4-BE49-F238E27FC236}">
                <a16:creationId xmlns:a16="http://schemas.microsoft.com/office/drawing/2014/main" id="{4294519D-B32B-442B-A2BD-C50DB724574E}"/>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69066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D66D51A5-DD66-43BC-AF6B-D99AE9BE98E4}"/>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a:ext uri="{FF2B5EF4-FFF2-40B4-BE49-F238E27FC236}">
                <a16:creationId xmlns:a16="http://schemas.microsoft.com/office/drawing/2014/main" id="{2FB99989-BBF2-439B-B7BC-2A35E399F42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a:ext uri="{FF2B5EF4-FFF2-40B4-BE49-F238E27FC236}">
                <a16:creationId xmlns:a16="http://schemas.microsoft.com/office/drawing/2014/main" id="{EE410775-93BF-4733-909A-FA66A4AECEE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DD1051A5-A935-4195-A6D1-BB57B00AB77E}"/>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5" name="Models">
            <a:extLst>
              <a:ext uri="{FF2B5EF4-FFF2-40B4-BE49-F238E27FC236}">
                <a16:creationId xmlns:a16="http://schemas.microsoft.com/office/drawing/2014/main" id="{109DA1E6-EC2E-4AE3-AADB-CA7572775325}"/>
              </a:ext>
            </a:extLst>
          </p:cNvPr>
          <p:cNvSpPr>
            <a:spLocks noGrp="1"/>
          </p:cNvSpPr>
          <p:nvPr/>
        </p:nvSpPr>
        <p:spPr>
          <a:xfrm>
            <a:off x="571500" y="1476375"/>
            <a:ext cx="11049000" cy="381000"/>
          </a:xfrm>
          <a:prstGeom prst="rect">
            <a:avLst/>
          </a:prstGeom>
          <a:noFill/>
          <a:ln w="0">
            <a:noFill/>
          </a:ln>
        </p:spPr>
        <p:txBody>
          <a:bodyPr wrap="square" lIns="0" tIns="0" rIns="0" bIns="0" anchor="t">
            <a:noAutofit/>
          </a:bodyPr>
          <a:lstStyle/>
          <a:p>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571500" y="1962150"/>
          <a:ext cx="11049000" cy="3765550"/>
        </p:xfrm>
        <a:graphic>
          <a:graphicData uri="http://schemas.openxmlformats.org/drawingml/2006/table">
            <a:tbl>
              <a:tblPr/>
              <a:tblGrid>
                <a:gridCol w="233362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extLst>
                  <a:ext uri="{0D108BD9-81ED-4DB2-BD59-A6C34878D82A}">
                    <a16:rowId xmlns:a16="http://schemas.microsoft.com/office/drawing/2014/main" val="10000"/>
                  </a:ext>
                </a:extLst>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extLst>
                  <a:ext uri="{0D108BD9-81ED-4DB2-BD59-A6C34878D82A}">
                    <a16:rowId xmlns:a16="http://schemas.microsoft.com/office/drawing/2014/main" val="10001"/>
                  </a:ext>
                </a:extLst>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extLst>
                  <a:ext uri="{0D108BD9-81ED-4DB2-BD59-A6C34878D82A}">
                    <a16:rowId xmlns:a16="http://schemas.microsoft.com/office/drawing/2014/main" val="10002"/>
                  </a:ext>
                </a:extLst>
              </a:tr>
              <a:tr h="603250">
                <a:tc>
                  <a:txBody>
                    <a:bodyPr/>
                    <a:lstStyle/>
                    <a:p>
                      <a:pPr algn="l">
                        <a:buNone/>
                      </a:pPr>
                      <a:r>
                        <a:rPr sz="1575" b="0">
                          <a:solidFill>
                            <a:srgbClr val="17324D"/>
                          </a:solidFill>
                          <a:latin typeface="Helvetica Neue"/>
                          <a:ea typeface="Helvetica Neue"/>
                          <a:cs typeface="Helvetica Neue"/>
                        </a:rPr>
                        <a:t>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extLst>
                  <a:ext uri="{0D108BD9-81ED-4DB2-BD59-A6C34878D82A}">
                    <a16:rowId xmlns:a16="http://schemas.microsoft.com/office/drawing/2014/main" val="10003"/>
                  </a:ext>
                </a:extLst>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extLst>
                  <a:ext uri="{0D108BD9-81ED-4DB2-BD59-A6C34878D82A}">
                    <a16:rowId xmlns:a16="http://schemas.microsoft.com/office/drawing/2014/main" val="10004"/>
                  </a:ext>
                </a:extLst>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7" name="Footnote">
            <a:extLst>
              <a:ext uri="{FF2B5EF4-FFF2-40B4-BE49-F238E27FC236}">
                <a16:creationId xmlns:a16="http://schemas.microsoft.com/office/drawing/2014/main" id="{C6126700-C190-4D91-B02B-3991D0355582}"/>
              </a:ext>
            </a:extLst>
          </p:cNvPr>
          <p:cNvSpPr>
            <a:spLocks noGrp="1"/>
          </p:cNvSpPr>
          <p:nvPr/>
        </p:nvSpPr>
        <p:spPr>
          <a:xfrm>
            <a:off x="571500" y="6191250"/>
            <a:ext cx="11049000" cy="257175"/>
          </a:xfrm>
          <a:prstGeom prst="rect">
            <a:avLst/>
          </a:prstGeom>
          <a:noFill/>
          <a:ln w="0">
            <a:noFill/>
          </a:ln>
        </p:spPr>
        <p:txBody>
          <a:bodyPr wrap="square" lIns="0" tIns="0" rIns="0" bIns="0" anchor="t">
            <a:noAutofit/>
          </a:bodyPr>
          <a:lstStyle/>
          <a:p>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a:ext uri="{FF2B5EF4-FFF2-40B4-BE49-F238E27FC236}">
                <a16:creationId xmlns:a16="http://schemas.microsoft.com/office/drawing/2014/main" id="{77BEB836-2215-4BB9-852E-26C9B7DB8C4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62567182-AAAF-1280-D95E-970CEEE6A97A}"/>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a:ext uri="{FF2B5EF4-FFF2-40B4-BE49-F238E27FC236}">
                <a16:creationId xmlns:a16="http://schemas.microsoft.com/office/drawing/2014/main" id="{32AF7BC1-E70F-76C1-55A3-9FC3FFDC9F8B}"/>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a:ext uri="{FF2B5EF4-FFF2-40B4-BE49-F238E27FC236}">
                <a16:creationId xmlns:a16="http://schemas.microsoft.com/office/drawing/2014/main" id="{FFC184D1-B5C7-8364-9552-AFEA09519AE9}"/>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293E00-4BD6-CDC9-C86E-819735CD271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10" name="Speaker">
            <a:extLst>
              <a:ext uri="{FF2B5EF4-FFF2-40B4-BE49-F238E27FC236}">
                <a16:creationId xmlns:a16="http://schemas.microsoft.com/office/drawing/2014/main" id="{65651B6B-216D-F230-DD54-5F156E6C3FB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noChangeAspect="1"/>
          </p:cNvPicPr>
          <p:nvPr/>
        </p:nvPicPr>
        <p:blipFill>
          <a:blip r:embed="rId3"/>
          <a:stretch>
            <a:fillRect/>
          </a:stretch>
        </p:blipFill>
        <p:spPr>
          <a:xfrm>
            <a:off x="1692984" y="1328541"/>
            <a:ext cx="9043147" cy="5086769"/>
          </a:xfrm>
          <a:prstGeom prst="rect">
            <a:avLst/>
          </a:prstGeom>
        </p:spPr>
      </p:pic>
    </p:spTree>
    <p:extLst>
      <p:ext uri="{BB962C8B-B14F-4D97-AF65-F5344CB8AC3E}">
        <p14:creationId xmlns:p14="http://schemas.microsoft.com/office/powerpoint/2010/main" val="3765297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10" name="Section">
            <a:extLst>
              <a:ext uri="{FF2B5EF4-FFF2-40B4-BE49-F238E27FC236}">
                <a16:creationId xmlns:a16="http://schemas.microsoft.com/office/drawing/2014/main" id="{7DBA8C50-B558-44E9-8F7C-758DC85B9932}"/>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a:ext uri="{FF2B5EF4-FFF2-40B4-BE49-F238E27FC236}">
                <a16:creationId xmlns:a16="http://schemas.microsoft.com/office/drawing/2014/main" id="{341E86D8-9928-4B48-AE5D-21336A945B40}"/>
              </a:ext>
            </a:extLst>
          </p:cNvPr>
          <p:cNvSpPr>
            <a:spLocks noGrp="1"/>
          </p:cNvSpPr>
          <p:nvPr/>
        </p:nvSpPr>
        <p:spPr>
          <a:xfrm>
            <a:off x="380999" y="552450"/>
            <a:ext cx="12259235" cy="619125"/>
          </a:xfrm>
          <a:prstGeom prst="rect">
            <a:avLst/>
          </a:prstGeom>
          <a:noFill/>
          <a:ln w="0">
            <a:noFill/>
          </a:ln>
        </p:spPr>
        <p:txBody>
          <a:bodyPr wrap="square" lIns="0" tIns="0" rIns="0" bIns="0" anchor="t">
            <a:noAutofit/>
          </a:bodyPr>
          <a:lstStyle/>
          <a:p>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a:ext uri="{FF2B5EF4-FFF2-40B4-BE49-F238E27FC236}">
                <a16:creationId xmlns:a16="http://schemas.microsoft.com/office/drawing/2014/main" id="{021E98EF-81C1-423B-9B92-51CA28C61E62}"/>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D66BBE04-7B4C-4563-82E7-28CE53F8B260}"/>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graphicFrame>
        <p:nvGraphicFramePr>
          <p:cNvPr id="18" name="Table 15"/>
          <p:cNvGraphicFramePr/>
          <p:nvPr/>
        </p:nvGraphicFramePr>
        <p:xfrm>
          <a:off x="571500" y="1571625"/>
          <a:ext cx="11049000" cy="2476500"/>
        </p:xfrm>
        <a:graphic>
          <a:graphicData uri="http://schemas.openxmlformats.org/drawingml/2006/table">
            <a:tbl>
              <a:tblPr/>
              <a:tblGrid>
                <a:gridCol w="4667250">
                  <a:extLst>
                    <a:ext uri="{9D8B030D-6E8A-4147-A177-3AD203B41FA5}">
                      <a16:colId xmlns:a16="http://schemas.microsoft.com/office/drawing/2014/main" val="20000"/>
                    </a:ext>
                  </a:extLst>
                </a:gridCol>
                <a:gridCol w="6381750">
                  <a:extLst>
                    <a:ext uri="{9D8B030D-6E8A-4147-A177-3AD203B41FA5}">
                      <a16:colId xmlns:a16="http://schemas.microsoft.com/office/drawing/2014/main" val="20001"/>
                    </a:ext>
                  </a:extLst>
                </a:gridCol>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extLst>
                  <a:ext uri="{0D108BD9-81ED-4DB2-BD59-A6C34878D82A}">
                    <a16:rowId xmlns:a16="http://schemas.microsoft.com/office/drawing/2014/main" val="10000"/>
                  </a:ext>
                </a:extLst>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extLst>
                  <a:ext uri="{0D108BD9-81ED-4DB2-BD59-A6C34878D82A}">
                    <a16:rowId xmlns:a16="http://schemas.microsoft.com/office/drawing/2014/main" val="10001"/>
                  </a:ext>
                </a:extLst>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extLst>
                  <a:ext uri="{0D108BD9-81ED-4DB2-BD59-A6C34878D82A}">
                    <a16:rowId xmlns:a16="http://schemas.microsoft.com/office/drawing/2014/main" val="10002"/>
                  </a:ext>
                </a:extLst>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extLst>
                  <a:ext uri="{0D108BD9-81ED-4DB2-BD59-A6C34878D82A}">
                    <a16:rowId xmlns:a16="http://schemas.microsoft.com/office/drawing/2014/main" val="10003"/>
                  </a:ext>
                </a:extLst>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extLst>
                  <a:ext uri="{0D108BD9-81ED-4DB2-BD59-A6C34878D82A}">
                    <a16:rowId xmlns:a16="http://schemas.microsoft.com/office/drawing/2014/main" val="10004"/>
                  </a:ext>
                </a:extLst>
              </a:tr>
            </a:tbl>
          </a:graphicData>
        </a:graphic>
      </p:graphicFrame>
      <p:sp>
        <p:nvSpPr>
          <p:cNvPr id="6" name="Denominator">
            <a:extLst>
              <a:ext uri="{FF2B5EF4-FFF2-40B4-BE49-F238E27FC236}">
                <a16:creationId xmlns:a16="http://schemas.microsoft.com/office/drawing/2014/main" id="{8386892F-0151-4195-BD3B-D352651C7FC0}"/>
              </a:ext>
            </a:extLst>
          </p:cNvPr>
          <p:cNvSpPr>
            <a:spLocks noGrp="1"/>
          </p:cNvSpPr>
          <p:nvPr/>
        </p:nvSpPr>
        <p:spPr>
          <a:xfrm>
            <a:off x="571500" y="4438092"/>
            <a:ext cx="11049000" cy="34290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a:ext uri="{FF2B5EF4-FFF2-40B4-BE49-F238E27FC236}">
                <a16:creationId xmlns:a16="http://schemas.microsoft.com/office/drawing/2014/main" id="{CEF6456F-FC6A-4A73-8D34-4B7CD530DC58}"/>
              </a:ext>
            </a:extLst>
          </p:cNvPr>
          <p:cNvSpPr>
            <a:spLocks noGrp="1"/>
          </p:cNvSpPr>
          <p:nvPr/>
        </p:nvSpPr>
        <p:spPr>
          <a:xfrm>
            <a:off x="3998707" y="4851701"/>
            <a:ext cx="11430000" cy="534687"/>
          </a:xfrm>
          <a:prstGeom prst="rect">
            <a:avLst/>
          </a:prstGeom>
          <a:noFill/>
          <a:ln w="0">
            <a:noFill/>
          </a:ln>
        </p:spPr>
        <p:txBody>
          <a:bodyPr wrap="square" lIns="0" tIns="0" rIns="0" bIns="0" anchor="t">
            <a:noAutofit/>
          </a:bodyPr>
          <a:lstStyle/>
          <a:p>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a:ext uri="{FF2B5EF4-FFF2-40B4-BE49-F238E27FC236}">
                <a16:creationId xmlns:a16="http://schemas.microsoft.com/office/drawing/2014/main" id="{901026DD-95D0-4A8C-AEF0-31761BA4A0A3}"/>
              </a:ext>
            </a:extLst>
          </p:cNvPr>
          <p:cNvSpPr>
            <a:spLocks noGrp="1"/>
          </p:cNvSpPr>
          <p:nvPr/>
        </p:nvSpPr>
        <p:spPr>
          <a:xfrm>
            <a:off x="571500" y="5743575"/>
            <a:ext cx="11049000" cy="638175"/>
          </a:xfrm>
          <a:prstGeom prst="rect">
            <a:avLst/>
          </a:prstGeom>
          <a:noFill/>
          <a:ln w="0">
            <a:noFill/>
          </a:ln>
        </p:spPr>
        <p:txBody>
          <a:bodyPr wrap="square" lIns="0" tIns="0" rIns="0" bIns="0" anchor="t">
            <a:noAutofit/>
          </a:bodyPr>
          <a:lstStyle/>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a:ext uri="{FF2B5EF4-FFF2-40B4-BE49-F238E27FC236}">
                <a16:creationId xmlns:a16="http://schemas.microsoft.com/office/drawing/2014/main" id="{67756C5F-26C6-4BAF-8B36-D5DD8B442D03}"/>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DD243214-83AE-4564-8780-041C2217A0D7}"/>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a:ext uri="{FF2B5EF4-FFF2-40B4-BE49-F238E27FC236}">
                <a16:creationId xmlns:a16="http://schemas.microsoft.com/office/drawing/2014/main" id="{6FE4F9B7-8A5D-44C8-A40E-DDFBD3A373A0}"/>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Result &amp; Findings : Self-check</a:t>
            </a:r>
          </a:p>
        </p:txBody>
      </p:sp>
      <p:sp>
        <p:nvSpPr>
          <p:cNvPr id="3" name="Straight Connector 2">
            <a:extLst>
              <a:ext uri="{FF2B5EF4-FFF2-40B4-BE49-F238E27FC236}">
                <a16:creationId xmlns:a16="http://schemas.microsoft.com/office/drawing/2014/main" id="{C3615C53-EC8C-44CA-9522-6C301ADADF2A}"/>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pic>
        <p:nvPicPr>
          <p:cNvPr id="23" name="Picture 12"/>
          <p:cNvPicPr>
            <a:picLocks noChangeAspect="1"/>
          </p:cNvPicPr>
          <p:nvPr/>
        </p:nvPicPr>
        <p:blipFill>
          <a:blip r:embed="rId3"/>
          <a:stretch/>
        </p:blipFill>
        <p:spPr>
          <a:xfrm>
            <a:off x="556054" y="1857375"/>
            <a:ext cx="5174392" cy="3190875"/>
          </a:xfrm>
          <a:prstGeom prst="rect">
            <a:avLst/>
          </a:prstGeom>
        </p:spPr>
      </p:pic>
      <p:sp>
        <p:nvSpPr>
          <p:cNvPr id="5" name="Pending summary">
            <a:extLst>
              <a:ext uri="{FF2B5EF4-FFF2-40B4-BE49-F238E27FC236}">
                <a16:creationId xmlns:a16="http://schemas.microsoft.com/office/drawing/2014/main" id="{D926A48E-033F-4494-B3BD-6AC6FF17FB55}"/>
              </a:ext>
            </a:extLst>
          </p:cNvPr>
          <p:cNvSpPr>
            <a:spLocks noGrp="1"/>
          </p:cNvSpPr>
          <p:nvPr/>
        </p:nvSpPr>
        <p:spPr>
          <a:xfrm>
            <a:off x="571500" y="5829300"/>
            <a:ext cx="11049000" cy="304800"/>
          </a:xfrm>
          <a:prstGeom prst="rect">
            <a:avLst/>
          </a:prstGeom>
          <a:noFill/>
          <a:ln w="0">
            <a:noFill/>
          </a:ln>
        </p:spPr>
        <p:txBody>
          <a:bodyPr wrap="square" lIns="0" tIns="0" rIns="0" bIns="0" anchor="t">
            <a:no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a:ext uri="{FF2B5EF4-FFF2-40B4-BE49-F238E27FC236}">
                <a16:creationId xmlns:a16="http://schemas.microsoft.com/office/drawing/2014/main" id="{731E89C8-DFC0-4117-8C4C-77FB11065F03}"/>
              </a:ext>
            </a:extLst>
          </p:cNvPr>
          <p:cNvSpPr>
            <a:spLocks noGrp="1"/>
          </p:cNvSpPr>
          <p:nvPr/>
        </p:nvSpPr>
        <p:spPr>
          <a:xfrm>
            <a:off x="571500" y="6248400"/>
            <a:ext cx="11049000" cy="238125"/>
          </a:xfrm>
          <a:prstGeom prst="rect">
            <a:avLst/>
          </a:prstGeom>
          <a:noFill/>
          <a:ln w="0">
            <a:noFill/>
          </a:ln>
        </p:spPr>
        <p:txBody>
          <a:bodyPr wrap="square" lIns="0" tIns="0" rIns="0" bIns="0" anchor="t">
            <a:noAutofit/>
          </a:bodyPr>
          <a:lstStyle/>
          <a:p>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a:ext uri="{FF2B5EF4-FFF2-40B4-BE49-F238E27FC236}">
                <a16:creationId xmlns:a16="http://schemas.microsoft.com/office/drawing/2014/main" id="{B8ED3713-4F57-472F-983B-DF52198F9025}"/>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pic>
        <p:nvPicPr>
          <p:cNvPr id="27" name="Picture 21"/>
          <p:cNvPicPr>
            <a:picLocks noChangeAspect="1"/>
          </p:cNvPicPr>
          <p:nvPr/>
        </p:nvPicPr>
        <p:blipFill>
          <a:blip r:embed="rId4"/>
          <a:stretch/>
        </p:blipFill>
        <p:spPr>
          <a:xfrm>
            <a:off x="6461554" y="1857375"/>
            <a:ext cx="5174392" cy="3190875"/>
          </a:xfrm>
          <a:prstGeom prst="rect">
            <a:avLst/>
          </a:prstGeom>
        </p:spPr>
      </p:pic>
      <p:sp>
        <p:nvSpPr>
          <p:cNvPr id="11" name="Overall error panel title">
            <a:extLst>
              <a:ext uri="{FF2B5EF4-FFF2-40B4-BE49-F238E27FC236}">
                <a16:creationId xmlns:a16="http://schemas.microsoft.com/office/drawing/2014/main" id="{8A2508C9-306D-45B1-BE80-D9C1FFFD0CE3}"/>
              </a:ext>
            </a:extLst>
          </p:cNvPr>
          <p:cNvSpPr>
            <a:spLocks noGrp="1"/>
          </p:cNvSpPr>
          <p:nvPr/>
        </p:nvSpPr>
        <p:spPr>
          <a:xfrm>
            <a:off x="571500" y="1476375"/>
            <a:ext cx="5334000" cy="342900"/>
          </a:xfrm>
          <a:prstGeom prst="rect">
            <a:avLst/>
          </a:prstGeom>
          <a:noFill/>
          <a:ln w="0">
            <a:noFill/>
          </a:ln>
        </p:spPr>
        <p:txBody>
          <a:bodyPr wrap="square"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a:ext uri="{FF2B5EF4-FFF2-40B4-BE49-F238E27FC236}">
                <a16:creationId xmlns:a16="http://schemas.microsoft.com/office/drawing/2014/main" id="{D3D90660-C6E8-4DB5-B9C4-F872C10FE68A}"/>
              </a:ext>
            </a:extLst>
          </p:cNvPr>
          <p:cNvSpPr>
            <a:spLocks noGrp="1"/>
          </p:cNvSpPr>
          <p:nvPr/>
        </p:nvSpPr>
        <p:spPr>
          <a:xfrm>
            <a:off x="6286500" y="1476375"/>
            <a:ext cx="5524500" cy="342900"/>
          </a:xfrm>
          <a:prstGeom prst="rect">
            <a:avLst/>
          </a:prstGeom>
          <a:noFill/>
          <a:ln w="0">
            <a:noFill/>
          </a:ln>
        </p:spPr>
        <p:txBody>
          <a:bodyPr wrap="square"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a:ext uri="{FF2B5EF4-FFF2-40B4-BE49-F238E27FC236}">
                <a16:creationId xmlns:a16="http://schemas.microsoft.com/office/drawing/2014/main" id="{FF5ECFD8-B7A9-445B-81B4-4C54DF9D961C}"/>
              </a:ext>
            </a:extLst>
          </p:cNvPr>
          <p:cNvSpPr>
            <a:spLocks noGrp="1"/>
          </p:cNvSpPr>
          <p:nvPr/>
        </p:nvSpPr>
        <p:spPr>
          <a:xfrm>
            <a:off x="571500" y="5143500"/>
            <a:ext cx="5334000" cy="590550"/>
          </a:xfrm>
          <a:prstGeom prst="rect">
            <a:avLst/>
          </a:prstGeom>
          <a:noFill/>
          <a:ln w="0">
            <a:noFill/>
          </a:ln>
        </p:spPr>
        <p:txBody>
          <a:bodyPr wrap="square" anchor="t">
            <a:noAutofit/>
          </a:bodyPr>
          <a:lstStyle/>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a:ext uri="{FF2B5EF4-FFF2-40B4-BE49-F238E27FC236}">
                <a16:creationId xmlns:a16="http://schemas.microsoft.com/office/drawing/2014/main" id="{AD213B38-EA36-4251-875D-FBF005E45952}"/>
              </a:ext>
            </a:extLst>
          </p:cNvPr>
          <p:cNvSpPr>
            <a:spLocks noGrp="1"/>
          </p:cNvSpPr>
          <p:nvPr/>
        </p:nvSpPr>
        <p:spPr>
          <a:xfrm>
            <a:off x="6286500" y="5143500"/>
            <a:ext cx="5524500" cy="590550"/>
          </a:xfrm>
          <a:prstGeom prst="rect">
            <a:avLst/>
          </a:prstGeom>
          <a:noFill/>
          <a:ln w="0">
            <a:noFill/>
          </a:ln>
        </p:spPr>
        <p:txBody>
          <a:bodyPr wrap="square" anchor="t">
            <a:noAutofit/>
          </a:bodyPr>
          <a:lstStyle/>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a:ext uri="{FF2B5EF4-FFF2-40B4-BE49-F238E27FC236}">
                <a16:creationId xmlns:a16="http://schemas.microsoft.com/office/drawing/2014/main" id="{CBD96195-0BAB-47E5-A168-56B5E640AD11}"/>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00299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4E0BCB98-4E5F-46D7-BBCC-D3344B27EEEE}"/>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a:ext uri="{FF2B5EF4-FFF2-40B4-BE49-F238E27FC236}">
                <a16:creationId xmlns:a16="http://schemas.microsoft.com/office/drawing/2014/main" id="{B3178C04-7B4C-4AF8-A522-CC0554C1C1DC}"/>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7.Result &amp; Finds : Cross-check</a:t>
            </a:r>
          </a:p>
        </p:txBody>
      </p:sp>
      <p:sp>
        <p:nvSpPr>
          <p:cNvPr id="3" name="Straight Connector 2">
            <a:extLst>
              <a:ext uri="{FF2B5EF4-FFF2-40B4-BE49-F238E27FC236}">
                <a16:creationId xmlns:a16="http://schemas.microsoft.com/office/drawing/2014/main" id="{36C6AC0A-36C2-4DDF-831F-165BEA9FF21D}"/>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pic>
        <p:nvPicPr>
          <p:cNvPr id="15" name="Picture 12"/>
          <p:cNvPicPr>
            <a:picLocks noChangeAspect="1"/>
          </p:cNvPicPr>
          <p:nvPr/>
        </p:nvPicPr>
        <p:blipFill>
          <a:blip r:embed="rId3"/>
          <a:srcRect/>
          <a:stretch>
            <a:fillRect/>
          </a:stretch>
        </p:blipFill>
        <p:spPr>
          <a:xfrm>
            <a:off x="381000" y="1447800"/>
            <a:ext cx="11430000" cy="4286250"/>
          </a:xfrm>
          <a:prstGeom prst="rect">
            <a:avLst/>
          </a:prstGeom>
        </p:spPr>
      </p:pic>
      <p:sp>
        <p:nvSpPr>
          <p:cNvPr id="5" name="Pending summary">
            <a:extLst>
              <a:ext uri="{FF2B5EF4-FFF2-40B4-BE49-F238E27FC236}">
                <a16:creationId xmlns:a16="http://schemas.microsoft.com/office/drawing/2014/main" id="{6DE3CB9F-AF76-490F-B334-505C3E6B451B}"/>
              </a:ext>
            </a:extLst>
          </p:cNvPr>
          <p:cNvSpPr>
            <a:spLocks noGrp="1"/>
          </p:cNvSpPr>
          <p:nvPr/>
        </p:nvSpPr>
        <p:spPr>
          <a:xfrm>
            <a:off x="571500" y="5829300"/>
            <a:ext cx="11049000" cy="304800"/>
          </a:xfrm>
          <a:prstGeom prst="rect">
            <a:avLst/>
          </a:prstGeom>
          <a:noFill/>
          <a:ln w="0">
            <a:noFill/>
          </a:ln>
        </p:spPr>
        <p:txBody>
          <a:bodyPr wrap="square" lIns="0" tIns="0" rIns="0" bIns="0" anchor="t">
            <a:no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Illustrative bank errors: 70/493 initial → 39/493 self-check → 15/493 cross-check.</a:t>
            </a:r>
          </a:p>
        </p:txBody>
      </p:sp>
      <p:sp>
        <p:nvSpPr>
          <p:cNvPr id="6" name="Figure context">
            <a:extLst>
              <a:ext uri="{FF2B5EF4-FFF2-40B4-BE49-F238E27FC236}">
                <a16:creationId xmlns:a16="http://schemas.microsoft.com/office/drawing/2014/main" id="{EFE702A3-D60A-40B0-9862-122E622F8D69}"/>
              </a:ext>
            </a:extLst>
          </p:cNvPr>
          <p:cNvSpPr>
            <a:spLocks noGrp="1"/>
          </p:cNvSpPr>
          <p:nvPr/>
        </p:nvSpPr>
        <p:spPr>
          <a:xfrm>
            <a:off x="571500" y="6248400"/>
            <a:ext cx="11049000" cy="238125"/>
          </a:xfrm>
          <a:prstGeom prst="rect">
            <a:avLst/>
          </a:prstGeom>
          <a:noFill/>
          <a:ln w="0">
            <a:noFill/>
          </a:ln>
        </p:spPr>
        <p:txBody>
          <a:bodyPr wrap="square" lIns="0" tIns="0" rIns="0" bIns="0" anchor="t">
            <a:noAutofit/>
          </a:bodyPr>
          <a:lstStyle/>
          <a:p>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Only the 63 selected initial errors are checked; all other answers retain their initial result.</a:t>
            </a:r>
          </a:p>
        </p:txBody>
      </p:sp>
      <p:sp>
        <p:nvSpPr>
          <p:cNvPr id="7" name="Page">
            <a:extLst>
              <a:ext uri="{FF2B5EF4-FFF2-40B4-BE49-F238E27FC236}">
                <a16:creationId xmlns:a16="http://schemas.microsoft.com/office/drawing/2014/main" id="{AAB61284-C12E-43DD-965B-ECF45F4E85F8}"/>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10" name="Speaker">
            <a:extLst>
              <a:ext uri="{FF2B5EF4-FFF2-40B4-BE49-F238E27FC236}">
                <a16:creationId xmlns:a16="http://schemas.microsoft.com/office/drawing/2014/main" id="{28BAD8F0-7556-4209-B61E-A998927BB24B}"/>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755709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9F624FE0-D9BC-4D77-906E-AF6389DF0C93}"/>
              </a:ext>
            </a:extLst>
          </p:cNvPr>
          <p:cNvSpPr>
            <a:spLocks noGrp="1"/>
          </p:cNvSpPr>
          <p:nvPr/>
        </p:nvSpPr>
        <p:spPr>
          <a:xfrm>
            <a:off x="8572500" y="228600"/>
            <a:ext cx="3143250" cy="238125"/>
          </a:xfrm>
          <a:prstGeom prst="rect">
            <a:avLst/>
          </a:prstGeom>
          <a:noFill/>
          <a:ln w="0">
            <a:noFill/>
          </a:ln>
        </p:spPr>
        <p:txBody>
          <a:bodyPr wrap="square" lIns="0" tIns="0" rIns="0" bIns="0">
            <a:norm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a:ext uri="{FF2B5EF4-FFF2-40B4-BE49-F238E27FC236}">
                <a16:creationId xmlns:a16="http://schemas.microsoft.com/office/drawing/2014/main" id="{A341981B-6843-4565-93A1-89618615983C}"/>
              </a:ext>
            </a:extLst>
          </p:cNvPr>
          <p:cNvSpPr>
            <a:spLocks noGrp="1"/>
          </p:cNvSpPr>
          <p:nvPr/>
        </p:nvSpPr>
        <p:spPr>
          <a:xfrm>
            <a:off x="381000" y="552450"/>
            <a:ext cx="11334750" cy="619125"/>
          </a:xfrm>
          <a:prstGeom prst="rect">
            <a:avLst/>
          </a:prstGeom>
          <a:noFill/>
          <a:ln w="0">
            <a:noFill/>
          </a:ln>
        </p:spPr>
        <p:txBody>
          <a:bodyPr wrap="square" lIns="0" tIns="0" rIns="0" bIns="0">
            <a:normAutofit/>
          </a:bodyPr>
          <a:lstStyle/>
          <a:p>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a:ext uri="{FF2B5EF4-FFF2-40B4-BE49-F238E27FC236}">
                <a16:creationId xmlns:a16="http://schemas.microsoft.com/office/drawing/2014/main" id="{03381659-F48B-4070-B13F-8608B4AEF45F}"/>
              </a:ext>
            </a:extLst>
          </p:cNvPr>
          <p:cNvSpPr>
            <a:spLocks noGrp="1"/>
          </p:cNvSpPr>
          <p:nvPr/>
        </p:nvSpPr>
        <p:spPr>
          <a:xfrm>
            <a:off x="381000" y="1238250"/>
            <a:ext cx="11430000" cy="9525"/>
          </a:xfrm>
          <a:prstGeom prst="rect">
            <a:avLst/>
          </a:prstGeom>
          <a:solidFill>
            <a:srgbClr val="DEE7EC"/>
          </a:solidFill>
          <a:ln w="0">
            <a:noFill/>
          </a:ln>
        </p:spPr>
        <p:txBody>
          <a:bodyPr/>
          <a:lstStyle/>
          <a:p>
            <a:endParaRPr/>
          </a:p>
        </p:txBody>
      </p:sp>
      <p:pic>
        <p:nvPicPr>
          <p:cNvPr id="16" name="Picture 12"/>
          <p:cNvPicPr>
            <a:picLocks noChangeAspect="1"/>
          </p:cNvPicPr>
          <p:nvPr/>
        </p:nvPicPr>
        <p:blipFill>
          <a:blip r:embed="rId3"/>
          <a:stretch/>
        </p:blipFill>
        <p:spPr>
          <a:xfrm>
            <a:off x="381000" y="1447800"/>
            <a:ext cx="11430000" cy="4286250"/>
          </a:xfrm>
          <a:prstGeom prst="rect">
            <a:avLst/>
          </a:prstGeom>
        </p:spPr>
      </p:pic>
      <p:sp>
        <p:nvSpPr>
          <p:cNvPr id="5" name="Summary">
            <a:extLst>
              <a:ext uri="{FF2B5EF4-FFF2-40B4-BE49-F238E27FC236}">
                <a16:creationId xmlns:a16="http://schemas.microsoft.com/office/drawing/2014/main" id="{B8C095C8-2E70-4DEE-9CC5-8A8C7EE8C867}"/>
              </a:ext>
            </a:extLst>
          </p:cNvPr>
          <p:cNvSpPr>
            <a:spLocks noGrp="1"/>
          </p:cNvSpPr>
          <p:nvPr/>
        </p:nvSpPr>
        <p:spPr>
          <a:xfrm>
            <a:off x="571500" y="5829300"/>
            <a:ext cx="11049000" cy="304800"/>
          </a:xfrm>
          <a:prstGeom prst="rect">
            <a:avLst/>
          </a:prstGeom>
          <a:noFill/>
          <a:ln w="0">
            <a:noFill/>
          </a:ln>
        </p:spPr>
        <p:txBody>
          <a:bodyPr wrap="square" lIns="0" tIns="0" rIns="0" bIns="0">
            <a:norm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a:ext uri="{FF2B5EF4-FFF2-40B4-BE49-F238E27FC236}">
                <a16:creationId xmlns:a16="http://schemas.microsoft.com/office/drawing/2014/main" id="{280FC65F-C89D-4628-A0C2-21644AC2FA6C}"/>
              </a:ext>
            </a:extLst>
          </p:cNvPr>
          <p:cNvSpPr>
            <a:spLocks noGrp="1"/>
          </p:cNvSpPr>
          <p:nvPr/>
        </p:nvSpPr>
        <p:spPr>
          <a:xfrm>
            <a:off x="571500" y="6248400"/>
            <a:ext cx="11049000" cy="238125"/>
          </a:xfrm>
          <a:prstGeom prst="rect">
            <a:avLst/>
          </a:prstGeom>
          <a:noFill/>
          <a:ln w="0">
            <a:noFill/>
          </a:ln>
        </p:spPr>
        <p:txBody>
          <a:bodyPr wrap="square" lIns="0" tIns="0" rIns="0" bIns="0">
            <a:normAutofit/>
          </a:bodyPr>
          <a:lstStyle/>
          <a:p>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a:ext uri="{FF2B5EF4-FFF2-40B4-BE49-F238E27FC236}">
                <a16:creationId xmlns:a16="http://schemas.microsoft.com/office/drawing/2014/main" id="{F543B412-1C39-4C0F-8FD6-4E24F17387B0}"/>
              </a:ext>
            </a:extLst>
          </p:cNvPr>
          <p:cNvSpPr>
            <a:spLocks noGrp="1"/>
          </p:cNvSpPr>
          <p:nvPr/>
        </p:nvSpPr>
        <p:spPr>
          <a:xfrm>
            <a:off x="11430000" y="6505575"/>
            <a:ext cx="381000" cy="190500"/>
          </a:xfrm>
          <a:prstGeom prst="rect">
            <a:avLst/>
          </a:prstGeom>
          <a:noFill/>
          <a:ln w="0">
            <a:noFill/>
          </a:ln>
        </p:spPr>
        <p:txBody>
          <a:bodyPr wrap="square" lIns="0" tIns="0" rIns="0" bIns="0">
            <a:normAutofit/>
          </a:bodyPr>
          <a:lstStyle/>
          <a:p>
            <a:pPr algn="r">
              <a:buNone/>
              <a:defRPr sz="900">
                <a:solidFill>
                  <a:srgbClr val="657586"/>
                </a:solidFill>
                <a:latin typeface="Helvetica Neue"/>
                <a:ea typeface="Helvetica Neue"/>
                <a:cs typeface="Helvetica Neue"/>
              </a:defRPr>
            </a:pPr>
            <a:r>
              <a:t>17</a:t>
            </a:r>
          </a:p>
        </p:txBody>
      </p:sp>
      <p:sp>
        <p:nvSpPr>
          <p:cNvPr id="10" name="Speaker">
            <a:extLst>
              <a:ext uri="{FF2B5EF4-FFF2-40B4-BE49-F238E27FC236}">
                <a16:creationId xmlns:a16="http://schemas.microsoft.com/office/drawing/2014/main" id="{AD25DE80-BC70-4CC7-B078-4C4414219A4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noChangeAspect="1"/>
          </p:cNvPicPr>
          <p:nvPr/>
        </p:nvPicPr>
        <p:blipFill>
          <a:blip r:embed="rId4"/>
          <a:stretch/>
        </p:blipFill>
        <p:spPr>
          <a:xfrm>
            <a:off x="1316814" y="1285875"/>
            <a:ext cx="2449035" cy="1882467"/>
          </a:xfrm>
          <a:prstGeom prst="rect">
            <a:avLst/>
          </a:prstGeom>
        </p:spPr>
      </p:pic>
    </p:spTree>
    <p:extLst>
      <p:ext uri="{BB962C8B-B14F-4D97-AF65-F5344CB8AC3E}">
        <p14:creationId xmlns:p14="http://schemas.microsoft.com/office/powerpoint/2010/main" val="1373306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8A06AB72-8626-402D-A84A-96C817765B94}"/>
              </a:ext>
            </a:extLst>
          </p:cNvPr>
          <p:cNvSpPr>
            <a:spLocks noGrp="1"/>
          </p:cNvSpPr>
          <p:nvPr/>
        </p:nvSpPr>
        <p:spPr>
          <a:xfrm>
            <a:off x="8572500" y="228600"/>
            <a:ext cx="3143250" cy="238125"/>
          </a:xfrm>
          <a:prstGeom prst="rect">
            <a:avLst/>
          </a:prstGeom>
          <a:noFill/>
          <a:ln w="0">
            <a:noFill/>
          </a:ln>
        </p:spPr>
        <p:txBody>
          <a:bodyPr wrap="square" lIns="0" tIns="0" rIns="0" bIns="0">
            <a:norm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a:ext uri="{FF2B5EF4-FFF2-40B4-BE49-F238E27FC236}">
                <a16:creationId xmlns:a16="http://schemas.microsoft.com/office/drawing/2014/main" id="{8770963E-2813-4316-8D92-9BC91C9A2335}"/>
              </a:ext>
            </a:extLst>
          </p:cNvPr>
          <p:cNvSpPr>
            <a:spLocks noGrp="1"/>
          </p:cNvSpPr>
          <p:nvPr/>
        </p:nvSpPr>
        <p:spPr>
          <a:xfrm>
            <a:off x="381000" y="552450"/>
            <a:ext cx="11334750" cy="619125"/>
          </a:xfrm>
          <a:prstGeom prst="rect">
            <a:avLst/>
          </a:prstGeom>
          <a:noFill/>
          <a:ln w="0">
            <a:noFill/>
          </a:ln>
        </p:spPr>
        <p:txBody>
          <a:bodyPr wrap="square" lIns="0" tIns="0" rIns="0" bIns="0">
            <a:normAutofit/>
          </a:bodyPr>
          <a:lstStyle/>
          <a:p>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New wrong answers after selected prompts</a:t>
            </a:r>
          </a:p>
        </p:txBody>
      </p:sp>
      <p:sp>
        <p:nvSpPr>
          <p:cNvPr id="3" name="Divider">
            <a:extLst>
              <a:ext uri="{FF2B5EF4-FFF2-40B4-BE49-F238E27FC236}">
                <a16:creationId xmlns:a16="http://schemas.microsoft.com/office/drawing/2014/main" id="{D81BBEED-D0AF-4E3A-8242-5145C1D3C63A}"/>
              </a:ext>
            </a:extLst>
          </p:cNvPr>
          <p:cNvSpPr>
            <a:spLocks noGrp="1"/>
          </p:cNvSpPr>
          <p:nvPr/>
        </p:nvSpPr>
        <p:spPr>
          <a:xfrm>
            <a:off x="381000" y="1238250"/>
            <a:ext cx="11430000" cy="9525"/>
          </a:xfrm>
          <a:prstGeom prst="rect">
            <a:avLst/>
          </a:prstGeom>
          <a:solidFill>
            <a:srgbClr val="DEE7EC"/>
          </a:solidFill>
          <a:ln w="0">
            <a:noFill/>
          </a:ln>
        </p:spPr>
        <p:txBody>
          <a:bodyPr/>
          <a:lstStyle/>
          <a:p>
            <a:endParaRPr/>
          </a:p>
        </p:txBody>
      </p:sp>
      <p:sp>
        <p:nvSpPr>
          <p:cNvPr id="5" name="Summary">
            <a:extLst>
              <a:ext uri="{FF2B5EF4-FFF2-40B4-BE49-F238E27FC236}">
                <a16:creationId xmlns:a16="http://schemas.microsoft.com/office/drawing/2014/main" id="{0B1EAE8C-AF55-431C-8628-3AB94EC8B86C}"/>
              </a:ext>
            </a:extLst>
          </p:cNvPr>
          <p:cNvSpPr>
            <a:spLocks noGrp="1"/>
          </p:cNvSpPr>
          <p:nvPr/>
        </p:nvSpPr>
        <p:spPr>
          <a:xfrm>
            <a:off x="571500" y="5829300"/>
            <a:ext cx="11049000" cy="304800"/>
          </a:xfrm>
          <a:prstGeom prst="rect">
            <a:avLst/>
          </a:prstGeom>
          <a:noFill/>
          <a:ln w="0">
            <a:noFill/>
          </a:ln>
        </p:spPr>
        <p:txBody>
          <a:bodyPr wrap="square" lIns="0" tIns="0" rIns="0" bIns="0">
            <a:normAutofit/>
          </a:bodyPr>
          <a:lstStyle/>
          <a:p>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False user challenge added 10 errors; self-check added 1; scripted AI advice added 0.</a:t>
            </a:r>
          </a:p>
        </p:txBody>
      </p:sp>
      <p:sp>
        <p:nvSpPr>
          <p:cNvPr id="6" name="Figure context">
            <a:extLst>
              <a:ext uri="{FF2B5EF4-FFF2-40B4-BE49-F238E27FC236}">
                <a16:creationId xmlns:a16="http://schemas.microsoft.com/office/drawing/2014/main" id="{AD25C590-BEE2-4CE0-B267-147E27F5C4FB}"/>
              </a:ext>
            </a:extLst>
          </p:cNvPr>
          <p:cNvSpPr>
            <a:spLocks noGrp="1"/>
          </p:cNvSpPr>
          <p:nvPr/>
        </p:nvSpPr>
        <p:spPr>
          <a:xfrm>
            <a:off x="571500" y="6248400"/>
            <a:ext cx="11049000" cy="238125"/>
          </a:xfrm>
          <a:prstGeom prst="rect">
            <a:avLst/>
          </a:prstGeom>
          <a:noFill/>
          <a:ln w="0">
            <a:noFill/>
          </a:ln>
        </p:spPr>
        <p:txBody>
          <a:bodyPr wrap="square" lIns="0" tIns="0" rIns="0" bIns="0">
            <a:normAutofit/>
          </a:bodyPr>
          <a:lstStyle/>
          <a:p>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Illustrative bank totals keep the other 425 initial answers unchanged; no full-bank check was run.</a:t>
            </a:r>
          </a:p>
        </p:txBody>
      </p:sp>
      <p:sp>
        <p:nvSpPr>
          <p:cNvPr id="7" name="Page">
            <a:extLst>
              <a:ext uri="{FF2B5EF4-FFF2-40B4-BE49-F238E27FC236}">
                <a16:creationId xmlns:a16="http://schemas.microsoft.com/office/drawing/2014/main" id="{31BB5DDF-A9D3-479F-9AC3-143D6C8795F1}"/>
              </a:ext>
            </a:extLst>
          </p:cNvPr>
          <p:cNvSpPr>
            <a:spLocks noGrp="1"/>
          </p:cNvSpPr>
          <p:nvPr/>
        </p:nvSpPr>
        <p:spPr>
          <a:xfrm>
            <a:off x="11430000" y="6505575"/>
            <a:ext cx="381000" cy="190500"/>
          </a:xfrm>
          <a:prstGeom prst="rect">
            <a:avLst/>
          </a:prstGeom>
          <a:noFill/>
          <a:ln w="0">
            <a:noFill/>
          </a:ln>
        </p:spPr>
        <p:txBody>
          <a:bodyPr wrap="square" lIns="0" tIns="0" rIns="0" bIns="0">
            <a:normAutofit/>
          </a:bodyPr>
          <a:lstStyle/>
          <a:p>
            <a:pPr algn="r">
              <a:buNone/>
              <a:defRPr sz="900">
                <a:solidFill>
                  <a:srgbClr val="657586"/>
                </a:solidFill>
                <a:latin typeface="Helvetica Neue"/>
                <a:ea typeface="Helvetica Neue"/>
                <a:cs typeface="Helvetica Neue"/>
              </a:defRPr>
            </a:pPr>
            <a:r>
              <a:t>18</a:t>
            </a:r>
          </a:p>
        </p:txBody>
      </p:sp>
      <p:sp>
        <p:nvSpPr>
          <p:cNvPr id="10" name="Matched denominator">
            <a:extLst>
              <a:ext uri="{FF2B5EF4-FFF2-40B4-BE49-F238E27FC236}">
                <a16:creationId xmlns:a16="http://schemas.microsoft.com/office/drawing/2014/main" id="{53D91F63-A81E-4EEA-8BEF-8DA02EF3A50D}"/>
              </a:ext>
            </a:extLst>
          </p:cNvPr>
          <p:cNvSpPr>
            <a:spLocks noGrp="1"/>
          </p:cNvSpPr>
          <p:nvPr/>
        </p:nvSpPr>
        <p:spPr>
          <a:xfrm>
            <a:off x="571500" y="5629275"/>
            <a:ext cx="11049000" cy="247650"/>
          </a:xfrm>
          <a:prstGeom prst="rect">
            <a:avLst/>
          </a:prstGeom>
          <a:noFill/>
          <a:ln w="0">
            <a:noFill/>
          </a:ln>
        </p:spPr>
        <p:txBody>
          <a:bodyPr wrap="square" lIns="0" tIns="0" rIns="0" bIns="0" anchor="t">
            <a:noAutofit/>
          </a:bodyPr>
          <a:lstStyle/>
          <a:p>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Three parallel checks of 68 selected correct answers; the bank starts with 70 errors</a:t>
            </a:r>
          </a:p>
        </p:txBody>
      </p:sp>
      <p:sp>
        <p:nvSpPr>
          <p:cNvPr id="16" name="Speaker">
            <a:extLst>
              <a:ext uri="{FF2B5EF4-FFF2-40B4-BE49-F238E27FC236}">
                <a16:creationId xmlns:a16="http://schemas.microsoft.com/office/drawing/2014/main" id="{EDD69F61-0A03-4EDB-A92D-A49F420FB2E5}"/>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4" name="Picture 38">
            <a:extLst>
              <a:ext uri="{FF2B5EF4-FFF2-40B4-BE49-F238E27FC236}">
                <a16:creationId xmlns:a16="http://schemas.microsoft.com/office/drawing/2014/main" id="{4AFEF93C-4714-5E3F-DCB9-04C281555BC4}"/>
              </a:ext>
            </a:extLst>
          </p:cNvPr>
          <p:cNvPicPr>
            <a:picLocks noChangeAspect="1"/>
          </p:cNvPicPr>
          <p:nvPr/>
        </p:nvPicPr>
        <p:blipFill>
          <a:blip r:embed="rId3"/>
          <a:srcRect l="26" r="26"/>
          <a:stretch>
            <a:fillRect/>
          </a:stretch>
        </p:blipFill>
        <p:spPr>
          <a:xfrm>
            <a:off x="757518" y="1481138"/>
            <a:ext cx="8935122" cy="3722968"/>
          </a:xfrm>
          <a:prstGeom prst="rect">
            <a:avLst/>
          </a:prstGeom>
        </p:spPr>
      </p:pic>
    </p:spTree>
    <p:extLst>
      <p:ext uri="{BB962C8B-B14F-4D97-AF65-F5344CB8AC3E}">
        <p14:creationId xmlns:p14="http://schemas.microsoft.com/office/powerpoint/2010/main" val="1808354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FCB8F2D2-D177-453E-9550-A32015CE5697}"/>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a:ext uri="{FF2B5EF4-FFF2-40B4-BE49-F238E27FC236}">
                <a16:creationId xmlns:a16="http://schemas.microsoft.com/office/drawing/2014/main" id="{10165ABA-F376-4042-8D59-EB5AF2000647}"/>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a:ext uri="{FF2B5EF4-FFF2-40B4-BE49-F238E27FC236}">
                <a16:creationId xmlns:a16="http://schemas.microsoft.com/office/drawing/2014/main" id="{870B094E-B543-4C0A-B7A4-B982F0241262}"/>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12" name="Question">
            <a:extLst>
              <a:ext uri="{FF2B5EF4-FFF2-40B4-BE49-F238E27FC236}">
                <a16:creationId xmlns:a16="http://schemas.microsoft.com/office/drawing/2014/main" id="{8A844C63-0E98-41D8-88FA-8E5954EC37FC}"/>
              </a:ext>
            </a:extLst>
          </p:cNvPr>
          <p:cNvSpPr>
            <a:spLocks noGrp="1"/>
          </p:cNvSpPr>
          <p:nvPr/>
        </p:nvSpPr>
        <p:spPr>
          <a:xfrm>
            <a:off x="571500" y="1495425"/>
            <a:ext cx="11049000" cy="7239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a:ext uri="{FF2B5EF4-FFF2-40B4-BE49-F238E27FC236}">
                <a16:creationId xmlns:a16="http://schemas.microsoft.com/office/drawing/2014/main" id="{C27C678E-ADDA-4FB8-B2D3-8D4603769866}"/>
              </a:ext>
            </a:extLst>
          </p:cNvPr>
          <p:cNvSpPr>
            <a:spLocks noGrp="1"/>
          </p:cNvSpPr>
          <p:nvPr/>
        </p:nvSpPr>
        <p:spPr>
          <a:xfrm>
            <a:off x="571500" y="2324100"/>
            <a:ext cx="5191125" cy="381000"/>
          </a:xfrm>
          <a:prstGeom prst="rect">
            <a:avLst/>
          </a:prstGeom>
          <a:noFill/>
          <a:ln w="0">
            <a:noFill/>
          </a:ln>
        </p:spPr>
        <p:txBody>
          <a:bodyPr wrap="square" lIns="0" tIns="0" rIns="0" bIns="0" anchor="t">
            <a:noAutofit/>
          </a:bodyPr>
          <a:lstStyle/>
          <a:p>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a:ext uri="{FF2B5EF4-FFF2-40B4-BE49-F238E27FC236}">
                <a16:creationId xmlns:a16="http://schemas.microsoft.com/office/drawing/2014/main" id="{202AAD98-5FF3-42E2-B6B5-DC878C9A01AB}"/>
              </a:ext>
            </a:extLst>
          </p:cNvPr>
          <p:cNvSpPr>
            <a:spLocks noGrp="1"/>
          </p:cNvSpPr>
          <p:nvPr/>
        </p:nvSpPr>
        <p:spPr>
          <a:xfrm>
            <a:off x="6429375" y="2324100"/>
            <a:ext cx="5191125" cy="381000"/>
          </a:xfrm>
          <a:prstGeom prst="rect">
            <a:avLst/>
          </a:prstGeom>
          <a:noFill/>
          <a:ln w="0">
            <a:noFill/>
          </a:ln>
        </p:spPr>
        <p:txBody>
          <a:bodyPr wrap="square" lIns="0" tIns="0" rIns="0" bIns="0" anchor="t">
            <a:noAutofit/>
          </a:bodyPr>
          <a:lstStyle/>
          <a:p>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a:ext uri="{FF2B5EF4-FFF2-40B4-BE49-F238E27FC236}">
                <a16:creationId xmlns:a16="http://schemas.microsoft.com/office/drawing/2014/main" id="{EB2172F9-BF06-47E4-A346-837BDCD5FFF9}"/>
              </a:ext>
            </a:extLst>
          </p:cNvPr>
          <p:cNvSpPr>
            <a:spLocks noGrp="1"/>
          </p:cNvSpPr>
          <p:nvPr/>
        </p:nvSpPr>
        <p:spPr>
          <a:xfrm>
            <a:off x="571500" y="2771775"/>
            <a:ext cx="5191125" cy="3143250"/>
          </a:xfrm>
          <a:prstGeom prst="rect">
            <a:avLst/>
          </a:prstGeom>
          <a:noFill/>
          <a:ln w="0">
            <a:noFill/>
          </a:ln>
        </p:spPr>
        <p:txBody>
          <a:bodyPr wrap="square" lIns="0" tIns="0" rIns="0" bIns="0" anchor="t">
            <a:noAutofit/>
          </a:bodyPr>
          <a:lstStyle/>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a:ext uri="{FF2B5EF4-FFF2-40B4-BE49-F238E27FC236}">
                <a16:creationId xmlns:a16="http://schemas.microsoft.com/office/drawing/2014/main" id="{4E140731-3940-4564-AB8D-D9DDFFA0C7AC}"/>
              </a:ext>
            </a:extLst>
          </p:cNvPr>
          <p:cNvSpPr>
            <a:spLocks noGrp="1"/>
          </p:cNvSpPr>
          <p:nvPr/>
        </p:nvSpPr>
        <p:spPr>
          <a:xfrm>
            <a:off x="6429375" y="2771775"/>
            <a:ext cx="5191125" cy="3143250"/>
          </a:xfrm>
          <a:prstGeom prst="rect">
            <a:avLst/>
          </a:prstGeom>
          <a:noFill/>
          <a:ln w="0">
            <a:noFill/>
          </a:ln>
        </p:spPr>
        <p:txBody>
          <a:bodyPr wrap="square" lIns="0" tIns="0" rIns="0" bIns="0" anchor="t">
            <a:noAutofit/>
          </a:bodyPr>
          <a:lstStyle/>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a:endParaRPr sz="1800" b="0">
              <a:solidFill>
                <a:srgbClr val="142C40"/>
              </a:solidFill>
              <a:latin typeface="Helvetica Neue"/>
              <a:ea typeface="Helvetica Neue"/>
              <a:cs typeface="Helvetica Neue"/>
            </a:endParaRPr>
          </a:p>
          <a:p>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a:ext uri="{FF2B5EF4-FFF2-40B4-BE49-F238E27FC236}">
                <a16:creationId xmlns:a16="http://schemas.microsoft.com/office/drawing/2014/main" id="{11CC430C-127D-4815-A8F2-9300766F3716}"/>
              </a:ext>
            </a:extLst>
          </p:cNvPr>
          <p:cNvSpPr>
            <a:spLocks noGrp="1"/>
          </p:cNvSpPr>
          <p:nvPr/>
        </p:nvSpPr>
        <p:spPr>
          <a:xfrm>
            <a:off x="571500" y="5943600"/>
            <a:ext cx="11049000" cy="304800"/>
          </a:xfrm>
          <a:prstGeom prst="rect">
            <a:avLst/>
          </a:prstGeom>
          <a:noFill/>
          <a:ln w="0">
            <a:noFill/>
          </a:ln>
        </p:spPr>
        <p:txBody>
          <a:bodyPr wrap="square" lIns="0" tIns="0" rIns="0" bIns="0" anchor="t">
            <a:noAutofit/>
          </a:bodyPr>
          <a:lstStyle/>
          <a:p>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a:ext uri="{FF2B5EF4-FFF2-40B4-BE49-F238E27FC236}">
                <a16:creationId xmlns:a16="http://schemas.microsoft.com/office/drawing/2014/main" id="{40FA822A-7509-4E4E-94E9-6753E5826495}"/>
              </a:ext>
            </a:extLst>
          </p:cNvPr>
          <p:cNvSpPr>
            <a:spLocks noGrp="1"/>
          </p:cNvSpPr>
          <p:nvPr/>
        </p:nvSpPr>
        <p:spPr>
          <a:xfrm>
            <a:off x="571500" y="6305550"/>
            <a:ext cx="10572750" cy="228600"/>
          </a:xfrm>
          <a:prstGeom prst="rect">
            <a:avLst/>
          </a:prstGeom>
          <a:noFill/>
          <a:ln w="0">
            <a:noFill/>
          </a:ln>
        </p:spPr>
        <p:txBody>
          <a:bodyPr wrap="square" lIns="0" tIns="0" rIns="0" bIns="0" anchor="t">
            <a:noAutofit/>
          </a:bodyPr>
          <a:lstStyle/>
          <a:p>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a:ext uri="{FF2B5EF4-FFF2-40B4-BE49-F238E27FC236}">
                <a16:creationId xmlns:a16="http://schemas.microsoft.com/office/drawing/2014/main" id="{26B59A45-D1E0-4D86-98C6-45CDB192D7E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10" name="Section">
            <a:extLst>
              <a:ext uri="{FF2B5EF4-FFF2-40B4-BE49-F238E27FC236}">
                <a16:creationId xmlns:a16="http://schemas.microsoft.com/office/drawing/2014/main" id="{114891A6-9D4C-4971-A9E3-7CA7773B2DE2}"/>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LIMITATIONS</a:t>
            </a:r>
          </a:p>
        </p:txBody>
      </p:sp>
      <p:sp>
        <p:nvSpPr>
          <p:cNvPr id="2" name="Title">
            <a:extLst>
              <a:ext uri="{FF2B5EF4-FFF2-40B4-BE49-F238E27FC236}">
                <a16:creationId xmlns:a16="http://schemas.microsoft.com/office/drawing/2014/main" id="{7181F028-0666-455C-AAA0-F537516F983E}"/>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Limitations</a:t>
            </a:r>
          </a:p>
        </p:txBody>
      </p:sp>
      <p:sp>
        <p:nvSpPr>
          <p:cNvPr id="3" name="Straight Connector 2">
            <a:extLst>
              <a:ext uri="{FF2B5EF4-FFF2-40B4-BE49-F238E27FC236}">
                <a16:creationId xmlns:a16="http://schemas.microsoft.com/office/drawing/2014/main" id="{C8BC5693-5E80-47AF-9160-EBF6EB8D5F4C}"/>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D276DD61-85B5-4E5C-B49C-DBCB17078182}"/>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7" name="Limitations label">
            <a:extLst>
              <a:ext uri="{FF2B5EF4-FFF2-40B4-BE49-F238E27FC236}">
                <a16:creationId xmlns:a16="http://schemas.microsoft.com/office/drawing/2014/main" id="{7E36D00B-72AE-4BFF-B135-CD3BCACD6ECD}"/>
              </a:ext>
            </a:extLst>
          </p:cNvPr>
          <p:cNvSpPr>
            <a:spLocks noGrp="1"/>
          </p:cNvSpPr>
          <p:nvPr/>
        </p:nvSpPr>
        <p:spPr>
          <a:xfrm>
            <a:off x="2190750" y="1628775"/>
            <a:ext cx="7810500" cy="457200"/>
          </a:xfrm>
          <a:prstGeom prst="rect">
            <a:avLst/>
          </a:prstGeom>
          <a:noFill/>
          <a:ln w="0">
            <a:noFill/>
          </a:ln>
        </p:spPr>
        <p:txBody>
          <a:bodyPr wrap="square" lIns="0" tIns="0" rIns="0" bIns="0" anchor="t">
            <a:noAutofit/>
          </a:bodyPr>
          <a:lstStyle/>
          <a:p>
            <a:pPr algn="ctr">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a:ext uri="{FF2B5EF4-FFF2-40B4-BE49-F238E27FC236}">
                <a16:creationId xmlns:a16="http://schemas.microsoft.com/office/drawing/2014/main" id="{1064ABD9-DF39-45D2-9681-639CAA0E7761}"/>
              </a:ext>
            </a:extLst>
          </p:cNvPr>
          <p:cNvSpPr>
            <a:spLocks noGrp="1"/>
          </p:cNvSpPr>
          <p:nvPr/>
        </p:nvSpPr>
        <p:spPr>
          <a:xfrm>
            <a:off x="2381250" y="2238375"/>
            <a:ext cx="7429500" cy="3476625"/>
          </a:xfrm>
          <a:prstGeom prst="rect">
            <a:avLst/>
          </a:prstGeom>
          <a:noFill/>
          <a:ln w="0">
            <a:noFill/>
          </a:ln>
        </p:spPr>
        <p:txBody>
          <a:bodyPr wrap="square" lIns="0" tIns="0" rIns="0" bIns="0" anchor="t">
            <a:noAutofit/>
          </a:bodyPr>
          <a:lstStyle/>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1. Selected math bank; MiniMax is the receiving model.</a:t>
            </a:r>
          </a:p>
          <a:p>
            <a:endParaRPr sz="2025" b="0">
              <a:solidFill>
                <a:srgbClr val="142C40"/>
              </a:solidFill>
              <a:latin typeface="Helvetica Neue"/>
              <a:ea typeface="Helvetica Neue"/>
              <a:cs typeface="Helvetica Neue"/>
            </a:endParaRPr>
          </a:p>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2. Only initially wrong answers enter cross-check.</a:t>
            </a:r>
          </a:p>
          <a:p>
            <a:endParaRPr sz="2025" b="0">
              <a:solidFill>
                <a:srgbClr val="142C40"/>
              </a:solidFill>
              <a:latin typeface="Helvetica Neue"/>
              <a:ea typeface="Helvetica Neue"/>
              <a:cs typeface="Helvetica Neue"/>
            </a:endParaRPr>
          </a:p>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3. AI/user prompts differ in wording and source framing.</a:t>
            </a:r>
          </a:p>
          <a:p>
            <a:endParaRPr sz="2025" b="0">
              <a:solidFill>
                <a:srgbClr val="142C40"/>
              </a:solidFill>
              <a:latin typeface="Helvetica Neue"/>
              <a:ea typeface="Helvetica Neue"/>
              <a:cs typeface="Helvetica Neue"/>
            </a:endParaRPr>
          </a:p>
          <a:p>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4. Keys use AI-assisted review; ambiguous and technical cases are excluded.</a:t>
            </a:r>
          </a:p>
        </p:txBody>
      </p:sp>
      <p:sp>
        <p:nvSpPr>
          <p:cNvPr id="9" name="Footnote">
            <a:extLst>
              <a:ext uri="{FF2B5EF4-FFF2-40B4-BE49-F238E27FC236}">
                <a16:creationId xmlns:a16="http://schemas.microsoft.com/office/drawing/2014/main" id="{D17FD513-3CEA-4040-B802-39CC0CD08C5D}"/>
              </a:ext>
            </a:extLst>
          </p:cNvPr>
          <p:cNvSpPr>
            <a:spLocks noGrp="1"/>
          </p:cNvSpPr>
          <p:nvPr/>
        </p:nvSpPr>
        <p:spPr>
          <a:xfrm>
            <a:off x="571500" y="5857875"/>
            <a:ext cx="11049000" cy="485775"/>
          </a:xfrm>
          <a:prstGeom prst="rect">
            <a:avLst/>
          </a:prstGeom>
          <a:noFill/>
          <a:ln w="0">
            <a:noFill/>
          </a:ln>
        </p:spPr>
        <p:txBody>
          <a:bodyPr wrap="square" lIns="0" tIns="0" rIns="0" bIns="0" anchor="t">
            <a:noAutofit/>
          </a:bodyPr>
          <a:lstStyle/>
          <a:p>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a:ext uri="{FF2B5EF4-FFF2-40B4-BE49-F238E27FC236}">
                <a16:creationId xmlns:a16="http://schemas.microsoft.com/office/drawing/2014/main" id="{4ABDCEF8-D121-474C-9152-2196F106A8B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D3852D96-DC67-48EA-B584-636C802F562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a:ext uri="{FF2B5EF4-FFF2-40B4-BE49-F238E27FC236}">
                <a16:creationId xmlns:a16="http://schemas.microsoft.com/office/drawing/2014/main" id="{05EA36FA-32B6-4107-8F36-CD2A83F4EC9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RQ1: Error reduction</a:t>
            </a:r>
          </a:p>
        </p:txBody>
      </p:sp>
      <p:sp>
        <p:nvSpPr>
          <p:cNvPr id="3" name="Straight Connector 2">
            <a:extLst>
              <a:ext uri="{FF2B5EF4-FFF2-40B4-BE49-F238E27FC236}">
                <a16:creationId xmlns:a16="http://schemas.microsoft.com/office/drawing/2014/main" id="{1A43D618-DF68-443F-B688-1951A074E00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E0A9C5-5CDD-4C6D-99E2-22DF277FE9F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sp>
        <p:nvSpPr>
          <p:cNvPr id="8" name="Original research question">
            <a:extLst>
              <a:ext uri="{FF2B5EF4-FFF2-40B4-BE49-F238E27FC236}">
                <a16:creationId xmlns:a16="http://schemas.microsoft.com/office/drawing/2014/main" id="{87B74A35-7C20-4198-9E32-1000BDE6CDA0}"/>
              </a:ext>
            </a:extLst>
          </p:cNvPr>
          <p:cNvSpPr>
            <a:spLocks noGrp="1"/>
          </p:cNvSpPr>
          <p:nvPr/>
        </p:nvSpPr>
        <p:spPr>
          <a:xfrm>
            <a:off x="571500" y="1495425"/>
            <a:ext cx="11049000" cy="695325"/>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sp>
        <p:nvSpPr>
          <p:cNvPr id="9" name="Evidence metric">
            <a:extLst>
              <a:ext uri="{FF2B5EF4-FFF2-40B4-BE49-F238E27FC236}">
                <a16:creationId xmlns:a16="http://schemas.microsoft.com/office/drawing/2014/main" id="{CC929D33-4A1F-419A-BE0F-863450922C01}"/>
              </a:ext>
            </a:extLst>
          </p:cNvPr>
          <p:cNvSpPr>
            <a:spLocks noGrp="1"/>
          </p:cNvSpPr>
          <p:nvPr/>
        </p:nvSpPr>
        <p:spPr>
          <a:xfrm>
            <a:off x="571500" y="2200275"/>
            <a:ext cx="11049000" cy="257175"/>
          </a:xfrm>
          <a:prstGeom prst="rect">
            <a:avLst/>
          </a:prstGeom>
          <a:noFill/>
          <a:ln w="0">
            <a:noFill/>
          </a:ln>
        </p:spPr>
        <p:txBody>
          <a:bodyPr wrap="square" lIns="0" tIns="0" rIns="0" bIns="0" anchor="t">
            <a:noAutofit/>
          </a:bodyPr>
          <a:lstStyle/>
          <a:p>
            <a:pPr algn="l">
              <a:buNone/>
              <a:defRPr sz="1575" b="0">
                <a:solidFill>
                  <a:srgbClr val="687B8D"/>
                </a:solidFill>
                <a:latin typeface="Helvetica Neue"/>
                <a:ea typeface="Helvetica Neue"/>
                <a:cs typeface="Helvetica Neue"/>
              </a:defRPr>
            </a:pPr>
            <a:r>
              <a:rPr sz="1575" b="0">
                <a:solidFill>
                  <a:srgbClr val="687B8D"/>
                </a:solidFill>
                <a:latin typeface="Helvetica Neue"/>
                <a:ea typeface="Helvetica Neue"/>
                <a:cs typeface="Helvetica Neue"/>
              </a:rPr>
              <a:t>Observed self-check on 488 matched answers  |  Illustrative 63-case intervention on the 493-question bank</a:t>
            </a:r>
          </a:p>
        </p:txBody>
      </p:sp>
      <p:pic>
        <p:nvPicPr>
          <p:cNvPr id="22" name="Picture 19"/>
          <p:cNvPicPr>
            <a:picLocks noChangeAspect="1"/>
          </p:cNvPicPr>
          <p:nvPr/>
        </p:nvPicPr>
        <p:blipFill>
          <a:blip r:embed="rId3"/>
          <a:srcRect t="663" b="663"/>
          <a:stretch>
            <a:fillRect/>
          </a:stretch>
        </p:blipFill>
        <p:spPr>
          <a:xfrm>
            <a:off x="571500" y="2457450"/>
            <a:ext cx="11049000" cy="2952750"/>
          </a:xfrm>
          <a:prstGeom prst="rect">
            <a:avLst/>
          </a:prstGeom>
        </p:spPr>
      </p:pic>
      <p:sp>
        <p:nvSpPr>
          <p:cNvPr id="11" name="Final answer">
            <a:extLst>
              <a:ext uri="{FF2B5EF4-FFF2-40B4-BE49-F238E27FC236}">
                <a16:creationId xmlns:a16="http://schemas.microsoft.com/office/drawing/2014/main" id="{594F0221-0095-42A1-AB65-03A44E0D940A}"/>
              </a:ext>
            </a:extLst>
          </p:cNvPr>
          <p:cNvSpPr>
            <a:spLocks noGrp="1"/>
          </p:cNvSpPr>
          <p:nvPr/>
        </p:nvSpPr>
        <p:spPr>
          <a:xfrm>
            <a:off x="571500" y="5534025"/>
            <a:ext cx="11049000" cy="666750"/>
          </a:xfrm>
          <a:prstGeom prst="rect">
            <a:avLst/>
          </a:prstGeom>
          <a:noFill/>
          <a:ln w="0">
            <a:noFill/>
          </a:ln>
        </p:spPr>
        <p:txBody>
          <a:bodyPr wrap="square" lIns="0" tIns="0" rIns="0" bIns="0" anchor="t">
            <a:noAutofit/>
          </a:bodyPr>
          <a:lstStyle/>
          <a:p>
            <a:pPr algn="l">
              <a:buNone/>
              <a:defRPr sz="2100"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Observed self-check: 66/488 → 42/488 wrong. Selected-case rollout: 70/493 → 15/493 wrong with cross-check.</a:t>
            </a:r>
          </a:p>
        </p:txBody>
      </p:sp>
      <p:sp>
        <p:nvSpPr>
          <p:cNvPr id="12" name="Evidence boundary">
            <a:extLst>
              <a:ext uri="{FF2B5EF4-FFF2-40B4-BE49-F238E27FC236}">
                <a16:creationId xmlns:a16="http://schemas.microsoft.com/office/drawing/2014/main" id="{F77F69EF-2F85-43EA-A6FA-94364F81EF34}"/>
              </a:ext>
            </a:extLst>
          </p:cNvPr>
          <p:cNvSpPr>
            <a:spLocks noGrp="1"/>
          </p:cNvSpPr>
          <p:nvPr/>
        </p:nvSpPr>
        <p:spPr>
          <a:xfrm>
            <a:off x="571500" y="6229350"/>
            <a:ext cx="10810875" cy="276225"/>
          </a:xfrm>
          <a:prstGeom prst="rect">
            <a:avLst/>
          </a:prstGeom>
          <a:noFill/>
          <a:ln w="0">
            <a:noFill/>
          </a:ln>
        </p:spPr>
        <p:txBody>
          <a:bodyPr wrap="square" lIns="0" tIns="0" rIns="0" bIns="0" anchor="t">
            <a:noAutofit/>
          </a:bodyPr>
          <a:lstStyle/>
          <a:p>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Right: only 63 known initial errors were checked; the other 430 answers were kept unchanged.</a:t>
            </a:r>
          </a:p>
        </p:txBody>
      </p:sp>
      <p:sp>
        <p:nvSpPr>
          <p:cNvPr id="14" name="Speaker">
            <a:extLst>
              <a:ext uri="{FF2B5EF4-FFF2-40B4-BE49-F238E27FC236}">
                <a16:creationId xmlns:a16="http://schemas.microsoft.com/office/drawing/2014/main" id="{C456C193-0CC5-4B81-B0B7-75F6727791E8}"/>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D3852D96-DC67-48EA-B584-636C802F562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a:ext uri="{FF2B5EF4-FFF2-40B4-BE49-F238E27FC236}">
                <a16:creationId xmlns:a16="http://schemas.microsoft.com/office/drawing/2014/main" id="{05EA36FA-32B6-4107-8F36-CD2A83F4EC9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RQ2: Practical effectiveness</a:t>
            </a:r>
          </a:p>
        </p:txBody>
      </p:sp>
      <p:sp>
        <p:nvSpPr>
          <p:cNvPr id="3" name="Straight Connector 2">
            <a:extLst>
              <a:ext uri="{FF2B5EF4-FFF2-40B4-BE49-F238E27FC236}">
                <a16:creationId xmlns:a16="http://schemas.microsoft.com/office/drawing/2014/main" id="{1A43D618-DF68-443F-B688-1951A074E00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E0A9C5-5CDD-4C6D-99E2-22DF277FE9F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4" name="Original research question">
            <a:extLst>
              <a:ext uri="{FF2B5EF4-FFF2-40B4-BE49-F238E27FC236}">
                <a16:creationId xmlns:a16="http://schemas.microsoft.com/office/drawing/2014/main" id="{1C945F44-49DA-4BBA-BB2E-8D29FD6AAD20}"/>
              </a:ext>
            </a:extLst>
          </p:cNvPr>
          <p:cNvSpPr>
            <a:spLocks noGrp="1"/>
          </p:cNvSpPr>
          <p:nvPr/>
        </p:nvSpPr>
        <p:spPr>
          <a:xfrm>
            <a:off x="571500" y="1495425"/>
            <a:ext cx="11049000" cy="447675"/>
          </a:xfrm>
          <a:prstGeom prst="rect">
            <a:avLst/>
          </a:prstGeom>
          <a:noFill/>
          <a:ln w="0">
            <a:noFill/>
          </a:ln>
        </p:spPr>
        <p:txBody>
          <a:bodyPr wrap="square" lIns="0" tIns="0" rIns="0" bIns="0" anchor="t">
            <a:noAutofit/>
          </a:bodyPr>
          <a:lstStyle/>
          <a:p>
            <a:pPr algn="l">
              <a:buNone/>
              <a:defRPr sz="2100" b="1">
                <a:solidFill>
                  <a:srgbClr val="17324D"/>
                </a:solidFill>
                <a:latin typeface="Helvetica Neue"/>
                <a:ea typeface="Helvetica Neue"/>
                <a:cs typeface="Helvetica Neue"/>
              </a:defRPr>
            </a:pPr>
            <a:r>
              <a:rPr sz="2100" b="1">
                <a:solidFill>
                  <a:srgbClr val="17324D"/>
                </a:solidFill>
                <a:latin typeface="Helvetica Neue"/>
                <a:ea typeface="Helvetica Neue"/>
                <a:cs typeface="Helvetica Neue"/>
              </a:rPr>
              <a:t>Which double-checking method is most effective in practice?</a:t>
            </a:r>
          </a:p>
        </p:txBody>
      </p:sp>
      <p:sp>
        <p:nvSpPr>
          <p:cNvPr id="15" name="Evidence metric">
            <a:extLst>
              <a:ext uri="{FF2B5EF4-FFF2-40B4-BE49-F238E27FC236}">
                <a16:creationId xmlns:a16="http://schemas.microsoft.com/office/drawing/2014/main" id="{3FBAAC63-6A2A-40ED-B612-C42B0F7199E4}"/>
              </a:ext>
            </a:extLst>
          </p:cNvPr>
          <p:cNvSpPr>
            <a:spLocks noGrp="1"/>
          </p:cNvSpPr>
          <p:nvPr/>
        </p:nvSpPr>
        <p:spPr>
          <a:xfrm>
            <a:off x="571500" y="2028825"/>
            <a:ext cx="11049000" cy="257175"/>
          </a:xfrm>
          <a:prstGeom prst="rect">
            <a:avLst/>
          </a:prstGeom>
          <a:noFill/>
          <a:ln w="0">
            <a:noFill/>
          </a:ln>
        </p:spPr>
        <p:txBody>
          <a:bodyPr wrap="square" lIns="0" tIns="0" rIns="0" bIns="0" anchor="t">
            <a:noAutofit/>
          </a:bodyPr>
          <a:lstStyle/>
          <a:p>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63 initial errors checked; total bank retains all 493 initial answers as its denominator</a:t>
            </a:r>
          </a:p>
        </p:txBody>
      </p:sp>
      <p:sp>
        <p:nvSpPr>
          <p:cNvPr id="16" name="Correction panel heading">
            <a:extLst>
              <a:ext uri="{FF2B5EF4-FFF2-40B4-BE49-F238E27FC236}">
                <a16:creationId xmlns:a16="http://schemas.microsoft.com/office/drawing/2014/main" id="{E2B4E524-B05B-4B4D-9EE2-BE326011156C}"/>
              </a:ext>
            </a:extLst>
          </p:cNvPr>
          <p:cNvSpPr>
            <a:spLocks noGrp="1"/>
          </p:cNvSpPr>
          <p:nvPr/>
        </p:nvSpPr>
        <p:spPr>
          <a:xfrm>
            <a:off x="571500" y="2362200"/>
            <a:ext cx="5238750" cy="333375"/>
          </a:xfrm>
          <a:prstGeom prst="rect">
            <a:avLst/>
          </a:prstGeom>
          <a:noFill/>
          <a:ln w="0">
            <a:noFill/>
          </a:ln>
        </p:spPr>
        <p:txBody>
          <a:bodyPr wrap="square" lIns="0" tIns="0" rIns="0" bIns="0" anchor="t">
            <a:noAutofit/>
          </a:bodyPr>
          <a:lstStyle/>
          <a:p>
            <a:pPr algn="l">
              <a:buNone/>
              <a:defRPr sz="2100" b="1">
                <a:solidFill>
                  <a:srgbClr val="2E9D59"/>
                </a:solidFill>
                <a:latin typeface="Helvetica Neue"/>
                <a:ea typeface="Helvetica Neue"/>
                <a:cs typeface="Helvetica Neue"/>
              </a:defRPr>
            </a:pPr>
            <a:r>
              <a:rPr sz="2100" b="1">
                <a:solidFill>
                  <a:srgbClr val="2E9D59"/>
                </a:solidFill>
                <a:latin typeface="Helvetica Neue"/>
                <a:ea typeface="Helvetica Neue"/>
                <a:cs typeface="Helvetica Neue"/>
              </a:rPr>
              <a:t>Correction rate</a:t>
            </a:r>
          </a:p>
        </p:txBody>
      </p:sp>
      <p:sp>
        <p:nvSpPr>
          <p:cNvPr id="17" name="Error panel heading">
            <a:extLst>
              <a:ext uri="{FF2B5EF4-FFF2-40B4-BE49-F238E27FC236}">
                <a16:creationId xmlns:a16="http://schemas.microsoft.com/office/drawing/2014/main" id="{45699A03-AAD2-4966-A462-B85D45AE7B4F}"/>
              </a:ext>
            </a:extLst>
          </p:cNvPr>
          <p:cNvSpPr>
            <a:spLocks noGrp="1"/>
          </p:cNvSpPr>
          <p:nvPr/>
        </p:nvSpPr>
        <p:spPr>
          <a:xfrm>
            <a:off x="6429375" y="2362200"/>
            <a:ext cx="5191125" cy="333375"/>
          </a:xfrm>
          <a:prstGeom prst="rect">
            <a:avLst/>
          </a:prstGeom>
          <a:noFill/>
          <a:ln w="0">
            <a:noFill/>
          </a:ln>
        </p:spPr>
        <p:txBody>
          <a:bodyPr wrap="square" lIns="0" tIns="0" rIns="0" bIns="0" anchor="t">
            <a:noAutofit/>
          </a:bodyPr>
          <a:lstStyle/>
          <a:p>
            <a:pPr algn="l">
              <a:buNone/>
              <a:defRPr sz="2100" b="1">
                <a:solidFill>
                  <a:srgbClr val="C53932"/>
                </a:solidFill>
                <a:latin typeface="Helvetica Neue"/>
                <a:ea typeface="Helvetica Neue"/>
                <a:cs typeface="Helvetica Neue"/>
              </a:defRPr>
            </a:pPr>
            <a:r>
              <a:rPr sz="1800" b="1">
                <a:solidFill>
                  <a:srgbClr val="52718B"/>
                </a:solidFill>
                <a:latin typeface="Helvetica Neue"/>
                <a:ea typeface="Helvetica Neue"/>
                <a:cs typeface="Helvetica Neue"/>
              </a:rPr>
              <a:t>Illustrative bank error rate /493</a:t>
            </a:r>
          </a:p>
        </p:txBody>
      </p:sp>
      <p:pic>
        <p:nvPicPr>
          <p:cNvPr id="35" name="Picture 32"/>
          <p:cNvPicPr>
            <a:picLocks noChangeAspect="1"/>
          </p:cNvPicPr>
          <p:nvPr/>
        </p:nvPicPr>
        <p:blipFill>
          <a:blip r:embed="rId3"/>
          <a:srcRect t="14" b="14"/>
          <a:stretch>
            <a:fillRect/>
          </a:stretch>
        </p:blipFill>
        <p:spPr>
          <a:xfrm>
            <a:off x="571500" y="2686050"/>
            <a:ext cx="5238750" cy="2837656"/>
          </a:xfrm>
          <a:prstGeom prst="rect">
            <a:avLst/>
          </a:prstGeom>
        </p:spPr>
      </p:pic>
      <p:pic>
        <p:nvPicPr>
          <p:cNvPr id="36" name="Picture 33"/>
          <p:cNvPicPr>
            <a:picLocks noChangeAspect="1"/>
          </p:cNvPicPr>
          <p:nvPr/>
        </p:nvPicPr>
        <p:blipFill>
          <a:blip r:embed="rId4"/>
          <a:srcRect t="1161" b="1161"/>
          <a:stretch>
            <a:fillRect/>
          </a:stretch>
        </p:blipFill>
        <p:spPr>
          <a:xfrm>
            <a:off x="6429375" y="2686050"/>
            <a:ext cx="5238750" cy="2837656"/>
          </a:xfrm>
          <a:prstGeom prst="rect">
            <a:avLst/>
          </a:prstGeom>
        </p:spPr>
      </p:pic>
      <p:sp>
        <p:nvSpPr>
          <p:cNvPr id="20" name="Final answer">
            <a:extLst>
              <a:ext uri="{FF2B5EF4-FFF2-40B4-BE49-F238E27FC236}">
                <a16:creationId xmlns:a16="http://schemas.microsoft.com/office/drawing/2014/main" id="{ABF4CDDD-06B0-4416-930E-50327B42944A}"/>
              </a:ext>
            </a:extLst>
          </p:cNvPr>
          <p:cNvSpPr>
            <a:spLocks noGrp="1"/>
          </p:cNvSpPr>
          <p:nvPr/>
        </p:nvSpPr>
        <p:spPr>
          <a:xfrm>
            <a:off x="571500" y="5657850"/>
            <a:ext cx="11049000" cy="590550"/>
          </a:xfrm>
          <a:prstGeom prst="rect">
            <a:avLst/>
          </a:prstGeom>
          <a:noFill/>
          <a:ln w="0">
            <a:noFill/>
          </a:ln>
        </p:spPr>
        <p:txBody>
          <a:bodyPr wrap="square" lIns="0" tIns="0" rIns="0" bIns="0" anchor="t">
            <a:noAutofit/>
          </a:bodyPr>
          <a:lstStyle/>
          <a:p>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Cross-check corrected 55 vs 31 of 63;</a:t>
            </a:r>
          </a:p>
          <a:p>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selected-case bank errors become 15 vs 39/493.</a:t>
            </a:r>
          </a:p>
        </p:txBody>
      </p:sp>
      <p:sp>
        <p:nvSpPr>
          <p:cNvPr id="21" name="Evidence boundary">
            <a:extLst>
              <a:ext uri="{FF2B5EF4-FFF2-40B4-BE49-F238E27FC236}">
                <a16:creationId xmlns:a16="http://schemas.microsoft.com/office/drawing/2014/main" id="{74DBB099-BDDE-4D2E-8023-CD512DBEEFC5}"/>
              </a:ext>
            </a:extLst>
          </p:cNvPr>
          <p:cNvSpPr>
            <a:spLocks noGrp="1"/>
          </p:cNvSpPr>
          <p:nvPr/>
        </p:nvSpPr>
        <p:spPr>
          <a:xfrm>
            <a:off x="571500" y="6276975"/>
            <a:ext cx="10810875" cy="238125"/>
          </a:xfrm>
          <a:prstGeom prst="rect">
            <a:avLst/>
          </a:prstGeom>
          <a:noFill/>
          <a:ln w="0">
            <a:noFill/>
          </a:ln>
        </p:spPr>
        <p:txBody>
          <a:bodyPr wrap="square" lIns="0" tIns="0" rIns="0" bIns="0" anchor="t">
            <a:noAutofit/>
          </a:bodyPr>
          <a:lstStyle/>
          <a:p>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Retrospective selection used known errors; this is not a full-bank check or a universal method ranking.</a:t>
            </a:r>
          </a:p>
        </p:txBody>
      </p:sp>
      <p:sp>
        <p:nvSpPr>
          <p:cNvPr id="24" name="Speaker">
            <a:extLst>
              <a:ext uri="{FF2B5EF4-FFF2-40B4-BE49-F238E27FC236}">
                <a16:creationId xmlns:a16="http://schemas.microsoft.com/office/drawing/2014/main" id="{D32707EA-8896-49DC-B78C-D2E16CD21011}"/>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D3852D96-DC67-48EA-B584-636C802F562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a:ext uri="{FF2B5EF4-FFF2-40B4-BE49-F238E27FC236}">
                <a16:creationId xmlns:a16="http://schemas.microsoft.com/office/drawing/2014/main" id="{05EA36FA-32B6-4107-8F36-CD2A83F4EC98}"/>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RQ3 &amp; RQ4: Misleading information</a:t>
            </a:r>
          </a:p>
        </p:txBody>
      </p:sp>
      <p:sp>
        <p:nvSpPr>
          <p:cNvPr id="3" name="Straight Connector 2">
            <a:extLst>
              <a:ext uri="{FF2B5EF4-FFF2-40B4-BE49-F238E27FC236}">
                <a16:creationId xmlns:a16="http://schemas.microsoft.com/office/drawing/2014/main" id="{1A43D618-DF68-443F-B688-1951A074E00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10E0A9C5-5CDD-4C6D-99E2-22DF277FE9F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sp>
        <p:nvSpPr>
          <p:cNvPr id="16" name="RQ3 label">
            <a:extLst>
              <a:ext uri="{FF2B5EF4-FFF2-40B4-BE49-F238E27FC236}">
                <a16:creationId xmlns:a16="http://schemas.microsoft.com/office/drawing/2014/main" id="{B12E5EFA-276D-4900-9669-3CF08DF36CE0}"/>
              </a:ext>
            </a:extLst>
          </p:cNvPr>
          <p:cNvSpPr>
            <a:spLocks noGrp="1"/>
          </p:cNvSpPr>
          <p:nvPr/>
        </p:nvSpPr>
        <p:spPr>
          <a:xfrm>
            <a:off x="571500" y="1495425"/>
            <a:ext cx="666750" cy="400050"/>
          </a:xfrm>
          <a:prstGeom prst="rect">
            <a:avLst/>
          </a:prstGeom>
          <a:noFill/>
          <a:ln w="0">
            <a:noFill/>
          </a:ln>
        </p:spPr>
        <p:txBody>
          <a:bodyPr wrap="square" lIns="0" tIns="0" rIns="0" bIns="0" anchor="t">
            <a:noAutofit/>
          </a:bodyPr>
          <a:lstStyle/>
          <a:p>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a:ext uri="{FF2B5EF4-FFF2-40B4-BE49-F238E27FC236}">
                <a16:creationId xmlns:a16="http://schemas.microsoft.com/office/drawing/2014/main" id="{479FD909-7789-42A3-9160-E86537EFA295}"/>
              </a:ext>
            </a:extLst>
          </p:cNvPr>
          <p:cNvSpPr>
            <a:spLocks noGrp="1"/>
          </p:cNvSpPr>
          <p:nvPr/>
        </p:nvSpPr>
        <p:spPr>
          <a:xfrm>
            <a:off x="1314450" y="1495425"/>
            <a:ext cx="10306050" cy="400050"/>
          </a:xfrm>
          <a:prstGeom prst="rect">
            <a:avLst/>
          </a:prstGeom>
          <a:noFill/>
          <a:ln w="0">
            <a:noFill/>
          </a:ln>
        </p:spPr>
        <p:txBody>
          <a:bodyPr wrap="square" lIns="0" tIns="0" rIns="0" bIns="0" anchor="t">
            <a:noAutofit/>
          </a:bodyPr>
          <a:lstStyle/>
          <a:p>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a:ext uri="{FF2B5EF4-FFF2-40B4-BE49-F238E27FC236}">
                <a16:creationId xmlns:a16="http://schemas.microsoft.com/office/drawing/2014/main" id="{C4FADADF-DA23-431C-AB49-005EC6A44DAB}"/>
              </a:ext>
            </a:extLst>
          </p:cNvPr>
          <p:cNvSpPr>
            <a:spLocks noGrp="1"/>
          </p:cNvSpPr>
          <p:nvPr/>
        </p:nvSpPr>
        <p:spPr>
          <a:xfrm>
            <a:off x="571500" y="1943100"/>
            <a:ext cx="666750" cy="400050"/>
          </a:xfrm>
          <a:prstGeom prst="rect">
            <a:avLst/>
          </a:prstGeom>
          <a:noFill/>
          <a:ln w="0">
            <a:noFill/>
          </a:ln>
        </p:spPr>
        <p:txBody>
          <a:bodyPr wrap="square" lIns="0" tIns="0" rIns="0" bIns="0" anchor="t">
            <a:noAutofit/>
          </a:bodyPr>
          <a:lstStyle/>
          <a:p>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a:ext uri="{FF2B5EF4-FFF2-40B4-BE49-F238E27FC236}">
                <a16:creationId xmlns:a16="http://schemas.microsoft.com/office/drawing/2014/main" id="{5780F438-8BBC-44F6-ADA1-B2E19C219FBA}"/>
              </a:ext>
            </a:extLst>
          </p:cNvPr>
          <p:cNvSpPr>
            <a:spLocks noGrp="1"/>
          </p:cNvSpPr>
          <p:nvPr/>
        </p:nvSpPr>
        <p:spPr>
          <a:xfrm>
            <a:off x="1314450" y="1943100"/>
            <a:ext cx="10306050" cy="400050"/>
          </a:xfrm>
          <a:prstGeom prst="rect">
            <a:avLst/>
          </a:prstGeom>
          <a:noFill/>
          <a:ln w="0">
            <a:noFill/>
          </a:ln>
        </p:spPr>
        <p:txBody>
          <a:bodyPr wrap="square" lIns="0" tIns="0" rIns="0" bIns="0" anchor="t">
            <a:noAutofit/>
          </a:bodyPr>
          <a:lstStyle/>
          <a:p>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misleading user input cause an otherwise correct model to give a wrong answer?</a:t>
            </a:r>
          </a:p>
        </p:txBody>
      </p:sp>
      <p:sp>
        <p:nvSpPr>
          <p:cNvPr id="20" name="Evidence metric">
            <a:extLst>
              <a:ext uri="{FF2B5EF4-FFF2-40B4-BE49-F238E27FC236}">
                <a16:creationId xmlns:a16="http://schemas.microsoft.com/office/drawing/2014/main" id="{EC09E890-DB11-4298-8EE6-E6674C050C5A}"/>
              </a:ext>
            </a:extLst>
          </p:cNvPr>
          <p:cNvSpPr>
            <a:spLocks noGrp="1"/>
          </p:cNvSpPr>
          <p:nvPr/>
        </p:nvSpPr>
        <p:spPr>
          <a:xfrm>
            <a:off x="571500" y="2409825"/>
            <a:ext cx="11049000" cy="257175"/>
          </a:xfrm>
          <a:prstGeom prst="rect">
            <a:avLst/>
          </a:prstGeom>
          <a:noFill/>
          <a:ln w="0">
            <a:noFill/>
          </a:ln>
        </p:spPr>
        <p:txBody>
          <a:bodyPr wrap="square" lIns="0" tIns="0" rIns="0" bIns="0" anchor="t">
            <a:noAutofit/>
          </a:bodyPr>
          <a:lstStyle/>
          <a:p>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68 initially correct answers: scripted post-answer AI advice vs user challenge</a:t>
            </a:r>
          </a:p>
        </p:txBody>
      </p:sp>
      <p:pic>
        <p:nvPicPr>
          <p:cNvPr id="41" name="Picture 38"/>
          <p:cNvPicPr>
            <a:picLocks noChangeAspect="1"/>
          </p:cNvPicPr>
          <p:nvPr/>
        </p:nvPicPr>
        <p:blipFill>
          <a:blip r:embed="rId3"/>
          <a:srcRect l="26" r="26"/>
          <a:stretch>
            <a:fillRect/>
          </a:stretch>
        </p:blipFill>
        <p:spPr>
          <a:xfrm>
            <a:off x="381000" y="2790825"/>
            <a:ext cx="7239000" cy="3016250"/>
          </a:xfrm>
          <a:prstGeom prst="rect">
            <a:avLst/>
          </a:prstGeom>
        </p:spPr>
      </p:pic>
      <p:sp>
        <p:nvSpPr>
          <p:cNvPr id="22" name="AI answer heading">
            <a:extLst>
              <a:ext uri="{FF2B5EF4-FFF2-40B4-BE49-F238E27FC236}">
                <a16:creationId xmlns:a16="http://schemas.microsoft.com/office/drawing/2014/main" id="{1C29F0CA-BA07-48E2-86B1-A2FF2F40F4F8}"/>
              </a:ext>
            </a:extLst>
          </p:cNvPr>
          <p:cNvSpPr>
            <a:spLocks noGrp="1"/>
          </p:cNvSpPr>
          <p:nvPr/>
        </p:nvSpPr>
        <p:spPr>
          <a:xfrm>
            <a:off x="8001000" y="2714625"/>
            <a:ext cx="3619500" cy="323850"/>
          </a:xfrm>
          <a:prstGeom prst="rect">
            <a:avLst/>
          </a:prstGeom>
          <a:noFill/>
          <a:ln w="0">
            <a:noFill/>
          </a:ln>
        </p:spPr>
        <p:txBody>
          <a:bodyPr wrap="square" lIns="0" tIns="0" rIns="0" bIns="0" anchor="t">
            <a:noAutofit/>
          </a:bodyPr>
          <a:lstStyle/>
          <a:p>
            <a:pPr algn="l">
              <a:buNone/>
              <a:defRPr sz="1875" b="1">
                <a:solidFill>
                  <a:srgbClr val="128A83"/>
                </a:solidFill>
                <a:latin typeface="Helvetica Neue"/>
                <a:ea typeface="Helvetica Neue"/>
                <a:cs typeface="Helvetica Neue"/>
              </a:defRPr>
            </a:pPr>
            <a:endParaRPr sz="1875" b="1">
              <a:solidFill>
                <a:srgbClr val="128A83"/>
              </a:solidFill>
              <a:latin typeface="Helvetica Neue"/>
              <a:ea typeface="Helvetica Neue"/>
              <a:cs typeface="Helvetica Neue"/>
            </a:endParaRPr>
          </a:p>
        </p:txBody>
      </p:sp>
      <p:sp>
        <p:nvSpPr>
          <p:cNvPr id="23" name="AI answer">
            <a:extLst>
              <a:ext uri="{FF2B5EF4-FFF2-40B4-BE49-F238E27FC236}">
                <a16:creationId xmlns:a16="http://schemas.microsoft.com/office/drawing/2014/main" id="{09656526-B146-484B-8FB3-20C36EACD045}"/>
              </a:ext>
            </a:extLst>
          </p:cNvPr>
          <p:cNvSpPr>
            <a:spLocks noGrp="1"/>
          </p:cNvSpPr>
          <p:nvPr/>
        </p:nvSpPr>
        <p:spPr>
          <a:xfrm>
            <a:off x="8001000" y="3124200"/>
            <a:ext cx="3619500" cy="933450"/>
          </a:xfrm>
          <a:prstGeom prst="rect">
            <a:avLst/>
          </a:prstGeom>
          <a:noFill/>
          <a:ln w="0">
            <a:noFill/>
          </a:ln>
        </p:spPr>
        <p:txBody>
          <a:bodyPr wrap="square" lIns="0" tIns="0" rIns="0" bIns="0" anchor="t">
            <a:noAutofit/>
          </a:bodyPr>
          <a:lstStyle/>
          <a:p>
            <a:pPr algn="l">
              <a:buNone/>
              <a:defRPr sz="1800" b="0">
                <a:solidFill>
                  <a:srgbClr val="17324D"/>
                </a:solidFill>
                <a:latin typeface="Helvetica Neue"/>
                <a:ea typeface="Helvetica Neue"/>
                <a:cs typeface="Helvetica Neue"/>
              </a:defRPr>
            </a:pPr>
            <a:endParaRPr sz="1575" b="0">
              <a:solidFill>
                <a:srgbClr val="17324D"/>
              </a:solidFill>
              <a:latin typeface="Helvetica Neue"/>
              <a:ea typeface="Helvetica Neue"/>
              <a:cs typeface="Helvetica Neue"/>
            </a:endParaRPr>
          </a:p>
        </p:txBody>
      </p:sp>
      <p:sp>
        <p:nvSpPr>
          <p:cNvPr id="26" name="Final answer">
            <a:extLst>
              <a:ext uri="{FF2B5EF4-FFF2-40B4-BE49-F238E27FC236}">
                <a16:creationId xmlns:a16="http://schemas.microsoft.com/office/drawing/2014/main" id="{1499F98E-E0DD-428E-A137-D684789C02EF}"/>
              </a:ext>
            </a:extLst>
          </p:cNvPr>
          <p:cNvSpPr>
            <a:spLocks noGrp="1"/>
          </p:cNvSpPr>
          <p:nvPr/>
        </p:nvSpPr>
        <p:spPr>
          <a:xfrm>
            <a:off x="571500" y="5895975"/>
            <a:ext cx="11049000" cy="323850"/>
          </a:xfrm>
          <a:prstGeom prst="rect">
            <a:avLst/>
          </a:prstGeom>
          <a:noFill/>
          <a:ln w="0">
            <a:noFill/>
          </a:ln>
        </p:spPr>
        <p:txBody>
          <a:bodyPr wrap="square" lIns="0" tIns="0" rIns="0" bIns="0" anchor="t">
            <a:noAutofit/>
          </a:bodyPr>
          <a:lstStyle/>
          <a:p>
            <a:pPr algn="l">
              <a:buNone/>
              <a:defRPr sz="1800" b="1">
                <a:solidFill>
                  <a:srgbClr val="128A83"/>
                </a:solidFill>
                <a:latin typeface="Helvetica Neue"/>
                <a:ea typeface="Helvetica Neue"/>
                <a:cs typeface="Helvetica Neue"/>
              </a:defRPr>
            </a:pPr>
            <a:r>
              <a:rPr sz="1800" b="1">
                <a:solidFill>
                  <a:srgbClr val="128A83"/>
                </a:solidFill>
                <a:latin typeface="Helvetica Neue"/>
                <a:ea typeface="Helvetica Neue"/>
                <a:cs typeface="Helvetica Neue"/>
              </a:rPr>
              <a:t>RQ3: possible in one verified case. RQ4: 10/68 induced errors in this selected sample.</a:t>
            </a:r>
          </a:p>
        </p:txBody>
      </p:sp>
      <p:sp>
        <p:nvSpPr>
          <p:cNvPr id="27" name="Evidence boundary">
            <a:extLst>
              <a:ext uri="{FF2B5EF4-FFF2-40B4-BE49-F238E27FC236}">
                <a16:creationId xmlns:a16="http://schemas.microsoft.com/office/drawing/2014/main" id="{2E6C0291-2E1B-4AC3-9DF6-95FA2201D554}"/>
              </a:ext>
            </a:extLst>
          </p:cNvPr>
          <p:cNvSpPr>
            <a:spLocks noGrp="1"/>
          </p:cNvSpPr>
          <p:nvPr/>
        </p:nvSpPr>
        <p:spPr>
          <a:xfrm>
            <a:off x="571500" y="6267450"/>
            <a:ext cx="10810875" cy="238125"/>
          </a:xfrm>
          <a:prstGeom prst="rect">
            <a:avLst/>
          </a:prstGeom>
          <a:noFill/>
          <a:ln w="0">
            <a:noFill/>
          </a:ln>
        </p:spPr>
        <p:txBody>
          <a:bodyPr wrap="square" lIns="0" tIns="0" rIns="0" bIns="0" anchor="t">
            <a:noAutofit/>
          </a:bodyPr>
          <a:lstStyle/>
          <a:p>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Scripted advice/challenge tested 68 selected correct cases; full-bank final error rates were not measured.</a:t>
            </a:r>
          </a:p>
        </p:txBody>
      </p:sp>
      <p:sp>
        <p:nvSpPr>
          <p:cNvPr id="29" name="Speaker">
            <a:extLst>
              <a:ext uri="{FF2B5EF4-FFF2-40B4-BE49-F238E27FC236}">
                <a16:creationId xmlns:a16="http://schemas.microsoft.com/office/drawing/2014/main" id="{1419630A-9C8C-4357-A6FE-14FC810013AA}"/>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pic>
        <p:nvPicPr>
          <p:cNvPr id="47" name="Picture 4"/>
          <p:cNvPicPr>
            <a:picLocks noChangeAspect="1"/>
          </p:cNvPicPr>
          <p:nvPr/>
        </p:nvPicPr>
        <p:blipFill>
          <a:blip r:embed="rId4"/>
          <a:stretch>
            <a:fillRect/>
          </a:stretch>
        </p:blipFill>
        <p:spPr>
          <a:xfrm>
            <a:off x="7501683" y="2846635"/>
            <a:ext cx="4118817" cy="2745877"/>
          </a:xfrm>
          <a:prstGeom prst="rect">
            <a:avLst/>
          </a:prstGeom>
        </p:spPr>
      </p:pic>
    </p:spTree>
    <p:extLst>
      <p:ext uri="{BB962C8B-B14F-4D97-AF65-F5344CB8AC3E}">
        <p14:creationId xmlns:p14="http://schemas.microsoft.com/office/powerpoint/2010/main" val="64854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0" name="Section">
            <a:extLst>
              <a:ext uri="{FF2B5EF4-FFF2-40B4-BE49-F238E27FC236}">
                <a16:creationId xmlns:a16="http://schemas.microsoft.com/office/drawing/2014/main" id="{C180763E-F514-42CC-ACDB-FE5F4C930E38}"/>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a:ext uri="{FF2B5EF4-FFF2-40B4-BE49-F238E27FC236}">
                <a16:creationId xmlns:a16="http://schemas.microsoft.com/office/drawing/2014/main" id="{41C1F64A-F0F1-4ABC-A75B-072E2426CF4F}"/>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a:ext uri="{FF2B5EF4-FFF2-40B4-BE49-F238E27FC236}">
                <a16:creationId xmlns:a16="http://schemas.microsoft.com/office/drawing/2014/main" id="{A44A5EDD-1ED3-4E0B-9C35-28ADD927BDA3}"/>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F3581CEB-2527-4F9E-AE5A-9EBE963D1203}"/>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5" name="Number 0">
            <a:extLst>
              <a:ext uri="{FF2B5EF4-FFF2-40B4-BE49-F238E27FC236}">
                <a16:creationId xmlns:a16="http://schemas.microsoft.com/office/drawing/2014/main" id="{03C23842-1632-4523-BD62-540467F10EF4}"/>
              </a:ext>
            </a:extLst>
          </p:cNvPr>
          <p:cNvSpPr>
            <a:spLocks noGrp="1"/>
          </p:cNvSpPr>
          <p:nvPr/>
        </p:nvSpPr>
        <p:spPr>
          <a:xfrm>
            <a:off x="571500" y="1685925"/>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a:ext uri="{FF2B5EF4-FFF2-40B4-BE49-F238E27FC236}">
                <a16:creationId xmlns:a16="http://schemas.microsoft.com/office/drawing/2014/main" id="{97BFCB94-0564-4B6A-BF00-31C78B811833}"/>
              </a:ext>
            </a:extLst>
          </p:cNvPr>
          <p:cNvSpPr>
            <a:spLocks noGrp="1"/>
          </p:cNvSpPr>
          <p:nvPr/>
        </p:nvSpPr>
        <p:spPr>
          <a:xfrm>
            <a:off x="1476375" y="1685925"/>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Cross-checking on all initial answers</a:t>
            </a:r>
          </a:p>
        </p:txBody>
      </p:sp>
      <p:sp>
        <p:nvSpPr>
          <p:cNvPr id="7" name="Description 0">
            <a:extLst>
              <a:ext uri="{FF2B5EF4-FFF2-40B4-BE49-F238E27FC236}">
                <a16:creationId xmlns:a16="http://schemas.microsoft.com/office/drawing/2014/main" id="{30C32C79-412F-48CD-92B3-280F0CC4D2B4}"/>
              </a:ext>
            </a:extLst>
          </p:cNvPr>
          <p:cNvSpPr>
            <a:spLocks noGrp="1"/>
          </p:cNvSpPr>
          <p:nvPr/>
        </p:nvSpPr>
        <p:spPr>
          <a:xfrm>
            <a:off x="1476375" y="2124075"/>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a:ext uri="{FF2B5EF4-FFF2-40B4-BE49-F238E27FC236}">
                <a16:creationId xmlns:a16="http://schemas.microsoft.com/office/drawing/2014/main" id="{A9C08976-8BCC-4C06-BB85-2B19428B4784}"/>
              </a:ext>
            </a:extLst>
          </p:cNvPr>
          <p:cNvSpPr>
            <a:spLocks noGrp="1"/>
          </p:cNvSpPr>
          <p:nvPr/>
        </p:nvSpPr>
        <p:spPr>
          <a:xfrm>
            <a:off x="1476375" y="2628900"/>
            <a:ext cx="10001250" cy="0"/>
          </a:xfrm>
          <a:prstGeom prst="line">
            <a:avLst/>
          </a:prstGeom>
          <a:ln w="9525">
            <a:solidFill>
              <a:srgbClr val="D6DFE6"/>
            </a:solidFill>
          </a:ln>
        </p:spPr>
        <p:txBody>
          <a:bodyPr/>
          <a:lstStyle/>
          <a:p>
            <a:endParaRPr/>
          </a:p>
        </p:txBody>
      </p:sp>
      <p:sp>
        <p:nvSpPr>
          <p:cNvPr id="9" name="Number 1">
            <a:extLst>
              <a:ext uri="{FF2B5EF4-FFF2-40B4-BE49-F238E27FC236}">
                <a16:creationId xmlns:a16="http://schemas.microsoft.com/office/drawing/2014/main" id="{A3D65CF2-09E9-4F02-A67C-BC5C854F4349}"/>
              </a:ext>
            </a:extLst>
          </p:cNvPr>
          <p:cNvSpPr>
            <a:spLocks noGrp="1"/>
          </p:cNvSpPr>
          <p:nvPr/>
        </p:nvSpPr>
        <p:spPr>
          <a:xfrm>
            <a:off x="571500" y="2724150"/>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a:ext uri="{FF2B5EF4-FFF2-40B4-BE49-F238E27FC236}">
                <a16:creationId xmlns:a16="http://schemas.microsoft.com/office/drawing/2014/main" id="{BB1ABA06-88CB-45EE-BB51-B7C71ED39AF7}"/>
              </a:ext>
            </a:extLst>
          </p:cNvPr>
          <p:cNvSpPr>
            <a:spLocks noGrp="1"/>
          </p:cNvSpPr>
          <p:nvPr/>
        </p:nvSpPr>
        <p:spPr>
          <a:xfrm>
            <a:off x="1476375" y="2724150"/>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a:ext uri="{FF2B5EF4-FFF2-40B4-BE49-F238E27FC236}">
                <a16:creationId xmlns:a16="http://schemas.microsoft.com/office/drawing/2014/main" id="{0148A5F9-F29F-4D5D-B7FB-B5E1095EA1ED}"/>
              </a:ext>
            </a:extLst>
          </p:cNvPr>
          <p:cNvSpPr>
            <a:spLocks noGrp="1"/>
          </p:cNvSpPr>
          <p:nvPr/>
        </p:nvSpPr>
        <p:spPr>
          <a:xfrm>
            <a:off x="1476375" y="3162300"/>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a:ext uri="{FF2B5EF4-FFF2-40B4-BE49-F238E27FC236}">
                <a16:creationId xmlns:a16="http://schemas.microsoft.com/office/drawing/2014/main" id="{993DD36E-05CF-4E2D-B076-A62337980535}"/>
              </a:ext>
            </a:extLst>
          </p:cNvPr>
          <p:cNvSpPr>
            <a:spLocks noGrp="1"/>
          </p:cNvSpPr>
          <p:nvPr/>
        </p:nvSpPr>
        <p:spPr>
          <a:xfrm>
            <a:off x="1476375" y="3667125"/>
            <a:ext cx="10001250" cy="0"/>
          </a:xfrm>
          <a:prstGeom prst="line">
            <a:avLst/>
          </a:prstGeom>
          <a:ln w="9525">
            <a:solidFill>
              <a:srgbClr val="D6DFE6"/>
            </a:solidFill>
          </a:ln>
        </p:spPr>
        <p:txBody>
          <a:bodyPr/>
          <a:lstStyle/>
          <a:p>
            <a:endParaRPr/>
          </a:p>
        </p:txBody>
      </p:sp>
      <p:sp>
        <p:nvSpPr>
          <p:cNvPr id="13" name="Number 2">
            <a:extLst>
              <a:ext uri="{FF2B5EF4-FFF2-40B4-BE49-F238E27FC236}">
                <a16:creationId xmlns:a16="http://schemas.microsoft.com/office/drawing/2014/main" id="{950A67DA-F812-40C4-AC2C-AF69E073F83D}"/>
              </a:ext>
            </a:extLst>
          </p:cNvPr>
          <p:cNvSpPr>
            <a:spLocks noGrp="1"/>
          </p:cNvSpPr>
          <p:nvPr/>
        </p:nvSpPr>
        <p:spPr>
          <a:xfrm>
            <a:off x="571500" y="3762375"/>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a:ext uri="{FF2B5EF4-FFF2-40B4-BE49-F238E27FC236}">
                <a16:creationId xmlns:a16="http://schemas.microsoft.com/office/drawing/2014/main" id="{125380E5-9AA8-475E-B20F-700E6D5D5DEC}"/>
              </a:ext>
            </a:extLst>
          </p:cNvPr>
          <p:cNvSpPr>
            <a:spLocks noGrp="1"/>
          </p:cNvSpPr>
          <p:nvPr/>
        </p:nvSpPr>
        <p:spPr>
          <a:xfrm>
            <a:off x="1476375" y="3762375"/>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a:ext uri="{FF2B5EF4-FFF2-40B4-BE49-F238E27FC236}">
                <a16:creationId xmlns:a16="http://schemas.microsoft.com/office/drawing/2014/main" id="{EABD6315-4D77-40D4-9C12-2E572C01DC5F}"/>
              </a:ext>
            </a:extLst>
          </p:cNvPr>
          <p:cNvSpPr>
            <a:spLocks noGrp="1"/>
          </p:cNvSpPr>
          <p:nvPr/>
        </p:nvSpPr>
        <p:spPr>
          <a:xfrm>
            <a:off x="1476375" y="4200525"/>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a:ext uri="{FF2B5EF4-FFF2-40B4-BE49-F238E27FC236}">
                <a16:creationId xmlns:a16="http://schemas.microsoft.com/office/drawing/2014/main" id="{82A08D3E-2060-4A8E-B0F5-2F27B8D5E059}"/>
              </a:ext>
            </a:extLst>
          </p:cNvPr>
          <p:cNvSpPr>
            <a:spLocks noGrp="1"/>
          </p:cNvSpPr>
          <p:nvPr/>
        </p:nvSpPr>
        <p:spPr>
          <a:xfrm>
            <a:off x="1476375" y="4705350"/>
            <a:ext cx="10001250" cy="0"/>
          </a:xfrm>
          <a:prstGeom prst="line">
            <a:avLst/>
          </a:prstGeom>
          <a:ln w="9525">
            <a:solidFill>
              <a:srgbClr val="D6DFE6"/>
            </a:solidFill>
          </a:ln>
        </p:spPr>
        <p:txBody>
          <a:bodyPr/>
          <a:lstStyle/>
          <a:p>
            <a:endParaRPr/>
          </a:p>
        </p:txBody>
      </p:sp>
      <p:sp>
        <p:nvSpPr>
          <p:cNvPr id="17" name="Number 3">
            <a:extLst>
              <a:ext uri="{FF2B5EF4-FFF2-40B4-BE49-F238E27FC236}">
                <a16:creationId xmlns:a16="http://schemas.microsoft.com/office/drawing/2014/main" id="{5D9B67B6-9F50-4BBA-B8F8-61C712D17F38}"/>
              </a:ext>
            </a:extLst>
          </p:cNvPr>
          <p:cNvSpPr>
            <a:spLocks noGrp="1"/>
          </p:cNvSpPr>
          <p:nvPr/>
        </p:nvSpPr>
        <p:spPr>
          <a:xfrm>
            <a:off x="571500" y="4800600"/>
            <a:ext cx="666750" cy="428625"/>
          </a:xfrm>
          <a:prstGeom prst="rect">
            <a:avLst/>
          </a:prstGeom>
          <a:noFill/>
          <a:ln w="0">
            <a:noFill/>
          </a:ln>
        </p:spPr>
        <p:txBody>
          <a:bodyPr wrap="square" lIns="0" tIns="0" rIns="0" bIns="0" anchor="t">
            <a:noAutofit/>
          </a:bodyPr>
          <a:lstStyle/>
          <a:p>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a:ext uri="{FF2B5EF4-FFF2-40B4-BE49-F238E27FC236}">
                <a16:creationId xmlns:a16="http://schemas.microsoft.com/office/drawing/2014/main" id="{F3D4BC39-275B-403F-A6B7-0B93CC9F561F}"/>
              </a:ext>
            </a:extLst>
          </p:cNvPr>
          <p:cNvSpPr>
            <a:spLocks noGrp="1"/>
          </p:cNvSpPr>
          <p:nvPr/>
        </p:nvSpPr>
        <p:spPr>
          <a:xfrm>
            <a:off x="1476375" y="4800600"/>
            <a:ext cx="10001250" cy="381000"/>
          </a:xfrm>
          <a:prstGeom prst="rect">
            <a:avLst/>
          </a:prstGeom>
          <a:noFill/>
          <a:ln w="0">
            <a:noFill/>
          </a:ln>
        </p:spPr>
        <p:txBody>
          <a:bodyPr wrap="square" lIns="0" tIns="0" rIns="0" bIns="0" anchor="t">
            <a:noAutofit/>
          </a:bodyPr>
          <a:lstStyle/>
          <a:p>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a:ext uri="{FF2B5EF4-FFF2-40B4-BE49-F238E27FC236}">
                <a16:creationId xmlns:a16="http://schemas.microsoft.com/office/drawing/2014/main" id="{56A4B716-1539-44D1-A626-86DD3B706FD5}"/>
              </a:ext>
            </a:extLst>
          </p:cNvPr>
          <p:cNvSpPr>
            <a:spLocks noGrp="1"/>
          </p:cNvSpPr>
          <p:nvPr/>
        </p:nvSpPr>
        <p:spPr>
          <a:xfrm>
            <a:off x="1476375" y="5238750"/>
            <a:ext cx="10001250" cy="514350"/>
          </a:xfrm>
          <a:prstGeom prst="rect">
            <a:avLst/>
          </a:prstGeom>
          <a:noFill/>
          <a:ln w="0">
            <a:noFill/>
          </a:ln>
        </p:spPr>
        <p:txBody>
          <a:bodyPr wrap="square" lIns="0" tIns="0" rIns="0" bIns="0" anchor="t">
            <a:noAutofit/>
          </a:bodyPr>
          <a:lstStyle/>
          <a:p>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a:ext uri="{FF2B5EF4-FFF2-40B4-BE49-F238E27FC236}">
                <a16:creationId xmlns:a16="http://schemas.microsoft.com/office/drawing/2014/main" id="{81ACAD7F-B483-46B4-A021-A700E2D90E6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28FCC118-4AA9-4888-A5C3-815D621C1209}"/>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a:ext uri="{FF2B5EF4-FFF2-40B4-BE49-F238E27FC236}">
                <a16:creationId xmlns:a16="http://schemas.microsoft.com/office/drawing/2014/main" id="{FAE0F257-08BD-4F46-BD88-F59638D041DD}"/>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a:ext uri="{FF2B5EF4-FFF2-40B4-BE49-F238E27FC236}">
                <a16:creationId xmlns:a16="http://schemas.microsoft.com/office/drawing/2014/main" id="{F5F2652E-2A32-4A98-ABF6-E23BF56E9056}"/>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31ED861C-4D2E-4121-AD3E-D61C7E83770F}"/>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25</a:t>
            </a:r>
          </a:p>
        </p:txBody>
      </p:sp>
      <p:graphicFrame>
        <p:nvGraphicFramePr>
          <p:cNvPr id="17" name="Table 13"/>
          <p:cNvGraphicFramePr/>
          <p:nvPr/>
        </p:nvGraphicFramePr>
        <p:xfrm>
          <a:off x="571500" y="1619250"/>
          <a:ext cx="11049000" cy="3209928"/>
        </p:xfrm>
        <a:graphic>
          <a:graphicData uri="http://schemas.openxmlformats.org/drawingml/2006/table">
            <a:tbl>
              <a:tblPr/>
              <a:tblGrid>
                <a:gridCol w="4000500">
                  <a:extLst>
                    <a:ext uri="{9D8B030D-6E8A-4147-A177-3AD203B41FA5}">
                      <a16:colId xmlns:a16="http://schemas.microsoft.com/office/drawing/2014/main" val="20000"/>
                    </a:ext>
                  </a:extLst>
                </a:gridCol>
                <a:gridCol w="7048500">
                  <a:extLst>
                    <a:ext uri="{9D8B030D-6E8A-4147-A177-3AD203B41FA5}">
                      <a16:colId xmlns:a16="http://schemas.microsoft.com/office/drawing/2014/main" val="20001"/>
                    </a:ext>
                  </a:extLst>
                </a:gridCol>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extLst>
                  <a:ext uri="{0D108BD9-81ED-4DB2-BD59-A6C34878D82A}">
                    <a16:rowId xmlns:a16="http://schemas.microsoft.com/office/drawing/2014/main" val="10000"/>
                  </a:ext>
                </a:extLst>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extLst>
                  <a:ext uri="{0D108BD9-81ED-4DB2-BD59-A6C34878D82A}">
                    <a16:rowId xmlns:a16="http://schemas.microsoft.com/office/drawing/2014/main" val="10001"/>
                  </a:ext>
                </a:extLst>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extLst>
                  <a:ext uri="{0D108BD9-81ED-4DB2-BD59-A6C34878D82A}">
                    <a16:rowId xmlns:a16="http://schemas.microsoft.com/office/drawing/2014/main" val="10002"/>
                  </a:ext>
                </a:extLst>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extLst>
                  <a:ext uri="{0D108BD9-81ED-4DB2-BD59-A6C34878D82A}">
                    <a16:rowId xmlns:a16="http://schemas.microsoft.com/office/drawing/2014/main" val="10003"/>
                  </a:ext>
                </a:extLst>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extLst>
                  <a:ext uri="{0D108BD9-81ED-4DB2-BD59-A6C34878D82A}">
                    <a16:rowId xmlns:a16="http://schemas.microsoft.com/office/drawing/2014/main" val="10004"/>
                  </a:ext>
                </a:extLst>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6" name="Questions">
            <a:extLst>
              <a:ext uri="{FF2B5EF4-FFF2-40B4-BE49-F238E27FC236}">
                <a16:creationId xmlns:a16="http://schemas.microsoft.com/office/drawing/2014/main" id="{F9B331D5-0B0B-4121-A7F5-861860C9FE3D}"/>
              </a:ext>
            </a:extLst>
          </p:cNvPr>
          <p:cNvSpPr>
            <a:spLocks noGrp="1"/>
          </p:cNvSpPr>
          <p:nvPr/>
        </p:nvSpPr>
        <p:spPr>
          <a:xfrm>
            <a:off x="571500" y="5676900"/>
            <a:ext cx="11049000" cy="581025"/>
          </a:xfrm>
          <a:prstGeom prst="rect">
            <a:avLst/>
          </a:prstGeom>
          <a:noFill/>
          <a:ln w="0">
            <a:noFill/>
          </a:ln>
        </p:spPr>
        <p:txBody>
          <a:bodyPr wrap="square" lIns="0" tIns="0" rIns="0" bIns="0" anchor="t">
            <a:noAutofit/>
          </a:bodyPr>
          <a:lstStyle/>
          <a:p>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a:ext uri="{FF2B5EF4-FFF2-40B4-BE49-F238E27FC236}">
                <a16:creationId xmlns:a16="http://schemas.microsoft.com/office/drawing/2014/main" id="{F6F877BE-0EE4-4CD2-8FFA-4C514EE9793E}"/>
              </a:ext>
            </a:extLst>
          </p:cNvPr>
          <p:cNvSpPr>
            <a:spLocks noGrp="1"/>
          </p:cNvSpPr>
          <p:nvPr/>
        </p:nvSpPr>
        <p:spPr>
          <a:xfrm>
            <a:off x="571500" y="5019675"/>
            <a:ext cx="11049000" cy="361950"/>
          </a:xfrm>
          <a:prstGeom prst="rect">
            <a:avLst/>
          </a:prstGeom>
          <a:noFill/>
          <a:ln w="0">
            <a:noFill/>
          </a:ln>
        </p:spPr>
        <p:txBody>
          <a:bodyPr wrap="square" anchor="t">
            <a:noAutofit/>
          </a:bodyPr>
          <a:lstStyle/>
          <a:p>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a:ext uri="{FF2B5EF4-FFF2-40B4-BE49-F238E27FC236}">
                <a16:creationId xmlns:a16="http://schemas.microsoft.com/office/drawing/2014/main" id="{3E51B9A2-4BE1-4618-87F8-B788CE829DE6}"/>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2B3C6772-0F95-45B3-B85E-57BE93555945}"/>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a:ext uri="{FF2B5EF4-FFF2-40B4-BE49-F238E27FC236}">
                <a16:creationId xmlns:a16="http://schemas.microsoft.com/office/drawing/2014/main" id="{0C05C015-062A-4F47-9D4C-A26C513E0167}"/>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a:ext uri="{FF2B5EF4-FFF2-40B4-BE49-F238E27FC236}">
                <a16:creationId xmlns:a16="http://schemas.microsoft.com/office/drawing/2014/main" id="{EC12F44A-C523-4488-8E92-ABEA75EDEC25}"/>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99D327B4-77BB-44FF-B56D-36E909CE7036}"/>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26</a:t>
            </a:r>
          </a:p>
        </p:txBody>
      </p:sp>
      <p:graphicFrame>
        <p:nvGraphicFramePr>
          <p:cNvPr id="15" name="Table 12"/>
          <p:cNvGraphicFramePr/>
          <p:nvPr/>
        </p:nvGraphicFramePr>
        <p:xfrm>
          <a:off x="571500" y="1619250"/>
          <a:ext cx="11049000" cy="3476625"/>
        </p:xfrm>
        <a:graphic>
          <a:graphicData uri="http://schemas.openxmlformats.org/drawingml/2006/table">
            <a:tbl>
              <a:tblPr/>
              <a:tblGrid>
                <a:gridCol w="2619375">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extLst>
                  <a:ext uri="{0D108BD9-81ED-4DB2-BD59-A6C34878D82A}">
                    <a16:rowId xmlns:a16="http://schemas.microsoft.com/office/drawing/2014/main" val="10000"/>
                  </a:ext>
                </a:extLst>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extLst>
                  <a:ext uri="{0D108BD9-81ED-4DB2-BD59-A6C34878D82A}">
                    <a16:rowId xmlns:a16="http://schemas.microsoft.com/office/drawing/2014/main" val="10001"/>
                  </a:ext>
                </a:extLst>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extLst>
                  <a:ext uri="{0D108BD9-81ED-4DB2-BD59-A6C34878D82A}">
                    <a16:rowId xmlns:a16="http://schemas.microsoft.com/office/drawing/2014/main" val="10002"/>
                  </a:ext>
                </a:extLst>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extLst>
                  <a:ext uri="{0D108BD9-81ED-4DB2-BD59-A6C34878D82A}">
                    <a16:rowId xmlns:a16="http://schemas.microsoft.com/office/drawing/2014/main" val="10003"/>
                  </a:ext>
                </a:extLst>
              </a:tr>
              <a:tr h="695325">
                <a:tc>
                  <a:txBody>
                    <a:bodyPr/>
                    <a:lstStyle/>
                    <a:p>
                      <a:pPr algn="l">
                        <a:buNone/>
                      </a:pPr>
                      <a:r>
                        <a:rPr sz="1725" b="0">
                          <a:solidFill>
                            <a:srgbClr val="17324D"/>
                          </a:solidFill>
                          <a:latin typeface="Helvetica Neue"/>
                          <a:ea typeface="Helvetica Neue"/>
                          <a:cs typeface="Helvetica Neue"/>
                        </a:rPr>
                        <a:t>Self-check vs Cross-check</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extLst>
                  <a:ext uri="{0D108BD9-81ED-4DB2-BD59-A6C34878D82A}">
                    <a16:rowId xmlns:a16="http://schemas.microsoft.com/office/drawing/2014/main" val="10004"/>
                  </a:ext>
                </a:extLst>
              </a:tr>
            </a:tbl>
          </a:graphicData>
        </a:graphic>
      </p:graphicFrame>
      <p:sp>
        <p:nvSpPr>
          <p:cNvPr id="6" name="Footnote">
            <a:extLst>
              <a:ext uri="{FF2B5EF4-FFF2-40B4-BE49-F238E27FC236}">
                <a16:creationId xmlns:a16="http://schemas.microsoft.com/office/drawing/2014/main" id="{A6635AA3-80FE-4668-A69B-5A5E4DD49F1C}"/>
              </a:ext>
            </a:extLst>
          </p:cNvPr>
          <p:cNvSpPr>
            <a:spLocks noGrp="1"/>
          </p:cNvSpPr>
          <p:nvPr/>
        </p:nvSpPr>
        <p:spPr>
          <a:xfrm>
            <a:off x="571500" y="5857875"/>
            <a:ext cx="11049000" cy="485775"/>
          </a:xfrm>
          <a:prstGeom prst="rect">
            <a:avLst/>
          </a:prstGeom>
          <a:noFill/>
          <a:ln w="0">
            <a:noFill/>
          </a:ln>
        </p:spPr>
        <p:txBody>
          <a:bodyPr wrap="square" lIns="0" tIns="0" rIns="0" bIns="0" anchor="t">
            <a:noAutofit/>
          </a:bodyPr>
          <a:lstStyle/>
          <a:p>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a:ext uri="{FF2B5EF4-FFF2-40B4-BE49-F238E27FC236}">
                <a16:creationId xmlns:a16="http://schemas.microsoft.com/office/drawing/2014/main" id="{383EBBE7-6C15-48FE-BA79-6E6707B7E2E7}"/>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0" name="Section">
            <a:extLst>
              <a:ext uri="{FF2B5EF4-FFF2-40B4-BE49-F238E27FC236}">
                <a16:creationId xmlns:a16="http://schemas.microsoft.com/office/drawing/2014/main" id="{C180763E-F514-42CC-ACDB-FE5F4C930E38}"/>
              </a:ext>
            </a:extLst>
          </p:cNvPr>
          <p:cNvSpPr>
            <a:spLocks noGrp="1"/>
          </p:cNvSpPr>
          <p:nvPr/>
        </p:nvSpPr>
        <p:spPr>
          <a:xfrm>
            <a:off x="8572500" y="228600"/>
            <a:ext cx="3143250" cy="238125"/>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a:ext uri="{FF2B5EF4-FFF2-40B4-BE49-F238E27FC236}">
                <a16:creationId xmlns:a16="http://schemas.microsoft.com/office/drawing/2014/main" id="{41C1F64A-F0F1-4ABC-A75B-072E2426CF4F}"/>
              </a:ext>
            </a:extLst>
          </p:cNvPr>
          <p:cNvSpPr>
            <a:spLocks noGrp="1"/>
          </p:cNvSpPr>
          <p:nvPr/>
        </p:nvSpPr>
        <p:spPr>
          <a:xfrm>
            <a:off x="381000" y="552450"/>
            <a:ext cx="11334750" cy="619125"/>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a:ext uri="{FF2B5EF4-FFF2-40B4-BE49-F238E27FC236}">
                <a16:creationId xmlns:a16="http://schemas.microsoft.com/office/drawing/2014/main" id="{A44A5EDD-1ED3-4E0B-9C35-28ADD927BDA3}"/>
              </a:ext>
            </a:extLst>
          </p:cNvPr>
          <p:cNvSpPr>
            <a:spLocks noGrp="1"/>
          </p:cNvSpPr>
          <p:nvPr/>
        </p:nvSpPr>
        <p:spPr>
          <a:xfrm>
            <a:off x="381000" y="1238250"/>
            <a:ext cx="11430000" cy="0"/>
          </a:xfrm>
          <a:prstGeom prst="line">
            <a:avLst/>
          </a:prstGeom>
          <a:ln w="9525">
            <a:solidFill>
              <a:srgbClr val="D6DFE6"/>
            </a:solidFill>
          </a:ln>
        </p:spPr>
        <p:txBody>
          <a:bodyPr/>
          <a:lstStyle/>
          <a:p>
            <a:endParaRPr/>
          </a:p>
        </p:txBody>
      </p:sp>
      <p:sp>
        <p:nvSpPr>
          <p:cNvPr id="4" name="Page">
            <a:extLst>
              <a:ext uri="{FF2B5EF4-FFF2-40B4-BE49-F238E27FC236}">
                <a16:creationId xmlns:a16="http://schemas.microsoft.com/office/drawing/2014/main" id="{F3581CEB-2527-4F9E-AE5A-9EBE963D1203}"/>
              </a:ext>
            </a:extLst>
          </p:cNvPr>
          <p:cNvSpPr>
            <a:spLocks noGrp="1"/>
          </p:cNvSpPr>
          <p:nvPr/>
        </p:nvSpPr>
        <p:spPr>
          <a:xfrm>
            <a:off x="11430000" y="6505575"/>
            <a:ext cx="381000" cy="19050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21" name="Speaker">
            <a:extLst>
              <a:ext uri="{FF2B5EF4-FFF2-40B4-BE49-F238E27FC236}">
                <a16:creationId xmlns:a16="http://schemas.microsoft.com/office/drawing/2014/main" id="{81ACAD7F-B483-46B4-A021-A700E2D90E60}"/>
              </a:ext>
            </a:extLst>
          </p:cNvPr>
          <p:cNvSpPr>
            <a:spLocks noGrp="1"/>
          </p:cNvSpPr>
          <p:nvPr/>
        </p:nvSpPr>
        <p:spPr>
          <a:xfrm>
            <a:off x="9572625" y="6524625"/>
            <a:ext cx="1714500" cy="219075"/>
          </a:xfrm>
          <a:prstGeom prst="rect">
            <a:avLst/>
          </a:prstGeom>
          <a:noFill/>
          <a:ln w="0">
            <a:noFill/>
          </a:ln>
        </p:spPr>
        <p:txBody>
          <a:bodyPr wrap="none" lIns="0" tIns="0" rIns="0" bIns="0" anchor="t">
            <a:noAutofit/>
          </a:bodyPr>
          <a:lstStyle/>
          <a:p>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a:ext uri="{FF2B5EF4-FFF2-40B4-BE49-F238E27FC236}">
                <a16:creationId xmlns:a16="http://schemas.microsoft.com/office/drawing/2014/main" id="{FE9CA4B3-E655-4C2E-9C14-6939F3C43830}"/>
              </a:ext>
            </a:extLst>
          </p:cNvPr>
          <p:cNvSpPr>
            <a:spLocks noGrp="1"/>
          </p:cNvSpPr>
          <p:nvPr/>
        </p:nvSpPr>
        <p:spPr>
          <a:xfrm>
            <a:off x="571500" y="1519237"/>
            <a:ext cx="11049000" cy="619125"/>
          </a:xfrm>
          <a:prstGeom prst="rect">
            <a:avLst/>
          </a:prstGeom>
          <a:noFill/>
          <a:ln w="0">
            <a:noFill/>
          </a:ln>
        </p:spPr>
        <p:txBody>
          <a:bodyPr wrap="square" lIns="0" tIns="0" rIns="0" bIns="0" anchor="t">
            <a:noAutofit/>
          </a:bodyPr>
          <a:lstStyle/>
          <a:p>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AI are not reliable because they are making mistakes.</a:t>
            </a:r>
          </a:p>
          <a:p>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BUT</a:t>
            </a:r>
          </a:p>
          <a:p>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Human also make mistakes</a:t>
            </a:r>
          </a:p>
        </p:txBody>
      </p:sp>
      <p:sp>
        <p:nvSpPr>
          <p:cNvPr id="24" name="Consequences heading">
            <a:extLst>
              <a:ext uri="{FF2B5EF4-FFF2-40B4-BE49-F238E27FC236}">
                <a16:creationId xmlns:a16="http://schemas.microsoft.com/office/drawing/2014/main" id="{F9028199-D210-44FC-84CA-47EB82BCF6AB}"/>
              </a:ext>
            </a:extLst>
          </p:cNvPr>
          <p:cNvSpPr>
            <a:spLocks noGrp="1"/>
          </p:cNvSpPr>
          <p:nvPr/>
        </p:nvSpPr>
        <p:spPr>
          <a:xfrm>
            <a:off x="571500" y="2762250"/>
            <a:ext cx="11049000" cy="342900"/>
          </a:xfrm>
          <a:prstGeom prst="rect">
            <a:avLst/>
          </a:prstGeom>
          <a:noFill/>
          <a:ln w="0">
            <a:noFill/>
          </a:ln>
        </p:spPr>
        <p:txBody>
          <a:bodyPr wrap="square" lIns="0" tIns="0" rIns="0" bIns="0"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a:ext uri="{FF2B5EF4-FFF2-40B4-BE49-F238E27FC236}">
                <a16:creationId xmlns:a16="http://schemas.microsoft.com/office/drawing/2014/main" id="{03C87E14-6764-4DDA-8FFA-7FCB97F83CB3}"/>
              </a:ext>
            </a:extLst>
          </p:cNvPr>
          <p:cNvSpPr>
            <a:spLocks noGrp="1"/>
          </p:cNvSpPr>
          <p:nvPr/>
        </p:nvSpPr>
        <p:spPr>
          <a:xfrm>
            <a:off x="1047750" y="3181350"/>
            <a:ext cx="10572750" cy="381000"/>
          </a:xfrm>
          <a:prstGeom prst="rect">
            <a:avLst/>
          </a:prstGeom>
          <a:noFill/>
          <a:ln w="0">
            <a:noFill/>
          </a:ln>
        </p:spPr>
        <p:txBody>
          <a:bodyPr wrap="square" lIns="0" tIns="0" rIns="0" bIns="0" anchor="t">
            <a:noAutofit/>
          </a:bodyPr>
          <a:lstStyle/>
          <a:p>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a:ext uri="{FF2B5EF4-FFF2-40B4-BE49-F238E27FC236}">
                <a16:creationId xmlns:a16="http://schemas.microsoft.com/office/drawing/2014/main" id="{04FDAC62-8753-47F1-80D9-47AD774694B4}"/>
              </a:ext>
            </a:extLst>
          </p:cNvPr>
          <p:cNvSpPr>
            <a:spLocks noGrp="1"/>
          </p:cNvSpPr>
          <p:nvPr/>
        </p:nvSpPr>
        <p:spPr>
          <a:xfrm>
            <a:off x="571500" y="3771900"/>
            <a:ext cx="11049000" cy="342900"/>
          </a:xfrm>
          <a:prstGeom prst="rect">
            <a:avLst/>
          </a:prstGeom>
          <a:noFill/>
          <a:ln w="0">
            <a:noFill/>
          </a:ln>
        </p:spPr>
        <p:txBody>
          <a:bodyPr wrap="square" lIns="0" tIns="0" rIns="0" bIns="0"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a:ext uri="{FF2B5EF4-FFF2-40B4-BE49-F238E27FC236}">
                <a16:creationId xmlns:a16="http://schemas.microsoft.com/office/drawing/2014/main" id="{95FEB276-D85A-4289-982C-F68E971F14D0}"/>
              </a:ext>
            </a:extLst>
          </p:cNvPr>
          <p:cNvSpPr>
            <a:spLocks noGrp="1"/>
          </p:cNvSpPr>
          <p:nvPr/>
        </p:nvSpPr>
        <p:spPr>
          <a:xfrm>
            <a:off x="1047750" y="4191000"/>
            <a:ext cx="10572750" cy="381000"/>
          </a:xfrm>
          <a:prstGeom prst="rect">
            <a:avLst/>
          </a:prstGeom>
          <a:noFill/>
          <a:ln w="0">
            <a:noFill/>
          </a:ln>
        </p:spPr>
        <p:txBody>
          <a:bodyPr wrap="square" lIns="0" tIns="0" rIns="0" bIns="0" anchor="t">
            <a:noAutofit/>
          </a:bodyPr>
          <a:lstStyle/>
          <a:p>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a:ext uri="{FF2B5EF4-FFF2-40B4-BE49-F238E27FC236}">
                <a16:creationId xmlns:a16="http://schemas.microsoft.com/office/drawing/2014/main" id="{11FEFB7D-E423-4090-8BE2-2070EDA48C80}"/>
              </a:ext>
            </a:extLst>
          </p:cNvPr>
          <p:cNvSpPr>
            <a:spLocks noGrp="1"/>
          </p:cNvSpPr>
          <p:nvPr/>
        </p:nvSpPr>
        <p:spPr>
          <a:xfrm>
            <a:off x="571500" y="4781550"/>
            <a:ext cx="11049000" cy="342900"/>
          </a:xfrm>
          <a:prstGeom prst="rect">
            <a:avLst/>
          </a:prstGeom>
          <a:noFill/>
          <a:ln w="0">
            <a:noFill/>
          </a:ln>
        </p:spPr>
        <p:txBody>
          <a:bodyPr wrap="square" lIns="0" tIns="0" rIns="0" bIns="0" anchor="t">
            <a:noAutofit/>
          </a:bodyPr>
          <a:lstStyle/>
          <a:p>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a:ext uri="{FF2B5EF4-FFF2-40B4-BE49-F238E27FC236}">
                <a16:creationId xmlns:a16="http://schemas.microsoft.com/office/drawing/2014/main" id="{D4EED00A-24DC-417D-A94E-2D3959D5456A}"/>
              </a:ext>
            </a:extLst>
          </p:cNvPr>
          <p:cNvSpPr>
            <a:spLocks noGrp="1"/>
          </p:cNvSpPr>
          <p:nvPr/>
        </p:nvSpPr>
        <p:spPr>
          <a:xfrm>
            <a:off x="1047750" y="5200650"/>
            <a:ext cx="10572750" cy="571500"/>
          </a:xfrm>
          <a:prstGeom prst="rect">
            <a:avLst/>
          </a:prstGeom>
          <a:noFill/>
          <a:ln w="0">
            <a:noFill/>
          </a:ln>
        </p:spPr>
        <p:txBody>
          <a:bodyPr wrap="square" lIns="0" tIns="0" rIns="0" bIns="0" anchor="t">
            <a:noAutofit/>
          </a:bodyPr>
          <a:lstStyle/>
          <a:p>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a:ext uri="{FF2B5EF4-FFF2-40B4-BE49-F238E27FC236}">
                <a16:creationId xmlns:a16="http://schemas.microsoft.com/office/drawing/2014/main" id="{4EF8D7E5-79E8-4B0C-87EE-9B050000E36E}"/>
              </a:ext>
            </a:extLst>
          </p:cNvPr>
          <p:cNvSpPr>
            <a:spLocks noGrp="1"/>
          </p:cNvSpPr>
          <p:nvPr/>
        </p:nvSpPr>
        <p:spPr>
          <a:xfrm>
            <a:off x="571500" y="5981700"/>
            <a:ext cx="11049000" cy="400050"/>
          </a:xfrm>
          <a:prstGeom prst="rect">
            <a:avLst/>
          </a:prstGeom>
          <a:noFill/>
          <a:ln w="0">
            <a:noFill/>
          </a:ln>
        </p:spPr>
        <p:txBody>
          <a:bodyPr wrap="square" lIns="0" tIns="0" rIns="0" bIns="0" anchor="t">
            <a:noAutofit/>
          </a:bodyPr>
          <a:lstStyle/>
          <a:p>
            <a:pPr algn="l">
              <a:buNone/>
              <a:defRPr sz="2250" b="1">
                <a:solidFill>
                  <a:srgbClr val="128A83"/>
                </a:solidFill>
                <a:latin typeface="Helvetica Neue"/>
                <a:ea typeface="Helvetica Neue"/>
                <a:cs typeface="Helvetica Neue"/>
              </a:defRPr>
            </a:pPr>
            <a:r>
              <a:rPr sz="2250" b="1">
                <a:solidFill>
                  <a:srgbClr val="128A83"/>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9323</Words>
  <Application>Microsoft Macintosh PowerPoint</Application>
  <DocSecurity>0</DocSecurity>
  <PresentationFormat>Widescreen</PresentationFormat>
  <Paragraphs>470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thomaslin@connect.hku.hk</cp:lastModifiedBy>
  <cp:revision>1</cp:revision>
  <dcterms:created xsi:type="dcterms:W3CDTF">2026-10-07T07:47:32Z</dcterms:created>
  <dcterms:modified xsi:type="dcterms:W3CDTF">2026-10-07T07:50:07Z</dcterms:modified>
</cp:coreProperties>
</file>