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7.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2cb1fb27f98427c" /><Relationship Type="http://schemas.openxmlformats.org/officeDocument/2006/relationships/extended-properties" Target="/docProps/app.xml" Id="R40d9cbeabf934cb6" /><Relationship Type="http://schemas.openxmlformats.org/officeDocument/2006/relationships/officeDocument" Target="/ppt/presentation.xml" Id="R8b0853bd54194784" /></Relationships>
</file>

<file path=ppt/presentation.xml><?xml version="1.0" encoding="utf-8"?>
<p:presentation xmlns:p="http://schemas.openxmlformats.org/presentationml/2006/main">
  <p:sldMasterIdLst>
    <p:sldMasterId xmlns:r="http://schemas.openxmlformats.org/officeDocument/2006/relationships" id="2147483648" r:id="R160c8936581c4462"/>
  </p:sldMasterIdLst>
  <p:notesMasterIdLst>
    <p:notesMasterId xmlns:r="http://schemas.openxmlformats.org/officeDocument/2006/relationships" r:id="Rdafbda713253493b"/>
  </p:notesMasterIdLst>
  <p:sldIdLst>
    <p:sldId xmlns:r="http://schemas.openxmlformats.org/officeDocument/2006/relationships" id="256" r:id="R7578334942ec4df2"/>
    <p:sldId xmlns:r="http://schemas.openxmlformats.org/officeDocument/2006/relationships" id="257" r:id="R6b288a6125c54180"/>
    <p:sldId xmlns:r="http://schemas.openxmlformats.org/officeDocument/2006/relationships" id="258" r:id="R32cad4f7588447c4"/>
    <p:sldId xmlns:r="http://schemas.openxmlformats.org/officeDocument/2006/relationships" id="259" r:id="Rbbccba0f02434d77"/>
    <p:sldId xmlns:r="http://schemas.openxmlformats.org/officeDocument/2006/relationships" id="260" r:id="R05ad61729c3b4bc5"/>
    <p:sldId xmlns:r="http://schemas.openxmlformats.org/officeDocument/2006/relationships" id="261" r:id="R469f93349b674b9f"/>
    <p:sldId xmlns:r="http://schemas.openxmlformats.org/officeDocument/2006/relationships" id="262" r:id="Rfb7dea24ea444987"/>
    <p:sldId xmlns:r="http://schemas.openxmlformats.org/officeDocument/2006/relationships" id="263" r:id="Rd67acc4cb1ed49e1"/>
    <p:sldId xmlns:r="http://schemas.openxmlformats.org/officeDocument/2006/relationships" id="264" r:id="R6cadd08366e8481b"/>
    <p:sldId xmlns:r="http://schemas.openxmlformats.org/officeDocument/2006/relationships" id="265" r:id="R9193caeb5ec2474b"/>
    <p:sldId xmlns:r="http://schemas.openxmlformats.org/officeDocument/2006/relationships" id="266" r:id="R5ba39d28f5c148e4"/>
    <p:sldId xmlns:r="http://schemas.openxmlformats.org/officeDocument/2006/relationships" id="267" r:id="R0495a542708b4622"/>
    <p:sldId xmlns:r="http://schemas.openxmlformats.org/officeDocument/2006/relationships" id="268" r:id="R6b757ab6787f4c33"/>
    <p:sldId xmlns:r="http://schemas.openxmlformats.org/officeDocument/2006/relationships" id="269" r:id="R165a6a7c84e34724"/>
    <p:sldId xmlns:r="http://schemas.openxmlformats.org/officeDocument/2006/relationships" id="270" r:id="R407b878db5904857"/>
    <p:sldId xmlns:r="http://schemas.openxmlformats.org/officeDocument/2006/relationships" id="271" r:id="R709da8a37d3e4ee5"/>
    <p:sldId xmlns:r="http://schemas.openxmlformats.org/officeDocument/2006/relationships" id="272" r:id="R430d99ae52434a17"/>
    <p:sldId xmlns:r="http://schemas.openxmlformats.org/officeDocument/2006/relationships" id="273" r:id="R9338ab1150ac4ca5"/>
    <p:sldId xmlns:r="http://schemas.openxmlformats.org/officeDocument/2006/relationships" id="274" r:id="R8caee94b06b5451c"/>
    <p:sldId xmlns:r="http://schemas.openxmlformats.org/officeDocument/2006/relationships" id="275" r:id="R8f53f8852d78476e"/>
    <p:sldId xmlns:r="http://schemas.openxmlformats.org/officeDocument/2006/relationships" id="276" r:id="Rb77c3b9d13064336"/>
    <p:sldId xmlns:r="http://schemas.openxmlformats.org/officeDocument/2006/relationships" id="277" r:id="R8b1eeae045fa44c7"/>
    <p:sldId xmlns:r="http://schemas.openxmlformats.org/officeDocument/2006/relationships" id="278" r:id="Re13f5beabc6e46ea"/>
    <p:sldId xmlns:r="http://schemas.openxmlformats.org/officeDocument/2006/relationships" id="279" r:id="Rbc16a98b32dc49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8be6e3da2c94b84" /><Relationship Type="http://schemas.openxmlformats.org/officeDocument/2006/relationships/slideMaster" Target="/ppt/slideMasters/slideMaster1.xml" Id="R160c8936581c4462" /><Relationship Type="http://schemas.openxmlformats.org/officeDocument/2006/relationships/notesMaster" Target="/ppt/notesMasters/notesMaster1.xml" Id="Rdafbda713253493b" /><Relationship Type="http://schemas.openxmlformats.org/officeDocument/2006/relationships/presProps" Target="/ppt/presProps.xml" Id="R1862cad132a94fdf" /><Relationship Type="http://schemas.openxmlformats.org/officeDocument/2006/relationships/viewProps" Target="/ppt/viewProps.xml" Id="Reb2bab86c2c140a0" /><Relationship Type="http://schemas.openxmlformats.org/officeDocument/2006/relationships/tableStyles" Target="/ppt/tableStyles.xml" Id="R06afa47036114c3e" /><Relationship Type="http://schemas.openxmlformats.org/officeDocument/2006/relationships/slide" Target="/ppt/slides/slide1.xml" Id="R7578334942ec4df2" /><Relationship Type="http://schemas.openxmlformats.org/officeDocument/2006/relationships/slide" Target="/ppt/slides/slide2.xml" Id="R6b288a6125c54180" /><Relationship Type="http://schemas.openxmlformats.org/officeDocument/2006/relationships/slide" Target="/ppt/slides/slide3.xml" Id="R32cad4f7588447c4" /><Relationship Type="http://schemas.openxmlformats.org/officeDocument/2006/relationships/slide" Target="/ppt/slides/slide4.xml" Id="Rbbccba0f02434d77" /><Relationship Type="http://schemas.openxmlformats.org/officeDocument/2006/relationships/slide" Target="/ppt/slides/slide5.xml" Id="R05ad61729c3b4bc5" /><Relationship Type="http://schemas.openxmlformats.org/officeDocument/2006/relationships/slide" Target="/ppt/slides/slide6.xml" Id="R469f93349b674b9f" /><Relationship Type="http://schemas.openxmlformats.org/officeDocument/2006/relationships/slide" Target="/ppt/slides/slide7.xml" Id="Rfb7dea24ea444987" /><Relationship Type="http://schemas.openxmlformats.org/officeDocument/2006/relationships/slide" Target="/ppt/slides/slide8.xml" Id="Rd67acc4cb1ed49e1" /><Relationship Type="http://schemas.openxmlformats.org/officeDocument/2006/relationships/slide" Target="/ppt/slides/slide9.xml" Id="R6cadd08366e8481b" /><Relationship Type="http://schemas.openxmlformats.org/officeDocument/2006/relationships/slide" Target="/ppt/slides/slide10.xml" Id="R9193caeb5ec2474b" /><Relationship Type="http://schemas.openxmlformats.org/officeDocument/2006/relationships/slide" Target="/ppt/slides/slide11.xml" Id="R5ba39d28f5c148e4" /><Relationship Type="http://schemas.openxmlformats.org/officeDocument/2006/relationships/slide" Target="/ppt/slides/slide12.xml" Id="R0495a542708b4622" /><Relationship Type="http://schemas.openxmlformats.org/officeDocument/2006/relationships/slide" Target="/ppt/slides/slide13.xml" Id="R6b757ab6787f4c33" /><Relationship Type="http://schemas.openxmlformats.org/officeDocument/2006/relationships/slide" Target="/ppt/slides/slide14.xml" Id="R165a6a7c84e34724" /><Relationship Type="http://schemas.openxmlformats.org/officeDocument/2006/relationships/slide" Target="/ppt/slides/slide15.xml" Id="R407b878db5904857" /><Relationship Type="http://schemas.openxmlformats.org/officeDocument/2006/relationships/slide" Target="/ppt/slides/slide16.xml" Id="R709da8a37d3e4ee5" /><Relationship Type="http://schemas.openxmlformats.org/officeDocument/2006/relationships/slide" Target="/ppt/slides/slide17.xml" Id="R430d99ae52434a17" /><Relationship Type="http://schemas.openxmlformats.org/officeDocument/2006/relationships/slide" Target="/ppt/slides/slide18.xml" Id="R9338ab1150ac4ca5" /><Relationship Type="http://schemas.openxmlformats.org/officeDocument/2006/relationships/slide" Target="/ppt/slides/slide19.xml" Id="R8caee94b06b5451c" /><Relationship Type="http://schemas.openxmlformats.org/officeDocument/2006/relationships/slide" Target="/ppt/slides/slide20.xml" Id="R8f53f8852d78476e" /><Relationship Type="http://schemas.openxmlformats.org/officeDocument/2006/relationships/slide" Target="/ppt/slides/slide21.xml" Id="Rb77c3b9d13064336" /><Relationship Type="http://schemas.openxmlformats.org/officeDocument/2006/relationships/slide" Target="/ppt/slides/slide22.xml" Id="R8b1eeae045fa44c7" /><Relationship Type="http://schemas.openxmlformats.org/officeDocument/2006/relationships/slide" Target="/ppt/slides/slide23.xml" Id="Re13f5beabc6e46ea" /><Relationship Type="http://schemas.openxmlformats.org/officeDocument/2006/relationships/slide" Target="/ppt/slides/slide24.xml" Id="Rbc16a98b32dc49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6f92be42b94c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25497f6ff4487b" /><Relationship Type="http://schemas.openxmlformats.org/officeDocument/2006/relationships/notesMaster" Target="/ppt/notesMasters/notesMaster1.xml" Id="R22ca888983dc41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f8060850a84aec" /><Relationship Type="http://schemas.openxmlformats.org/officeDocument/2006/relationships/notesMaster" Target="/ppt/notesMasters/notesMaster1.xml" Id="Rb729bc46b63a47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1a2f812b204ca9" /><Relationship Type="http://schemas.openxmlformats.org/officeDocument/2006/relationships/notesMaster" Target="/ppt/notesMasters/notesMaster1.xml" Id="R76d974c4f19848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32f8556d214a59" /><Relationship Type="http://schemas.openxmlformats.org/officeDocument/2006/relationships/notesMaster" Target="/ppt/notesMasters/notesMaster1.xml" Id="Rfa6388503f8a46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033d2b533d4a6a" /><Relationship Type="http://schemas.openxmlformats.org/officeDocument/2006/relationships/notesMaster" Target="/ppt/notesMasters/notesMaster1.xml" Id="Re4084b79595847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d140fe75c94dc6" /><Relationship Type="http://schemas.openxmlformats.org/officeDocument/2006/relationships/notesMaster" Target="/ppt/notesMasters/notesMaster1.xml" Id="Rdc7723a929fc43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00f55fc77f4cff" /><Relationship Type="http://schemas.openxmlformats.org/officeDocument/2006/relationships/notesMaster" Target="/ppt/notesMasters/notesMaster1.xml" Id="Ree09ca318bd743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b927a269ee42ca" /><Relationship Type="http://schemas.openxmlformats.org/officeDocument/2006/relationships/notesMaster" Target="/ppt/notesMasters/notesMaster1.xml" Id="Ra96edf2ba52247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cc20d7e4c94643" /><Relationship Type="http://schemas.openxmlformats.org/officeDocument/2006/relationships/notesMaster" Target="/ppt/notesMasters/notesMaster1.xml" Id="R8e773693e36641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739c990616418d" /><Relationship Type="http://schemas.openxmlformats.org/officeDocument/2006/relationships/notesMaster" Target="/ppt/notesMasters/notesMaster1.xml" Id="R2642138b0ec742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11b83e77654d98" /><Relationship Type="http://schemas.openxmlformats.org/officeDocument/2006/relationships/notesMaster" Target="/ppt/notesMasters/notesMaster1.xml" Id="R187bbebe6337489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60f42f2ed54357" /><Relationship Type="http://schemas.openxmlformats.org/officeDocument/2006/relationships/notesMaster" Target="/ppt/notesMasters/notesMaster1.xml" Id="R34ef5fb19c294d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154419479014051" /><Relationship Type="http://schemas.openxmlformats.org/officeDocument/2006/relationships/notesMaster" Target="/ppt/notesMasters/notesMaster1.xml" Id="R611e9854baf3485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6304609a7774107" /><Relationship Type="http://schemas.openxmlformats.org/officeDocument/2006/relationships/notesMaster" Target="/ppt/notesMasters/notesMaster1.xml" Id="R9e1030cb1d4841d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569f3b590d4b10" /><Relationship Type="http://schemas.openxmlformats.org/officeDocument/2006/relationships/notesMaster" Target="/ppt/notesMasters/notesMaster1.xml" Id="R1724e932af20449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318f9320f05488d" /><Relationship Type="http://schemas.openxmlformats.org/officeDocument/2006/relationships/notesMaster" Target="/ppt/notesMasters/notesMaster1.xml" Id="R067ec233f6204d8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a26d72ad4db4314" /><Relationship Type="http://schemas.openxmlformats.org/officeDocument/2006/relationships/notesMaster" Target="/ppt/notesMasters/notesMaster1.xml" Id="Rb610d5091f7c467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7eed037591e435c" /><Relationship Type="http://schemas.openxmlformats.org/officeDocument/2006/relationships/notesMaster" Target="/ppt/notesMasters/notesMaster1.xml" Id="R7c58fd5e04b5491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a4f424f1a73499c" /><Relationship Type="http://schemas.openxmlformats.org/officeDocument/2006/relationships/notesMaster" Target="/ppt/notesMasters/notesMaster1.xml" Id="R49ba8672b06e465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0559c159e864a00" /><Relationship Type="http://schemas.openxmlformats.org/officeDocument/2006/relationships/notesMaster" Target="/ppt/notesMasters/notesMaster1.xml" Id="Ra69848baa2f6481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d05ad7a02834fd1" /><Relationship Type="http://schemas.openxmlformats.org/officeDocument/2006/relationships/notesMaster" Target="/ppt/notesMasters/notesMaster1.xml" Id="R6d16e16e51fe4f4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1eea96391194daf" /><Relationship Type="http://schemas.openxmlformats.org/officeDocument/2006/relationships/notesMaster" Target="/ppt/notesMasters/notesMaster1.xml" Id="R01979be6e07046b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2b4efe0ae254e5e" /><Relationship Type="http://schemas.openxmlformats.org/officeDocument/2006/relationships/notesMaster" Target="/ppt/notesMasters/notesMaster1.xml" Id="R83d6576ed6e247d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a4614b6969643f3" /><Relationship Type="http://schemas.openxmlformats.org/officeDocument/2006/relationships/notesMaster" Target="/ppt/notesMasters/notesMaster1.xml" Id="R74791b67a3804d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Introduce both authors. We investigate the four questions in the supplied Feishu outline. Reliability here means fewer wrong final answers, with abstention separately identified.</a:t>
            </a:r>
          </a:p>
          <a:p xmlns:a="http://schemas.openxmlformats.org/drawingml/2006/main">
            <a:r>
              <a:t>Sources:</a:t>
            </a:r>
          </a:p>
          <a:p xmlns:a="http://schemas.openxmlformats.org/drawingml/2006/main">
            <a:r>
              <a:t>https://vcng7a3g4ga3.feishu.cn/docx/SeW0dsKH0oCQOexFK1ecWWCnnSe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Tell the classroom story in the first person. The professor wording is a recollection, not an independently verified verbatim quotation. Move from a personal reason for trusting AI to a testable research question.</a:t>
            </a:r>
          </a:p>
          <a:p xmlns:a="http://schemas.openxmlformats.org/drawingml/2006/main">
            <a:r>
              <a:t>Sources:</a:t>
            </a:r>
          </a:p>
          <a:p xmlns:a="http://schemas.openxmlformats.org/drawingml/2006/main">
            <a:r>
              <a:t>https://vcng7a3g4ga3.feishu.cn/docx/SeW0dsKH0oCQOexFK1ecWWCnnSe</a:t>
            </a:r>
          </a:p>
          <a:p xmlns:a="http://schemas.openxmlformats.org/drawingml/2006/main">
            <a:r>
              <a:t>https://github.com/ThomasLin070217/comp2501-ai-reliability/blob/main/CHAT_CONTEXT.md#u31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Use the four questions exactly as in the Feishu document. RQ1 asks about a net reduction; RQ2 compares methods; RQ3 conditions on a correct receiver and wrong peer; RQ4 tests misleading user input to the same model.</a:t>
            </a:r>
          </a:p>
          <a:p xmlns:a="http://schemas.openxmlformats.org/drawingml/2006/main">
            <a:r>
              <a:t>Sources:</a:t>
            </a:r>
          </a:p>
          <a:p xmlns:a="http://schemas.openxmlformats.org/drawingml/2006/main">
            <a:r>
              <a:t>https://vcng7a3g4ga3.feishu.cn/docx/SeW0dsKH0oCQOexFK1ecWWCnnSe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Present the practical motivation rather than a claim that ordinary users have already been studied. Our experiments simulate questions, checking and misleading feedback; they do not measure actual human decision outcomes.</a:t>
            </a:r>
          </a:p>
          <a:p xmlns:a="http://schemas.openxmlformats.org/drawingml/2006/main">
            <a:r>
              <a:t>Sources:</a:t>
            </a:r>
          </a:p>
          <a:p xmlns:a="http://schemas.openxmlformats.org/drawingml/2006/main">
            <a:r>
              <a:t>https://vcng7a3g4ga3.feishu.cn/docx/SeW0dsKH0oCQOexFK1ecWWCnnSe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2332 was the planned number, not the achieved scorable total. The final overlay contains 2323 task records; nine fact branches stayed blocked and six records are semantically unscorable. The 156 follow-ups form 78 pairs from 39 selected previously-correct questions. Earlier three-model data are supporting evidence and are not pooled with the new study. Repeated answers are not independent questions.</a:t>
            </a:r>
          </a:p>
          <a:p xmlns:a="http://schemas.openxmlformats.org/drawingml/2006/main">
            <a:r>
              <a:t>Sources:</a:t>
            </a:r>
          </a:p>
          <a:p xmlns:a="http://schemas.openxmlformats.org/drawingml/2006/main">
            <a:r>
              <a:t>https://github.com/ThomasLin070217/comp2501-ai-reliability/blob/main/Two_Model_Collection/reports/RESULTS_SUMMARY.md</a:t>
            </a:r>
          </a:p>
          <a:p xmlns:a="http://schemas.openxmlformats.org/drawingml/2006/main">
            <a:r>
              <a:t>https://github.com/ThomasLin070217/comp2501-ai-reliability/blob/main/Human_Challenge_Followup/RESULTS.md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 Each model first answers independently. Self-check and cross-check are alternative continuations from that same initial response, so the self-check is not sent into the cross-check. Include actual peer answer, abstention and rationale. No third judge and no iterative debate. Search histories are retained. Both models have thinking disabled in the configured collection.</a:t>
            </a:r>
          </a:p>
          <a:p xmlns:a="http://schemas.openxmlformats.org/drawingml/2006/main">
            <a:r>
              <a:t>Sources:</a:t>
            </a:r>
          </a:p>
          <a:p xmlns:a="http://schemas.openxmlformats.org/drawingml/2006/main">
            <a:r>
              <a:t>https://github.com/ThomasLin070217/comp2501-ai-reliability/blob/main/Two_Model_Collection/protocol/models.json</a:t>
            </a:r>
          </a:p>
          <a:p xmlns:a="http://schemas.openxmlformats.org/drawingml/2006/main">
            <a:r>
              <a:t>https://github.com/ThomasLin070217/comp2501-ai-reliability/blob/main/docs/two-model-prompt-example.md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Exclusions use status, format and documented source-quality criteria, not an outcome threshold. Semantic recovery is an explicitly secondary overlay. Show abstention separately; lower error is not necessarily higher correct-answer accuracy. Main model comparisons use matched eligible pairs and question-cluster uncertainty intervals.</a:t>
            </a:r>
          </a:p>
          <a:p xmlns:a="http://schemas.openxmlformats.org/drawingml/2006/main">
            <a:r>
              <a:t>Sources:</a:t>
            </a:r>
          </a:p>
          <a:p xmlns:a="http://schemas.openxmlformats.org/drawingml/2006/main">
            <a:r>
              <a:t>https://github.com/ThomasLin070217/comp2501-ai-reliability/blob/main/All_Experiment_Data/QUESTION_SELECTION.md</a:t>
            </a:r>
          </a:p>
          <a:p xmlns:a="http://schemas.openxmlformats.org/drawingml/2006/main">
            <a:r>
              <a:t>https://github.com/ThomasLin070217/comp2501-ai-reliability/blob/main/Two_Model_Collection/reports/RESULTS_SUMMARY.md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 Descriptive, post-hoc completed-data comparison. Facts 20.75% to 5.00% over 393 matched cells; mathematics 13.41% to 5.49% over 164. Repetitions within question and models are equally weighted. The eligible sets differ from the self-versus-cross contrast on the next slide; do not subtract rates across those sets. No confidence interval is inferred from the displayed point estimates. Maths includes recovery with higher output limits. Earlier studies did not confirm a stable benefit.</a:t>
            </a:r>
          </a:p>
          <a:p xmlns:a="http://schemas.openxmlformats.org/drawingml/2006/main">
            <a:r>
              <a:t>Sources:</a:t>
            </a:r>
          </a:p>
          <a:p xmlns:a="http://schemas.openxmlformats.org/drawingml/2006/main">
            <a:r>
              <a:t>https://github.com/ThomasLin070217/comp2501-ai-reliability/blob/main/All_Experiment_Data/question_comparison_pairs.csv</a:t>
            </a:r>
          </a:p>
          <a:p xmlns:a="http://schemas.openxmlformats.org/drawingml/2006/main">
            <a:r>
              <a:t>https://github.com/ThomasLin070217/comp2501-ai-reliability/blob/main/Two_Model_Collection/reports/RESULTS_SUMMARY.md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 Facts have 394 matched cells across 100 questions; mathematics has 164 across 41. Both charts use the same 0–50% scale. Repeats are averaged within each question and model, then the models receive equal weight. The mathematics result is supplementary: 21 selected recovery responses had a higher output allowance. The original-run interval included zero. Advice adds model calls and time; we did not compare methods by cost per successful correction.</a:t>
            </a:r>
          </a:p>
          <a:p xmlns:a="http://schemas.openxmlformats.org/drawingml/2006/main">
            <a:r>
              <a:t>Sources:</a:t>
            </a:r>
          </a:p>
          <a:p xmlns:a="http://schemas.openxmlformats.org/drawingml/2006/main">
            <a:r>
              <a:t>https://github.com/ThomasLin070217/comp2501-ai-reliability/blob/main/Two_Model_Collection/reports/recovery_semantic_primary_comparison.csv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Most improvement comes from MiniMax receiving DeepSeek advice. DeepSeek factual error remains 2%, while its mathematical error changes from 2.44% to 3.66%. These are descriptive results for particular questions and configured search tools, not a model leaderboard or evidence about training architecture. Different model names do not guarantee independent errors.</a:t>
            </a:r>
          </a:p>
          <a:p xmlns:a="http://schemas.openxmlformats.org/drawingml/2006/main">
            <a:r>
              <a:t>Sources:</a:t>
            </a:r>
          </a:p>
          <a:p xmlns:a="http://schemas.openxmlformats.org/drawingml/2006/main">
            <a:r>
              <a:t>https://github.com/ThomasLin070217/comp2501-ai-reliability/blob/main/Two_Model_Collection/reports/recovery_semantic_by_model.csv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 seconds. These are two separate matched 210-cell contrasts in an earlier three-model study without search tools. Verification changes 108 wrong answers to 106: −0.95 points, with a 95% interval spanning zero. The added abstention reminder changes 106 wrong answers to 83: −10.95 points. However, correct answers fall from 48 to 38 and abstentions rise from 56 to 89. Basic permission to abstain is present in all conditions. We cannot causally rank this earlier setup against the current two-model study.</a:t>
            </a:r>
          </a:p>
          <a:p xmlns:a="http://schemas.openxmlformats.org/drawingml/2006/main">
            <a:r>
              <a:t>Sources:</a:t>
            </a:r>
          </a:p>
          <a:p xmlns:a="http://schemas.openxmlformats.org/drawingml/2006/main">
            <a:r>
              <a:t>https://github.com/ThomasLin070217/comp2501-ai-reliability/blob/main/Followup_Validation/reports/effects.csv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Condition on a correct receiver initial answer and an actually wrong peer initial answer. There are 76 factual opportunities with no wrong cross-check finals and 18 mathematical opportunities with one. The 94 opportunities include model repetitions; they are not 94 independent questions or a universal probability. The one wrong mathematical final is the verified Polynomial 11 case. Scripted wrong-advice experiments are separate supporting evidence.</a:t>
            </a:r>
          </a:p>
          <a:p xmlns:a="http://schemas.openxmlformats.org/drawingml/2006/main">
            <a:r>
              <a:t>Sources:</a:t>
            </a:r>
          </a:p>
          <a:p xmlns:a="http://schemas.openxmlformats.org/drawingml/2006/main">
            <a:r>
              <a:t>https://github.com/ThomasLin070217/comp2501-ai-reliability/blob/main/All_Experiment_Data/QUESTION_SELECTION.md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Let S_n be the sum of the nth powers of the roots. The recurrence is S_0=2, S_1=6 and S_n=6S_(n−1)−S_(n−2). Modulo five the residues repeat as 2,1,4,3,4,1, with period six. Two residues equal four per cycle, and the 60 indices contain ten cycles, so the answer is 20. MiniMax incorrectly claims period five and gives 24. DeepSeek receives that actual donor answer and follows the wrong period. Self-check and cross-check are parallel alternatives, not consecutive revisions. This demonstrates a failure, not an internal psychological mechanism.</a:t>
            </a:r>
          </a:p>
          <a:p xmlns:a="http://schemas.openxmlformats.org/drawingml/2006/main">
            <a:r>
              <a:t>Sources:</a:t>
            </a:r>
          </a:p>
          <a:p xmlns:a="http://schemas.openxmlformats.org/drawingml/2006/main">
            <a:r>
              <a:t>https://github.com/ThomasLin070217/comp2501-ai-reliability/blob/main/Two_Model_Collection/facts/recovery/reports/CROSS_REVIEW_MATH.md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The primary RQ4 comparison uses the same model in separate fresh sessions: a neutral question versus a question containing a scripted false human premise. A correct neutral response and wrong false-premise response are parallel outcomes, not a literal change of mind in one conversation. The second experiment tests a later timing, with two alternative follow-ups to a previously verified correct answer. Neither design requires the error to propagate into another model. AI-versus-human source labels and A-to-B propagation are exploratory extensions.</a:t>
            </a:r>
          </a:p>
          <a:p xmlns:a="http://schemas.openxmlformats.org/drawingml/2006/main">
            <a:r>
              <a:t>Sources:</a:t>
            </a:r>
          </a:p>
          <a:p xmlns:a="http://schemas.openxmlformats.org/drawingml/2006/main">
            <a:r>
              <a:t>https://vcng7a3g4ga3.feishu.cn/docx/SeW0dsKH0oCQOexFK1ecWWCnnSe</a:t>
            </a:r>
          </a:p>
          <a:p xmlns:a="http://schemas.openxmlformats.org/drawingml/2006/main">
            <a:r>
              <a:t>https://github.com/ThomasLin070217/comp2501-ai-reliability/blob/main/All_Experiment_Data/QUESTION_SELECTION.md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 There are 159 scorable fresh-session pairs, of which 125 have a correct neutral response. Among these 125, the false-premise arm has 117 correct answers, seven wrong answers and one abstention. Facts contribute 69 eligible pairs: 62 correct, six wrong and one abstention. Mathematics contributes 56: 55 correct and one wrong. All seven wrong outcomes are from MiniMax. Report this conditional denominator, and do not call the parallel sessions seven literal conversational reversals or infer that false premises always increase the overall error rate.</a:t>
            </a:r>
          </a:p>
          <a:p xmlns:a="http://schemas.openxmlformats.org/drawingml/2006/main">
            <a:r>
              <a:t>Sources:</a:t>
            </a:r>
          </a:p>
          <a:p xmlns:a="http://schemas.openxmlformats.org/drawingml/2006/main">
            <a:r>
              <a:t>https://github.com/ThomasLin070217/comp2501-ai-reliability/blob/main/All_Experiment_Data/question_comparison_pairs.csv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All 78 initial answers were verified correct before the new follow-ups. Neutral rechecking produces one wrong answer; the false user challenge produces four, each matching the supplied false alternative. All four are MiniMax responses. Three parallel neutral branches remain correct, while one abstains. A different neutral branch is wrong while its challenged counterpart is correct. The paired difference is +3.85 points, with a 95% interval spanning zero. This establishes an observed failure mode, but not stable average harm. The scripted challenge bundles disagreement, a false answer and a false explanation. Note the 0–10% axis.</a:t>
            </a:r>
          </a:p>
          <a:p xmlns:a="http://schemas.openxmlformats.org/drawingml/2006/main">
            <a:r>
              <a:t>Sources:</a:t>
            </a:r>
          </a:p>
          <a:p xmlns:a="http://schemas.openxmlformats.org/drawingml/2006/main">
            <a:r>
              <a:t>https://github.com/ThomasLin070217/comp2501-ai-reliability/blob/main/Human_Challenge_Followup/RESULTS.md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 For exactly two boys, choose two of four boys, one of six girls, then assign three distinct toys: choose(4,2) × choose(6,1) × 3! = 216. For three boys, choose(4,3) × 3! = 24. The total is 240. The scripted user argues that 240 double-counts cases and proposes 216. MiniMax’s challenged explanation calculates 240 and calls it correct, but its final answer field gives 216. The neutral branch gives 240. This is a wrong final answer and an answer–reason conflict; one illustrative case is not a separate prevalence estimate.</a:t>
            </a:r>
          </a:p>
          <a:p xmlns:a="http://schemas.openxmlformats.org/drawingml/2006/main">
            <a:r>
              <a:t>Sources:</a:t>
            </a:r>
          </a:p>
          <a:p xmlns:a="http://schemas.openxmlformats.org/drawingml/2006/main">
            <a:r>
              <a:t>https://github.com/ThomasLin070217/comp2501-ai-reliability/blob/main/Human_Challenge_Followup/reports/manual_case_review.csv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 Keep the earlier null result alongside the newer two-model reduction. Twenty-one selected mathematical recovery responses used a higher output allowance, and the original-run interval included zero. Search can expose public benchmark keys; source exclusions do not prove the absence of contamination. A lower wrong-output rate can reflect more abstention rather than more correct answers. We did not certify every explanation. Human-style prompts are scripted and human decision outcomes were not measured.</a:t>
            </a:r>
          </a:p>
          <a:p xmlns:a="http://schemas.openxmlformats.org/drawingml/2006/main">
            <a:r>
              <a:t>Sources:</a:t>
            </a:r>
          </a:p>
          <a:p xmlns:a="http://schemas.openxmlformats.org/drawingml/2006/main">
            <a:r>
              <a:t>https://github.com/ThomasLin070217/comp2501-ai-reliability/blob/main/docs/experiment-conclusions-2026-10-05.md</a:t>
            </a:r>
          </a:p>
          <a:p xmlns:a="http://schemas.openxmlformats.org/drawingml/2006/main">
            <a:r>
              <a:t>https://github.com/ThomasLin070217/comp2501-ai-reliability/blob/main/Two_Model_Collection/reports/RESULTS_SUMMARY.md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Answer all four questions without claiming universal benefit or stable average harm. RQ1 describes the latest selected setup and retains contrary earlier evidence. RQ2 is model-dependent and involves abstention trade-offs. RQ3 has one verified natural failure with a correct receiver and wrong donor. RQ4 has seven wrong false-premise outcomes among neutral-correct fresh-session pairs and four wrong continuous-challenge finals. These timings and denominators must not be combined into one rate.</a:t>
            </a:r>
          </a:p>
          <a:p xmlns:a="http://schemas.openxmlformats.org/drawingml/2006/main">
            <a:r>
              <a:t>Sources:</a:t>
            </a:r>
          </a:p>
          <a:p xmlns:a="http://schemas.openxmlformats.org/drawingml/2006/main">
            <a:r>
              <a:t>https://vcng7a3g4ga3.feishu.cn/docx/SeW0dsKH0oCQOexFK1ecWWCnnSe</a:t>
            </a:r>
          </a:p>
          <a:p xmlns:a="http://schemas.openxmlformats.org/drawingml/2006/main">
            <a:r>
              <a:t>https://github.com/ThomasLin070217/comp2501-ai-reliability/blob/main/All_Experiment_Data/QUESTION_SELECTION.md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These are proposed practices, not results from a randomized human intervention. For important claims, use reliable sources or verify computations. We did not test a dedicated retrieval-versus-calculator comparison. Retain both authors without inventing contributions. Disclose Codex assistance. R processing, question selection, prompt records and response lineage are available in the public repository. Invite questions; the following four slides are backup.</a:t>
            </a:r>
          </a:p>
          <a:p xmlns:a="http://schemas.openxmlformats.org/drawingml/2006/main">
            <a:r>
              <a:t>Sources:</a:t>
            </a:r>
          </a:p>
          <a:p xmlns:a="http://schemas.openxmlformats.org/drawingml/2006/main">
            <a:r>
              <a:t>https://github.com/ThomasLin070217/comp2501-ai-reliability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seconds. This earlier tool-free expanded validation uses DeepSeek, Kimi and MiniMax. Both reported domain intervals touch or cross zero. The studies differ in models, tools, prompts, coverage and collection date, so they are not a causal control for the new two-model study. Retain these results to avoid selectively reporting only favorable comparisons.</a:t>
            </a:r>
          </a:p>
          <a:p xmlns:a="http://schemas.openxmlformats.org/drawingml/2006/main">
            <a:r>
              <a:t>Sources:</a:t>
            </a:r>
          </a:p>
          <a:p xmlns:a="http://schemas.openxmlformats.org/drawingml/2006/main">
            <a:r>
              <a:t>https://github.com/ThomasLin070217/comp2501-ai-reliability/blob/main/Followup_Validation/reports/effects.csv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seconds. The original semantic mathematics result has 109 pairs across 38 questions: −4.33 points, with a 97.5% interval of [−11.25,+1.85]. Excluding all 11 higher-limit-exposed questions leaves 30 questions: −5.83 points, interval [−10.00,−1.67]. Separately excluding 17 visibly source-risk questions leaves 24: −5.21 points, interval [−10.42,−1.04]. These are separate post-hoc sensitivities, not a combined exclusion or retroactive primary results.</a:t>
            </a:r>
          </a:p>
          <a:p xmlns:a="http://schemas.openxmlformats.org/drawingml/2006/main">
            <a:r>
              <a:t>Sources:</a:t>
            </a:r>
          </a:p>
          <a:p xmlns:a="http://schemas.openxmlformats.org/drawingml/2006/main">
            <a:r>
              <a:t>https://github.com/ThomasLin070217/comp2501-ai-reliability/blob/main/Two_Model_Collection/reports/RESULTS_SUMMARY.md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seconds. These prompt templates preserve the receiver’s initial answer and the original question. The peer placeholder is replaced with the other model’s real answer, abstention state and reasoning from that round. The shared JSON schema is omitted on the slide for readability, but remains in the recorded requests. Neither prompt forces search; the native API search tools are available at the model’s discretion.</a:t>
            </a:r>
          </a:p>
          <a:p xmlns:a="http://schemas.openxmlformats.org/drawingml/2006/main">
            <a:r>
              <a:t>Sources:</a:t>
            </a:r>
          </a:p>
          <a:p xmlns:a="http://schemas.openxmlformats.org/drawingml/2006/main">
            <a:r>
              <a:t>https://github.com/ThomasLin070217/comp2501-ai-reliability/blob/main/docs/two-model-prompt-example.md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seconds. Our verification prompt is simpler than full Chain-of-Verification. Public benchmark scores provide background, not a prediction of our cross-checking error rates. Artificial Analysis, read on 6 October 2026, reports a reasoning-mode Intelligence Index of 29 for MiniMax-M3 and 36 for DeepSeek-V4-Pro-0813 Max. The index is not an accuracy percentage. Our collection disables thinking; no complete directly comparable non-thinking pair was found. Public dataset use does not imply independence from training data or search leakage.</a:t>
            </a:r>
          </a:p>
          <a:p xmlns:a="http://schemas.openxmlformats.org/drawingml/2006/main">
            <a:r>
              <a:t>Sources:</a:t>
            </a:r>
          </a:p>
          <a:p xmlns:a="http://schemas.openxmlformats.org/drawingml/2006/main">
            <a:r>
              <a:t>https://openreview.net/forum?id=IkmD3fKBPQ</a:t>
            </a:r>
          </a:p>
          <a:p xmlns:a="http://schemas.openxmlformats.org/drawingml/2006/main">
            <a:r>
              <a:t>https://aclanthology.org/2024.findings-acl.212/</a:t>
            </a:r>
          </a:p>
          <a:p xmlns:a="http://schemas.openxmlformats.org/drawingml/2006/main">
            <a:r>
              <a:t>https://aclanthology.org/2024.findings-acl.785/</a:t>
            </a:r>
          </a:p>
          <a:p xmlns:a="http://schemas.openxmlformats.org/drawingml/2006/main">
            <a:r>
              <a:t>https://huggingface.co/datasets/google/simpleqa-verified</a:t>
            </a:r>
          </a:p>
          <a:p xmlns:a="http://schemas.openxmlformats.org/drawingml/2006/main">
            <a:r>
              <a:t>https://artificialanalysis.ai/models/comparisons/minimax-m3-vs-deepseek-v4-pro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ac96d3ea8248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75afa7d8894032" /><Relationship Type="http://schemas.openxmlformats.org/officeDocument/2006/relationships/slideLayout" Target="/ppt/slideLayouts/slideLayout1.xml" Id="R272bb97f495642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2bb97f495642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35e9919ce849b0" /><Relationship Type="http://schemas.openxmlformats.org/officeDocument/2006/relationships/notesSlide" Target="/ppt/notesSlides/notesSlide1.xml" Id="R3513585167f642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ab92d719f644cf" /><Relationship Type="http://schemas.openxmlformats.org/officeDocument/2006/relationships/notesSlide" Target="/ppt/notesSlides/notesSlide2.xml" Id="R0223dc4b3b3e40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e6e4cb7e8be407b" /><Relationship Type="http://schemas.openxmlformats.org/officeDocument/2006/relationships/notesSlide" Target="/ppt/notesSlides/notesSlide3.xml" Id="R83925b55ba0440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1484e934fe43e3" /><Relationship Type="http://schemas.openxmlformats.org/officeDocument/2006/relationships/notesSlide" Target="/ppt/notesSlides/notesSlide4.xml" Id="Ra7cd555007be4b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819c6a232c4835" /><Relationship Type="http://schemas.openxmlformats.org/officeDocument/2006/relationships/notesSlide" Target="/ppt/notesSlides/notesSlide5.xml" Id="R04ec6f63838240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490e9919eab4f9f" /><Relationship Type="http://schemas.openxmlformats.org/officeDocument/2006/relationships/notesSlide" Target="/ppt/notesSlides/notesSlide6.xml" Id="Rbec67da3f0ce44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33a58326c14767" /><Relationship Type="http://schemas.openxmlformats.org/officeDocument/2006/relationships/notesSlide" Target="/ppt/notesSlides/notesSlide7.xml" Id="R034505fac60948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15bfd4369f40f6" /><Relationship Type="http://schemas.openxmlformats.org/officeDocument/2006/relationships/chart" Target="/ppt/slides/charts/chart1.xml" Id="Rb4083bad57784d9a" /><Relationship Type="http://schemas.openxmlformats.org/officeDocument/2006/relationships/chart" Target="/ppt/slides/charts/chart2.xml" Id="R43230124c82a4908" /><Relationship Type="http://schemas.openxmlformats.org/officeDocument/2006/relationships/notesSlide" Target="/ppt/notesSlides/notesSlide8.xml" Id="R20e475e3fc6b4b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9378b38b1b493a" /><Relationship Type="http://schemas.openxmlformats.org/officeDocument/2006/relationships/chart" Target="/ppt/slides/charts/chart3.xml" Id="Rb428b4cafcff4bc3" /><Relationship Type="http://schemas.openxmlformats.org/officeDocument/2006/relationships/chart" Target="/ppt/slides/charts/chart4.xml" Id="Rb475dd84883c471d" /><Relationship Type="http://schemas.openxmlformats.org/officeDocument/2006/relationships/notesSlide" Target="/ppt/notesSlides/notesSlide9.xml" Id="R474715da94f848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3d76aed79d74f9d" /><Relationship Type="http://schemas.openxmlformats.org/officeDocument/2006/relationships/notesSlide" Target="/ppt/notesSlides/notesSlide10.xml" Id="Rd2964c4bde9d44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daee33d07d546c9" /><Relationship Type="http://schemas.openxmlformats.org/officeDocument/2006/relationships/chart" Target="/ppt/slides/charts/chart5.xml" Id="R9d0ca6992a044997" /><Relationship Type="http://schemas.openxmlformats.org/officeDocument/2006/relationships/chart" Target="/ppt/slides/charts/chart6.xml" Id="Rd0e044221f7e4b42" /><Relationship Type="http://schemas.openxmlformats.org/officeDocument/2006/relationships/notesSlide" Target="/ppt/notesSlides/notesSlide11.xml" Id="Rd74c8e40acaf42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d6d14b0a43240b2" /><Relationship Type="http://schemas.openxmlformats.org/officeDocument/2006/relationships/notesSlide" Target="/ppt/notesSlides/notesSlide12.xml" Id="Rfdcda004cc9c458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b23ae14e8624ada" /><Relationship Type="http://schemas.openxmlformats.org/officeDocument/2006/relationships/notesSlide" Target="/ppt/notesSlides/notesSlide13.xml" Id="R0774866f9f1b48f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5941e74e5b94921" /><Relationship Type="http://schemas.openxmlformats.org/officeDocument/2006/relationships/notesSlide" Target="/ppt/notesSlides/notesSlide14.xml" Id="R590dfbaf25cc4e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d31933235234865" /><Relationship Type="http://schemas.openxmlformats.org/officeDocument/2006/relationships/notesSlide" Target="/ppt/notesSlides/notesSlide15.xml" Id="R1a39a4ab0941404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52a66dbabf54156" /><Relationship Type="http://schemas.openxmlformats.org/officeDocument/2006/relationships/chart" Target="/ppt/slides/charts/chart7.xml" Id="R4b8b06531fc5445a" /><Relationship Type="http://schemas.openxmlformats.org/officeDocument/2006/relationships/notesSlide" Target="/ppt/notesSlides/notesSlide16.xml" Id="Rf8a0026dce5c479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6f183ae29ea4fb9" /><Relationship Type="http://schemas.openxmlformats.org/officeDocument/2006/relationships/notesSlide" Target="/ppt/notesSlides/notesSlide17.xml" Id="Rb6701503a6d1472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4888c2975224a4c" /><Relationship Type="http://schemas.openxmlformats.org/officeDocument/2006/relationships/notesSlide" Target="/ppt/notesSlides/notesSlide18.xml" Id="R6488a9a454284df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fed5bc8784e42b5" /><Relationship Type="http://schemas.openxmlformats.org/officeDocument/2006/relationships/notesSlide" Target="/ppt/notesSlides/notesSlide19.xml" Id="R33aa3a326c7f42c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cc347d0fb2d49a7" /><Relationship Type="http://schemas.openxmlformats.org/officeDocument/2006/relationships/notesSlide" Target="/ppt/notesSlides/notesSlide20.xml" Id="R62baa0d68a214ff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bab8e13a129437d" /><Relationship Type="http://schemas.openxmlformats.org/officeDocument/2006/relationships/notesSlide" Target="/ppt/notesSlides/notesSlide21.xml" Id="R661469396acb47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33f39ba35184759" /><Relationship Type="http://schemas.openxmlformats.org/officeDocument/2006/relationships/notesSlide" Target="/ppt/notesSlides/notesSlide22.xml" Id="Rb6d369366c46474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0623f5f28d44afb" /><Relationship Type="http://schemas.openxmlformats.org/officeDocument/2006/relationships/notesSlide" Target="/ppt/notesSlides/notesSlide23.xml" Id="Rcddc2a0dfc40459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1f15edd5d1b4259" /><Relationship Type="http://schemas.openxmlformats.org/officeDocument/2006/relationships/notesSlide" Target="/ppt/notesSlides/notesSlide24.xml" Id="R1e6ebffdc0ee499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Wrong final answers</c:v>
          </c:tx>
          <c:spPr>
            <a:solidFill xmlns:a="http://schemas.openxmlformats.org/drawingml/2006/main">
              <a:srgbClr val="147E77"/>
            </a:solidFill>
          </c:spPr>
          <c:dPt>
            <c:idx val="0"/>
            <c:invertIfNegative val="0"/>
            <c:spPr>
              <a:solidFill xmlns:a="http://schemas.openxmlformats.org/drawingml/2006/main">
                <a:srgbClr val="657586"/>
              </a:solidFill>
            </c:spPr>
          </c:dPt>
          <c:dPt>
            <c:idx val="1"/>
            <c:invertIfNegative val="0"/>
            <c:spPr>
              <a:solidFill xmlns:a="http://schemas.openxmlformats.org/drawingml/2006/main">
                <a:srgbClr val="147E77"/>
              </a:solidFill>
            </c:spPr>
          </c:dPt>
          <c:cat>
            <c:strRef>
              <c:f>'Chart Data'!$A$2:$A$3</c:f>
              <c:strCache>
                <c:ptCount val="2"/>
                <c:pt idx="0">
                  <c:v>Initial</c:v>
                </c:pt>
                <c:pt idx="1">
                  <c:v>Cross-check</c:v>
                </c:pt>
              </c:strCache>
            </c:strRef>
          </c:cat>
          <c:val>
            <c:numRef>
              <c:f>'Chart Data'!$B$2:$B$3</c:f>
              <c:numCache>
                <c:formatCode>0.00%</c:formatCode>
                <c:ptCount val="2"/>
                <c:pt idx="0">
                  <c:v>0.2075</c:v>
                </c:pt>
                <c:pt idx="1">
                  <c:v>0.05</c:v>
                </c:pt>
              </c:numCache>
            </c:numRef>
          </c:val>
        </c:ser>
        <c:dLbls>
          <c:txPr>
            <a:bodyPr xmlns:a="http://schemas.openxmlformats.org/drawingml/2006/main" anchorCtr="1"/>
            <a:lstStyle xmlns:a="http://schemas.openxmlformats.org/drawingml/2006/main"/>
            <a:p xmlns:a="http://schemas.openxmlformats.org/drawingml/2006/main">
              <a:pPr>
                <a:defRPr sz="1875" b="1">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Helvetica Neue"/>
                <a:ea typeface="Helvetica Neue"/>
                <a:cs typeface="Helvetica Neue"/>
              </a:defRPr>
            </a:pPr>
          </a:p>
        </c:txPr>
        <c:crossAx val="48672768"/>
      </c:catAx>
      <c:valAx>
        <c:axId val="48672768"/>
        <c:scaling>
          <c:orientation val="minMax"/>
          <c:max val="0.5"/>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50112"/>
        <c:crossBetween val="between"/>
        <c:majorUnit val="0.1"/>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Wrong final answers</c:v>
          </c:tx>
          <c:spPr>
            <a:solidFill xmlns:a="http://schemas.openxmlformats.org/drawingml/2006/main">
              <a:srgbClr val="147E77"/>
            </a:solidFill>
          </c:spPr>
          <c:dPt>
            <c:idx val="0"/>
            <c:invertIfNegative val="0"/>
            <c:spPr>
              <a:solidFill xmlns:a="http://schemas.openxmlformats.org/drawingml/2006/main">
                <a:srgbClr val="657586"/>
              </a:solidFill>
            </c:spPr>
          </c:dPt>
          <c:dPt>
            <c:idx val="1"/>
            <c:invertIfNegative val="0"/>
            <c:spPr>
              <a:solidFill xmlns:a="http://schemas.openxmlformats.org/drawingml/2006/main">
                <a:srgbClr val="147E77"/>
              </a:solidFill>
            </c:spPr>
          </c:dPt>
          <c:cat>
            <c:strRef>
              <c:f>'Chart Data'!$A$2:$A$3</c:f>
              <c:strCache>
                <c:ptCount val="2"/>
                <c:pt idx="0">
                  <c:v>Initial</c:v>
                </c:pt>
                <c:pt idx="1">
                  <c:v>Cross-check</c:v>
                </c:pt>
              </c:strCache>
            </c:strRef>
          </c:cat>
          <c:val>
            <c:numRef>
              <c:f>'Chart Data'!$B$2:$B$3</c:f>
              <c:numCache>
                <c:formatCode>0.00%</c:formatCode>
                <c:ptCount val="2"/>
                <c:pt idx="0">
                  <c:v>0.134146</c:v>
                </c:pt>
                <c:pt idx="1">
                  <c:v>0.054878</c:v>
                </c:pt>
              </c:numCache>
            </c:numRef>
          </c:val>
        </c:ser>
        <c:dLbls>
          <c:txPr>
            <a:bodyPr xmlns:a="http://schemas.openxmlformats.org/drawingml/2006/main" anchorCtr="1"/>
            <a:lstStyle xmlns:a="http://schemas.openxmlformats.org/drawingml/2006/main"/>
            <a:p xmlns:a="http://schemas.openxmlformats.org/drawingml/2006/main">
              <a:pPr>
                <a:defRPr sz="1875" b="1">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Helvetica Neue"/>
                <a:ea typeface="Helvetica Neue"/>
                <a:cs typeface="Helvetica Neue"/>
              </a:defRPr>
            </a:pPr>
          </a:p>
        </c:txPr>
        <c:crossAx val="48672768"/>
      </c:catAx>
      <c:valAx>
        <c:axId val="48672768"/>
        <c:scaling>
          <c:orientation val="minMax"/>
          <c:max val="0.5"/>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50112"/>
        <c:crossBetween val="between"/>
        <c:majorUnit val="0.1"/>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Wrong final answers</c:v>
          </c:tx>
          <c:spPr>
            <a:solidFill xmlns:a="http://schemas.openxmlformats.org/drawingml/2006/main">
              <a:srgbClr val="147E77"/>
            </a:solidFill>
          </c:spPr>
          <c:dPt>
            <c:idx val="0"/>
            <c:invertIfNegative val="0"/>
            <c:spPr>
              <a:solidFill xmlns:a="http://schemas.openxmlformats.org/drawingml/2006/main">
                <a:srgbClr val="657586"/>
              </a:solidFill>
            </c:spPr>
          </c:dPt>
          <c:dPt>
            <c:idx val="1"/>
            <c:invertIfNegative val="0"/>
            <c:spPr>
              <a:solidFill xmlns:a="http://schemas.openxmlformats.org/drawingml/2006/main">
                <a:srgbClr val="147E77"/>
              </a:solidFill>
            </c:spPr>
          </c:dPt>
          <c:cat>
            <c:strRef>
              <c:f>'Chart Data'!$A$2:$A$3</c:f>
              <c:strCache>
                <c:ptCount val="2"/>
                <c:pt idx="0">
                  <c:v>Self-check</c:v>
                </c:pt>
                <c:pt idx="1">
                  <c:v>Cross-check</c:v>
                </c:pt>
              </c:strCache>
            </c:strRef>
          </c:cat>
          <c:val>
            <c:numRef>
              <c:f>'Chart Data'!$B$2:$B$3</c:f>
              <c:numCache>
                <c:formatCode>0.00%</c:formatCode>
                <c:ptCount val="2"/>
                <c:pt idx="0">
                  <c:v>0.2325</c:v>
                </c:pt>
                <c:pt idx="1">
                  <c:v>0.05</c:v>
                </c:pt>
              </c:numCache>
            </c:numRef>
          </c:val>
        </c:ser>
        <c:dLbls>
          <c:txPr>
            <a:bodyPr xmlns:a="http://schemas.openxmlformats.org/drawingml/2006/main" anchorCtr="1"/>
            <a:lstStyle xmlns:a="http://schemas.openxmlformats.org/drawingml/2006/main"/>
            <a:p xmlns:a="http://schemas.openxmlformats.org/drawingml/2006/main">
              <a:pPr>
                <a:defRPr sz="1875" b="1">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Helvetica Neue"/>
                <a:ea typeface="Helvetica Neue"/>
                <a:cs typeface="Helvetica Neue"/>
              </a:defRPr>
            </a:pPr>
          </a:p>
        </c:txPr>
        <c:crossAx val="48672768"/>
      </c:catAx>
      <c:valAx>
        <c:axId val="48672768"/>
        <c:scaling>
          <c:orientation val="minMax"/>
          <c:max val="0.5"/>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50112"/>
        <c:crossBetween val="between"/>
        <c:majorUnit val="0.1"/>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Wrong final answers</c:v>
          </c:tx>
          <c:spPr>
            <a:solidFill xmlns:a="http://schemas.openxmlformats.org/drawingml/2006/main">
              <a:srgbClr val="147E77"/>
            </a:solidFill>
          </c:spPr>
          <c:dPt>
            <c:idx val="0"/>
            <c:invertIfNegative val="0"/>
            <c:spPr>
              <a:solidFill xmlns:a="http://schemas.openxmlformats.org/drawingml/2006/main">
                <a:srgbClr val="657586"/>
              </a:solidFill>
            </c:spPr>
          </c:dPt>
          <c:dPt>
            <c:idx val="1"/>
            <c:invertIfNegative val="0"/>
            <c:spPr>
              <a:solidFill xmlns:a="http://schemas.openxmlformats.org/drawingml/2006/main">
                <a:srgbClr val="147E77"/>
              </a:solidFill>
            </c:spPr>
          </c:dPt>
          <c:cat>
            <c:strRef>
              <c:f>'Chart Data'!$A$2:$A$3</c:f>
              <c:strCache>
                <c:ptCount val="2"/>
                <c:pt idx="0">
                  <c:v>Self-check</c:v>
                </c:pt>
                <c:pt idx="1">
                  <c:v>Cross-check</c:v>
                </c:pt>
              </c:strCache>
            </c:strRef>
          </c:cat>
          <c:val>
            <c:numRef>
              <c:f>'Chart Data'!$B$2:$B$3</c:f>
              <c:numCache>
                <c:formatCode>0.00%</c:formatCode>
                <c:ptCount val="2"/>
                <c:pt idx="0">
                  <c:v>0.103659</c:v>
                </c:pt>
                <c:pt idx="1">
                  <c:v>0.054878</c:v>
                </c:pt>
              </c:numCache>
            </c:numRef>
          </c:val>
        </c:ser>
        <c:dLbls>
          <c:txPr>
            <a:bodyPr xmlns:a="http://schemas.openxmlformats.org/drawingml/2006/main" anchorCtr="1"/>
            <a:lstStyle xmlns:a="http://schemas.openxmlformats.org/drawingml/2006/main"/>
            <a:p xmlns:a="http://schemas.openxmlformats.org/drawingml/2006/main">
              <a:pPr>
                <a:defRPr sz="1875" b="1">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Helvetica Neue"/>
                <a:ea typeface="Helvetica Neue"/>
                <a:cs typeface="Helvetica Neue"/>
              </a:defRPr>
            </a:pPr>
          </a:p>
        </c:txPr>
        <c:crossAx val="48672768"/>
      </c:catAx>
      <c:valAx>
        <c:axId val="48672768"/>
        <c:scaling>
          <c:orientation val="minMax"/>
          <c:max val="0.5"/>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50112"/>
        <c:crossBetween val="between"/>
        <c:majorUnit val="0.1"/>
      </c:valAx>
    </c:plotArea>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Wrong final answers</c:v>
          </c:tx>
          <c:spPr>
            <a:solidFill xmlns:a="http://schemas.openxmlformats.org/drawingml/2006/main">
              <a:srgbClr val="147E77"/>
            </a:solidFill>
          </c:spPr>
          <c:dPt>
            <c:idx val="0"/>
            <c:invertIfNegative val="0"/>
            <c:spPr>
              <a:solidFill xmlns:a="http://schemas.openxmlformats.org/drawingml/2006/main">
                <a:srgbClr val="657586"/>
              </a:solidFill>
            </c:spPr>
          </c:dPt>
          <c:dPt>
            <c:idx val="1"/>
            <c:invertIfNegative val="0"/>
            <c:spPr>
              <a:solidFill xmlns:a="http://schemas.openxmlformats.org/drawingml/2006/main">
                <a:srgbClr val="147E77"/>
              </a:solidFill>
            </c:spPr>
          </c:dPt>
          <c:cat>
            <c:strRef>
              <c:f>'Chart Data'!$A$2:$A$3</c:f>
              <c:strCache>
                <c:ptCount val="2"/>
                <c:pt idx="0">
                  <c:v>Ordinary check</c:v>
                </c:pt>
                <c:pt idx="1">
                  <c:v>Verification</c:v>
                </c:pt>
              </c:strCache>
            </c:strRef>
          </c:cat>
          <c:val>
            <c:numRef>
              <c:f>'Chart Data'!$B$2:$B$3</c:f>
              <c:numCache>
                <c:formatCode>0.00%</c:formatCode>
                <c:ptCount val="2"/>
                <c:pt idx="0">
                  <c:v>0.514286</c:v>
                </c:pt>
                <c:pt idx="1">
                  <c:v>0.504762</c:v>
                </c:pt>
              </c:numCache>
            </c:numRef>
          </c:val>
        </c:ser>
        <c:dLbls>
          <c:txPr>
            <a:bodyPr xmlns:a="http://schemas.openxmlformats.org/drawingml/2006/main" anchorCtr="1"/>
            <a:lstStyle xmlns:a="http://schemas.openxmlformats.org/drawingml/2006/main"/>
            <a:p xmlns:a="http://schemas.openxmlformats.org/drawingml/2006/main">
              <a:pPr>
                <a:defRPr sz="1875" b="1">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50112"/>
        <c:crossBetween val="between"/>
        <c:majorUnit val="0.25"/>
      </c:valAx>
    </c:plotArea>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Wrong final answers</c:v>
          </c:tx>
          <c:spPr>
            <a:solidFill xmlns:a="http://schemas.openxmlformats.org/drawingml/2006/main">
              <a:srgbClr val="147E77"/>
            </a:solidFill>
          </c:spPr>
          <c:dPt>
            <c:idx val="0"/>
            <c:invertIfNegative val="0"/>
            <c:spPr>
              <a:solidFill xmlns:a="http://schemas.openxmlformats.org/drawingml/2006/main">
                <a:srgbClr val="657586"/>
              </a:solidFill>
            </c:spPr>
          </c:dPt>
          <c:dPt>
            <c:idx val="1"/>
            <c:invertIfNegative val="0"/>
            <c:spPr>
              <a:solidFill xmlns:a="http://schemas.openxmlformats.org/drawingml/2006/main">
                <a:srgbClr val="147E77"/>
              </a:solidFill>
            </c:spPr>
          </c:dPt>
          <c:cat>
            <c:strRef>
              <c:f>'Chart Data'!$A$2:$A$3</c:f>
              <c:strCache>
                <c:ptCount val="2"/>
                <c:pt idx="0">
                  <c:v>Without</c:v>
                </c:pt>
                <c:pt idx="1">
                  <c:v>With reminder</c:v>
                </c:pt>
              </c:strCache>
            </c:strRef>
          </c:cat>
          <c:val>
            <c:numRef>
              <c:f>'Chart Data'!$B$2:$B$3</c:f>
              <c:numCache>
                <c:formatCode>0.00%</c:formatCode>
                <c:ptCount val="2"/>
                <c:pt idx="0">
                  <c:v>0.504762</c:v>
                </c:pt>
                <c:pt idx="1">
                  <c:v>0.395238</c:v>
                </c:pt>
              </c:numCache>
            </c:numRef>
          </c:val>
        </c:ser>
        <c:dLbls>
          <c:txPr>
            <a:bodyPr xmlns:a="http://schemas.openxmlformats.org/drawingml/2006/main" anchorCtr="1"/>
            <a:lstStyle xmlns:a="http://schemas.openxmlformats.org/drawingml/2006/main"/>
            <a:p xmlns:a="http://schemas.openxmlformats.org/drawingml/2006/main">
              <a:pPr>
                <a:defRPr sz="1875" b="1">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50112"/>
        <c:crossBetween val="between"/>
        <c:majorUnit val="0.25"/>
      </c:valAx>
    </c:plotArea>
    <c:plotVisOnly val="1"/>
  </c:chart>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Wrong final answers</c:v>
          </c:tx>
          <c:spPr>
            <a:solidFill xmlns:a="http://schemas.openxmlformats.org/drawingml/2006/main">
              <a:srgbClr val="147E77"/>
            </a:solidFill>
          </c:spPr>
          <c:dPt>
            <c:idx val="0"/>
            <c:invertIfNegative val="0"/>
            <c:spPr>
              <a:solidFill xmlns:a="http://schemas.openxmlformats.org/drawingml/2006/main">
                <a:srgbClr val="657586"/>
              </a:solidFill>
            </c:spPr>
          </c:dPt>
          <c:dPt>
            <c:idx val="1"/>
            <c:invertIfNegative val="0"/>
            <c:spPr>
              <a:solidFill xmlns:a="http://schemas.openxmlformats.org/drawingml/2006/main">
                <a:srgbClr val="147E77"/>
              </a:solidFill>
            </c:spPr>
          </c:dPt>
          <c:cat>
            <c:strRef>
              <c:f>'Chart Data'!$A$2:$A$3</c:f>
              <c:strCache>
                <c:ptCount val="2"/>
                <c:pt idx="0">
                  <c:v>Neutral recheck</c:v>
                </c:pt>
                <c:pt idx="1">
                  <c:v>False user challenge</c:v>
                </c:pt>
              </c:strCache>
            </c:strRef>
          </c:cat>
          <c:val>
            <c:numRef>
              <c:f>'Chart Data'!$B$2:$B$3</c:f>
              <c:numCache>
                <c:formatCode>0.00%</c:formatCode>
                <c:ptCount val="2"/>
                <c:pt idx="0">
                  <c:v>0.012821</c:v>
                </c:pt>
                <c:pt idx="1">
                  <c:v>0.051282</c:v>
                </c:pt>
              </c:numCache>
            </c:numRef>
          </c:val>
        </c:ser>
        <c:dLbls>
          <c:txPr>
            <a:bodyPr xmlns:a="http://schemas.openxmlformats.org/drawingml/2006/main" anchorCtr="1"/>
            <a:lstStyle xmlns:a="http://schemas.openxmlformats.org/drawingml/2006/main"/>
            <a:p xmlns:a="http://schemas.openxmlformats.org/drawingml/2006/main">
              <a:pPr>
                <a:defRPr sz="1875" b="1">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Helvetica Neue"/>
                <a:ea typeface="Helvetica Neue"/>
                <a:cs typeface="Helvetica Neue"/>
              </a:defRPr>
            </a:pPr>
          </a:p>
        </c:txPr>
        <c:crossAx val="48672768"/>
      </c:catAx>
      <c:valAx>
        <c:axId val="48672768"/>
        <c:scaling>
          <c:orientation val="minMax"/>
          <c:max val="0.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50112"/>
        <c:crossBetween val="between"/>
        <c:majorUnit val="0.02"/>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page">
            <a:extLst xmlns:a="http://schemas.openxmlformats.org/drawingml/2006/main">
              <a:ext uri="{FF2B5EF4-FFF2-40B4-BE49-F238E27FC236}">
                <a16:creationId xmlns:a16="http://schemas.microsoft.com/office/drawing/2014/main" id="{3F82DD39-706D-42DF-88D2-C0AC432F1881}"/>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1</a:t>
            </a:r>
          </a:p>
        </p:txBody>
      </p:sp>
      <p:sp>
        <p:nvSpPr>
          <p:cNvPr id="2" name="course">
            <a:extLst xmlns:a="http://schemas.openxmlformats.org/drawingml/2006/main">
              <a:ext uri="{FF2B5EF4-FFF2-40B4-BE49-F238E27FC236}">
                <a16:creationId xmlns:a16="http://schemas.microsoft.com/office/drawing/2014/main" id="{D1483A04-DB4B-459A-86FD-3C7D674ABDD9}"/>
              </a:ext>
            </a:extLst>
          </p:cNvPr>
          <p:cNvSpPr>
            <a:spLocks xmlns:a="http://schemas.openxmlformats.org/drawingml/2006/main" noGrp="1"/>
          </p:cNvSpPr>
          <p:nvPr/>
        </p:nvSpPr>
        <p:spPr>
          <a:xfrm xmlns:a="http://schemas.openxmlformats.org/drawingml/2006/main">
            <a:off x="723900" y="8953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COMP2501</a:t>
            </a:r>
          </a:p>
        </p:txBody>
      </p:sp>
      <p:sp>
        <p:nvSpPr>
          <p:cNvPr id="3" name="title">
            <a:extLst xmlns:a="http://schemas.openxmlformats.org/drawingml/2006/main">
              <a:ext uri="{FF2B5EF4-FFF2-40B4-BE49-F238E27FC236}">
                <a16:creationId xmlns:a16="http://schemas.microsoft.com/office/drawing/2014/main" id="{0E54270C-FE2B-4F0E-974F-073486998F74}"/>
              </a:ext>
            </a:extLst>
          </p:cNvPr>
          <p:cNvSpPr>
            <a:spLocks xmlns:a="http://schemas.openxmlformats.org/drawingml/2006/main" noGrp="1"/>
          </p:cNvSpPr>
          <p:nvPr/>
        </p:nvSpPr>
        <p:spPr>
          <a:xfrm xmlns:a="http://schemas.openxmlformats.org/drawingml/2006/main">
            <a:off x="723900" y="2209800"/>
            <a:ext cx="1085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Does Double-Checking Make AI More Reliable?</a:t>
            </a:r>
          </a:p>
        </p:txBody>
      </p:sp>
      <p:sp>
        <p:nvSpPr>
          <p:cNvPr id="4" name="subtitle">
            <a:extLst xmlns:a="http://schemas.openxmlformats.org/drawingml/2006/main">
              <a:ext uri="{FF2B5EF4-FFF2-40B4-BE49-F238E27FC236}">
                <a16:creationId xmlns:a16="http://schemas.microsoft.com/office/drawing/2014/main" id="{E51F42C0-5929-4A3E-A2DA-22338E0AEBDB}"/>
              </a:ext>
            </a:extLst>
          </p:cNvPr>
          <p:cNvSpPr>
            <a:spLocks xmlns:a="http://schemas.openxmlformats.org/drawingml/2006/main" noGrp="1"/>
          </p:cNvSpPr>
          <p:nvPr/>
        </p:nvSpPr>
        <p:spPr>
          <a:xfrm xmlns:a="http://schemas.openxmlformats.org/drawingml/2006/main">
            <a:off x="723900" y="40386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Helvetica Neue"/>
                <a:ea typeface="Helvetica Neue"/>
                <a:cs typeface="Helvetica Neue"/>
              </a:defRPr>
            </a:pPr>
            <a:r>
              <a:rPr sz="2325" b="0">
                <a:solidFill>
                  <a:srgbClr val="142C40"/>
                </a:solidFill>
                <a:latin typeface="Helvetica Neue"/>
                <a:ea typeface="Helvetica Neue"/>
                <a:cs typeface="Helvetica Neue"/>
              </a:rPr>
              <a:t>Evaluating Self-Checks, Cross-Checks, and Misleading Feedback</a:t>
            </a:r>
          </a:p>
        </p:txBody>
      </p:sp>
      <p:sp>
        <p:nvSpPr>
          <p:cNvPr id="5" name="authors">
            <a:extLst xmlns:a="http://schemas.openxmlformats.org/drawingml/2006/main">
              <a:ext uri="{FF2B5EF4-FFF2-40B4-BE49-F238E27FC236}">
                <a16:creationId xmlns:a16="http://schemas.microsoft.com/office/drawing/2014/main" id="{53208083-BB4A-439B-A55C-ED231371D26D}"/>
              </a:ext>
            </a:extLst>
          </p:cNvPr>
          <p:cNvSpPr>
            <a:spLocks xmlns:a="http://schemas.openxmlformats.org/drawingml/2006/main" noGrp="1"/>
          </p:cNvSpPr>
          <p:nvPr/>
        </p:nvSpPr>
        <p:spPr>
          <a:xfrm xmlns:a="http://schemas.openxmlformats.org/drawingml/2006/main">
            <a:off x="723900" y="52197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LINYUNIAN  /  PAN ZHENGYU</a:t>
            </a:r>
          </a:p>
        </p:txBody>
      </p:sp>
      <p:sp>
        <p:nvSpPr>
          <p:cNvPr id="6" name="date">
            <a:extLst xmlns:a="http://schemas.openxmlformats.org/drawingml/2006/main">
              <a:ext uri="{FF2B5EF4-FFF2-40B4-BE49-F238E27FC236}">
                <a16:creationId xmlns:a16="http://schemas.microsoft.com/office/drawing/2014/main" id="{421340CD-08EA-45CD-A160-FFDE1A299CFD}"/>
              </a:ext>
            </a:extLst>
          </p:cNvPr>
          <p:cNvSpPr>
            <a:spLocks xmlns:a="http://schemas.openxmlformats.org/drawingml/2006/main" noGrp="1"/>
          </p:cNvSpPr>
          <p:nvPr/>
        </p:nvSpPr>
        <p:spPr>
          <a:xfrm xmlns:a="http://schemas.openxmlformats.org/drawingml/2006/main">
            <a:off x="723900" y="60007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57586"/>
                </a:solidFill>
                <a:latin typeface="Helvetica Neue"/>
                <a:ea typeface="Helvetica Neue"/>
                <a:cs typeface="Helvetica Neue"/>
              </a:defRPr>
            </a:pPr>
            <a:r>
              <a:rPr sz="1800" b="0">
                <a:solidFill>
                  <a:srgbClr val="657586"/>
                </a:solidFill>
                <a:latin typeface="Helvetica Neue"/>
                <a:ea typeface="Helvetica Neue"/>
                <a:cs typeface="Helvetica Neue"/>
              </a:rPr>
              <a:t>COMP2501  /  6 October 2026</a:t>
            </a:r>
          </a:p>
        </p:txBody>
      </p:sp>
    </p:spTree>
    <p:extLst>
      <p:ext uri="{BB962C8B-B14F-4D97-AF65-F5344CB8AC3E}">
        <p14:creationId xmlns:p14="http://schemas.microsoft.com/office/powerpoint/2010/main" val="365385292"/>
      </p:ext>
    </p:extLst>
  </p:cSld>
</p:sld>
</file>

<file path=ppt/slides/slide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8" name="page">
            <a:extLst xmlns:a="http://schemas.openxmlformats.org/drawingml/2006/main">
              <a:ext uri="{FF2B5EF4-FFF2-40B4-BE49-F238E27FC236}">
                <a16:creationId xmlns:a16="http://schemas.microsoft.com/office/drawing/2014/main" id="{E526E47E-F477-42F8-9DFB-51092B38D089}"/>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2</a:t>
            </a:r>
          </a:p>
        </p:txBody>
      </p:sp>
      <p:sp>
        <p:nvSpPr>
          <p:cNvPr id="2" name="title">
            <a:extLst xmlns:a="http://schemas.openxmlformats.org/drawingml/2006/main">
              <a:ext uri="{FF2B5EF4-FFF2-40B4-BE49-F238E27FC236}">
                <a16:creationId xmlns:a16="http://schemas.microsoft.com/office/drawing/2014/main" id="{049B9913-8D5E-4BFC-B1CF-44B95F36060D}"/>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Background and motivation</a:t>
            </a:r>
          </a:p>
        </p:txBody>
      </p:sp>
      <p:sp>
        <p:nvSpPr>
          <p:cNvPr id="3" name="body-1">
            <a:extLst xmlns:a="http://schemas.openxmlformats.org/drawingml/2006/main">
              <a:ext uri="{FF2B5EF4-FFF2-40B4-BE49-F238E27FC236}">
                <a16:creationId xmlns:a16="http://schemas.microsoft.com/office/drawing/2014/main" id="{6F2663D7-BC2A-4B25-955F-FE79D3921780}"/>
              </a:ext>
            </a:extLst>
          </p:cNvPr>
          <p:cNvSpPr>
            <a:spLocks xmlns:a="http://schemas.openxmlformats.org/drawingml/2006/main" noGrp="1"/>
          </p:cNvSpPr>
          <p:nvPr/>
        </p:nvSpPr>
        <p:spPr>
          <a:xfrm xmlns:a="http://schemas.openxmlformats.org/drawingml/2006/main">
            <a:off x="723900" y="169545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Helvetica Neue"/>
                <a:ea typeface="Helvetica Neue"/>
                <a:cs typeface="Helvetica Neue"/>
              </a:defRPr>
            </a:pPr>
            <a:r>
              <a:rPr sz="2325" b="0">
                <a:solidFill>
                  <a:srgbClr val="142C40"/>
                </a:solidFill>
                <a:latin typeface="Helvetica Neue"/>
                <a:ea typeface="Helvetica Neue"/>
                <a:cs typeface="Helvetica Neue"/>
              </a:rPr>
              <a:t>Professor LUO RUIBANG asked who would completely trust AI.</a:t>
            </a:r>
          </a:p>
        </p:txBody>
      </p:sp>
      <p:sp>
        <p:nvSpPr>
          <p:cNvPr id="4" name="body-2">
            <a:extLst xmlns:a="http://schemas.openxmlformats.org/drawingml/2006/main">
              <a:ext uri="{FF2B5EF4-FFF2-40B4-BE49-F238E27FC236}">
                <a16:creationId xmlns:a16="http://schemas.microsoft.com/office/drawing/2014/main" id="{C5073252-13B0-4653-A5FA-17E66FDB47E7}"/>
              </a:ext>
            </a:extLst>
          </p:cNvPr>
          <p:cNvSpPr>
            <a:spLocks xmlns:a="http://schemas.openxmlformats.org/drawingml/2006/main" noGrp="1"/>
          </p:cNvSpPr>
          <p:nvPr/>
        </p:nvSpPr>
        <p:spPr>
          <a:xfrm xmlns:a="http://schemas.openxmlformats.org/drawingml/2006/main">
            <a:off x="723900" y="274320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Helvetica Neue"/>
                <a:ea typeface="Helvetica Neue"/>
                <a:cs typeface="Helvetica Neue"/>
              </a:defRPr>
            </a:pPr>
            <a:r>
              <a:rPr sz="2325" b="0">
                <a:solidFill>
                  <a:srgbClr val="142C40"/>
                </a:solidFill>
                <a:latin typeface="Helvetica Neue"/>
                <a:ea typeface="Helvetica Neue"/>
                <a:cs typeface="Helvetica Neue"/>
              </a:rPr>
              <a:t>I raised my hand because I use different agents to cross-check.</a:t>
            </a:r>
          </a:p>
        </p:txBody>
      </p:sp>
      <p:sp>
        <p:nvSpPr>
          <p:cNvPr id="5" name="body-3">
            <a:extLst xmlns:a="http://schemas.openxmlformats.org/drawingml/2006/main">
              <a:ext uri="{FF2B5EF4-FFF2-40B4-BE49-F238E27FC236}">
                <a16:creationId xmlns:a16="http://schemas.microsoft.com/office/drawing/2014/main" id="{600068A3-962C-4050-BFD7-06ADA0BE4486}"/>
              </a:ext>
            </a:extLst>
          </p:cNvPr>
          <p:cNvSpPr>
            <a:spLocks xmlns:a="http://schemas.openxmlformats.org/drawingml/2006/main" noGrp="1"/>
          </p:cNvSpPr>
          <p:nvPr/>
        </p:nvSpPr>
        <p:spPr>
          <a:xfrm xmlns:a="http://schemas.openxmlformats.org/drawingml/2006/main">
            <a:off x="723900" y="379095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Helvetica Neue"/>
                <a:ea typeface="Helvetica Neue"/>
                <a:cs typeface="Helvetica Neue"/>
              </a:defRPr>
            </a:pPr>
            <a:r>
              <a:rPr sz="2325" b="0">
                <a:solidFill>
                  <a:srgbClr val="142C40"/>
                </a:solidFill>
                <a:latin typeface="Helvetica Neue"/>
                <a:ea typeface="Helvetica Neue"/>
                <a:cs typeface="Helvetica Neue"/>
              </a:rPr>
              <a:t>Does an extra check actually make the answer more reliable?</a:t>
            </a:r>
          </a:p>
        </p:txBody>
      </p:sp>
      <p:sp>
        <p:nvSpPr>
          <p:cNvPr id="6" name="takeaway">
            <a:extLst xmlns:a="http://schemas.openxmlformats.org/drawingml/2006/main">
              <a:ext uri="{FF2B5EF4-FFF2-40B4-BE49-F238E27FC236}">
                <a16:creationId xmlns:a16="http://schemas.microsoft.com/office/drawing/2014/main" id="{8DA8EB5F-C985-40FC-AEDA-28ADD76C57AA}"/>
              </a:ext>
            </a:extLst>
          </p:cNvPr>
          <p:cNvSpPr>
            <a:spLocks xmlns:a="http://schemas.openxmlformats.org/drawingml/2006/main" noGrp="1"/>
          </p:cNvSpPr>
          <p:nvPr/>
        </p:nvSpPr>
        <p:spPr>
          <a:xfrm xmlns:a="http://schemas.openxmlformats.org/drawingml/2006/main">
            <a:off x="723900" y="5238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Our confidence in cross-checking is the hypothesis we test.</a:t>
            </a:r>
          </a:p>
        </p:txBody>
      </p:sp>
      <p:sp>
        <p:nvSpPr>
          <p:cNvPr id="7" name="footnote">
            <a:extLst xmlns:a="http://schemas.openxmlformats.org/drawingml/2006/main">
              <a:ext uri="{FF2B5EF4-FFF2-40B4-BE49-F238E27FC236}">
                <a16:creationId xmlns:a16="http://schemas.microsoft.com/office/drawing/2014/main" id="{A56A0859-8EF6-4320-BF91-798862FC95FA}"/>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Paraphrased from LINYUNIAN’s recollection of the class.</a:t>
            </a:r>
          </a:p>
        </p:txBody>
      </p:sp>
    </p:spTree>
    <p:extLst>
      <p:ext uri="{BB962C8B-B14F-4D97-AF65-F5344CB8AC3E}">
        <p14:creationId xmlns:p14="http://schemas.microsoft.com/office/powerpoint/2010/main" val="365385292"/>
      </p:ext>
    </p:extLst>
  </p:cSld>
</p:sld>
</file>

<file path=ppt/slides/slide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page">
            <a:extLst xmlns:a="http://schemas.openxmlformats.org/drawingml/2006/main">
              <a:ext uri="{FF2B5EF4-FFF2-40B4-BE49-F238E27FC236}">
                <a16:creationId xmlns:a16="http://schemas.microsoft.com/office/drawing/2014/main" id="{8415FE36-87B5-4B3E-9E5D-A7A4C7EDB652}"/>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3</a:t>
            </a:r>
          </a:p>
        </p:txBody>
      </p:sp>
      <p:sp>
        <p:nvSpPr>
          <p:cNvPr id="2" name="title">
            <a:extLst xmlns:a="http://schemas.openxmlformats.org/drawingml/2006/main">
              <a:ext uri="{FF2B5EF4-FFF2-40B4-BE49-F238E27FC236}">
                <a16:creationId xmlns:a16="http://schemas.microsoft.com/office/drawing/2014/main" id="{4DA40829-2E4A-4D06-9456-BBBECFC29E25}"/>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Research questions</a:t>
            </a:r>
          </a:p>
        </p:txBody>
      </p:sp>
      <p:sp>
        <p:nvSpPr>
          <p:cNvPr id="3" name="question-1">
            <a:extLst xmlns:a="http://schemas.openxmlformats.org/drawingml/2006/main">
              <a:ext uri="{FF2B5EF4-FFF2-40B4-BE49-F238E27FC236}">
                <a16:creationId xmlns:a16="http://schemas.microsoft.com/office/drawing/2014/main" id="{856BCABA-E059-4107-9C33-9F52B2EEF2E2}"/>
              </a:ext>
            </a:extLst>
          </p:cNvPr>
          <p:cNvSpPr>
            <a:spLocks xmlns:a="http://schemas.openxmlformats.org/drawingml/2006/main" noGrp="1"/>
          </p:cNvSpPr>
          <p:nvPr/>
        </p:nvSpPr>
        <p:spPr>
          <a:xfrm xmlns:a="http://schemas.openxmlformats.org/drawingml/2006/main">
            <a:off x="723900" y="1571625"/>
            <a:ext cx="107061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1. Can double-checking reduce AI error rates?</a:t>
            </a:r>
          </a:p>
        </p:txBody>
      </p:sp>
      <p:sp>
        <p:nvSpPr>
          <p:cNvPr id="4" name="question-2">
            <a:extLst xmlns:a="http://schemas.openxmlformats.org/drawingml/2006/main">
              <a:ext uri="{FF2B5EF4-FFF2-40B4-BE49-F238E27FC236}">
                <a16:creationId xmlns:a16="http://schemas.microsoft.com/office/drawing/2014/main" id="{1DAE7240-BBD3-4188-AA0B-DF809B052CA2}"/>
              </a:ext>
            </a:extLst>
          </p:cNvPr>
          <p:cNvSpPr>
            <a:spLocks xmlns:a="http://schemas.openxmlformats.org/drawingml/2006/main" noGrp="1"/>
          </p:cNvSpPr>
          <p:nvPr/>
        </p:nvSpPr>
        <p:spPr>
          <a:xfrm xmlns:a="http://schemas.openxmlformats.org/drawingml/2006/main">
            <a:off x="723900" y="2552700"/>
            <a:ext cx="107061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2. Which double-checking method is most effective in practice?</a:t>
            </a:r>
          </a:p>
        </p:txBody>
      </p:sp>
      <p:sp>
        <p:nvSpPr>
          <p:cNvPr id="5" name="question-3">
            <a:extLst xmlns:a="http://schemas.openxmlformats.org/drawingml/2006/main">
              <a:ext uri="{FF2B5EF4-FFF2-40B4-BE49-F238E27FC236}">
                <a16:creationId xmlns:a16="http://schemas.microsoft.com/office/drawing/2014/main" id="{B159BD82-7EDA-4D04-BAC6-9F52E59ABEF1}"/>
              </a:ext>
            </a:extLst>
          </p:cNvPr>
          <p:cNvSpPr>
            <a:spLocks xmlns:a="http://schemas.openxmlformats.org/drawingml/2006/main" noGrp="1"/>
          </p:cNvSpPr>
          <p:nvPr/>
        </p:nvSpPr>
        <p:spPr>
          <a:xfrm xmlns:a="http://schemas.openxmlformats.org/drawingml/2006/main">
            <a:off x="723900" y="3619500"/>
            <a:ext cx="107061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3. Can an incorrect peer answer mislead an initially correct model during cross-checking?</a:t>
            </a:r>
          </a:p>
        </p:txBody>
      </p:sp>
      <p:sp>
        <p:nvSpPr>
          <p:cNvPr id="6" name="question-4">
            <a:extLst xmlns:a="http://schemas.openxmlformats.org/drawingml/2006/main">
              <a:ext uri="{FF2B5EF4-FFF2-40B4-BE49-F238E27FC236}">
                <a16:creationId xmlns:a16="http://schemas.microsoft.com/office/drawing/2014/main" id="{75D0F66E-5F39-4705-8421-D56B36A2678C}"/>
              </a:ext>
            </a:extLst>
          </p:cNvPr>
          <p:cNvSpPr>
            <a:spLocks xmlns:a="http://schemas.openxmlformats.org/drawingml/2006/main" noGrp="1"/>
          </p:cNvSpPr>
          <p:nvPr/>
        </p:nvSpPr>
        <p:spPr>
          <a:xfrm xmlns:a="http://schemas.openxmlformats.org/drawingml/2006/main">
            <a:off x="723900" y="4829175"/>
            <a:ext cx="107061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4. Can misleading user input cause an otherwise correct model to give a wrong answer?</a:t>
            </a:r>
          </a:p>
        </p:txBody>
      </p:sp>
    </p:spTree>
    <p:extLst>
      <p:ext uri="{BB962C8B-B14F-4D97-AF65-F5344CB8AC3E}">
        <p14:creationId xmlns:p14="http://schemas.microsoft.com/office/powerpoint/2010/main" val="365385292"/>
      </p:ext>
    </p:extLst>
  </p:cSld>
</p:sld>
</file>

<file path=ppt/slides/slide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page">
            <a:extLst xmlns:a="http://schemas.openxmlformats.org/drawingml/2006/main">
              <a:ext uri="{FF2B5EF4-FFF2-40B4-BE49-F238E27FC236}">
                <a16:creationId xmlns:a16="http://schemas.microsoft.com/office/drawing/2014/main" id="{3B2FA183-E805-4655-A445-0D4F392F24FB}"/>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4</a:t>
            </a:r>
          </a:p>
        </p:txBody>
      </p:sp>
      <p:sp>
        <p:nvSpPr>
          <p:cNvPr id="2" name="title">
            <a:extLst xmlns:a="http://schemas.openxmlformats.org/drawingml/2006/main">
              <a:ext uri="{FF2B5EF4-FFF2-40B4-BE49-F238E27FC236}">
                <a16:creationId xmlns:a16="http://schemas.microsoft.com/office/drawing/2014/main" id="{8E881400-1F0C-4657-8352-57BC86C02255}"/>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Why this is important</a:t>
            </a:r>
          </a:p>
        </p:txBody>
      </p:sp>
      <p:sp>
        <p:nvSpPr>
          <p:cNvPr id="3" name="body-1">
            <a:extLst xmlns:a="http://schemas.openxmlformats.org/drawingml/2006/main">
              <a:ext uri="{FF2B5EF4-FFF2-40B4-BE49-F238E27FC236}">
                <a16:creationId xmlns:a16="http://schemas.microsoft.com/office/drawing/2014/main" id="{6740A419-83A6-44A0-939E-4157A86DC3DE}"/>
              </a:ext>
            </a:extLst>
          </p:cNvPr>
          <p:cNvSpPr>
            <a:spLocks xmlns:a="http://schemas.openxmlformats.org/drawingml/2006/main" noGrp="1"/>
          </p:cNvSpPr>
          <p:nvPr/>
        </p:nvSpPr>
        <p:spPr>
          <a:xfrm xmlns:a="http://schemas.openxmlformats.org/drawingml/2006/main">
            <a:off x="723900" y="169545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Helvetica Neue"/>
                <a:ea typeface="Helvetica Neue"/>
                <a:cs typeface="Helvetica Neue"/>
              </a:defRPr>
            </a:pPr>
            <a:r>
              <a:rPr sz="2325" b="0">
                <a:solidFill>
                  <a:srgbClr val="142C40"/>
                </a:solidFill>
                <a:latin typeface="Helvetica Neue"/>
                <a:ea typeface="Helvetica Neue"/>
                <a:cs typeface="Helvetica Neue"/>
              </a:rPr>
              <a:t>Users need a practical way to decide when an AI answer is reliable.</a:t>
            </a:r>
          </a:p>
        </p:txBody>
      </p:sp>
      <p:sp>
        <p:nvSpPr>
          <p:cNvPr id="4" name="body-2">
            <a:extLst xmlns:a="http://schemas.openxmlformats.org/drawingml/2006/main">
              <a:ext uri="{FF2B5EF4-FFF2-40B4-BE49-F238E27FC236}">
                <a16:creationId xmlns:a16="http://schemas.microsoft.com/office/drawing/2014/main" id="{D36D0F87-7BE4-4067-AF11-5A1497398FF7}"/>
              </a:ext>
            </a:extLst>
          </p:cNvPr>
          <p:cNvSpPr>
            <a:spLocks xmlns:a="http://schemas.openxmlformats.org/drawingml/2006/main" noGrp="1"/>
          </p:cNvSpPr>
          <p:nvPr/>
        </p:nvSpPr>
        <p:spPr>
          <a:xfrm xmlns:a="http://schemas.openxmlformats.org/drawingml/2006/main">
            <a:off x="723900" y="274320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Helvetica Neue"/>
                <a:ea typeface="Helvetica Neue"/>
                <a:cs typeface="Helvetica Neue"/>
              </a:defRPr>
            </a:pPr>
            <a:r>
              <a:rPr sz="2325" b="0">
                <a:solidFill>
                  <a:srgbClr val="142C40"/>
                </a:solidFill>
                <a:latin typeface="Helvetica Neue"/>
                <a:ea typeface="Helvetica Neue"/>
                <a:cs typeface="Helvetica Neue"/>
              </a:rPr>
              <a:t>A second check may correct an error, leave it unchanged, or introduce one.</a:t>
            </a:r>
          </a:p>
        </p:txBody>
      </p:sp>
      <p:sp>
        <p:nvSpPr>
          <p:cNvPr id="5" name="body-3">
            <a:extLst xmlns:a="http://schemas.openxmlformats.org/drawingml/2006/main">
              <a:ext uri="{FF2B5EF4-FFF2-40B4-BE49-F238E27FC236}">
                <a16:creationId xmlns:a16="http://schemas.microsoft.com/office/drawing/2014/main" id="{4D291CF7-5994-4201-868D-2DE6E926A5DD}"/>
              </a:ext>
            </a:extLst>
          </p:cNvPr>
          <p:cNvSpPr>
            <a:spLocks xmlns:a="http://schemas.openxmlformats.org/drawingml/2006/main" noGrp="1"/>
          </p:cNvSpPr>
          <p:nvPr/>
        </p:nvSpPr>
        <p:spPr>
          <a:xfrm xmlns:a="http://schemas.openxmlformats.org/drawingml/2006/main">
            <a:off x="723900" y="379095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Helvetica Neue"/>
                <a:ea typeface="Helvetica Neue"/>
                <a:cs typeface="Helvetica Neue"/>
              </a:defRPr>
            </a:pPr>
            <a:r>
              <a:rPr sz="2325" b="0">
                <a:solidFill>
                  <a:srgbClr val="142C40"/>
                </a:solidFill>
                <a:latin typeface="Helvetica Neue"/>
                <a:ea typeface="Helvetica Neue"/>
                <a:cs typeface="Helvetica Neue"/>
              </a:rPr>
              <a:t>A mistaken assumption in the user’s prompt can also affect the answer.</a:t>
            </a:r>
          </a:p>
        </p:txBody>
      </p:sp>
      <p:sp>
        <p:nvSpPr>
          <p:cNvPr id="6" name="takeaway">
            <a:extLst xmlns:a="http://schemas.openxmlformats.org/drawingml/2006/main">
              <a:ext uri="{FF2B5EF4-FFF2-40B4-BE49-F238E27FC236}">
                <a16:creationId xmlns:a16="http://schemas.microsoft.com/office/drawing/2014/main" id="{30F38B95-7B85-48F4-99F0-8B4CE792991D}"/>
              </a:ext>
            </a:extLst>
          </p:cNvPr>
          <p:cNvSpPr>
            <a:spLocks xmlns:a="http://schemas.openxmlformats.org/drawingml/2006/main" noGrp="1"/>
          </p:cNvSpPr>
          <p:nvPr/>
        </p:nvSpPr>
        <p:spPr>
          <a:xfrm xmlns:a="http://schemas.openxmlformats.org/drawingml/2006/main">
            <a:off x="723900" y="5238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We test both the benefits and risks of checking.</a:t>
            </a:r>
          </a:p>
        </p:txBody>
      </p:sp>
    </p:spTree>
    <p:extLst>
      <p:ext uri="{BB962C8B-B14F-4D97-AF65-F5344CB8AC3E}">
        <p14:creationId xmlns:p14="http://schemas.microsoft.com/office/powerpoint/2010/main" val="365385292"/>
      </p:ext>
    </p:extLst>
  </p:cSld>
</p:sld>
</file>

<file path=ppt/slides/slide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5" name="page">
            <a:extLst xmlns:a="http://schemas.openxmlformats.org/drawingml/2006/main">
              <a:ext uri="{FF2B5EF4-FFF2-40B4-BE49-F238E27FC236}">
                <a16:creationId xmlns:a16="http://schemas.microsoft.com/office/drawing/2014/main" id="{182941AB-70C4-46CA-B5EE-B0AFF2DF7E6F}"/>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5</a:t>
            </a:r>
          </a:p>
        </p:txBody>
      </p:sp>
      <p:sp>
        <p:nvSpPr>
          <p:cNvPr id="2" name="title">
            <a:extLst xmlns:a="http://schemas.openxmlformats.org/drawingml/2006/main">
              <a:ext uri="{FF2B5EF4-FFF2-40B4-BE49-F238E27FC236}">
                <a16:creationId xmlns:a16="http://schemas.microsoft.com/office/drawing/2014/main" id="{C86F969C-7DDC-43D1-A500-EA0A136DB8C3}"/>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Data and completed collection</a:t>
            </a:r>
          </a:p>
        </p:txBody>
      </p:sp>
      <p:graphicFrame>
        <p:nvGraphicFramePr>
          <p:cNvPr id="7" name=""/>
          <p:cNvGraphicFramePr/>
          <p:nvPr/>
        </p:nvGraphicFramePr>
        <p:xfrm>
          <a:off xmlns:a="http://schemas.openxmlformats.org/drawingml/2006/main" x="685800" y="1657350"/>
          <a:ext xmlns:a="http://schemas.openxmlformats.org/drawingml/2006/main" cx="10820400" cy="3333750"/>
        </p:xfrm>
        <a:graphic xmlns:a="http://schemas.openxmlformats.org/drawingml/2006/main">
          <a:graphicData uri="http://schemas.openxmlformats.org/drawingml/2006/table">
            <a:tbl>
              <a:tblPr/>
              <a:tblGrid>
                <a:gridCol w="3810000"/>
                <a:gridCol w="3571875"/>
                <a:gridCol w="3438525"/>
              </a:tblGrid>
              <a:tr h="666750">
                <a:tc>
                  <a:txBody>
                    <a:bodyPr/>
                    <a:lstStyle/>
                    <a:p>
                      <a:r>
                        <a:rPr sz="1950" b="1">
                          <a:solidFill>
                            <a:srgbClr val="FFFFFF"/>
                          </a:solidFill>
                          <a:latin typeface="Helvetica Neue"/>
                          <a:ea typeface="Helvetica Neue"/>
                          <a:cs typeface="Helvetica Neue"/>
                        </a:rPr>
                        <a:t>Study</a:t>
                      </a:r>
                    </a:p>
                  </a:txBody>
                  <a:tcPr marL="91440" marR="91440" marT="45720" marB="45720">
                    <a:solidFill>
                      <a:srgbClr val="142C40"/>
                    </a:solidFill>
                  </a:tcPr>
                </a:tc>
                <a:tc>
                  <a:txBody>
                    <a:bodyPr/>
                    <a:lstStyle/>
                    <a:p>
                      <a:r>
                        <a:rPr sz="1950" b="1">
                          <a:solidFill>
                            <a:srgbClr val="FFFFFF"/>
                          </a:solidFill>
                          <a:latin typeface="Helvetica Neue"/>
                          <a:ea typeface="Helvetica Neue"/>
                          <a:cs typeface="Helvetica Neue"/>
                        </a:rPr>
                        <a:t>Questions / records</a:t>
                      </a:r>
                    </a:p>
                  </a:txBody>
                  <a:tcPr marL="91440" marR="91440" marT="45720" marB="45720">
                    <a:solidFill>
                      <a:srgbClr val="142C40"/>
                    </a:solidFill>
                  </a:tcPr>
                </a:tc>
                <a:tc>
                  <a:txBody>
                    <a:bodyPr/>
                    <a:lstStyle/>
                    <a:p>
                      <a:r>
                        <a:rPr sz="1950" b="1">
                          <a:solidFill>
                            <a:srgbClr val="FFFFFF"/>
                          </a:solidFill>
                          <a:latin typeface="Helvetica Neue"/>
                          <a:ea typeface="Helvetica Neue"/>
                          <a:cs typeface="Helvetica Neue"/>
                        </a:rPr>
                        <a:t>Role</a:t>
                      </a:r>
                    </a:p>
                  </a:txBody>
                  <a:tcPr marL="91440" marR="91440" marT="45720" marB="45720">
                    <a:solidFill>
                      <a:srgbClr val="142C40"/>
                    </a:solidFill>
                  </a:tcPr>
                </a:tc>
              </a:tr>
              <a:tr h="666750">
                <a:tc>
                  <a:txBody>
                    <a:bodyPr/>
                    <a:lstStyle/>
                    <a:p>
                      <a:r>
                        <a:rPr sz="1950" b="0">
                          <a:solidFill>
                            <a:srgbClr val="142C40"/>
                          </a:solidFill>
                          <a:latin typeface="Helvetica Neue"/>
                          <a:ea typeface="Helvetica Neue"/>
                          <a:cs typeface="Helvetica Neue"/>
                        </a:rPr>
                        <a:t>Latest two-model experiment</a:t>
                      </a:r>
                    </a:p>
                  </a:txBody>
                  <a:tcPr marL="91440" marR="91440" marT="45720" marB="45720">
                    <a:solidFill>
                      <a:srgbClr val="F0F4F7"/>
                    </a:solidFill>
                  </a:tcPr>
                </a:tc>
                <a:tc>
                  <a:txBody>
                    <a:bodyPr/>
                    <a:lstStyle/>
                    <a:p>
                      <a:r>
                        <a:rPr sz="1950" b="0">
                          <a:solidFill>
                            <a:srgbClr val="142C40"/>
                          </a:solidFill>
                          <a:latin typeface="Helvetica Neue"/>
                          <a:ea typeface="Helvetica Neue"/>
                          <a:cs typeface="Helvetica Neue"/>
                        </a:rPr>
                        <a:t>100 facts + 41 mathematics</a:t>
                      </a:r>
                    </a:p>
                  </a:txBody>
                  <a:tcPr marL="91440" marR="91440" marT="45720" marB="45720">
                    <a:solidFill>
                      <a:srgbClr val="F0F4F7"/>
                    </a:solidFill>
                  </a:tcPr>
                </a:tc>
                <a:tc>
                  <a:txBody>
                    <a:bodyPr/>
                    <a:lstStyle/>
                    <a:p>
                      <a:r>
                        <a:rPr sz="1950" b="0">
                          <a:solidFill>
                            <a:srgbClr val="142C40"/>
                          </a:solidFill>
                          <a:latin typeface="Helvetica Neue"/>
                          <a:ea typeface="Helvetica Neue"/>
                          <a:cs typeface="Helvetica Neue"/>
                        </a:rPr>
                        <a:t>RQ1–4</a:t>
                      </a:r>
                    </a:p>
                  </a:txBody>
                  <a:tcPr marL="91440" marR="91440" marT="45720" marB="45720">
                    <a:solidFill>
                      <a:srgbClr val="F0F4F7"/>
                    </a:solidFill>
                  </a:tcPr>
                </a:tc>
              </a:tr>
              <a:tr h="666750">
                <a:tc>
                  <a:txBody>
                    <a:bodyPr/>
                    <a:lstStyle/>
                    <a:p>
                      <a:r>
                        <a:rPr sz="1950" b="0">
                          <a:solidFill>
                            <a:srgbClr val="142C40"/>
                          </a:solidFill>
                          <a:latin typeface="Helvetica Neue"/>
                          <a:ea typeface="Helvetica Neue"/>
                          <a:cs typeface="Helvetica Neue"/>
                        </a:rPr>
                        <a:t>Completed-data records</a:t>
                      </a:r>
                    </a:p>
                  </a:txBody>
                  <a:tcPr marL="91440" marR="91440" marT="45720" marB="45720">
                    <a:solidFill>
                      <a:srgbClr val="FFFFFF"/>
                    </a:solidFill>
                  </a:tcPr>
                </a:tc>
                <a:tc>
                  <a:txBody>
                    <a:bodyPr/>
                    <a:lstStyle/>
                    <a:p>
                      <a:r>
                        <a:rPr sz="1950" b="0">
                          <a:solidFill>
                            <a:srgbClr val="142C40"/>
                          </a:solidFill>
                          <a:latin typeface="Helvetica Neue"/>
                          <a:ea typeface="Helvetica Neue"/>
                          <a:cs typeface="Helvetica Neue"/>
                        </a:rPr>
                        <a:t>2,323 final; 2,317 scorable</a:t>
                      </a:r>
                    </a:p>
                  </a:txBody>
                  <a:tcPr marL="91440" marR="91440" marT="45720" marB="45720">
                    <a:solidFill>
                      <a:srgbClr val="FFFFFF"/>
                    </a:solidFill>
                  </a:tcPr>
                </a:tc>
                <a:tc>
                  <a:txBody>
                    <a:bodyPr/>
                    <a:lstStyle/>
                    <a:p>
                      <a:r>
                        <a:rPr sz="1950" b="0">
                          <a:solidFill>
                            <a:srgbClr val="142C40"/>
                          </a:solidFill>
                          <a:latin typeface="Helvetica Neue"/>
                          <a:ea typeface="Helvetica Neue"/>
                          <a:cs typeface="Helvetica Neue"/>
                        </a:rPr>
                        <a:t>All conditions, not independent questions</a:t>
                      </a:r>
                    </a:p>
                  </a:txBody>
                  <a:tcPr marL="91440" marR="91440" marT="45720" marB="45720">
                    <a:solidFill>
                      <a:srgbClr val="FFFFFF"/>
                    </a:solidFill>
                  </a:tcPr>
                </a:tc>
              </a:tr>
              <a:tr h="666750">
                <a:tc>
                  <a:txBody>
                    <a:bodyPr/>
                    <a:lstStyle/>
                    <a:p>
                      <a:r>
                        <a:rPr sz="1950" b="0">
                          <a:solidFill>
                            <a:srgbClr val="142C40"/>
                          </a:solidFill>
                          <a:latin typeface="Helvetica Neue"/>
                          <a:ea typeface="Helvetica Neue"/>
                          <a:cs typeface="Helvetica Neue"/>
                        </a:rPr>
                        <a:t>Correct-answer challenge</a:t>
                      </a:r>
                    </a:p>
                  </a:txBody>
                  <a:tcPr marL="91440" marR="91440" marT="45720" marB="45720">
                    <a:solidFill>
                      <a:srgbClr val="F0F4F7"/>
                    </a:solidFill>
                  </a:tcPr>
                </a:tc>
                <a:tc>
                  <a:txBody>
                    <a:bodyPr/>
                    <a:lstStyle/>
                    <a:p>
                      <a:r>
                        <a:rPr sz="1950" b="0">
                          <a:solidFill>
                            <a:srgbClr val="142C40"/>
                          </a:solidFill>
                          <a:latin typeface="Helvetica Neue"/>
                          <a:ea typeface="Helvetica Neue"/>
                          <a:cs typeface="Helvetica Neue"/>
                        </a:rPr>
                        <a:t>39 questions; 156 follow-ups</a:t>
                      </a:r>
                    </a:p>
                  </a:txBody>
                  <a:tcPr marL="91440" marR="91440" marT="45720" marB="45720">
                    <a:solidFill>
                      <a:srgbClr val="F0F4F7"/>
                    </a:solidFill>
                  </a:tcPr>
                </a:tc>
                <a:tc>
                  <a:txBody>
                    <a:bodyPr/>
                    <a:lstStyle/>
                    <a:p>
                      <a:r>
                        <a:rPr sz="1950" b="0">
                          <a:solidFill>
                            <a:srgbClr val="142C40"/>
                          </a:solidFill>
                          <a:latin typeface="Helvetica Neue"/>
                          <a:ea typeface="Helvetica Neue"/>
                          <a:cs typeface="Helvetica Neue"/>
                        </a:rPr>
                        <a:t>RQ4, later conversational stage</a:t>
                      </a:r>
                    </a:p>
                  </a:txBody>
                  <a:tcPr marL="91440" marR="91440" marT="45720" marB="45720">
                    <a:solidFill>
                      <a:srgbClr val="F0F4F7"/>
                    </a:solidFill>
                  </a:tcPr>
                </a:tc>
              </a:tr>
              <a:tr h="666750">
                <a:tc>
                  <a:txBody>
                    <a:bodyPr/>
                    <a:lstStyle/>
                    <a:p>
                      <a:r>
                        <a:rPr sz="1950" b="0">
                          <a:solidFill>
                            <a:srgbClr val="142C40"/>
                          </a:solidFill>
                          <a:latin typeface="Helvetica Neue"/>
                          <a:ea typeface="Helvetica Neue"/>
                          <a:cs typeface="Helvetica Neue"/>
                        </a:rPr>
                        <a:t>Earlier three-model studies</a:t>
                      </a:r>
                    </a:p>
                  </a:txBody>
                  <a:tcPr marL="91440" marR="91440" marT="45720" marB="45720">
                    <a:solidFill>
                      <a:srgbClr val="FFFFFF"/>
                    </a:solidFill>
                  </a:tcPr>
                </a:tc>
                <a:tc>
                  <a:txBody>
                    <a:bodyPr/>
                    <a:lstStyle/>
                    <a:p>
                      <a:r>
                        <a:rPr sz="1950" b="0">
                          <a:solidFill>
                            <a:srgbClr val="142C40"/>
                          </a:solidFill>
                          <a:latin typeface="Helvetica Neue"/>
                          <a:ea typeface="Helvetica Neue"/>
                          <a:cs typeface="Helvetica Neue"/>
                        </a:rPr>
                        <a:t>Separate selected comparisons</a:t>
                      </a:r>
                    </a:p>
                  </a:txBody>
                  <a:tcPr marL="91440" marR="91440" marT="45720" marB="45720">
                    <a:solidFill>
                      <a:srgbClr val="FFFFFF"/>
                    </a:solidFill>
                  </a:tcPr>
                </a:tc>
                <a:tc>
                  <a:txBody>
                    <a:bodyPr/>
                    <a:lstStyle/>
                    <a:p>
                      <a:r>
                        <a:rPr sz="1950" b="0">
                          <a:solidFill>
                            <a:srgbClr val="142C40"/>
                          </a:solidFill>
                          <a:latin typeface="Helvetica Neue"/>
                          <a:ea typeface="Helvetica Neue"/>
                          <a:cs typeface="Helvetica Neue"/>
                        </a:rPr>
                        <a:t>RQ2 and robustness</a:t>
                      </a:r>
                    </a:p>
                  </a:txBody>
                  <a:tcPr marL="91440" marR="91440" marT="45720" marB="45720">
                    <a:solidFill>
                      <a:srgbClr val="FFFFFF"/>
                    </a:solidFill>
                  </a:tcPr>
                </a:tc>
              </a:tr>
            </a:tbl>
          </a:graphicData>
        </a:graphic>
      </p:graphicFrame>
      <p:sp>
        <p:nvSpPr>
          <p:cNvPr id="4" name="footnote">
            <a:extLst xmlns:a="http://schemas.openxmlformats.org/drawingml/2006/main">
              <a:ext uri="{FF2B5EF4-FFF2-40B4-BE49-F238E27FC236}">
                <a16:creationId xmlns:a16="http://schemas.microsoft.com/office/drawing/2014/main" id="{27907846-9960-488C-8139-B438315B2E9E}"/>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MiniMax-M3 and DeepSeek-V4-Pro; two repeats in the main study. Search is optional.</a:t>
            </a:r>
          </a:p>
        </p:txBody>
      </p:sp>
    </p:spTree>
    <p:extLst>
      <p:ext uri="{BB962C8B-B14F-4D97-AF65-F5344CB8AC3E}">
        <p14:creationId xmlns:p14="http://schemas.microsoft.com/office/powerpoint/2010/main" val="365385292"/>
      </p:ext>
    </p:extLst>
  </p:cSld>
</p:sld>
</file>

<file path=ppt/slides/slide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page">
            <a:extLst xmlns:a="http://schemas.openxmlformats.org/drawingml/2006/main">
              <a:ext uri="{FF2B5EF4-FFF2-40B4-BE49-F238E27FC236}">
                <a16:creationId xmlns:a16="http://schemas.microsoft.com/office/drawing/2014/main" id="{E997021B-D533-4ABA-AE8E-B181DCD02597}"/>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6</a:t>
            </a:r>
          </a:p>
        </p:txBody>
      </p:sp>
      <p:sp>
        <p:nvSpPr>
          <p:cNvPr id="2" name="title">
            <a:extLst xmlns:a="http://schemas.openxmlformats.org/drawingml/2006/main">
              <a:ext uri="{FF2B5EF4-FFF2-40B4-BE49-F238E27FC236}">
                <a16:creationId xmlns:a16="http://schemas.microsoft.com/office/drawing/2014/main" id="{6A488A89-82F3-417F-9E20-8127B913D817}"/>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Method: independent answers, parallel checks</a:t>
            </a:r>
          </a:p>
        </p:txBody>
      </p:sp>
      <p:graphicFrame>
        <p:nvGraphicFramePr>
          <p:cNvPr id="8" name=""/>
          <p:cNvGraphicFramePr/>
          <p:nvPr/>
        </p:nvGraphicFramePr>
        <p:xfrm>
          <a:off xmlns:a="http://schemas.openxmlformats.org/drawingml/2006/main" x="685800" y="1657350"/>
          <a:ext xmlns:a="http://schemas.openxmlformats.org/drawingml/2006/main" cx="10820400" cy="3333750"/>
        </p:xfrm>
        <a:graphic xmlns:a="http://schemas.openxmlformats.org/drawingml/2006/main">
          <a:graphicData uri="http://schemas.openxmlformats.org/drawingml/2006/table">
            <a:tbl>
              <a:tblPr/>
              <a:tblGrid>
                <a:gridCol w="2762250"/>
                <a:gridCol w="8058150"/>
              </a:tblGrid>
              <a:tr h="833438">
                <a:tc>
                  <a:txBody>
                    <a:bodyPr/>
                    <a:lstStyle/>
                    <a:p>
                      <a:r>
                        <a:rPr sz="2175" b="1">
                          <a:solidFill>
                            <a:srgbClr val="FFFFFF"/>
                          </a:solidFill>
                          <a:latin typeface="Helvetica Neue"/>
                          <a:ea typeface="Helvetica Neue"/>
                          <a:cs typeface="Helvetica Neue"/>
                        </a:rPr>
                        <a:t>Condition</a:t>
                      </a:r>
                    </a:p>
                  </a:txBody>
                  <a:tcPr marL="91440" marR="91440" marT="45720" marB="45720">
                    <a:solidFill>
                      <a:srgbClr val="142C40"/>
                    </a:solidFill>
                  </a:tcPr>
                </a:tc>
                <a:tc>
                  <a:txBody>
                    <a:bodyPr/>
                    <a:lstStyle/>
                    <a:p>
                      <a:r>
                        <a:rPr sz="2175" b="1">
                          <a:solidFill>
                            <a:srgbClr val="FFFFFF"/>
                          </a:solidFill>
                          <a:latin typeface="Helvetica Neue"/>
                          <a:ea typeface="Helvetica Neue"/>
                          <a:cs typeface="Helvetica Neue"/>
                        </a:rPr>
                        <a:t>What the receiver sees</a:t>
                      </a:r>
                    </a:p>
                  </a:txBody>
                  <a:tcPr marL="91440" marR="91440" marT="45720" marB="45720">
                    <a:solidFill>
                      <a:srgbClr val="142C40"/>
                    </a:solidFill>
                  </a:tcPr>
                </a:tc>
              </a:tr>
              <a:tr h="833438">
                <a:tc>
                  <a:txBody>
                    <a:bodyPr/>
                    <a:lstStyle/>
                    <a:p>
                      <a:r>
                        <a:rPr sz="2175" b="0">
                          <a:solidFill>
                            <a:srgbClr val="142C40"/>
                          </a:solidFill>
                          <a:latin typeface="Helvetica Neue"/>
                          <a:ea typeface="Helvetica Neue"/>
                          <a:cs typeface="Helvetica Neue"/>
                        </a:rPr>
                        <a:t>Initial answer</a:t>
                      </a:r>
                    </a:p>
                  </a:txBody>
                  <a:tcPr marL="91440" marR="91440" marT="45720" marB="45720">
                    <a:solidFill>
                      <a:srgbClr val="F0F4F7"/>
                    </a:solidFill>
                  </a:tcPr>
                </a:tc>
                <a:tc>
                  <a:txBody>
                    <a:bodyPr/>
                    <a:lstStyle/>
                    <a:p>
                      <a:r>
                        <a:rPr sz="2175" b="0">
                          <a:solidFill>
                            <a:srgbClr val="142C40"/>
                          </a:solidFill>
                          <a:latin typeface="Helvetica Neue"/>
                          <a:ea typeface="Helvetica Neue"/>
                          <a:cs typeface="Helvetica Neue"/>
                        </a:rPr>
                        <a:t>The original question only</a:t>
                      </a:r>
                    </a:p>
                  </a:txBody>
                  <a:tcPr marL="91440" marR="91440" marT="45720" marB="45720">
                    <a:solidFill>
                      <a:srgbClr val="F0F4F7"/>
                    </a:solidFill>
                  </a:tcPr>
                </a:tc>
              </a:tr>
              <a:tr h="833438">
                <a:tc>
                  <a:txBody>
                    <a:bodyPr/>
                    <a:lstStyle/>
                    <a:p>
                      <a:r>
                        <a:rPr sz="2175" b="0">
                          <a:solidFill>
                            <a:srgbClr val="142C40"/>
                          </a:solidFill>
                          <a:latin typeface="Helvetica Neue"/>
                          <a:ea typeface="Helvetica Neue"/>
                          <a:cs typeface="Helvetica Neue"/>
                        </a:rPr>
                        <a:t>Self-check</a:t>
                      </a:r>
                    </a:p>
                  </a:txBody>
                  <a:tcPr marL="91440" marR="91440" marT="45720" marB="45720">
                    <a:solidFill>
                      <a:srgbClr val="FFFFFF"/>
                    </a:solidFill>
                  </a:tcPr>
                </a:tc>
                <a:tc>
                  <a:txBody>
                    <a:bodyPr/>
                    <a:lstStyle/>
                    <a:p>
                      <a:r>
                        <a:rPr sz="2175" b="0">
                          <a:solidFill>
                            <a:srgbClr val="142C40"/>
                          </a:solidFill>
                          <a:latin typeface="Helvetica Neue"/>
                          <a:ea typeface="Helvetica Neue"/>
                          <a:cs typeface="Helvetica Neue"/>
                        </a:rPr>
                        <a:t>The question and its own initial answer</a:t>
                      </a:r>
                    </a:p>
                  </a:txBody>
                  <a:tcPr marL="91440" marR="91440" marT="45720" marB="45720">
                    <a:solidFill>
                      <a:srgbClr val="FFFFFF"/>
                    </a:solidFill>
                  </a:tcPr>
                </a:tc>
              </a:tr>
              <a:tr h="833438">
                <a:tc>
                  <a:txBody>
                    <a:bodyPr/>
                    <a:lstStyle/>
                    <a:p>
                      <a:r>
                        <a:rPr sz="2175" b="0">
                          <a:solidFill>
                            <a:srgbClr val="142C40"/>
                          </a:solidFill>
                          <a:latin typeface="Helvetica Neue"/>
                          <a:ea typeface="Helvetica Neue"/>
                          <a:cs typeface="Helvetica Neue"/>
                        </a:rPr>
                        <a:t>Cross-check</a:t>
                      </a:r>
                    </a:p>
                  </a:txBody>
                  <a:tcPr marL="91440" marR="91440" marT="45720" marB="45720">
                    <a:solidFill>
                      <a:srgbClr val="F0F4F7"/>
                    </a:solidFill>
                  </a:tcPr>
                </a:tc>
                <a:tc>
                  <a:txBody>
                    <a:bodyPr/>
                    <a:lstStyle/>
                    <a:p>
                      <a:r>
                        <a:rPr sz="2175" b="0">
                          <a:solidFill>
                            <a:srgbClr val="142C40"/>
                          </a:solidFill>
                          <a:latin typeface="Helvetica Neue"/>
                          <a:ea typeface="Helvetica Neue"/>
                          <a:cs typeface="Helvetica Neue"/>
                        </a:rPr>
                        <a:t>The same initial answer plus the other model’s real answer</a:t>
                      </a:r>
                    </a:p>
                  </a:txBody>
                  <a:tcPr marL="91440" marR="91440" marT="45720" marB="45720">
                    <a:solidFill>
                      <a:srgbClr val="F0F4F7"/>
                    </a:solidFill>
                  </a:tcPr>
                </a:tc>
              </a:tr>
            </a:tbl>
          </a:graphicData>
        </a:graphic>
      </p:graphicFrame>
      <p:sp>
        <p:nvSpPr>
          <p:cNvPr id="4" name="takeaway">
            <a:extLst xmlns:a="http://schemas.openxmlformats.org/drawingml/2006/main">
              <a:ext uri="{FF2B5EF4-FFF2-40B4-BE49-F238E27FC236}">
                <a16:creationId xmlns:a16="http://schemas.microsoft.com/office/drawing/2014/main" id="{72941FA5-45F8-4D9B-A59C-B9FB29E1FBD4}"/>
              </a:ext>
            </a:extLst>
          </p:cNvPr>
          <p:cNvSpPr>
            <a:spLocks xmlns:a="http://schemas.openxmlformats.org/drawingml/2006/main" noGrp="1"/>
          </p:cNvSpPr>
          <p:nvPr/>
        </p:nvSpPr>
        <p:spPr>
          <a:xfrm xmlns:a="http://schemas.openxmlformats.org/drawingml/2006/main">
            <a:off x="723900" y="5238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One revision per branch; the two models exchange roles.</a:t>
            </a:r>
          </a:p>
        </p:txBody>
      </p:sp>
      <p:sp>
        <p:nvSpPr>
          <p:cNvPr id="5" name="footnote">
            <a:extLst xmlns:a="http://schemas.openxmlformats.org/drawingml/2006/main">
              <a:ext uri="{FF2B5EF4-FFF2-40B4-BE49-F238E27FC236}">
                <a16:creationId xmlns:a16="http://schemas.microsoft.com/office/drawing/2014/main" id="{7AE87936-6078-43A6-B39A-EEF34193831B}"/>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Native search is available; each model independently decides whether to use it.</a:t>
            </a:r>
          </a:p>
        </p:txBody>
      </p:sp>
    </p:spTree>
    <p:extLst>
      <p:ext uri="{BB962C8B-B14F-4D97-AF65-F5344CB8AC3E}">
        <p14:creationId xmlns:p14="http://schemas.microsoft.com/office/powerpoint/2010/main" val="365385292"/>
      </p:ext>
    </p:extLst>
  </p:cSld>
</p:sld>
</file>

<file path=ppt/slides/slide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8" name="page">
            <a:extLst xmlns:a="http://schemas.openxmlformats.org/drawingml/2006/main">
              <a:ext uri="{FF2B5EF4-FFF2-40B4-BE49-F238E27FC236}">
                <a16:creationId xmlns:a16="http://schemas.microsoft.com/office/drawing/2014/main" id="{CF87A11E-967E-47D4-AFEA-F9F2CC9F4CDC}"/>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7</a:t>
            </a:r>
          </a:p>
        </p:txBody>
      </p:sp>
      <p:sp>
        <p:nvSpPr>
          <p:cNvPr id="2" name="title">
            <a:extLst xmlns:a="http://schemas.openxmlformats.org/drawingml/2006/main">
              <a:ext uri="{FF2B5EF4-FFF2-40B4-BE49-F238E27FC236}">
                <a16:creationId xmlns:a16="http://schemas.microsoft.com/office/drawing/2014/main" id="{9B742EA8-D3EC-4447-8588-CAAED2C48563}"/>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Measurement and exclusions</a:t>
            </a:r>
          </a:p>
        </p:txBody>
      </p:sp>
      <p:sp>
        <p:nvSpPr>
          <p:cNvPr id="3" name="body-1">
            <a:extLst xmlns:a="http://schemas.openxmlformats.org/drawingml/2006/main">
              <a:ext uri="{FF2B5EF4-FFF2-40B4-BE49-F238E27FC236}">
                <a16:creationId xmlns:a16="http://schemas.microsoft.com/office/drawing/2014/main" id="{3BA48DCE-121B-4466-AF95-A4EE7FE840F9}"/>
              </a:ext>
            </a:extLst>
          </p:cNvPr>
          <p:cNvSpPr>
            <a:spLocks xmlns:a="http://schemas.openxmlformats.org/drawingml/2006/main" noGrp="1"/>
          </p:cNvSpPr>
          <p:nvPr/>
        </p:nvSpPr>
        <p:spPr>
          <a:xfrm xmlns:a="http://schemas.openxmlformats.org/drawingml/2006/main">
            <a:off x="723900" y="169545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Helvetica Neue"/>
                <a:ea typeface="Helvetica Neue"/>
                <a:cs typeface="Helvetica Neue"/>
              </a:defRPr>
            </a:pPr>
            <a:r>
              <a:rPr sz="2325" b="0">
                <a:solidFill>
                  <a:srgbClr val="142C40"/>
                </a:solidFill>
                <a:latin typeface="Helvetica Neue"/>
                <a:ea typeface="Helvetica Neue"/>
                <a:cs typeface="Helvetica Neue"/>
              </a:rPr>
              <a:t>Error rate = wrong / (correct + wrong + explicit abstentions).</a:t>
            </a:r>
          </a:p>
        </p:txBody>
      </p:sp>
      <p:sp>
        <p:nvSpPr>
          <p:cNvPr id="4" name="body-2">
            <a:extLst xmlns:a="http://schemas.openxmlformats.org/drawingml/2006/main">
              <a:ext uri="{FF2B5EF4-FFF2-40B4-BE49-F238E27FC236}">
                <a16:creationId xmlns:a16="http://schemas.microsoft.com/office/drawing/2014/main" id="{5A93AE3A-0BB5-4554-AD10-494087FD586F}"/>
              </a:ext>
            </a:extLst>
          </p:cNvPr>
          <p:cNvSpPr>
            <a:spLocks xmlns:a="http://schemas.openxmlformats.org/drawingml/2006/main" noGrp="1"/>
          </p:cNvSpPr>
          <p:nvPr/>
        </p:nvSpPr>
        <p:spPr>
          <a:xfrm xmlns:a="http://schemas.openxmlformats.org/drawingml/2006/main">
            <a:off x="723900" y="274320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Helvetica Neue"/>
                <a:ea typeface="Helvetica Neue"/>
                <a:cs typeface="Helvetica Neue"/>
              </a:defRPr>
            </a:pPr>
            <a:r>
              <a:rPr sz="2325" b="0">
                <a:solidFill>
                  <a:srgbClr val="142C40"/>
                </a:solidFill>
                <a:latin typeface="Helvetica Neue"/>
                <a:ea typeface="Helvetica Neue"/>
                <a:cs typeface="Helvetica Neue"/>
              </a:rPr>
              <a:t>Malformed, incomplete or missing outputs are kept outside that denominator.</a:t>
            </a:r>
          </a:p>
        </p:txBody>
      </p:sp>
      <p:sp>
        <p:nvSpPr>
          <p:cNvPr id="5" name="body-3">
            <a:extLst xmlns:a="http://schemas.openxmlformats.org/drawingml/2006/main">
              <a:ext uri="{FF2B5EF4-FFF2-40B4-BE49-F238E27FC236}">
                <a16:creationId xmlns:a16="http://schemas.microsoft.com/office/drawing/2014/main" id="{D766B14F-3995-477B-A1D6-296368B61543}"/>
              </a:ext>
            </a:extLst>
          </p:cNvPr>
          <p:cNvSpPr>
            <a:spLocks xmlns:a="http://schemas.openxmlformats.org/drawingml/2006/main" noGrp="1"/>
          </p:cNvSpPr>
          <p:nvPr/>
        </p:nvSpPr>
        <p:spPr>
          <a:xfrm xmlns:a="http://schemas.openxmlformats.org/drawingml/2006/main">
            <a:off x="723900" y="379095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Helvetica Neue"/>
                <a:ea typeface="Helvetica Neue"/>
                <a:cs typeface="Helvetica Neue"/>
              </a:defRPr>
            </a:pPr>
            <a:r>
              <a:rPr sz="2325" b="0">
                <a:solidFill>
                  <a:srgbClr val="142C40"/>
                </a:solidFill>
                <a:latin typeface="Helvetica Neue"/>
                <a:ea typeface="Helvetica Neue"/>
                <a:cs typeface="Helvetica Neue"/>
              </a:rPr>
              <a:t>Average repeats within each question/model, then give models equal weight.</a:t>
            </a:r>
          </a:p>
        </p:txBody>
      </p:sp>
      <p:sp>
        <p:nvSpPr>
          <p:cNvPr id="6" name="takeaway">
            <a:extLst xmlns:a="http://schemas.openxmlformats.org/drawingml/2006/main">
              <a:ext uri="{FF2B5EF4-FFF2-40B4-BE49-F238E27FC236}">
                <a16:creationId xmlns:a16="http://schemas.microsoft.com/office/drawing/2014/main" id="{1882B698-7DAD-4EE2-A5C1-BD62E3CAB9B2}"/>
              </a:ext>
            </a:extLst>
          </p:cNvPr>
          <p:cNvSpPr>
            <a:spLocks xmlns:a="http://schemas.openxmlformats.org/drawingml/2006/main" noGrp="1"/>
          </p:cNvSpPr>
          <p:nvPr/>
        </p:nvSpPr>
        <p:spPr>
          <a:xfrm xmlns:a="http://schemas.openxmlformats.org/drawingml/2006/main">
            <a:off x="723900" y="5238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Correct final answers and correct explanations are different outcomes.</a:t>
            </a:r>
          </a:p>
        </p:txBody>
      </p:sp>
      <p:sp>
        <p:nvSpPr>
          <p:cNvPr id="7" name="footnote">
            <a:extLst xmlns:a="http://schemas.openxmlformats.org/drawingml/2006/main">
              <a:ext uri="{FF2B5EF4-FFF2-40B4-BE49-F238E27FC236}">
                <a16:creationId xmlns:a16="http://schemas.microsoft.com/office/drawing/2014/main" id="{0413820A-01BD-4EEB-8CBF-B90880F5AB40}"/>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No answer is removed merely because it is wrong or looks like an outlier.</a:t>
            </a:r>
          </a:p>
        </p:txBody>
      </p:sp>
    </p:spTree>
    <p:extLst>
      <p:ext uri="{BB962C8B-B14F-4D97-AF65-F5344CB8AC3E}">
        <p14:creationId xmlns:p14="http://schemas.microsoft.com/office/powerpoint/2010/main" val="365385292"/>
      </p:ext>
    </p:extLst>
  </p:cSld>
</p:sld>
</file>

<file path=ppt/slides/slide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9" name="page">
            <a:extLst xmlns:a="http://schemas.openxmlformats.org/drawingml/2006/main">
              <a:ext uri="{FF2B5EF4-FFF2-40B4-BE49-F238E27FC236}">
                <a16:creationId xmlns:a16="http://schemas.microsoft.com/office/drawing/2014/main" id="{A2E54CAF-ABBB-4576-985B-4D2744B7D475}"/>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8</a:t>
            </a:r>
          </a:p>
        </p:txBody>
      </p:sp>
      <p:sp>
        <p:nvSpPr>
          <p:cNvPr id="2" name="title">
            <a:extLst xmlns:a="http://schemas.openxmlformats.org/drawingml/2006/main">
              <a:ext uri="{FF2B5EF4-FFF2-40B4-BE49-F238E27FC236}">
                <a16:creationId xmlns:a16="http://schemas.microsoft.com/office/drawing/2014/main" id="{191A6668-EB15-45F6-B917-3A0B0849D88B}"/>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RQ1: can checking reduce errors?</a:t>
            </a:r>
          </a:p>
        </p:txBody>
      </p:sp>
      <p:sp>
        <p:nvSpPr>
          <p:cNvPr id="3" name="">
            <a:extLst xmlns:a="http://schemas.openxmlformats.org/drawingml/2006/main">
              <a:ext uri="{FF2B5EF4-FFF2-40B4-BE49-F238E27FC236}">
                <a16:creationId xmlns:a16="http://schemas.microsoft.com/office/drawing/2014/main" id="{CF2DA6EC-55D4-4621-BD68-4D4D7E3649A9}"/>
              </a:ext>
            </a:extLst>
          </p:cNvPr>
          <p:cNvSpPr>
            <a:spLocks xmlns:a="http://schemas.openxmlformats.org/drawingml/2006/main" noGrp="1"/>
          </p:cNvSpPr>
          <p:nvPr/>
        </p:nvSpPr>
        <p:spPr>
          <a:xfrm xmlns:a="http://schemas.openxmlformats.org/drawingml/2006/main">
            <a:off x="723900" y="158115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Facts</a:t>
            </a:r>
          </a:p>
        </p:txBody>
      </p:sp>
      <p:graphicFrame>
        <p:nvGraphicFramePr>
          <p:cNvPr id="12" name="Chart"/>
          <p:cNvGraphicFramePr/>
          <p:nvPr/>
        </p:nvGraphicFramePr>
        <p:xfrm>
          <a:off xmlns:a="http://schemas.openxmlformats.org/drawingml/2006/main" x="723900" y="2057400"/>
          <a:ext xmlns:a="http://schemas.openxmlformats.org/drawingml/2006/main" cx="5095875" cy="3048000"/>
        </p:xfrm>
        <a:graphic xmlns:a="http://schemas.openxmlformats.org/drawingml/2006/main">
          <a:graphicData uri="http://schemas.openxmlformats.org/drawingml/2006/chart">
            <c:chart xmlns:r="http://schemas.openxmlformats.org/officeDocument/2006/relationships" xmlns:c="http://schemas.openxmlformats.org/drawingml/2006/chart" r:id="Rb4083bad57784d9a"/>
          </a:graphicData>
        </a:graphic>
      </p:graphicFrame>
      <p:sp>
        <p:nvSpPr>
          <p:cNvPr id="5" name="">
            <a:extLst xmlns:a="http://schemas.openxmlformats.org/drawingml/2006/main">
              <a:ext uri="{FF2B5EF4-FFF2-40B4-BE49-F238E27FC236}">
                <a16:creationId xmlns:a16="http://schemas.microsoft.com/office/drawing/2014/main" id="{F153CB01-3971-4CB1-8B8B-994771A6E791}"/>
              </a:ext>
            </a:extLst>
          </p:cNvPr>
          <p:cNvSpPr>
            <a:spLocks xmlns:a="http://schemas.openxmlformats.org/drawingml/2006/main" noGrp="1"/>
          </p:cNvSpPr>
          <p:nvPr/>
        </p:nvSpPr>
        <p:spPr>
          <a:xfrm xmlns:a="http://schemas.openxmlformats.org/drawingml/2006/main">
            <a:off x="6343650" y="158115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Mathematics</a:t>
            </a:r>
          </a:p>
        </p:txBody>
      </p:sp>
      <p:graphicFrame>
        <p:nvGraphicFramePr>
          <p:cNvPr id="14" name="Chart"/>
          <p:cNvGraphicFramePr/>
          <p:nvPr/>
        </p:nvGraphicFramePr>
        <p:xfrm>
          <a:off xmlns:a="http://schemas.openxmlformats.org/drawingml/2006/main" x="6343650" y="2057400"/>
          <a:ext xmlns:a="http://schemas.openxmlformats.org/drawingml/2006/main" cx="5095875" cy="3048000"/>
        </p:xfrm>
        <a:graphic xmlns:a="http://schemas.openxmlformats.org/drawingml/2006/main">
          <a:graphicData uri="http://schemas.openxmlformats.org/drawingml/2006/chart">
            <c:chart xmlns:r="http://schemas.openxmlformats.org/officeDocument/2006/relationships" xmlns:c="http://schemas.openxmlformats.org/drawingml/2006/chart" r:id="R43230124c82a4908"/>
          </a:graphicData>
        </a:graphic>
      </p:graphicFrame>
      <p:sp>
        <p:nvSpPr>
          <p:cNvPr id="7" name="takeaway">
            <a:extLst xmlns:a="http://schemas.openxmlformats.org/drawingml/2006/main">
              <a:ext uri="{FF2B5EF4-FFF2-40B4-BE49-F238E27FC236}">
                <a16:creationId xmlns:a16="http://schemas.microsoft.com/office/drawing/2014/main" id="{7773DEEE-C3A3-4138-BADD-85372D2B38EE}"/>
              </a:ext>
            </a:extLst>
          </p:cNvPr>
          <p:cNvSpPr>
            <a:spLocks xmlns:a="http://schemas.openxmlformats.org/drawingml/2006/main" noGrp="1"/>
          </p:cNvSpPr>
          <p:nvPr/>
        </p:nvSpPr>
        <p:spPr>
          <a:xfrm xmlns:a="http://schemas.openxmlformats.org/drawingml/2006/main">
            <a:off x="723900" y="5238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Cross-checking has fewer wrong answers in this selected setup.</a:t>
            </a:r>
          </a:p>
        </p:txBody>
      </p:sp>
      <p:sp>
        <p:nvSpPr>
          <p:cNvPr id="8" name="footnote">
            <a:extLst xmlns:a="http://schemas.openxmlformats.org/drawingml/2006/main">
              <a:ext uri="{FF2B5EF4-FFF2-40B4-BE49-F238E27FC236}">
                <a16:creationId xmlns:a16="http://schemas.microsoft.com/office/drawing/2014/main" id="{DFDC0083-0099-42AA-BADC-00C44A5F6DE0}"/>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Initial-versus-cross pairs: facts 393 / 100 questions; mathematics 164 / 41 questions.</a:t>
            </a:r>
          </a:p>
        </p:txBody>
      </p:sp>
    </p:spTree>
    <p:extLst>
      <p:ext uri="{BB962C8B-B14F-4D97-AF65-F5344CB8AC3E}">
        <p14:creationId xmlns:p14="http://schemas.microsoft.com/office/powerpoint/2010/main" val="365385292"/>
      </p:ext>
    </p:extLst>
  </p:cSld>
</p:sld>
</file>

<file path=ppt/slides/slide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9" name="page">
            <a:extLst xmlns:a="http://schemas.openxmlformats.org/drawingml/2006/main">
              <a:ext uri="{FF2B5EF4-FFF2-40B4-BE49-F238E27FC236}">
                <a16:creationId xmlns:a16="http://schemas.microsoft.com/office/drawing/2014/main" id="{685100DA-CDAC-422B-ADA2-6E3594D3C8E8}"/>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9</a:t>
            </a:r>
          </a:p>
        </p:txBody>
      </p:sp>
      <p:sp>
        <p:nvSpPr>
          <p:cNvPr id="2" name="title">
            <a:extLst xmlns:a="http://schemas.openxmlformats.org/drawingml/2006/main">
              <a:ext uri="{FF2B5EF4-FFF2-40B4-BE49-F238E27FC236}">
                <a16:creationId xmlns:a16="http://schemas.microsoft.com/office/drawing/2014/main" id="{768C39D2-69C0-4C23-B68A-B1AD05F3A69E}"/>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RQ2: self-check or cross-check?</a:t>
            </a:r>
          </a:p>
        </p:txBody>
      </p:sp>
      <p:sp>
        <p:nvSpPr>
          <p:cNvPr id="3" name="">
            <a:extLst xmlns:a="http://schemas.openxmlformats.org/drawingml/2006/main">
              <a:ext uri="{FF2B5EF4-FFF2-40B4-BE49-F238E27FC236}">
                <a16:creationId xmlns:a16="http://schemas.microsoft.com/office/drawing/2014/main" id="{27A69599-88BD-4166-A2D3-71CB49B720AB}"/>
              </a:ext>
            </a:extLst>
          </p:cNvPr>
          <p:cNvSpPr>
            <a:spLocks xmlns:a="http://schemas.openxmlformats.org/drawingml/2006/main" noGrp="1"/>
          </p:cNvSpPr>
          <p:nvPr/>
        </p:nvSpPr>
        <p:spPr>
          <a:xfrm xmlns:a="http://schemas.openxmlformats.org/drawingml/2006/main">
            <a:off x="723900" y="158115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Facts</a:t>
            </a:r>
          </a:p>
        </p:txBody>
      </p:sp>
      <p:graphicFrame>
        <p:nvGraphicFramePr>
          <p:cNvPr id="12" name="Chart"/>
          <p:cNvGraphicFramePr/>
          <p:nvPr/>
        </p:nvGraphicFramePr>
        <p:xfrm>
          <a:off xmlns:a="http://schemas.openxmlformats.org/drawingml/2006/main" x="723900" y="2057400"/>
          <a:ext xmlns:a="http://schemas.openxmlformats.org/drawingml/2006/main" cx="5095875" cy="3048000"/>
        </p:xfrm>
        <a:graphic xmlns:a="http://schemas.openxmlformats.org/drawingml/2006/main">
          <a:graphicData uri="http://schemas.openxmlformats.org/drawingml/2006/chart">
            <c:chart xmlns:r="http://schemas.openxmlformats.org/officeDocument/2006/relationships" xmlns:c="http://schemas.openxmlformats.org/drawingml/2006/chart" r:id="Rb428b4cafcff4bc3"/>
          </a:graphicData>
        </a:graphic>
      </p:graphicFrame>
      <p:sp>
        <p:nvSpPr>
          <p:cNvPr id="5" name="">
            <a:extLst xmlns:a="http://schemas.openxmlformats.org/drawingml/2006/main">
              <a:ext uri="{FF2B5EF4-FFF2-40B4-BE49-F238E27FC236}">
                <a16:creationId xmlns:a16="http://schemas.microsoft.com/office/drawing/2014/main" id="{DFD9B313-97E8-43EE-A4F7-B33B55268D1C}"/>
              </a:ext>
            </a:extLst>
          </p:cNvPr>
          <p:cNvSpPr>
            <a:spLocks xmlns:a="http://schemas.openxmlformats.org/drawingml/2006/main" noGrp="1"/>
          </p:cNvSpPr>
          <p:nvPr/>
        </p:nvSpPr>
        <p:spPr>
          <a:xfrm xmlns:a="http://schemas.openxmlformats.org/drawingml/2006/main">
            <a:off x="6343650" y="158115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Mathematics</a:t>
            </a:r>
          </a:p>
        </p:txBody>
      </p:sp>
      <p:graphicFrame>
        <p:nvGraphicFramePr>
          <p:cNvPr id="14" name="Chart"/>
          <p:cNvGraphicFramePr/>
          <p:nvPr/>
        </p:nvGraphicFramePr>
        <p:xfrm>
          <a:off xmlns:a="http://schemas.openxmlformats.org/drawingml/2006/main" x="6343650" y="2057400"/>
          <a:ext xmlns:a="http://schemas.openxmlformats.org/drawingml/2006/main" cx="5095875" cy="3048000"/>
        </p:xfrm>
        <a:graphic xmlns:a="http://schemas.openxmlformats.org/drawingml/2006/main">
          <a:graphicData uri="http://schemas.openxmlformats.org/drawingml/2006/chart">
            <c:chart xmlns:r="http://schemas.openxmlformats.org/officeDocument/2006/relationships" xmlns:c="http://schemas.openxmlformats.org/drawingml/2006/chart" r:id="Rb475dd84883c471d"/>
          </a:graphicData>
        </a:graphic>
      </p:graphicFrame>
      <p:sp>
        <p:nvSpPr>
          <p:cNvPr id="7" name="takeaway">
            <a:extLst xmlns:a="http://schemas.openxmlformats.org/drawingml/2006/main">
              <a:ext uri="{FF2B5EF4-FFF2-40B4-BE49-F238E27FC236}">
                <a16:creationId xmlns:a16="http://schemas.microsoft.com/office/drawing/2014/main" id="{A7DC1D18-B6A8-4648-9C72-5E0DFB00C723}"/>
              </a:ext>
            </a:extLst>
          </p:cNvPr>
          <p:cNvSpPr>
            <a:spLocks xmlns:a="http://schemas.openxmlformats.org/drawingml/2006/main" noGrp="1"/>
          </p:cNvSpPr>
          <p:nvPr/>
        </p:nvSpPr>
        <p:spPr>
          <a:xfrm xmlns:a="http://schemas.openxmlformats.org/drawingml/2006/main">
            <a:off x="723900" y="5238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Cross-checking helps here; benefit depends on the receiver.</a:t>
            </a:r>
          </a:p>
        </p:txBody>
      </p:sp>
      <p:sp>
        <p:nvSpPr>
          <p:cNvPr id="8" name="footnote">
            <a:extLst xmlns:a="http://schemas.openxmlformats.org/drawingml/2006/main">
              <a:ext uri="{FF2B5EF4-FFF2-40B4-BE49-F238E27FC236}">
                <a16:creationId xmlns:a16="http://schemas.microsoft.com/office/drawing/2014/main" id="{E1F5649F-191F-4E7D-AB2C-213AD12A7F10}"/>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Facts: -18.25 pp, 97.5% CI [−22.00, −14.25] pp. Maths: -4.88 pp, CI [−9.15, −1.22] pp.</a:t>
            </a:r>
          </a:p>
        </p:txBody>
      </p:sp>
    </p:spTree>
    <p:extLst>
      <p:ext uri="{BB962C8B-B14F-4D97-AF65-F5344CB8AC3E}">
        <p14:creationId xmlns:p14="http://schemas.microsoft.com/office/powerpoint/2010/main" val="365385292"/>
      </p:ext>
    </p:extLst>
  </p:cSld>
</p:sld>
</file>

<file path=ppt/slides/slide1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page">
            <a:extLst xmlns:a="http://schemas.openxmlformats.org/drawingml/2006/main">
              <a:ext uri="{FF2B5EF4-FFF2-40B4-BE49-F238E27FC236}">
                <a16:creationId xmlns:a16="http://schemas.microsoft.com/office/drawing/2014/main" id="{894AE943-7755-4768-9346-81BF1917780F}"/>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10</a:t>
            </a:r>
          </a:p>
        </p:txBody>
      </p:sp>
      <p:sp>
        <p:nvSpPr>
          <p:cNvPr id="2" name="title">
            <a:extLst xmlns:a="http://schemas.openxmlformats.org/drawingml/2006/main">
              <a:ext uri="{FF2B5EF4-FFF2-40B4-BE49-F238E27FC236}">
                <a16:creationId xmlns:a16="http://schemas.microsoft.com/office/drawing/2014/main" id="{CE8EBF16-3796-4216-BC43-41C3E6356624}"/>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RQ2: gains differ by receiving model</a:t>
            </a:r>
          </a:p>
        </p:txBody>
      </p:sp>
      <p:graphicFrame>
        <p:nvGraphicFramePr>
          <p:cNvPr id="8" name=""/>
          <p:cNvGraphicFramePr/>
          <p:nvPr/>
        </p:nvGraphicFramePr>
        <p:xfrm>
          <a:off xmlns:a="http://schemas.openxmlformats.org/drawingml/2006/main" x="685800" y="1657350"/>
          <a:ext xmlns:a="http://schemas.openxmlformats.org/drawingml/2006/main" cx="10820400" cy="3333750"/>
        </p:xfrm>
        <a:graphic xmlns:a="http://schemas.openxmlformats.org/drawingml/2006/main">
          <a:graphicData uri="http://schemas.openxmlformats.org/drawingml/2006/table">
            <a:tbl>
              <a:tblPr/>
              <a:tblGrid>
                <a:gridCol w="2333625"/>
                <a:gridCol w="4143375"/>
                <a:gridCol w="2171700"/>
                <a:gridCol w="2171700"/>
              </a:tblGrid>
              <a:tr h="666750">
                <a:tc>
                  <a:txBody>
                    <a:bodyPr/>
                    <a:lstStyle/>
                    <a:p>
                      <a:r>
                        <a:rPr sz="2100" b="1">
                          <a:solidFill>
                            <a:srgbClr val="FFFFFF"/>
                          </a:solidFill>
                          <a:latin typeface="Helvetica Neue"/>
                          <a:ea typeface="Helvetica Neue"/>
                          <a:cs typeface="Helvetica Neue"/>
                        </a:rPr>
                        <a:t>Domain</a:t>
                      </a:r>
                    </a:p>
                  </a:txBody>
                  <a:tcPr marL="91440" marR="91440" marT="45720" marB="45720">
                    <a:solidFill>
                      <a:srgbClr val="142C40"/>
                    </a:solidFill>
                  </a:tcPr>
                </a:tc>
                <a:tc>
                  <a:txBody>
                    <a:bodyPr/>
                    <a:lstStyle/>
                    <a:p>
                      <a:r>
                        <a:rPr sz="2100" b="1">
                          <a:solidFill>
                            <a:srgbClr val="FFFFFF"/>
                          </a:solidFill>
                          <a:latin typeface="Helvetica Neue"/>
                          <a:ea typeface="Helvetica Neue"/>
                          <a:cs typeface="Helvetica Neue"/>
                        </a:rPr>
                        <a:t>Receiver ← advice</a:t>
                      </a:r>
                    </a:p>
                  </a:txBody>
                  <a:tcPr marL="91440" marR="91440" marT="45720" marB="45720">
                    <a:solidFill>
                      <a:srgbClr val="142C40"/>
                    </a:solidFill>
                  </a:tcPr>
                </a:tc>
                <a:tc>
                  <a:txBody>
                    <a:bodyPr/>
                    <a:lstStyle/>
                    <a:p>
                      <a:r>
                        <a:rPr sz="2100" b="1">
                          <a:solidFill>
                            <a:srgbClr val="FFFFFF"/>
                          </a:solidFill>
                          <a:latin typeface="Helvetica Neue"/>
                          <a:ea typeface="Helvetica Neue"/>
                          <a:cs typeface="Helvetica Neue"/>
                        </a:rPr>
                        <a:t>Self-check</a:t>
                      </a:r>
                    </a:p>
                  </a:txBody>
                  <a:tcPr marL="91440" marR="91440" marT="45720" marB="45720">
                    <a:solidFill>
                      <a:srgbClr val="142C40"/>
                    </a:solidFill>
                  </a:tcPr>
                </a:tc>
                <a:tc>
                  <a:txBody>
                    <a:bodyPr/>
                    <a:lstStyle/>
                    <a:p>
                      <a:r>
                        <a:rPr sz="2100" b="1">
                          <a:solidFill>
                            <a:srgbClr val="FFFFFF"/>
                          </a:solidFill>
                          <a:latin typeface="Helvetica Neue"/>
                          <a:ea typeface="Helvetica Neue"/>
                          <a:cs typeface="Helvetica Neue"/>
                        </a:rPr>
                        <a:t>Cross-check</a:t>
                      </a:r>
                    </a:p>
                  </a:txBody>
                  <a:tcPr marL="91440" marR="91440" marT="45720" marB="45720">
                    <a:solidFill>
                      <a:srgbClr val="142C40"/>
                    </a:solidFill>
                  </a:tcPr>
                </a:tc>
              </a:tr>
              <a:tr h="666750">
                <a:tc>
                  <a:txBody>
                    <a:bodyPr/>
                    <a:lstStyle/>
                    <a:p>
                      <a:r>
                        <a:rPr sz="2100" b="0">
                          <a:solidFill>
                            <a:srgbClr val="142C40"/>
                          </a:solidFill>
                          <a:latin typeface="Helvetica Neue"/>
                          <a:ea typeface="Helvetica Neue"/>
                          <a:cs typeface="Helvetica Neue"/>
                        </a:rPr>
                        <a:t>Facts</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DeepSeek ← MiniMax</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2.00%</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2.00%</a:t>
                      </a:r>
                    </a:p>
                  </a:txBody>
                  <a:tcPr marL="91440" marR="91440" marT="45720" marB="45720">
                    <a:solidFill>
                      <a:srgbClr val="F0F4F7"/>
                    </a:solidFill>
                  </a:tcPr>
                </a:tc>
              </a:tr>
              <a:tr h="666750">
                <a:tc>
                  <a:txBody>
                    <a:bodyPr/>
                    <a:lstStyle/>
                    <a:p>
                      <a:r>
                        <a:rPr sz="2100" b="0">
                          <a:solidFill>
                            <a:srgbClr val="142C40"/>
                          </a:solidFill>
                          <a:latin typeface="Helvetica Neue"/>
                          <a:ea typeface="Helvetica Neue"/>
                          <a:cs typeface="Helvetica Neue"/>
                        </a:rPr>
                        <a:t>Facts</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MiniMax ← DeepSeek</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44.50%</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8.00%</a:t>
                      </a:r>
                    </a:p>
                  </a:txBody>
                  <a:tcPr marL="91440" marR="91440" marT="45720" marB="45720">
                    <a:solidFill>
                      <a:srgbClr val="FFFFFF"/>
                    </a:solidFill>
                  </a:tcPr>
                </a:tc>
              </a:tr>
              <a:tr h="666750">
                <a:tc>
                  <a:txBody>
                    <a:bodyPr/>
                    <a:lstStyle/>
                    <a:p>
                      <a:r>
                        <a:rPr sz="2100" b="0">
                          <a:solidFill>
                            <a:srgbClr val="142C40"/>
                          </a:solidFill>
                          <a:latin typeface="Helvetica Neue"/>
                          <a:ea typeface="Helvetica Neue"/>
                          <a:cs typeface="Helvetica Neue"/>
                        </a:rPr>
                        <a:t>Mathematics</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DeepSeek ← MiniMax</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2.44%</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3.66%</a:t>
                      </a:r>
                    </a:p>
                  </a:txBody>
                  <a:tcPr marL="91440" marR="91440" marT="45720" marB="45720">
                    <a:solidFill>
                      <a:srgbClr val="F0F4F7"/>
                    </a:solidFill>
                  </a:tcPr>
                </a:tc>
              </a:tr>
              <a:tr h="666750">
                <a:tc>
                  <a:txBody>
                    <a:bodyPr/>
                    <a:lstStyle/>
                    <a:p>
                      <a:r>
                        <a:rPr sz="2100" b="0">
                          <a:solidFill>
                            <a:srgbClr val="142C40"/>
                          </a:solidFill>
                          <a:latin typeface="Helvetica Neue"/>
                          <a:ea typeface="Helvetica Neue"/>
                          <a:cs typeface="Helvetica Neue"/>
                        </a:rPr>
                        <a:t>Mathematics</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MiniMax ← DeepSeek</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18.29%</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7.32%</a:t>
                      </a:r>
                    </a:p>
                  </a:txBody>
                  <a:tcPr marL="91440" marR="91440" marT="45720" marB="45720">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5081A9DC-793B-4325-9F5A-04C6139766AD}"/>
              </a:ext>
            </a:extLst>
          </p:cNvPr>
          <p:cNvSpPr>
            <a:spLocks xmlns:a="http://schemas.openxmlformats.org/drawingml/2006/main" noGrp="1"/>
          </p:cNvSpPr>
          <p:nvPr/>
        </p:nvSpPr>
        <p:spPr>
          <a:xfrm xmlns:a="http://schemas.openxmlformats.org/drawingml/2006/main">
            <a:off x="723900" y="5238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Most of the aggregate improvement comes from MiniMax receiving DeepSeek advice.</a:t>
            </a:r>
          </a:p>
        </p:txBody>
      </p:sp>
      <p:sp>
        <p:nvSpPr>
          <p:cNvPr id="5" name="footnote">
            <a:extLst xmlns:a="http://schemas.openxmlformats.org/drawingml/2006/main">
              <a:ext uri="{FF2B5EF4-FFF2-40B4-BE49-F238E27FC236}">
                <a16:creationId xmlns:a16="http://schemas.microsoft.com/office/drawing/2014/main" id="{B06B02AE-6315-417B-A5DA-3F9BEB1FA4EE}"/>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These are task-specific rates for configured model-and-tool systems.</a:t>
            </a:r>
          </a:p>
        </p:txBody>
      </p:sp>
    </p:spTree>
    <p:extLst>
      <p:ext uri="{BB962C8B-B14F-4D97-AF65-F5344CB8AC3E}">
        <p14:creationId xmlns:p14="http://schemas.microsoft.com/office/powerpoint/2010/main" val="365385292"/>
      </p:ext>
    </p:extLst>
  </p:cSld>
</p:sld>
</file>

<file path=ppt/slides/slide1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9" name="page">
            <a:extLst xmlns:a="http://schemas.openxmlformats.org/drawingml/2006/main">
              <a:ext uri="{FF2B5EF4-FFF2-40B4-BE49-F238E27FC236}">
                <a16:creationId xmlns:a16="http://schemas.microsoft.com/office/drawing/2014/main" id="{50BB1D29-60A5-4C5D-B067-D18A20B038B7}"/>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11</a:t>
            </a:r>
          </a:p>
        </p:txBody>
      </p:sp>
      <p:sp>
        <p:nvSpPr>
          <p:cNvPr id="2" name="title">
            <a:extLst xmlns:a="http://schemas.openxmlformats.org/drawingml/2006/main">
              <a:ext uri="{FF2B5EF4-FFF2-40B4-BE49-F238E27FC236}">
                <a16:creationId xmlns:a16="http://schemas.microsoft.com/office/drawing/2014/main" id="{D6815B39-A76C-4B74-885D-A1D6E091E325}"/>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RQ2: verification and abstention</a:t>
            </a:r>
          </a:p>
        </p:txBody>
      </p:sp>
      <p:sp>
        <p:nvSpPr>
          <p:cNvPr id="3" name="">
            <a:extLst xmlns:a="http://schemas.openxmlformats.org/drawingml/2006/main">
              <a:ext uri="{FF2B5EF4-FFF2-40B4-BE49-F238E27FC236}">
                <a16:creationId xmlns:a16="http://schemas.microsoft.com/office/drawing/2014/main" id="{71409A1A-0AAC-462C-AF76-F19DBC5485AC}"/>
              </a:ext>
            </a:extLst>
          </p:cNvPr>
          <p:cNvSpPr>
            <a:spLocks xmlns:a="http://schemas.openxmlformats.org/drawingml/2006/main" noGrp="1"/>
          </p:cNvSpPr>
          <p:nvPr/>
        </p:nvSpPr>
        <p:spPr>
          <a:xfrm xmlns:a="http://schemas.openxmlformats.org/drawingml/2006/main">
            <a:off x="723900" y="15240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E77"/>
                </a:solidFill>
                <a:latin typeface="Helvetica Neue"/>
                <a:ea typeface="Helvetica Neue"/>
                <a:cs typeface="Helvetica Neue"/>
              </a:defRPr>
            </a:pPr>
            <a:r>
              <a:rPr sz="2100" b="1">
                <a:solidFill>
                  <a:srgbClr val="147E77"/>
                </a:solidFill>
                <a:latin typeface="Helvetica Neue"/>
                <a:ea typeface="Helvetica Neue"/>
                <a:cs typeface="Helvetica Neue"/>
              </a:rPr>
              <a:t>Explicit verification</a:t>
            </a:r>
          </a:p>
        </p:txBody>
      </p:sp>
      <p:graphicFrame>
        <p:nvGraphicFramePr>
          <p:cNvPr id="12" name="Chart"/>
          <p:cNvGraphicFramePr/>
          <p:nvPr/>
        </p:nvGraphicFramePr>
        <p:xfrm>
          <a:off xmlns:a="http://schemas.openxmlformats.org/drawingml/2006/main" x="723900" y="1981200"/>
          <a:ext xmlns:a="http://schemas.openxmlformats.org/drawingml/2006/main" cx="5095875" cy="2333625"/>
        </p:xfrm>
        <a:graphic xmlns:a="http://schemas.openxmlformats.org/drawingml/2006/main">
          <a:graphicData uri="http://schemas.openxmlformats.org/drawingml/2006/chart">
            <c:chart xmlns:r="http://schemas.openxmlformats.org/officeDocument/2006/relationships" xmlns:c="http://schemas.openxmlformats.org/drawingml/2006/chart" r:id="R9d0ca6992a044997"/>
          </a:graphicData>
        </a:graphic>
      </p:graphicFrame>
      <p:sp>
        <p:nvSpPr>
          <p:cNvPr id="5" name="">
            <a:extLst xmlns:a="http://schemas.openxmlformats.org/drawingml/2006/main">
              <a:ext uri="{FF2B5EF4-FFF2-40B4-BE49-F238E27FC236}">
                <a16:creationId xmlns:a16="http://schemas.microsoft.com/office/drawing/2014/main" id="{33D77AC1-E840-4705-9506-591556FDB762}"/>
              </a:ext>
            </a:extLst>
          </p:cNvPr>
          <p:cNvSpPr>
            <a:spLocks xmlns:a="http://schemas.openxmlformats.org/drawingml/2006/main" noGrp="1"/>
          </p:cNvSpPr>
          <p:nvPr/>
        </p:nvSpPr>
        <p:spPr>
          <a:xfrm xmlns:a="http://schemas.openxmlformats.org/drawingml/2006/main">
            <a:off x="6343650" y="15240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E77"/>
                </a:solidFill>
                <a:latin typeface="Helvetica Neue"/>
                <a:ea typeface="Helvetica Neue"/>
                <a:cs typeface="Helvetica Neue"/>
              </a:defRPr>
            </a:pPr>
            <a:r>
              <a:rPr sz="2100" b="1">
                <a:solidFill>
                  <a:srgbClr val="147E77"/>
                </a:solidFill>
                <a:latin typeface="Helvetica Neue"/>
                <a:ea typeface="Helvetica Neue"/>
                <a:cs typeface="Helvetica Neue"/>
              </a:rPr>
              <a:t>Extra abstention reminder</a:t>
            </a:r>
          </a:p>
        </p:txBody>
      </p:sp>
      <p:graphicFrame>
        <p:nvGraphicFramePr>
          <p:cNvPr id="14" name="Chart"/>
          <p:cNvGraphicFramePr/>
          <p:nvPr/>
        </p:nvGraphicFramePr>
        <p:xfrm>
          <a:off xmlns:a="http://schemas.openxmlformats.org/drawingml/2006/main" x="6343650" y="1981200"/>
          <a:ext xmlns:a="http://schemas.openxmlformats.org/drawingml/2006/main" cx="5095875" cy="2333625"/>
        </p:xfrm>
        <a:graphic xmlns:a="http://schemas.openxmlformats.org/drawingml/2006/main">
          <a:graphicData uri="http://schemas.openxmlformats.org/drawingml/2006/chart">
            <c:chart xmlns:r="http://schemas.openxmlformats.org/officeDocument/2006/relationships" xmlns:c="http://schemas.openxmlformats.org/drawingml/2006/chart" r:id="Rd0e044221f7e4b42"/>
          </a:graphicData>
        </a:graphic>
      </p:graphicFrame>
      <p:graphicFrame>
        <p:nvGraphicFramePr>
          <p:cNvPr id="15" name=""/>
          <p:cNvGraphicFramePr/>
          <p:nvPr/>
        </p:nvGraphicFramePr>
        <p:xfrm>
          <a:off xmlns:a="http://schemas.openxmlformats.org/drawingml/2006/main" x="685800" y="4552950"/>
          <a:ext xmlns:a="http://schemas.openxmlformats.org/drawingml/2006/main" cx="10820400" cy="1238250"/>
        </p:xfrm>
        <a:graphic xmlns:a="http://schemas.openxmlformats.org/drawingml/2006/main">
          <a:graphicData uri="http://schemas.openxmlformats.org/drawingml/2006/table">
            <a:tbl>
              <a:tblPr/>
              <a:tblGrid>
                <a:gridCol w="3606800"/>
                <a:gridCol w="3606800"/>
                <a:gridCol w="3606800"/>
              </a:tblGrid>
              <a:tr h="412750">
                <a:tc>
                  <a:txBody>
                    <a:bodyPr/>
                    <a:lstStyle/>
                    <a:p>
                      <a:r>
                        <a:rPr sz="1800" b="1">
                          <a:solidFill>
                            <a:srgbClr val="FFFFFF"/>
                          </a:solidFill>
                          <a:latin typeface="Helvetica Neue"/>
                          <a:ea typeface="Helvetica Neue"/>
                          <a:cs typeface="Helvetica Neue"/>
                        </a:rPr>
                        <a:t>Same reminder comparison</a:t>
                      </a:r>
                    </a:p>
                  </a:txBody>
                  <a:tcPr marL="91440" marR="91440" marT="45720" marB="45720">
                    <a:solidFill>
                      <a:srgbClr val="142C40"/>
                    </a:solidFill>
                  </a:tcPr>
                </a:tc>
                <a:tc>
                  <a:txBody>
                    <a:bodyPr/>
                    <a:lstStyle/>
                    <a:p>
                      <a:r>
                        <a:rPr sz="1800" b="1">
                          <a:solidFill>
                            <a:srgbClr val="FFFFFF"/>
                          </a:solidFill>
                          <a:latin typeface="Helvetica Neue"/>
                          <a:ea typeface="Helvetica Neue"/>
                          <a:cs typeface="Helvetica Neue"/>
                        </a:rPr>
                        <a:t>Without</a:t>
                      </a:r>
                    </a:p>
                  </a:txBody>
                  <a:tcPr marL="91440" marR="91440" marT="45720" marB="45720">
                    <a:solidFill>
                      <a:srgbClr val="142C40"/>
                    </a:solidFill>
                  </a:tcPr>
                </a:tc>
                <a:tc>
                  <a:txBody>
                    <a:bodyPr/>
                    <a:lstStyle/>
                    <a:p>
                      <a:r>
                        <a:rPr sz="1800" b="1">
                          <a:solidFill>
                            <a:srgbClr val="FFFFFF"/>
                          </a:solidFill>
                          <a:latin typeface="Helvetica Neue"/>
                          <a:ea typeface="Helvetica Neue"/>
                          <a:cs typeface="Helvetica Neue"/>
                        </a:rPr>
                        <a:t>With</a:t>
                      </a:r>
                    </a:p>
                  </a:txBody>
                  <a:tcPr marL="91440" marR="91440" marT="45720" marB="45720">
                    <a:solidFill>
                      <a:srgbClr val="142C40"/>
                    </a:solidFill>
                  </a:tcPr>
                </a:tc>
              </a:tr>
              <a:tr h="412750">
                <a:tc>
                  <a:txBody>
                    <a:bodyPr/>
                    <a:lstStyle/>
                    <a:p>
                      <a:r>
                        <a:rPr sz="1800" b="0">
                          <a:solidFill>
                            <a:srgbClr val="142C40"/>
                          </a:solidFill>
                          <a:latin typeface="Helvetica Neue"/>
                          <a:ea typeface="Helvetica Neue"/>
                          <a:cs typeface="Helvetica Neue"/>
                        </a:rPr>
                        <a:t>Correct answers</a:t>
                      </a:r>
                    </a:p>
                  </a:txBody>
                  <a:tcPr marL="91440" marR="91440" marT="45720" marB="45720">
                    <a:solidFill>
                      <a:srgbClr val="F0F4F7"/>
                    </a:solidFill>
                  </a:tcPr>
                </a:tc>
                <a:tc>
                  <a:txBody>
                    <a:bodyPr/>
                    <a:lstStyle/>
                    <a:p>
                      <a:r>
                        <a:rPr sz="1800" b="0">
                          <a:solidFill>
                            <a:srgbClr val="142C40"/>
                          </a:solidFill>
                          <a:latin typeface="Helvetica Neue"/>
                          <a:ea typeface="Helvetica Neue"/>
                          <a:cs typeface="Helvetica Neue"/>
                        </a:rPr>
                        <a:t>48 / 210</a:t>
                      </a:r>
                    </a:p>
                  </a:txBody>
                  <a:tcPr marL="91440" marR="91440" marT="45720" marB="45720">
                    <a:solidFill>
                      <a:srgbClr val="F0F4F7"/>
                    </a:solidFill>
                  </a:tcPr>
                </a:tc>
                <a:tc>
                  <a:txBody>
                    <a:bodyPr/>
                    <a:lstStyle/>
                    <a:p>
                      <a:r>
                        <a:rPr sz="1800" b="0">
                          <a:solidFill>
                            <a:srgbClr val="142C40"/>
                          </a:solidFill>
                          <a:latin typeface="Helvetica Neue"/>
                          <a:ea typeface="Helvetica Neue"/>
                          <a:cs typeface="Helvetica Neue"/>
                        </a:rPr>
                        <a:t>38 / 210</a:t>
                      </a:r>
                    </a:p>
                  </a:txBody>
                  <a:tcPr marL="91440" marR="91440" marT="45720" marB="45720">
                    <a:solidFill>
                      <a:srgbClr val="F0F4F7"/>
                    </a:solidFill>
                  </a:tcPr>
                </a:tc>
              </a:tr>
              <a:tr h="412750">
                <a:tc>
                  <a:txBody>
                    <a:bodyPr/>
                    <a:lstStyle/>
                    <a:p>
                      <a:r>
                        <a:rPr sz="1800" b="0">
                          <a:solidFill>
                            <a:srgbClr val="142C40"/>
                          </a:solidFill>
                          <a:latin typeface="Helvetica Neue"/>
                          <a:ea typeface="Helvetica Neue"/>
                          <a:cs typeface="Helvetica Neue"/>
                        </a:rPr>
                        <a:t>Explicit abstentions</a:t>
                      </a:r>
                    </a:p>
                  </a:txBody>
                  <a:tcPr marL="91440" marR="91440" marT="45720" marB="45720">
                    <a:solidFill>
                      <a:srgbClr val="FFFFFF"/>
                    </a:solidFill>
                  </a:tcPr>
                </a:tc>
                <a:tc>
                  <a:txBody>
                    <a:bodyPr/>
                    <a:lstStyle/>
                    <a:p>
                      <a:r>
                        <a:rPr sz="1800" b="0">
                          <a:solidFill>
                            <a:srgbClr val="142C40"/>
                          </a:solidFill>
                          <a:latin typeface="Helvetica Neue"/>
                          <a:ea typeface="Helvetica Neue"/>
                          <a:cs typeface="Helvetica Neue"/>
                        </a:rPr>
                        <a:t>56 / 210</a:t>
                      </a:r>
                    </a:p>
                  </a:txBody>
                  <a:tcPr marL="91440" marR="91440" marT="45720" marB="45720">
                    <a:solidFill>
                      <a:srgbClr val="FFFFFF"/>
                    </a:solidFill>
                  </a:tcPr>
                </a:tc>
                <a:tc>
                  <a:txBody>
                    <a:bodyPr/>
                    <a:lstStyle/>
                    <a:p>
                      <a:r>
                        <a:rPr sz="1800" b="0">
                          <a:solidFill>
                            <a:srgbClr val="142C40"/>
                          </a:solidFill>
                          <a:latin typeface="Helvetica Neue"/>
                          <a:ea typeface="Helvetica Neue"/>
                          <a:cs typeface="Helvetica Neue"/>
                        </a:rPr>
                        <a:t>89 / 210</a:t>
                      </a:r>
                    </a:p>
                  </a:txBody>
                  <a:tcPr marL="91440" marR="91440" marT="45720" marB="45720">
                    <a:solidFill>
                      <a:srgbClr val="FFFFFF"/>
                    </a:solidFill>
                  </a:tcPr>
                </a:tc>
              </a:tr>
            </a:tbl>
          </a:graphicData>
        </a:graphic>
      </p:graphicFrame>
      <p:sp>
        <p:nvSpPr>
          <p:cNvPr id="8" name="footnote">
            <a:extLst xmlns:a="http://schemas.openxmlformats.org/drawingml/2006/main">
              <a:ext uri="{FF2B5EF4-FFF2-40B4-BE49-F238E27FC236}">
                <a16:creationId xmlns:a16="http://schemas.microsoft.com/office/drawing/2014/main" id="{88C368D9-4D41-40F1-AA73-EFB2D6F9200A}"/>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Earlier 3-model study, 36 facts. Verification CI [−6.76, +5.19] pp; reminder CI [−17.93, −4.26] pp.</a:t>
            </a:r>
          </a:p>
        </p:txBody>
      </p:sp>
    </p:spTree>
    <p:extLst>
      <p:ext uri="{BB962C8B-B14F-4D97-AF65-F5344CB8AC3E}">
        <p14:creationId xmlns:p14="http://schemas.microsoft.com/office/powerpoint/2010/main" val="365385292"/>
      </p:ext>
    </p:extLst>
  </p:cSld>
</p:sld>
</file>

<file path=ppt/slides/slide1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page">
            <a:extLst xmlns:a="http://schemas.openxmlformats.org/drawingml/2006/main">
              <a:ext uri="{FF2B5EF4-FFF2-40B4-BE49-F238E27FC236}">
                <a16:creationId xmlns:a16="http://schemas.microsoft.com/office/drawing/2014/main" id="{302FFB91-743C-4175-9C1C-2D1DA43D85F5}"/>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12</a:t>
            </a:r>
          </a:p>
        </p:txBody>
      </p:sp>
      <p:sp>
        <p:nvSpPr>
          <p:cNvPr id="2" name="title">
            <a:extLst xmlns:a="http://schemas.openxmlformats.org/drawingml/2006/main">
              <a:ext uri="{FF2B5EF4-FFF2-40B4-BE49-F238E27FC236}">
                <a16:creationId xmlns:a16="http://schemas.microsoft.com/office/drawing/2014/main" id="{E1F1741D-50EB-4D89-9207-BEE11BD2FBBD}"/>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RQ3: can a wrong peer introduce an error?</a:t>
            </a:r>
          </a:p>
        </p:txBody>
      </p:sp>
      <p:graphicFrame>
        <p:nvGraphicFramePr>
          <p:cNvPr id="8" name=""/>
          <p:cNvGraphicFramePr/>
          <p:nvPr/>
        </p:nvGraphicFramePr>
        <p:xfrm>
          <a:off xmlns:a="http://schemas.openxmlformats.org/drawingml/2006/main" x="685800" y="1657350"/>
          <a:ext xmlns:a="http://schemas.openxmlformats.org/drawingml/2006/main" cx="10820400" cy="3333750"/>
        </p:xfrm>
        <a:graphic xmlns:a="http://schemas.openxmlformats.org/drawingml/2006/main">
          <a:graphicData uri="http://schemas.openxmlformats.org/drawingml/2006/table">
            <a:tbl>
              <a:tblPr/>
              <a:tblGrid>
                <a:gridCol w="3143250"/>
                <a:gridCol w="3790950"/>
                <a:gridCol w="3886200"/>
              </a:tblGrid>
              <a:tr h="1111250">
                <a:tc>
                  <a:txBody>
                    <a:bodyPr/>
                    <a:lstStyle/>
                    <a:p>
                      <a:r>
                        <a:rPr sz="2175" b="1">
                          <a:solidFill>
                            <a:srgbClr val="FFFFFF"/>
                          </a:solidFill>
                          <a:latin typeface="Helvetica Neue"/>
                          <a:ea typeface="Helvetica Neue"/>
                          <a:cs typeface="Helvetica Neue"/>
                        </a:rPr>
                        <a:t>Domain</a:t>
                      </a:r>
                    </a:p>
                  </a:txBody>
                  <a:tcPr marL="91440" marR="91440" marT="45720" marB="45720">
                    <a:solidFill>
                      <a:srgbClr val="142C40"/>
                    </a:solidFill>
                  </a:tcPr>
                </a:tc>
                <a:tc>
                  <a:txBody>
                    <a:bodyPr/>
                    <a:lstStyle/>
                    <a:p>
                      <a:r>
                        <a:rPr sz="2175" b="1">
                          <a:solidFill>
                            <a:srgbClr val="FFFFFF"/>
                          </a:solidFill>
                          <a:latin typeface="Helvetica Neue"/>
                          <a:ea typeface="Helvetica Neue"/>
                          <a:cs typeface="Helvetica Neue"/>
                        </a:rPr>
                        <a:t>Eligible opportunities</a:t>
                      </a:r>
                    </a:p>
                  </a:txBody>
                  <a:tcPr marL="91440" marR="91440" marT="45720" marB="45720">
                    <a:solidFill>
                      <a:srgbClr val="142C40"/>
                    </a:solidFill>
                  </a:tcPr>
                </a:tc>
                <a:tc>
                  <a:txBody>
                    <a:bodyPr/>
                    <a:lstStyle/>
                    <a:p>
                      <a:r>
                        <a:rPr sz="2175" b="1">
                          <a:solidFill>
                            <a:srgbClr val="FFFFFF"/>
                          </a:solidFill>
                          <a:latin typeface="Helvetica Neue"/>
                          <a:ea typeface="Helvetica Neue"/>
                          <a:cs typeface="Helvetica Neue"/>
                        </a:rPr>
                        <a:t>Wrong after cross-check</a:t>
                      </a:r>
                    </a:p>
                  </a:txBody>
                  <a:tcPr marL="91440" marR="91440" marT="45720" marB="45720">
                    <a:solidFill>
                      <a:srgbClr val="142C40"/>
                    </a:solidFill>
                  </a:tcPr>
                </a:tc>
              </a:tr>
              <a:tr h="1111250">
                <a:tc>
                  <a:txBody>
                    <a:bodyPr/>
                    <a:lstStyle/>
                    <a:p>
                      <a:r>
                        <a:rPr sz="2175" b="0">
                          <a:solidFill>
                            <a:srgbClr val="142C40"/>
                          </a:solidFill>
                          <a:latin typeface="Helvetica Neue"/>
                          <a:ea typeface="Helvetica Neue"/>
                          <a:cs typeface="Helvetica Neue"/>
                        </a:rPr>
                        <a:t>Facts</a:t>
                      </a:r>
                    </a:p>
                  </a:txBody>
                  <a:tcPr marL="91440" marR="91440" marT="45720" marB="45720">
                    <a:solidFill>
                      <a:srgbClr val="F0F4F7"/>
                    </a:solidFill>
                  </a:tcPr>
                </a:tc>
                <a:tc>
                  <a:txBody>
                    <a:bodyPr/>
                    <a:lstStyle/>
                    <a:p>
                      <a:r>
                        <a:rPr sz="2175" b="0">
                          <a:solidFill>
                            <a:srgbClr val="142C40"/>
                          </a:solidFill>
                          <a:latin typeface="Helvetica Neue"/>
                          <a:ea typeface="Helvetica Neue"/>
                          <a:cs typeface="Helvetica Neue"/>
                        </a:rPr>
                        <a:t>76</a:t>
                      </a:r>
                    </a:p>
                  </a:txBody>
                  <a:tcPr marL="91440" marR="91440" marT="45720" marB="45720">
                    <a:solidFill>
                      <a:srgbClr val="F0F4F7"/>
                    </a:solidFill>
                  </a:tcPr>
                </a:tc>
                <a:tc>
                  <a:txBody>
                    <a:bodyPr/>
                    <a:lstStyle/>
                    <a:p>
                      <a:r>
                        <a:rPr sz="2175" b="0">
                          <a:solidFill>
                            <a:srgbClr val="142C40"/>
                          </a:solidFill>
                          <a:latin typeface="Helvetica Neue"/>
                          <a:ea typeface="Helvetica Neue"/>
                          <a:cs typeface="Helvetica Neue"/>
                        </a:rPr>
                        <a:t>0</a:t>
                      </a:r>
                    </a:p>
                  </a:txBody>
                  <a:tcPr marL="91440" marR="91440" marT="45720" marB="45720">
                    <a:solidFill>
                      <a:srgbClr val="F0F4F7"/>
                    </a:solidFill>
                  </a:tcPr>
                </a:tc>
              </a:tr>
              <a:tr h="1111250">
                <a:tc>
                  <a:txBody>
                    <a:bodyPr/>
                    <a:lstStyle/>
                    <a:p>
                      <a:r>
                        <a:rPr sz="2175" b="0">
                          <a:solidFill>
                            <a:srgbClr val="142C40"/>
                          </a:solidFill>
                          <a:latin typeface="Helvetica Neue"/>
                          <a:ea typeface="Helvetica Neue"/>
                          <a:cs typeface="Helvetica Neue"/>
                        </a:rPr>
                        <a:t>Mathematics</a:t>
                      </a:r>
                    </a:p>
                  </a:txBody>
                  <a:tcPr marL="91440" marR="91440" marT="45720" marB="45720">
                    <a:solidFill>
                      <a:srgbClr val="FFFFFF"/>
                    </a:solidFill>
                  </a:tcPr>
                </a:tc>
                <a:tc>
                  <a:txBody>
                    <a:bodyPr/>
                    <a:lstStyle/>
                    <a:p>
                      <a:r>
                        <a:rPr sz="2175" b="0">
                          <a:solidFill>
                            <a:srgbClr val="142C40"/>
                          </a:solidFill>
                          <a:latin typeface="Helvetica Neue"/>
                          <a:ea typeface="Helvetica Neue"/>
                          <a:cs typeface="Helvetica Neue"/>
                        </a:rPr>
                        <a:t>18</a:t>
                      </a:r>
                    </a:p>
                  </a:txBody>
                  <a:tcPr marL="91440" marR="91440" marT="45720" marB="45720">
                    <a:solidFill>
                      <a:srgbClr val="FFFFFF"/>
                    </a:solidFill>
                  </a:tcPr>
                </a:tc>
                <a:tc>
                  <a:txBody>
                    <a:bodyPr/>
                    <a:lstStyle/>
                    <a:p>
                      <a:r>
                        <a:rPr sz="2175" b="0">
                          <a:solidFill>
                            <a:srgbClr val="142C40"/>
                          </a:solidFill>
                          <a:latin typeface="Helvetica Neue"/>
                          <a:ea typeface="Helvetica Neue"/>
                          <a:cs typeface="Helvetica Neue"/>
                        </a:rPr>
                        <a:t>1</a:t>
                      </a:r>
                    </a:p>
                  </a:txBody>
                  <a:tcPr marL="91440" marR="91440" marT="45720" marB="45720">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DB098FED-DED5-4F43-8813-BD3AC3B06CE6}"/>
              </a:ext>
            </a:extLst>
          </p:cNvPr>
          <p:cNvSpPr>
            <a:spLocks xmlns:a="http://schemas.openxmlformats.org/drawingml/2006/main" noGrp="1"/>
          </p:cNvSpPr>
          <p:nvPr/>
        </p:nvSpPr>
        <p:spPr>
          <a:xfrm xmlns:a="http://schemas.openxmlformats.org/drawingml/2006/main">
            <a:off x="723900" y="5238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Yes: 1 observed failure among 94 eligible opportunities.</a:t>
            </a:r>
          </a:p>
        </p:txBody>
      </p:sp>
      <p:sp>
        <p:nvSpPr>
          <p:cNvPr id="5" name="footnote">
            <a:extLst xmlns:a="http://schemas.openxmlformats.org/drawingml/2006/main">
              <a:ext uri="{FF2B5EF4-FFF2-40B4-BE49-F238E27FC236}">
                <a16:creationId xmlns:a16="http://schemas.microsoft.com/office/drawing/2014/main" id="{71C3FAE5-7BC6-4E38-AFA0-88A60526707E}"/>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Eligible = receiver initially correct + actual peer initially wrong.</a:t>
            </a:r>
          </a:p>
        </p:txBody>
      </p:sp>
    </p:spTree>
    <p:extLst>
      <p:ext uri="{BB962C8B-B14F-4D97-AF65-F5344CB8AC3E}">
        <p14:creationId xmlns:p14="http://schemas.microsoft.com/office/powerpoint/2010/main" val="365385292"/>
      </p:ext>
    </p:extLst>
  </p:cSld>
</p:sld>
</file>

<file path=ppt/slides/slide1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page">
            <a:extLst xmlns:a="http://schemas.openxmlformats.org/drawingml/2006/main">
              <a:ext uri="{FF2B5EF4-FFF2-40B4-BE49-F238E27FC236}">
                <a16:creationId xmlns:a16="http://schemas.microsoft.com/office/drawing/2014/main" id="{5052F842-B249-4784-B9C9-183B78445109}"/>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13</a:t>
            </a:r>
          </a:p>
        </p:txBody>
      </p:sp>
      <p:sp>
        <p:nvSpPr>
          <p:cNvPr id="2" name="title">
            <a:extLst xmlns:a="http://schemas.openxmlformats.org/drawingml/2006/main">
              <a:ext uri="{FF2B5EF4-FFF2-40B4-BE49-F238E27FC236}">
                <a16:creationId xmlns:a16="http://schemas.microsoft.com/office/drawing/2014/main" id="{84077DEA-216C-4A2E-A574-822C40E07EE3}"/>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RQ3 case: correct 20 becomes wrong 24</a:t>
            </a:r>
          </a:p>
        </p:txBody>
      </p:sp>
      <p:sp>
        <p:nvSpPr>
          <p:cNvPr id="3" name="problem">
            <a:extLst xmlns:a="http://schemas.openxmlformats.org/drawingml/2006/main">
              <a:ext uri="{FF2B5EF4-FFF2-40B4-BE49-F238E27FC236}">
                <a16:creationId xmlns:a16="http://schemas.microsoft.com/office/drawing/2014/main" id="{E115F6B4-AA25-4A3D-A603-D850BCFE220C}"/>
              </a:ext>
            </a:extLst>
          </p:cNvPr>
          <p:cNvSpPr>
            <a:spLocks xmlns:a="http://schemas.openxmlformats.org/drawingml/2006/main" noGrp="1"/>
          </p:cNvSpPr>
          <p:nvPr/>
        </p:nvSpPr>
        <p:spPr>
          <a:xfrm xmlns:a="http://schemas.openxmlformats.org/drawingml/2006/main">
            <a:off x="723900" y="1533525"/>
            <a:ext cx="107061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E77"/>
                </a:solidFill>
                <a:latin typeface="Helvetica Neue"/>
                <a:ea typeface="Helvetica Neue"/>
                <a:cs typeface="Helvetica Neue"/>
              </a:defRPr>
            </a:pPr>
            <a:r>
              <a:rPr sz="2250" b="1">
                <a:solidFill>
                  <a:srgbClr val="147E77"/>
                </a:solidFill>
                <a:latin typeface="Helvetica Neue"/>
                <a:ea typeface="Helvetica Neue"/>
                <a:cs typeface="Helvetica Neue"/>
              </a:rPr>
              <a:t>Roots of x² − 6x + 1: count n = 61,…,120 for which x₁ⁿ + x₂ⁿ ≡ 4 (mod 5).</a:t>
            </a:r>
          </a:p>
        </p:txBody>
      </p:sp>
      <p:graphicFrame>
        <p:nvGraphicFramePr>
          <p:cNvPr id="9" name=""/>
          <p:cNvGraphicFramePr/>
          <p:nvPr/>
        </p:nvGraphicFramePr>
        <p:xfrm>
          <a:off xmlns:a="http://schemas.openxmlformats.org/drawingml/2006/main" x="685800" y="2847975"/>
          <a:ext xmlns:a="http://schemas.openxmlformats.org/drawingml/2006/main" cx="10820400" cy="2838450"/>
        </p:xfrm>
        <a:graphic xmlns:a="http://schemas.openxmlformats.org/drawingml/2006/main">
          <a:graphicData uri="http://schemas.openxmlformats.org/drawingml/2006/table">
            <a:tbl>
              <a:tblPr/>
              <a:tblGrid>
                <a:gridCol w="5095875"/>
                <a:gridCol w="1619250"/>
                <a:gridCol w="4105275"/>
              </a:tblGrid>
              <a:tr h="709613">
                <a:tc>
                  <a:txBody>
                    <a:bodyPr/>
                    <a:lstStyle/>
                    <a:p>
                      <a:r>
                        <a:rPr sz="2175" b="1">
                          <a:solidFill>
                            <a:srgbClr val="FFFFFF"/>
                          </a:solidFill>
                          <a:latin typeface="Helvetica Neue"/>
                          <a:ea typeface="Helvetica Neue"/>
                          <a:cs typeface="Helvetica Neue"/>
                        </a:rPr>
                        <a:t>Actual response</a:t>
                      </a:r>
                    </a:p>
                  </a:txBody>
                  <a:tcPr marL="91440" marR="91440" marT="45720" marB="45720">
                    <a:solidFill>
                      <a:srgbClr val="142C40"/>
                    </a:solidFill>
                  </a:tcPr>
                </a:tc>
                <a:tc>
                  <a:txBody>
                    <a:bodyPr/>
                    <a:lstStyle/>
                    <a:p>
                      <a:r>
                        <a:rPr sz="2175" b="1">
                          <a:solidFill>
                            <a:srgbClr val="FFFFFF"/>
                          </a:solidFill>
                          <a:latin typeface="Helvetica Neue"/>
                          <a:ea typeface="Helvetica Neue"/>
                          <a:cs typeface="Helvetica Neue"/>
                        </a:rPr>
                        <a:t>Answer</a:t>
                      </a:r>
                    </a:p>
                  </a:txBody>
                  <a:tcPr marL="91440" marR="91440" marT="45720" marB="45720">
                    <a:solidFill>
                      <a:srgbClr val="142C40"/>
                    </a:solidFill>
                  </a:tcPr>
                </a:tc>
                <a:tc>
                  <a:txBody>
                    <a:bodyPr/>
                    <a:lstStyle/>
                    <a:p>
                      <a:r>
                        <a:rPr sz="2175" b="1">
                          <a:solidFill>
                            <a:srgbClr val="FFFFFF"/>
                          </a:solidFill>
                          <a:latin typeface="Helvetica Neue"/>
                          <a:ea typeface="Helvetica Neue"/>
                          <a:cs typeface="Helvetica Neue"/>
                        </a:rPr>
                        <a:t>Reasoning</a:t>
                      </a:r>
                    </a:p>
                  </a:txBody>
                  <a:tcPr marL="91440" marR="91440" marT="45720" marB="45720">
                    <a:solidFill>
                      <a:srgbClr val="142C40"/>
                    </a:solidFill>
                  </a:tcPr>
                </a:tc>
              </a:tr>
              <a:tr h="709613">
                <a:tc>
                  <a:txBody>
                    <a:bodyPr/>
                    <a:lstStyle/>
                    <a:p>
                      <a:r>
                        <a:rPr sz="2175" b="0">
                          <a:solidFill>
                            <a:srgbClr val="142C40"/>
                          </a:solidFill>
                          <a:latin typeface="Helvetica Neue"/>
                          <a:ea typeface="Helvetica Neue"/>
                          <a:cs typeface="Helvetica Neue"/>
                        </a:rPr>
                        <a:t>DeepSeek initial / self-check</a:t>
                      </a:r>
                    </a:p>
                  </a:txBody>
                  <a:tcPr marL="91440" marR="91440" marT="45720" marB="45720">
                    <a:solidFill>
                      <a:srgbClr val="F0F4F7"/>
                    </a:solidFill>
                  </a:tcPr>
                </a:tc>
                <a:tc>
                  <a:txBody>
                    <a:bodyPr/>
                    <a:lstStyle/>
                    <a:p>
                      <a:r>
                        <a:rPr sz="2175" b="0">
                          <a:solidFill>
                            <a:srgbClr val="142C40"/>
                          </a:solidFill>
                          <a:latin typeface="Helvetica Neue"/>
                          <a:ea typeface="Helvetica Neue"/>
                          <a:cs typeface="Helvetica Neue"/>
                        </a:rPr>
                        <a:t>20</a:t>
                      </a:r>
                    </a:p>
                  </a:txBody>
                  <a:tcPr marL="91440" marR="91440" marT="45720" marB="45720">
                    <a:solidFill>
                      <a:srgbClr val="F0F4F7"/>
                    </a:solidFill>
                  </a:tcPr>
                </a:tc>
                <a:tc>
                  <a:txBody>
                    <a:bodyPr/>
                    <a:lstStyle/>
                    <a:p>
                      <a:r>
                        <a:rPr sz="2175" b="0">
                          <a:solidFill>
                            <a:srgbClr val="142C40"/>
                          </a:solidFill>
                          <a:latin typeface="Helvetica Neue"/>
                          <a:ea typeface="Helvetica Neue"/>
                          <a:cs typeface="Helvetica Neue"/>
                        </a:rPr>
                        <a:t>Period six, correct</a:t>
                      </a:r>
                    </a:p>
                  </a:txBody>
                  <a:tcPr marL="91440" marR="91440" marT="45720" marB="45720">
                    <a:solidFill>
                      <a:srgbClr val="F0F4F7"/>
                    </a:solidFill>
                  </a:tcPr>
                </a:tc>
              </a:tr>
              <a:tr h="709613">
                <a:tc>
                  <a:txBody>
                    <a:bodyPr/>
                    <a:lstStyle/>
                    <a:p>
                      <a:r>
                        <a:rPr sz="2175" b="0">
                          <a:solidFill>
                            <a:srgbClr val="142C40"/>
                          </a:solidFill>
                          <a:latin typeface="Helvetica Neue"/>
                          <a:ea typeface="Helvetica Neue"/>
                          <a:cs typeface="Helvetica Neue"/>
                        </a:rPr>
                        <a:t>MiniMax independent advice</a:t>
                      </a:r>
                    </a:p>
                  </a:txBody>
                  <a:tcPr marL="91440" marR="91440" marT="45720" marB="45720">
                    <a:solidFill>
                      <a:srgbClr val="FFFFFF"/>
                    </a:solidFill>
                  </a:tcPr>
                </a:tc>
                <a:tc>
                  <a:txBody>
                    <a:bodyPr/>
                    <a:lstStyle/>
                    <a:p>
                      <a:r>
                        <a:rPr sz="2175" b="0">
                          <a:solidFill>
                            <a:srgbClr val="142C40"/>
                          </a:solidFill>
                          <a:latin typeface="Helvetica Neue"/>
                          <a:ea typeface="Helvetica Neue"/>
                          <a:cs typeface="Helvetica Neue"/>
                        </a:rPr>
                        <a:t>24</a:t>
                      </a:r>
                    </a:p>
                  </a:txBody>
                  <a:tcPr marL="91440" marR="91440" marT="45720" marB="45720">
                    <a:solidFill>
                      <a:srgbClr val="FFFFFF"/>
                    </a:solidFill>
                  </a:tcPr>
                </a:tc>
                <a:tc>
                  <a:txBody>
                    <a:bodyPr/>
                    <a:lstStyle/>
                    <a:p>
                      <a:r>
                        <a:rPr sz="2175" b="0">
                          <a:solidFill>
                            <a:srgbClr val="142C40"/>
                          </a:solidFill>
                          <a:latin typeface="Helvetica Neue"/>
                          <a:ea typeface="Helvetica Neue"/>
                          <a:cs typeface="Helvetica Neue"/>
                        </a:rPr>
                        <a:t>Claims period five, wrong</a:t>
                      </a:r>
                    </a:p>
                  </a:txBody>
                  <a:tcPr marL="91440" marR="91440" marT="45720" marB="45720">
                    <a:solidFill>
                      <a:srgbClr val="FFFFFF"/>
                    </a:solidFill>
                  </a:tcPr>
                </a:tc>
              </a:tr>
              <a:tr h="709613">
                <a:tc>
                  <a:txBody>
                    <a:bodyPr/>
                    <a:lstStyle/>
                    <a:p>
                      <a:r>
                        <a:rPr sz="2175" b="0">
                          <a:solidFill>
                            <a:srgbClr val="142C40"/>
                          </a:solidFill>
                          <a:latin typeface="Helvetica Neue"/>
                          <a:ea typeface="Helvetica Neue"/>
                          <a:cs typeface="Helvetica Neue"/>
                        </a:rPr>
                        <a:t>DeepSeek cross-check</a:t>
                      </a:r>
                    </a:p>
                  </a:txBody>
                  <a:tcPr marL="91440" marR="91440" marT="45720" marB="45720">
                    <a:solidFill>
                      <a:srgbClr val="F0F4F7"/>
                    </a:solidFill>
                  </a:tcPr>
                </a:tc>
                <a:tc>
                  <a:txBody>
                    <a:bodyPr/>
                    <a:lstStyle/>
                    <a:p>
                      <a:r>
                        <a:rPr sz="2175" b="0">
                          <a:solidFill>
                            <a:srgbClr val="142C40"/>
                          </a:solidFill>
                          <a:latin typeface="Helvetica Neue"/>
                          <a:ea typeface="Helvetica Neue"/>
                          <a:cs typeface="Helvetica Neue"/>
                        </a:rPr>
                        <a:t>24</a:t>
                      </a:r>
                    </a:p>
                  </a:txBody>
                  <a:tcPr marL="91440" marR="91440" marT="45720" marB="45720">
                    <a:solidFill>
                      <a:srgbClr val="F0F4F7"/>
                    </a:solidFill>
                  </a:tcPr>
                </a:tc>
                <a:tc>
                  <a:txBody>
                    <a:bodyPr/>
                    <a:lstStyle/>
                    <a:p>
                      <a:r>
                        <a:rPr sz="2175" b="0">
                          <a:solidFill>
                            <a:srgbClr val="142C40"/>
                          </a:solidFill>
                          <a:latin typeface="Helvetica Neue"/>
                          <a:ea typeface="Helvetica Neue"/>
                          <a:cs typeface="Helvetica Neue"/>
                        </a:rPr>
                        <a:t>Accepts the wrong period</a:t>
                      </a:r>
                    </a:p>
                  </a:txBody>
                  <a:tcPr marL="91440" marR="91440" marT="45720" marB="45720">
                    <a:solidFill>
                      <a:srgbClr val="F0F4F7"/>
                    </a:solidFill>
                  </a:tcPr>
                </a:tc>
              </a:tr>
            </a:tbl>
          </a:graphicData>
        </a:graphic>
      </p:graphicFrame>
      <p:sp>
        <p:nvSpPr>
          <p:cNvPr id="5" name="footnote">
            <a:extLst xmlns:a="http://schemas.openxmlformats.org/drawingml/2006/main">
              <a:ext uri="{FF2B5EF4-FFF2-40B4-BE49-F238E27FC236}">
                <a16:creationId xmlns:a16="http://schemas.microsoft.com/office/drawing/2014/main" id="{AC5B7B8C-7F5F-4FB9-BC82-4A8FCE1C12D9}"/>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R recurrence check confirms 20. Self-check and cross-check are parallel branches.</a:t>
            </a:r>
          </a:p>
        </p:txBody>
      </p:sp>
    </p:spTree>
    <p:extLst>
      <p:ext uri="{BB962C8B-B14F-4D97-AF65-F5344CB8AC3E}">
        <p14:creationId xmlns:p14="http://schemas.microsoft.com/office/powerpoint/2010/main" val="365385292"/>
      </p:ext>
    </p:extLst>
  </p:cSld>
</p:sld>
</file>

<file path=ppt/slides/slide1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page">
            <a:extLst xmlns:a="http://schemas.openxmlformats.org/drawingml/2006/main">
              <a:ext uri="{FF2B5EF4-FFF2-40B4-BE49-F238E27FC236}">
                <a16:creationId xmlns:a16="http://schemas.microsoft.com/office/drawing/2014/main" id="{6481305C-81DA-42ED-9E23-9E4AC52A0F0E}"/>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14</a:t>
            </a:r>
          </a:p>
        </p:txBody>
      </p:sp>
      <p:sp>
        <p:nvSpPr>
          <p:cNvPr id="2" name="title">
            <a:extLst xmlns:a="http://schemas.openxmlformats.org/drawingml/2006/main">
              <a:ext uri="{FF2B5EF4-FFF2-40B4-BE49-F238E27FC236}">
                <a16:creationId xmlns:a16="http://schemas.microsoft.com/office/drawing/2014/main" id="{31D61840-F6E3-4F2E-8966-1622191E616A}"/>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RQ4: two timings of misleading user input</a:t>
            </a:r>
          </a:p>
        </p:txBody>
      </p:sp>
      <p:graphicFrame>
        <p:nvGraphicFramePr>
          <p:cNvPr id="8" name=""/>
          <p:cNvGraphicFramePr/>
          <p:nvPr/>
        </p:nvGraphicFramePr>
        <p:xfrm>
          <a:off xmlns:a="http://schemas.openxmlformats.org/drawingml/2006/main" x="685800" y="1657350"/>
          <a:ext xmlns:a="http://schemas.openxmlformats.org/drawingml/2006/main" cx="10820400" cy="3333750"/>
        </p:xfrm>
        <a:graphic xmlns:a="http://schemas.openxmlformats.org/drawingml/2006/main">
          <a:graphicData uri="http://schemas.openxmlformats.org/drawingml/2006/table">
            <a:tbl>
              <a:tblPr/>
              <a:tblGrid>
                <a:gridCol w="2381250"/>
                <a:gridCol w="3714750"/>
                <a:gridCol w="4724400"/>
              </a:tblGrid>
              <a:tr h="1111250">
                <a:tc>
                  <a:txBody>
                    <a:bodyPr/>
                    <a:lstStyle/>
                    <a:p>
                      <a:r>
                        <a:rPr sz="2100" b="1">
                          <a:solidFill>
                            <a:srgbClr val="FFFFFF"/>
                          </a:solidFill>
                          <a:latin typeface="Helvetica Neue"/>
                          <a:ea typeface="Helvetica Neue"/>
                          <a:cs typeface="Helvetica Neue"/>
                        </a:rPr>
                        <a:t>Timing</a:t>
                      </a:r>
                    </a:p>
                  </a:txBody>
                  <a:tcPr marL="91440" marR="91440" marT="45720" marB="45720">
                    <a:solidFill>
                      <a:srgbClr val="142C40"/>
                    </a:solidFill>
                  </a:tcPr>
                </a:tc>
                <a:tc>
                  <a:txBody>
                    <a:bodyPr/>
                    <a:lstStyle/>
                    <a:p>
                      <a:r>
                        <a:rPr sz="2100" b="1">
                          <a:solidFill>
                            <a:srgbClr val="FFFFFF"/>
                          </a:solidFill>
                          <a:latin typeface="Helvetica Neue"/>
                          <a:ea typeface="Helvetica Neue"/>
                          <a:cs typeface="Helvetica Neue"/>
                        </a:rPr>
                        <a:t>Comparison</a:t>
                      </a:r>
                    </a:p>
                  </a:txBody>
                  <a:tcPr marL="91440" marR="91440" marT="45720" marB="45720">
                    <a:solidFill>
                      <a:srgbClr val="142C40"/>
                    </a:solidFill>
                  </a:tcPr>
                </a:tc>
                <a:tc>
                  <a:txBody>
                    <a:bodyPr/>
                    <a:lstStyle/>
                    <a:p>
                      <a:r>
                        <a:rPr sz="2100" b="1">
                          <a:solidFill>
                            <a:srgbClr val="FFFFFF"/>
                          </a:solidFill>
                          <a:latin typeface="Helvetica Neue"/>
                          <a:ea typeface="Helvetica Neue"/>
                          <a:cs typeface="Helvetica Neue"/>
                        </a:rPr>
                        <a:t>What we can observe</a:t>
                      </a:r>
                    </a:p>
                  </a:txBody>
                  <a:tcPr marL="91440" marR="91440" marT="45720" marB="45720">
                    <a:solidFill>
                      <a:srgbClr val="142C40"/>
                    </a:solidFill>
                  </a:tcPr>
                </a:tc>
              </a:tr>
              <a:tr h="1111250">
                <a:tc>
                  <a:txBody>
                    <a:bodyPr/>
                    <a:lstStyle/>
                    <a:p>
                      <a:r>
                        <a:rPr sz="2100" b="0">
                          <a:solidFill>
                            <a:srgbClr val="142C40"/>
                          </a:solidFill>
                          <a:latin typeface="Helvetica Neue"/>
                          <a:ea typeface="Helvetica Neue"/>
                          <a:cs typeface="Helvetica Neue"/>
                        </a:rPr>
                        <a:t>At the first prompt</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Neutral question vs false-premise prompt</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Separate fresh sessions</a:t>
                      </a:r>
                    </a:p>
                  </a:txBody>
                  <a:tcPr marL="91440" marR="91440" marT="45720" marB="45720">
                    <a:solidFill>
                      <a:srgbClr val="F0F4F7"/>
                    </a:solidFill>
                  </a:tcPr>
                </a:tc>
              </a:tr>
              <a:tr h="1111250">
                <a:tc>
                  <a:txBody>
                    <a:bodyPr/>
                    <a:lstStyle/>
                    <a:p>
                      <a:r>
                        <a:rPr sz="2100" b="0">
                          <a:solidFill>
                            <a:srgbClr val="142C40"/>
                          </a:solidFill>
                          <a:latin typeface="Helvetica Neue"/>
                          <a:ea typeface="Helvetica Neue"/>
                          <a:cs typeface="Helvetica Neue"/>
                        </a:rPr>
                        <a:t>After a correct answer</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Neutral recheck vs false user challenge</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Two follow-ups to the same correct initial answer</a:t>
                      </a:r>
                    </a:p>
                  </a:txBody>
                  <a:tcPr marL="91440" marR="91440" marT="45720" marB="45720">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E8DD8071-295F-4BA7-AC5D-591DEBA0CC9F}"/>
              </a:ext>
            </a:extLst>
          </p:cNvPr>
          <p:cNvSpPr>
            <a:spLocks xmlns:a="http://schemas.openxmlformats.org/drawingml/2006/main" noGrp="1"/>
          </p:cNvSpPr>
          <p:nvPr/>
        </p:nvSpPr>
        <p:spPr>
          <a:xfrm xmlns:a="http://schemas.openxmlformats.org/drawingml/2006/main">
            <a:off x="723900" y="5238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Both test the same receiving model; they answer different timing questions.</a:t>
            </a:r>
          </a:p>
        </p:txBody>
      </p:sp>
      <p:sp>
        <p:nvSpPr>
          <p:cNvPr id="5" name="footnote">
            <a:extLst xmlns:a="http://schemas.openxmlformats.org/drawingml/2006/main">
              <a:ext uri="{FF2B5EF4-FFF2-40B4-BE49-F238E27FC236}">
                <a16:creationId xmlns:a16="http://schemas.microsoft.com/office/drawing/2014/main" id="{ACCD87A5-A167-4F8F-B687-7C45E4397897}"/>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All human-style messages are scripted. No real human participants.</a:t>
            </a:r>
          </a:p>
        </p:txBody>
      </p:sp>
    </p:spTree>
    <p:extLst>
      <p:ext uri="{BB962C8B-B14F-4D97-AF65-F5344CB8AC3E}">
        <p14:creationId xmlns:p14="http://schemas.microsoft.com/office/powerpoint/2010/main" val="365385292"/>
      </p:ext>
    </p:extLst>
  </p:cSld>
</p:sld>
</file>

<file path=ppt/slides/slide1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page">
            <a:extLst xmlns:a="http://schemas.openxmlformats.org/drawingml/2006/main">
              <a:ext uri="{FF2B5EF4-FFF2-40B4-BE49-F238E27FC236}">
                <a16:creationId xmlns:a16="http://schemas.microsoft.com/office/drawing/2014/main" id="{2A5693FC-8CC8-41F0-8677-7DB3A7095419}"/>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15</a:t>
            </a:r>
          </a:p>
        </p:txBody>
      </p:sp>
      <p:sp>
        <p:nvSpPr>
          <p:cNvPr id="2" name="title">
            <a:extLst xmlns:a="http://schemas.openxmlformats.org/drawingml/2006/main">
              <a:ext uri="{FF2B5EF4-FFF2-40B4-BE49-F238E27FC236}">
                <a16:creationId xmlns:a16="http://schemas.microsoft.com/office/drawing/2014/main" id="{4D0EF364-538E-4429-9F87-F774A6E789C0}"/>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RQ4: a false premise in the first prompt</a:t>
            </a:r>
          </a:p>
        </p:txBody>
      </p:sp>
      <p:graphicFrame>
        <p:nvGraphicFramePr>
          <p:cNvPr id="8" name=""/>
          <p:cNvGraphicFramePr/>
          <p:nvPr/>
        </p:nvGraphicFramePr>
        <p:xfrm>
          <a:off xmlns:a="http://schemas.openxmlformats.org/drawingml/2006/main" x="685800" y="1657350"/>
          <a:ext xmlns:a="http://schemas.openxmlformats.org/drawingml/2006/main" cx="10820400" cy="3333750"/>
        </p:xfrm>
        <a:graphic xmlns:a="http://schemas.openxmlformats.org/drawingml/2006/main">
          <a:graphicData uri="http://schemas.openxmlformats.org/drawingml/2006/table">
            <a:tbl>
              <a:tblPr/>
              <a:tblGrid>
                <a:gridCol w="2571750"/>
                <a:gridCol w="2381250"/>
                <a:gridCol w="2238375"/>
                <a:gridCol w="1714500"/>
                <a:gridCol w="1914525"/>
              </a:tblGrid>
              <a:tr h="833438">
                <a:tc>
                  <a:txBody>
                    <a:bodyPr/>
                    <a:lstStyle/>
                    <a:p>
                      <a:r>
                        <a:rPr sz="2100" b="1">
                          <a:solidFill>
                            <a:srgbClr val="FFFFFF"/>
                          </a:solidFill>
                          <a:latin typeface="Helvetica Neue"/>
                          <a:ea typeface="Helvetica Neue"/>
                          <a:cs typeface="Helvetica Neue"/>
                        </a:rPr>
                        <a:t>Domain</a:t>
                      </a:r>
                    </a:p>
                  </a:txBody>
                  <a:tcPr marL="91440" marR="91440" marT="45720" marB="45720">
                    <a:solidFill>
                      <a:srgbClr val="142C40"/>
                    </a:solidFill>
                  </a:tcPr>
                </a:tc>
                <a:tc>
                  <a:txBody>
                    <a:bodyPr/>
                    <a:lstStyle/>
                    <a:p>
                      <a:r>
                        <a:rPr sz="2100" b="1">
                          <a:solidFill>
                            <a:srgbClr val="FFFFFF"/>
                          </a:solidFill>
                          <a:latin typeface="Helvetica Neue"/>
                          <a:ea typeface="Helvetica Neue"/>
                          <a:cs typeface="Helvetica Neue"/>
                        </a:rPr>
                        <a:t>Neutral correct</a:t>
                      </a:r>
                    </a:p>
                  </a:txBody>
                  <a:tcPr marL="91440" marR="91440" marT="45720" marB="45720">
                    <a:solidFill>
                      <a:srgbClr val="142C40"/>
                    </a:solidFill>
                  </a:tcPr>
                </a:tc>
                <a:tc>
                  <a:txBody>
                    <a:bodyPr/>
                    <a:lstStyle/>
                    <a:p>
                      <a:r>
                        <a:rPr sz="2100" b="1">
                          <a:solidFill>
                            <a:srgbClr val="FFFFFF"/>
                          </a:solidFill>
                          <a:latin typeface="Helvetica Neue"/>
                          <a:ea typeface="Helvetica Neue"/>
                          <a:cs typeface="Helvetica Neue"/>
                        </a:rPr>
                        <a:t>Still correct</a:t>
                      </a:r>
                    </a:p>
                  </a:txBody>
                  <a:tcPr marL="91440" marR="91440" marT="45720" marB="45720">
                    <a:solidFill>
                      <a:srgbClr val="142C40"/>
                    </a:solidFill>
                  </a:tcPr>
                </a:tc>
                <a:tc>
                  <a:txBody>
                    <a:bodyPr/>
                    <a:lstStyle/>
                    <a:p>
                      <a:r>
                        <a:rPr sz="2100" b="1">
                          <a:solidFill>
                            <a:srgbClr val="FFFFFF"/>
                          </a:solidFill>
                          <a:latin typeface="Helvetica Neue"/>
                          <a:ea typeface="Helvetica Neue"/>
                          <a:cs typeface="Helvetica Neue"/>
                        </a:rPr>
                        <a:t>Wrong</a:t>
                      </a:r>
                    </a:p>
                  </a:txBody>
                  <a:tcPr marL="91440" marR="91440" marT="45720" marB="45720">
                    <a:solidFill>
                      <a:srgbClr val="142C40"/>
                    </a:solidFill>
                  </a:tcPr>
                </a:tc>
                <a:tc>
                  <a:txBody>
                    <a:bodyPr/>
                    <a:lstStyle/>
                    <a:p>
                      <a:r>
                        <a:rPr sz="2100" b="1">
                          <a:solidFill>
                            <a:srgbClr val="FFFFFF"/>
                          </a:solidFill>
                          <a:latin typeface="Helvetica Neue"/>
                          <a:ea typeface="Helvetica Neue"/>
                          <a:cs typeface="Helvetica Neue"/>
                        </a:rPr>
                        <a:t>Abstain</a:t>
                      </a:r>
                    </a:p>
                  </a:txBody>
                  <a:tcPr marL="91440" marR="91440" marT="45720" marB="45720">
                    <a:solidFill>
                      <a:srgbClr val="142C40"/>
                    </a:solidFill>
                  </a:tcPr>
                </a:tc>
              </a:tr>
              <a:tr h="833438">
                <a:tc>
                  <a:txBody>
                    <a:bodyPr/>
                    <a:lstStyle/>
                    <a:p>
                      <a:r>
                        <a:rPr sz="2100" b="0">
                          <a:solidFill>
                            <a:srgbClr val="142C40"/>
                          </a:solidFill>
                          <a:latin typeface="Helvetica Neue"/>
                          <a:ea typeface="Helvetica Neue"/>
                          <a:cs typeface="Helvetica Neue"/>
                        </a:rPr>
                        <a:t>Facts</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69</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62</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6</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1</a:t>
                      </a:r>
                    </a:p>
                  </a:txBody>
                  <a:tcPr marL="91440" marR="91440" marT="45720" marB="45720">
                    <a:solidFill>
                      <a:srgbClr val="F0F4F7"/>
                    </a:solidFill>
                  </a:tcPr>
                </a:tc>
              </a:tr>
              <a:tr h="833438">
                <a:tc>
                  <a:txBody>
                    <a:bodyPr/>
                    <a:lstStyle/>
                    <a:p>
                      <a:r>
                        <a:rPr sz="2100" b="0">
                          <a:solidFill>
                            <a:srgbClr val="142C40"/>
                          </a:solidFill>
                          <a:latin typeface="Helvetica Neue"/>
                          <a:ea typeface="Helvetica Neue"/>
                          <a:cs typeface="Helvetica Neue"/>
                        </a:rPr>
                        <a:t>Mathematics</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56</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55</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1</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0</a:t>
                      </a:r>
                    </a:p>
                  </a:txBody>
                  <a:tcPr marL="91440" marR="91440" marT="45720" marB="45720">
                    <a:solidFill>
                      <a:srgbClr val="FFFFFF"/>
                    </a:solidFill>
                  </a:tcPr>
                </a:tc>
              </a:tr>
              <a:tr h="833438">
                <a:tc>
                  <a:txBody>
                    <a:bodyPr/>
                    <a:lstStyle/>
                    <a:p>
                      <a:r>
                        <a:rPr sz="2100" b="0">
                          <a:solidFill>
                            <a:srgbClr val="142C40"/>
                          </a:solidFill>
                          <a:latin typeface="Helvetica Neue"/>
                          <a:ea typeface="Helvetica Neue"/>
                          <a:cs typeface="Helvetica Neue"/>
                        </a:rPr>
                        <a:t>Total</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125</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117</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7</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1</a:t>
                      </a:r>
                    </a:p>
                  </a:txBody>
                  <a:tcPr marL="91440" marR="91440" marT="45720" marB="45720">
                    <a:solidFill>
                      <a:srgbClr val="F0F4F7"/>
                    </a:solidFill>
                  </a:tcPr>
                </a:tc>
              </a:tr>
            </a:tbl>
          </a:graphicData>
        </a:graphic>
      </p:graphicFrame>
      <p:sp>
        <p:nvSpPr>
          <p:cNvPr id="4" name="takeaway">
            <a:extLst xmlns:a="http://schemas.openxmlformats.org/drawingml/2006/main">
              <a:ext uri="{FF2B5EF4-FFF2-40B4-BE49-F238E27FC236}">
                <a16:creationId xmlns:a16="http://schemas.microsoft.com/office/drawing/2014/main" id="{C1E09E54-8C93-4D26-982C-AD862A7BC700}"/>
              </a:ext>
            </a:extLst>
          </p:cNvPr>
          <p:cNvSpPr>
            <a:spLocks xmlns:a="http://schemas.openxmlformats.org/drawingml/2006/main" noGrp="1"/>
          </p:cNvSpPr>
          <p:nvPr/>
        </p:nvSpPr>
        <p:spPr>
          <a:xfrm xmlns:a="http://schemas.openxmlformats.org/drawingml/2006/main">
            <a:off x="723900" y="5238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7 of 125 neutral-correct pairs answered wrongly under the false premise.</a:t>
            </a:r>
          </a:p>
        </p:txBody>
      </p:sp>
      <p:sp>
        <p:nvSpPr>
          <p:cNvPr id="5" name="footnote">
            <a:extLst xmlns:a="http://schemas.openxmlformats.org/drawingml/2006/main">
              <a:ext uri="{FF2B5EF4-FFF2-40B4-BE49-F238E27FC236}">
                <a16:creationId xmlns:a16="http://schemas.microsoft.com/office/drawing/2014/main" id="{43D1CDF2-CCAD-4E85-8083-1F9785FCFA67}"/>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159 scorable pairs in the 40-question subset; 125 had a correct neutral answer.</a:t>
            </a:r>
          </a:p>
        </p:txBody>
      </p:sp>
    </p:spTree>
    <p:extLst>
      <p:ext uri="{BB962C8B-B14F-4D97-AF65-F5344CB8AC3E}">
        <p14:creationId xmlns:p14="http://schemas.microsoft.com/office/powerpoint/2010/main" val="365385292"/>
      </p:ext>
    </p:extLst>
  </p:cSld>
</p:sld>
</file>

<file path=ppt/slides/slide1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page">
            <a:extLst xmlns:a="http://schemas.openxmlformats.org/drawingml/2006/main">
              <a:ext uri="{FF2B5EF4-FFF2-40B4-BE49-F238E27FC236}">
                <a16:creationId xmlns:a16="http://schemas.microsoft.com/office/drawing/2014/main" id="{DB34EEDB-C444-4311-94DC-4B3E8EC93C0B}"/>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16</a:t>
            </a:r>
          </a:p>
        </p:txBody>
      </p:sp>
      <p:sp>
        <p:nvSpPr>
          <p:cNvPr id="2" name="title">
            <a:extLst xmlns:a="http://schemas.openxmlformats.org/drawingml/2006/main">
              <a:ext uri="{FF2B5EF4-FFF2-40B4-BE49-F238E27FC236}">
                <a16:creationId xmlns:a16="http://schemas.microsoft.com/office/drawing/2014/main" id="{55A8973F-8A6F-44C3-8D75-750A7E0F9035}"/>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RQ4: false challenge after a correct answer</a:t>
            </a:r>
          </a:p>
        </p:txBody>
      </p:sp>
      <p:graphicFrame>
        <p:nvGraphicFramePr>
          <p:cNvPr id="8" name="Chart"/>
          <p:cNvGraphicFramePr/>
          <p:nvPr/>
        </p:nvGraphicFramePr>
        <p:xfrm>
          <a:off xmlns:a="http://schemas.openxmlformats.org/drawingml/2006/main" x="857250" y="1828800"/>
          <a:ext xmlns:a="http://schemas.openxmlformats.org/drawingml/2006/main" cx="10477500" cy="3333750"/>
        </p:xfrm>
        <a:graphic xmlns:a="http://schemas.openxmlformats.org/drawingml/2006/main">
          <a:graphicData uri="http://schemas.openxmlformats.org/drawingml/2006/chart">
            <c:chart xmlns:r="http://schemas.openxmlformats.org/officeDocument/2006/relationships" xmlns:c="http://schemas.openxmlformats.org/drawingml/2006/chart" r:id="R4b8b06531fc5445a"/>
          </a:graphicData>
        </a:graphic>
      </p:graphicFrame>
      <p:sp>
        <p:nvSpPr>
          <p:cNvPr id="4" name="takeaway">
            <a:extLst xmlns:a="http://schemas.openxmlformats.org/drawingml/2006/main">
              <a:ext uri="{FF2B5EF4-FFF2-40B4-BE49-F238E27FC236}">
                <a16:creationId xmlns:a16="http://schemas.microsoft.com/office/drawing/2014/main" id="{794C31B5-F142-4DA7-87DB-A1BD07FAD87F}"/>
              </a:ext>
            </a:extLst>
          </p:cNvPr>
          <p:cNvSpPr>
            <a:spLocks xmlns:a="http://schemas.openxmlformats.org/drawingml/2006/main" noGrp="1"/>
          </p:cNvSpPr>
          <p:nvPr/>
        </p:nvSpPr>
        <p:spPr>
          <a:xfrm xmlns:a="http://schemas.openxmlformats.org/drawingml/2006/main">
            <a:off x="723900" y="5238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Four challenge responses adopted the supplied false answer.</a:t>
            </a:r>
          </a:p>
        </p:txBody>
      </p:sp>
      <p:sp>
        <p:nvSpPr>
          <p:cNvPr id="5" name="footnote">
            <a:extLst xmlns:a="http://schemas.openxmlformats.org/drawingml/2006/main">
              <a:ext uri="{FF2B5EF4-FFF2-40B4-BE49-F238E27FC236}">
                <a16:creationId xmlns:a16="http://schemas.microsoft.com/office/drawing/2014/main" id="{5D81A864-2576-492F-B304-2C1EEE22A8A7}"/>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78 pairs / 39 selected questions. Difference +3.85 pp; 95% CI [−1.28, +8.97] pp includes zero.</a:t>
            </a:r>
          </a:p>
        </p:txBody>
      </p:sp>
    </p:spTree>
    <p:extLst>
      <p:ext uri="{BB962C8B-B14F-4D97-AF65-F5344CB8AC3E}">
        <p14:creationId xmlns:p14="http://schemas.microsoft.com/office/powerpoint/2010/main" val="365385292"/>
      </p:ext>
    </p:extLst>
  </p:cSld>
</p:sld>
</file>

<file path=ppt/slides/slide1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page">
            <a:extLst xmlns:a="http://schemas.openxmlformats.org/drawingml/2006/main">
              <a:ext uri="{FF2B5EF4-FFF2-40B4-BE49-F238E27FC236}">
                <a16:creationId xmlns:a16="http://schemas.microsoft.com/office/drawing/2014/main" id="{5DAD419A-5844-4A47-890A-F59B5F9C0892}"/>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17</a:t>
            </a:r>
          </a:p>
        </p:txBody>
      </p:sp>
      <p:sp>
        <p:nvSpPr>
          <p:cNvPr id="2" name="title">
            <a:extLst xmlns:a="http://schemas.openxmlformats.org/drawingml/2006/main">
              <a:ext uri="{FF2B5EF4-FFF2-40B4-BE49-F238E27FC236}">
                <a16:creationId xmlns:a16="http://schemas.microsoft.com/office/drawing/2014/main" id="{0626F649-9470-4A6D-9A1F-16B51DBFBB7D}"/>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RQ4 case: reasoning says 240, answer says 216</a:t>
            </a:r>
          </a:p>
        </p:txBody>
      </p:sp>
      <p:sp>
        <p:nvSpPr>
          <p:cNvPr id="3" name="problem">
            <a:extLst xmlns:a="http://schemas.openxmlformats.org/drawingml/2006/main">
              <a:ext uri="{FF2B5EF4-FFF2-40B4-BE49-F238E27FC236}">
                <a16:creationId xmlns:a16="http://schemas.microsoft.com/office/drawing/2014/main" id="{E8A1EED6-2D44-4D60-813F-FDB68072204E}"/>
              </a:ext>
            </a:extLst>
          </p:cNvPr>
          <p:cNvSpPr>
            <a:spLocks xmlns:a="http://schemas.openxmlformats.org/drawingml/2006/main" noGrp="1"/>
          </p:cNvSpPr>
          <p:nvPr/>
        </p:nvSpPr>
        <p:spPr>
          <a:xfrm xmlns:a="http://schemas.openxmlformats.org/drawingml/2006/main">
            <a:off x="723900" y="1533525"/>
            <a:ext cx="107061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E77"/>
                </a:solidFill>
                <a:latin typeface="Helvetica Neue"/>
                <a:ea typeface="Helvetica Neue"/>
                <a:cs typeface="Helvetica Neue"/>
              </a:defRPr>
            </a:pPr>
            <a:r>
              <a:rPr sz="2250" b="1">
                <a:solidFill>
                  <a:srgbClr val="147E77"/>
                </a:solidFill>
                <a:latin typeface="Helvetica Neue"/>
                <a:ea typeface="Helvetica Neue"/>
                <a:cs typeface="Helvetica Neue"/>
              </a:rPr>
              <a:t>Give three distinct toys to three children chosen from four boys and six girls; select at least two boys.</a:t>
            </a:r>
          </a:p>
        </p:txBody>
      </p:sp>
      <p:graphicFrame>
        <p:nvGraphicFramePr>
          <p:cNvPr id="9" name=""/>
          <p:cNvGraphicFramePr/>
          <p:nvPr/>
        </p:nvGraphicFramePr>
        <p:xfrm>
          <a:off xmlns:a="http://schemas.openxmlformats.org/drawingml/2006/main" x="685800" y="2847975"/>
          <a:ext xmlns:a="http://schemas.openxmlformats.org/drawingml/2006/main" cx="10820400" cy="2838450"/>
        </p:xfrm>
        <a:graphic xmlns:a="http://schemas.openxmlformats.org/drawingml/2006/main">
          <a:graphicData uri="http://schemas.openxmlformats.org/drawingml/2006/table">
            <a:tbl>
              <a:tblPr/>
              <a:tblGrid>
                <a:gridCol w="8248650"/>
                <a:gridCol w="2571750"/>
              </a:tblGrid>
              <a:tr h="567690">
                <a:tc>
                  <a:txBody>
                    <a:bodyPr/>
                    <a:lstStyle/>
                    <a:p>
                      <a:r>
                        <a:rPr sz="2100" b="1">
                          <a:solidFill>
                            <a:srgbClr val="FFFFFF"/>
                          </a:solidFill>
                          <a:latin typeface="Helvetica Neue"/>
                          <a:ea typeface="Helvetica Neue"/>
                          <a:cs typeface="Helvetica Neue"/>
                        </a:rPr>
                        <a:t>Step / response</a:t>
                      </a:r>
                    </a:p>
                  </a:txBody>
                  <a:tcPr marL="91440" marR="91440" marT="45720" marB="45720">
                    <a:solidFill>
                      <a:srgbClr val="142C40"/>
                    </a:solidFill>
                  </a:tcPr>
                </a:tc>
                <a:tc>
                  <a:txBody>
                    <a:bodyPr/>
                    <a:lstStyle/>
                    <a:p>
                      <a:r>
                        <a:rPr sz="2100" b="1">
                          <a:solidFill>
                            <a:srgbClr val="FFFFFF"/>
                          </a:solidFill>
                          <a:latin typeface="Helvetica Neue"/>
                          <a:ea typeface="Helvetica Neue"/>
                          <a:cs typeface="Helvetica Neue"/>
                        </a:rPr>
                        <a:t>Value</a:t>
                      </a:r>
                    </a:p>
                  </a:txBody>
                  <a:tcPr marL="91440" marR="91440" marT="45720" marB="45720">
                    <a:solidFill>
                      <a:srgbClr val="142C40"/>
                    </a:solidFill>
                  </a:tcPr>
                </a:tc>
              </a:tr>
              <a:tr h="567690">
                <a:tc>
                  <a:txBody>
                    <a:bodyPr/>
                    <a:lstStyle/>
                    <a:p>
                      <a:r>
                        <a:rPr sz="2100" b="0">
                          <a:solidFill>
                            <a:srgbClr val="142C40"/>
                          </a:solidFill>
                          <a:latin typeface="Helvetica Neue"/>
                          <a:ea typeface="Helvetica Neue"/>
                          <a:cs typeface="Helvetica Neue"/>
                        </a:rPr>
                        <a:t>Exactly two boys: choose children and assign toys</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216</a:t>
                      </a:r>
                    </a:p>
                  </a:txBody>
                  <a:tcPr marL="91440" marR="91440" marT="45720" marB="45720">
                    <a:solidFill>
                      <a:srgbClr val="F0F4F7"/>
                    </a:solidFill>
                  </a:tcPr>
                </a:tc>
              </a:tr>
              <a:tr h="567690">
                <a:tc>
                  <a:txBody>
                    <a:bodyPr/>
                    <a:lstStyle/>
                    <a:p>
                      <a:r>
                        <a:rPr sz="2100" b="0">
                          <a:solidFill>
                            <a:srgbClr val="142C40"/>
                          </a:solidFill>
                          <a:latin typeface="Helvetica Neue"/>
                          <a:ea typeface="Helvetica Neue"/>
                          <a:cs typeface="Helvetica Neue"/>
                        </a:rPr>
                        <a:t>Three boys: choose children and assign toys</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24</a:t>
                      </a:r>
                    </a:p>
                  </a:txBody>
                  <a:tcPr marL="91440" marR="91440" marT="45720" marB="45720">
                    <a:solidFill>
                      <a:srgbClr val="FFFFFF"/>
                    </a:solidFill>
                  </a:tcPr>
                </a:tc>
              </a:tr>
              <a:tr h="567690">
                <a:tc>
                  <a:txBody>
                    <a:bodyPr/>
                    <a:lstStyle/>
                    <a:p>
                      <a:r>
                        <a:rPr sz="2100" b="0">
                          <a:solidFill>
                            <a:srgbClr val="142C40"/>
                          </a:solidFill>
                          <a:latin typeface="Helvetica Neue"/>
                          <a:ea typeface="Helvetica Neue"/>
                          <a:cs typeface="Helvetica Neue"/>
                        </a:rPr>
                        <a:t>Correct total</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240</a:t>
                      </a:r>
                    </a:p>
                  </a:txBody>
                  <a:tcPr marL="91440" marR="91440" marT="45720" marB="45720">
                    <a:solidFill>
                      <a:srgbClr val="F0F4F7"/>
                    </a:solidFill>
                  </a:tcPr>
                </a:tc>
              </a:tr>
              <a:tr h="567690">
                <a:tc>
                  <a:txBody>
                    <a:bodyPr/>
                    <a:lstStyle/>
                    <a:p>
                      <a:r>
                        <a:rPr sz="2100" b="0">
                          <a:solidFill>
                            <a:srgbClr val="142C40"/>
                          </a:solidFill>
                          <a:latin typeface="Helvetica Neue"/>
                          <a:ea typeface="Helvetica Neue"/>
                          <a:cs typeface="Helvetica Neue"/>
                        </a:rPr>
                        <a:t>MiniMax after the false challenge</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216</a:t>
                      </a:r>
                    </a:p>
                  </a:txBody>
                  <a:tcPr marL="91440" marR="91440" marT="45720" marB="45720">
                    <a:solidFill>
                      <a:srgbClr val="FFFFFF"/>
                    </a:solidFill>
                  </a:tcPr>
                </a:tc>
              </a:tr>
            </a:tbl>
          </a:graphicData>
        </a:graphic>
      </p:graphicFrame>
      <p:sp>
        <p:nvSpPr>
          <p:cNvPr id="5" name="footnote">
            <a:extLst xmlns:a="http://schemas.openxmlformats.org/drawingml/2006/main">
              <a:ext uri="{FF2B5EF4-FFF2-40B4-BE49-F238E27FC236}">
                <a16:creationId xmlns:a16="http://schemas.microsoft.com/office/drawing/2014/main" id="{F34440F4-F13E-4A8E-B952-A9BBCCA57AD8}"/>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Its explanation calculates 240, but its final answer follows the user’s false alternative.</a:t>
            </a:r>
          </a:p>
        </p:txBody>
      </p:sp>
    </p:spTree>
    <p:extLst>
      <p:ext uri="{BB962C8B-B14F-4D97-AF65-F5344CB8AC3E}">
        <p14:creationId xmlns:p14="http://schemas.microsoft.com/office/powerpoint/2010/main" val="365385292"/>
      </p:ext>
    </p:extLst>
  </p:cSld>
</p:sld>
</file>

<file path=ppt/slides/slide1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8" name="page">
            <a:extLst xmlns:a="http://schemas.openxmlformats.org/drawingml/2006/main">
              <a:ext uri="{FF2B5EF4-FFF2-40B4-BE49-F238E27FC236}">
                <a16:creationId xmlns:a16="http://schemas.microsoft.com/office/drawing/2014/main" id="{391B3327-E55D-4818-A64C-D456F417B9B8}"/>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18</a:t>
            </a:r>
          </a:p>
        </p:txBody>
      </p:sp>
      <p:sp>
        <p:nvSpPr>
          <p:cNvPr id="2" name="title">
            <a:extLst xmlns:a="http://schemas.openxmlformats.org/drawingml/2006/main">
              <a:ext uri="{FF2B5EF4-FFF2-40B4-BE49-F238E27FC236}">
                <a16:creationId xmlns:a16="http://schemas.microsoft.com/office/drawing/2014/main" id="{19D8D7B9-15FD-44F5-BB3F-99D718F17F53}"/>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Discussion and limitations</a:t>
            </a:r>
          </a:p>
        </p:txBody>
      </p:sp>
      <p:sp>
        <p:nvSpPr>
          <p:cNvPr id="3" name="body-1">
            <a:extLst xmlns:a="http://schemas.openxmlformats.org/drawingml/2006/main">
              <a:ext uri="{FF2B5EF4-FFF2-40B4-BE49-F238E27FC236}">
                <a16:creationId xmlns:a16="http://schemas.microsoft.com/office/drawing/2014/main" id="{676C4368-7CEA-459E-A707-49A2C64C82B8}"/>
              </a:ext>
            </a:extLst>
          </p:cNvPr>
          <p:cNvSpPr>
            <a:spLocks xmlns:a="http://schemas.openxmlformats.org/drawingml/2006/main" noGrp="1"/>
          </p:cNvSpPr>
          <p:nvPr/>
        </p:nvSpPr>
        <p:spPr>
          <a:xfrm xmlns:a="http://schemas.openxmlformats.org/drawingml/2006/main">
            <a:off x="723900" y="169545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Helvetica Neue"/>
                <a:ea typeface="Helvetica Neue"/>
                <a:cs typeface="Helvetica Neue"/>
              </a:defRPr>
            </a:pPr>
            <a:r>
              <a:rPr sz="2325" b="0">
                <a:solidFill>
                  <a:srgbClr val="142C40"/>
                </a:solidFill>
                <a:latin typeface="Helvetica Neue"/>
                <a:ea typeface="Helvetica Neue"/>
                <a:cs typeface="Helvetica Neue"/>
              </a:rPr>
              <a:t>Earlier three-model validation did not confirm a stable cross-checking benefit.</a:t>
            </a:r>
          </a:p>
        </p:txBody>
      </p:sp>
      <p:sp>
        <p:nvSpPr>
          <p:cNvPr id="4" name="body-2">
            <a:extLst xmlns:a="http://schemas.openxmlformats.org/drawingml/2006/main">
              <a:ext uri="{FF2B5EF4-FFF2-40B4-BE49-F238E27FC236}">
                <a16:creationId xmlns:a16="http://schemas.microsoft.com/office/drawing/2014/main" id="{4C3463A4-B43C-4CCD-99B5-AC131F1926C2}"/>
              </a:ext>
            </a:extLst>
          </p:cNvPr>
          <p:cNvSpPr>
            <a:spLocks xmlns:a="http://schemas.openxmlformats.org/drawingml/2006/main" noGrp="1"/>
          </p:cNvSpPr>
          <p:nvPr/>
        </p:nvSpPr>
        <p:spPr>
          <a:xfrm xmlns:a="http://schemas.openxmlformats.org/drawingml/2006/main">
            <a:off x="723900" y="274320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Helvetica Neue"/>
                <a:ea typeface="Helvetica Neue"/>
                <a:cs typeface="Helvetica Neue"/>
              </a:defRPr>
            </a:pPr>
            <a:r>
              <a:rPr sz="2325" b="0">
                <a:solidFill>
                  <a:srgbClr val="142C40"/>
                </a:solidFill>
                <a:latin typeface="Helvetica Neue"/>
                <a:ea typeface="Helvetica Neue"/>
                <a:cs typeface="Helvetica Neue"/>
              </a:rPr>
              <a:t>Our latest results use a secondary semantic/recovery analysis; some maths limits changed.</a:t>
            </a:r>
          </a:p>
        </p:txBody>
      </p:sp>
      <p:sp>
        <p:nvSpPr>
          <p:cNvPr id="5" name="body-3">
            <a:extLst xmlns:a="http://schemas.openxmlformats.org/drawingml/2006/main">
              <a:ext uri="{FF2B5EF4-FFF2-40B4-BE49-F238E27FC236}">
                <a16:creationId xmlns:a16="http://schemas.microsoft.com/office/drawing/2014/main" id="{D651CF95-373B-4538-90E4-1CD9CAF5B1FE}"/>
              </a:ext>
            </a:extLst>
          </p:cNvPr>
          <p:cNvSpPr>
            <a:spLocks xmlns:a="http://schemas.openxmlformats.org/drawingml/2006/main" noGrp="1"/>
          </p:cNvSpPr>
          <p:nvPr/>
        </p:nvSpPr>
        <p:spPr>
          <a:xfrm xmlns:a="http://schemas.openxmlformats.org/drawingml/2006/main">
            <a:off x="723900" y="379095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Helvetica Neue"/>
                <a:ea typeface="Helvetica Neue"/>
                <a:cs typeface="Helvetica Neue"/>
              </a:defRPr>
            </a:pPr>
            <a:r>
              <a:rPr sz="2325" b="0">
                <a:solidFill>
                  <a:srgbClr val="142C40"/>
                </a:solidFill>
                <a:latin typeface="Helvetica Neue"/>
                <a:ea typeface="Helvetica Neue"/>
                <a:cs typeface="Helvetica Neue"/>
              </a:rPr>
              <a:t>Selected public questions and optional search limit generalisation.</a:t>
            </a:r>
          </a:p>
        </p:txBody>
      </p:sp>
      <p:sp>
        <p:nvSpPr>
          <p:cNvPr id="6" name="takeaway">
            <a:extLst xmlns:a="http://schemas.openxmlformats.org/drawingml/2006/main">
              <a:ext uri="{FF2B5EF4-FFF2-40B4-BE49-F238E27FC236}">
                <a16:creationId xmlns:a16="http://schemas.microsoft.com/office/drawing/2014/main" id="{1AD7268A-C7CD-49E7-9A4A-FB9A87AC6029}"/>
              </a:ext>
            </a:extLst>
          </p:cNvPr>
          <p:cNvSpPr>
            <a:spLocks xmlns:a="http://schemas.openxmlformats.org/drawingml/2006/main" noGrp="1"/>
          </p:cNvSpPr>
          <p:nvPr/>
        </p:nvSpPr>
        <p:spPr>
          <a:xfrm xmlns:a="http://schemas.openxmlformats.org/drawingml/2006/main">
            <a:off x="723900" y="5238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Final-answer accuracy does not certify the explanation or justify 100% trust.</a:t>
            </a:r>
          </a:p>
        </p:txBody>
      </p:sp>
      <p:sp>
        <p:nvSpPr>
          <p:cNvPr id="7" name="footnote">
            <a:extLst xmlns:a="http://schemas.openxmlformats.org/drawingml/2006/main">
              <a:ext uri="{FF2B5EF4-FFF2-40B4-BE49-F238E27FC236}">
                <a16:creationId xmlns:a16="http://schemas.microsoft.com/office/drawing/2014/main" id="{D7962B2A-6C2B-4CA9-998F-CC24ABB1AE2C}"/>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No universal best method, isolated model-diversity effect, or real-human outcome was established.</a:t>
            </a:r>
          </a:p>
        </p:txBody>
      </p:sp>
    </p:spTree>
    <p:extLst>
      <p:ext uri="{BB962C8B-B14F-4D97-AF65-F5344CB8AC3E}">
        <p14:creationId xmlns:p14="http://schemas.microsoft.com/office/powerpoint/2010/main" val="365385292"/>
      </p:ext>
    </p:extLst>
  </p:cSld>
</p:sld>
</file>

<file path=ppt/slides/slide1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page">
            <a:extLst xmlns:a="http://schemas.openxmlformats.org/drawingml/2006/main">
              <a:ext uri="{FF2B5EF4-FFF2-40B4-BE49-F238E27FC236}">
                <a16:creationId xmlns:a16="http://schemas.microsoft.com/office/drawing/2014/main" id="{C411AB64-4DE3-4823-A881-78DA6D467DBC}"/>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19</a:t>
            </a:r>
          </a:p>
        </p:txBody>
      </p:sp>
      <p:sp>
        <p:nvSpPr>
          <p:cNvPr id="2" name="title">
            <a:extLst xmlns:a="http://schemas.openxmlformats.org/drawingml/2006/main">
              <a:ext uri="{FF2B5EF4-FFF2-40B4-BE49-F238E27FC236}">
                <a16:creationId xmlns:a16="http://schemas.microsoft.com/office/drawing/2014/main" id="{3EB8F60E-5CD1-44BD-9FC9-2F550C6944F1}"/>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Answers to the four research questions</a:t>
            </a:r>
          </a:p>
        </p:txBody>
      </p:sp>
      <p:sp>
        <p:nvSpPr>
          <p:cNvPr id="3" name="question-1">
            <a:extLst xmlns:a="http://schemas.openxmlformats.org/drawingml/2006/main">
              <a:ext uri="{FF2B5EF4-FFF2-40B4-BE49-F238E27FC236}">
                <a16:creationId xmlns:a16="http://schemas.microsoft.com/office/drawing/2014/main" id="{9BBED1CA-0AFC-48FB-BF9F-50EBD3C258E8}"/>
              </a:ext>
            </a:extLst>
          </p:cNvPr>
          <p:cNvSpPr>
            <a:spLocks xmlns:a="http://schemas.openxmlformats.org/drawingml/2006/main" noGrp="1"/>
          </p:cNvSpPr>
          <p:nvPr/>
        </p:nvSpPr>
        <p:spPr>
          <a:xfrm xmlns:a="http://schemas.openxmlformats.org/drawingml/2006/main">
            <a:off x="723900" y="1571625"/>
            <a:ext cx="107061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1. Checking can reduce errors in our selected setup; it is not a guarantee.</a:t>
            </a:r>
          </a:p>
        </p:txBody>
      </p:sp>
      <p:sp>
        <p:nvSpPr>
          <p:cNvPr id="4" name="question-2">
            <a:extLst xmlns:a="http://schemas.openxmlformats.org/drawingml/2006/main">
              <a:ext uri="{FF2B5EF4-FFF2-40B4-BE49-F238E27FC236}">
                <a16:creationId xmlns:a16="http://schemas.microsoft.com/office/drawing/2014/main" id="{53483A06-07F7-4DE8-8FF8-F7FD7EF4B367}"/>
              </a:ext>
            </a:extLst>
          </p:cNvPr>
          <p:cNvSpPr>
            <a:spLocks xmlns:a="http://schemas.openxmlformats.org/drawingml/2006/main" noGrp="1"/>
          </p:cNvSpPr>
          <p:nvPr/>
        </p:nvSpPr>
        <p:spPr>
          <a:xfrm xmlns:a="http://schemas.openxmlformats.org/drawingml/2006/main">
            <a:off x="723900" y="2552700"/>
            <a:ext cx="107061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2. Cross-checking helped mainly when MiniMax received DeepSeek advice; no universal winner.</a:t>
            </a:r>
          </a:p>
        </p:txBody>
      </p:sp>
      <p:sp>
        <p:nvSpPr>
          <p:cNvPr id="5" name="question-3">
            <a:extLst xmlns:a="http://schemas.openxmlformats.org/drawingml/2006/main">
              <a:ext uri="{FF2B5EF4-FFF2-40B4-BE49-F238E27FC236}">
                <a16:creationId xmlns:a16="http://schemas.microsoft.com/office/drawing/2014/main" id="{CAE1A43C-7CB8-4400-AF20-A89DFCB18CF8}"/>
              </a:ext>
            </a:extLst>
          </p:cNvPr>
          <p:cNvSpPr>
            <a:spLocks xmlns:a="http://schemas.openxmlformats.org/drawingml/2006/main" noGrp="1"/>
          </p:cNvSpPr>
          <p:nvPr/>
        </p:nvSpPr>
        <p:spPr>
          <a:xfrm xmlns:a="http://schemas.openxmlformats.org/drawingml/2006/main">
            <a:off x="723900" y="3619500"/>
            <a:ext cx="107061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3. Yes. An actually wrong peer answer overturned one initially correct answer.</a:t>
            </a:r>
          </a:p>
        </p:txBody>
      </p:sp>
      <p:sp>
        <p:nvSpPr>
          <p:cNvPr id="6" name="question-4">
            <a:extLst xmlns:a="http://schemas.openxmlformats.org/drawingml/2006/main">
              <a:ext uri="{FF2B5EF4-FFF2-40B4-BE49-F238E27FC236}">
                <a16:creationId xmlns:a16="http://schemas.microsoft.com/office/drawing/2014/main" id="{02382580-2CFC-4421-8454-4BA26F0FF24D}"/>
              </a:ext>
            </a:extLst>
          </p:cNvPr>
          <p:cNvSpPr>
            <a:spLocks xmlns:a="http://schemas.openxmlformats.org/drawingml/2006/main" noGrp="1"/>
          </p:cNvSpPr>
          <p:nvPr/>
        </p:nvSpPr>
        <p:spPr>
          <a:xfrm xmlns:a="http://schemas.openxmlformats.org/drawingml/2006/main">
            <a:off x="723900" y="4829175"/>
            <a:ext cx="107061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4. Yes. False user input produced wrong answers at both tested timings.</a:t>
            </a:r>
          </a:p>
        </p:txBody>
      </p:sp>
    </p:spTree>
    <p:extLst>
      <p:ext uri="{BB962C8B-B14F-4D97-AF65-F5344CB8AC3E}">
        <p14:creationId xmlns:p14="http://schemas.microsoft.com/office/powerpoint/2010/main" val="365385292"/>
      </p:ext>
    </p:extLst>
  </p:cSld>
</p:sld>
</file>

<file path=ppt/slides/slide2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8" name="page">
            <a:extLst xmlns:a="http://schemas.openxmlformats.org/drawingml/2006/main">
              <a:ext uri="{FF2B5EF4-FFF2-40B4-BE49-F238E27FC236}">
                <a16:creationId xmlns:a16="http://schemas.microsoft.com/office/drawing/2014/main" id="{9DEDC53E-DA43-4D2E-9928-534EFBAFCA8C}"/>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20</a:t>
            </a:r>
          </a:p>
        </p:txBody>
      </p:sp>
      <p:sp>
        <p:nvSpPr>
          <p:cNvPr id="2" name="title">
            <a:extLst xmlns:a="http://schemas.openxmlformats.org/drawingml/2006/main">
              <a:ext uri="{FF2B5EF4-FFF2-40B4-BE49-F238E27FC236}">
                <a16:creationId xmlns:a16="http://schemas.microsoft.com/office/drawing/2014/main" id="{6245B288-CD0A-4519-B29F-70BCCDB76B9A}"/>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Practical implications and Q&amp;A</a:t>
            </a:r>
          </a:p>
        </p:txBody>
      </p:sp>
      <p:sp>
        <p:nvSpPr>
          <p:cNvPr id="3" name="body-1">
            <a:extLst xmlns:a="http://schemas.openxmlformats.org/drawingml/2006/main">
              <a:ext uri="{FF2B5EF4-FFF2-40B4-BE49-F238E27FC236}">
                <a16:creationId xmlns:a16="http://schemas.microsoft.com/office/drawing/2014/main" id="{26C16746-53BA-4482-AD04-AC489B6EB05A}"/>
              </a:ext>
            </a:extLst>
          </p:cNvPr>
          <p:cNvSpPr>
            <a:spLocks xmlns:a="http://schemas.openxmlformats.org/drawingml/2006/main" noGrp="1"/>
          </p:cNvSpPr>
          <p:nvPr/>
        </p:nvSpPr>
        <p:spPr>
          <a:xfrm xmlns:a="http://schemas.openxmlformats.org/drawingml/2006/main">
            <a:off x="723900" y="169545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Helvetica Neue"/>
                <a:ea typeface="Helvetica Neue"/>
                <a:cs typeface="Helvetica Neue"/>
              </a:defRPr>
            </a:pPr>
            <a:r>
              <a:rPr sz="2325" b="0">
                <a:solidFill>
                  <a:srgbClr val="142C40"/>
                </a:solidFill>
                <a:latin typeface="Helvetica Neue"/>
                <a:ea typeface="Helvetica Neue"/>
                <a:cs typeface="Helvetica Neue"/>
              </a:rPr>
              <a:t>Ask each model independently before sharing a preferred answer.</a:t>
            </a:r>
          </a:p>
        </p:txBody>
      </p:sp>
      <p:sp>
        <p:nvSpPr>
          <p:cNvPr id="4" name="body-2">
            <a:extLst xmlns:a="http://schemas.openxmlformats.org/drawingml/2006/main">
              <a:ext uri="{FF2B5EF4-FFF2-40B4-BE49-F238E27FC236}">
                <a16:creationId xmlns:a16="http://schemas.microsoft.com/office/drawing/2014/main" id="{2B5DBCEC-CEEB-40E8-8D8E-B1BF06E2EA80}"/>
              </a:ext>
            </a:extLst>
          </p:cNvPr>
          <p:cNvSpPr>
            <a:spLocks xmlns:a="http://schemas.openxmlformats.org/drawingml/2006/main" noGrp="1"/>
          </p:cNvSpPr>
          <p:nvPr/>
        </p:nvSpPr>
        <p:spPr>
          <a:xfrm xmlns:a="http://schemas.openxmlformats.org/drawingml/2006/main">
            <a:off x="723900" y="274320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Helvetica Neue"/>
                <a:ea typeface="Helvetica Neue"/>
                <a:cs typeface="Helvetica Neue"/>
              </a:defRPr>
            </a:pPr>
            <a:r>
              <a:rPr sz="2325" b="0">
                <a:solidFill>
                  <a:srgbClr val="142C40"/>
                </a:solidFill>
                <a:latin typeface="Helvetica Neue"/>
                <a:ea typeface="Helvetica Neue"/>
                <a:cs typeface="Helvetica Neue"/>
              </a:rPr>
              <a:t>Check the peer’s evidence and reasoning against the original question.</a:t>
            </a:r>
          </a:p>
        </p:txBody>
      </p:sp>
      <p:sp>
        <p:nvSpPr>
          <p:cNvPr id="5" name="body-3">
            <a:extLst xmlns:a="http://schemas.openxmlformats.org/drawingml/2006/main">
              <a:ext uri="{FF2B5EF4-FFF2-40B4-BE49-F238E27FC236}">
                <a16:creationId xmlns:a16="http://schemas.microsoft.com/office/drawing/2014/main" id="{7484A635-8D8D-4270-AE4C-ED73680B8D29}"/>
              </a:ext>
            </a:extLst>
          </p:cNvPr>
          <p:cNvSpPr>
            <a:spLocks xmlns:a="http://schemas.openxmlformats.org/drawingml/2006/main" noGrp="1"/>
          </p:cNvSpPr>
          <p:nvPr/>
        </p:nvSpPr>
        <p:spPr>
          <a:xfrm xmlns:a="http://schemas.openxmlformats.org/drawingml/2006/main">
            <a:off x="723900" y="379095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Helvetica Neue"/>
                <a:ea typeface="Helvetica Neue"/>
                <a:cs typeface="Helvetica Neue"/>
              </a:defRPr>
            </a:pPr>
            <a:r>
              <a:rPr sz="2325" b="0">
                <a:solidFill>
                  <a:srgbClr val="142C40"/>
                </a:solidFill>
                <a:latin typeface="Helvetica Neue"/>
                <a:ea typeface="Helvetica Neue"/>
                <a:cs typeface="Helvetica Neue"/>
              </a:rPr>
              <a:t>Label uncertain assumptions in your prompt and preserve justified uncertainty.</a:t>
            </a:r>
          </a:p>
        </p:txBody>
      </p:sp>
      <p:sp>
        <p:nvSpPr>
          <p:cNvPr id="6" name="takeaway">
            <a:extLst xmlns:a="http://schemas.openxmlformats.org/drawingml/2006/main">
              <a:ext uri="{FF2B5EF4-FFF2-40B4-BE49-F238E27FC236}">
                <a16:creationId xmlns:a16="http://schemas.microsoft.com/office/drawing/2014/main" id="{31AB99E7-3BB9-4396-900F-B92C4821F118}"/>
              </a:ext>
            </a:extLst>
          </p:cNvPr>
          <p:cNvSpPr>
            <a:spLocks xmlns:a="http://schemas.openxmlformats.org/drawingml/2006/main" noGrp="1"/>
          </p:cNvSpPr>
          <p:nvPr/>
        </p:nvSpPr>
        <p:spPr>
          <a:xfrm xmlns:a="http://schemas.openxmlformats.org/drawingml/2006/main">
            <a:off x="723900" y="5238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Use double-checking as a test of claims, not a certificate of correctness.</a:t>
            </a:r>
          </a:p>
        </p:txBody>
      </p:sp>
      <p:sp>
        <p:nvSpPr>
          <p:cNvPr id="7" name="footnote">
            <a:extLst xmlns:a="http://schemas.openxmlformats.org/drawingml/2006/main">
              <a:ext uri="{FF2B5EF4-FFF2-40B4-BE49-F238E27FC236}">
                <a16:creationId xmlns:a16="http://schemas.microsoft.com/office/drawing/2014/main" id="{4F7A5143-13D8-4BC7-81BD-259078D55750}"/>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LINYUNIAN / PAN ZHENGYU · R analysis and archived responses · Codex assistance disclosed.</a:t>
            </a:r>
          </a:p>
        </p:txBody>
      </p:sp>
    </p:spTree>
    <p:extLst>
      <p:ext uri="{BB962C8B-B14F-4D97-AF65-F5344CB8AC3E}">
        <p14:creationId xmlns:p14="http://schemas.microsoft.com/office/powerpoint/2010/main" val="365385292"/>
      </p:ext>
    </p:extLst>
  </p:cSld>
</p:sld>
</file>

<file path=ppt/slides/slide2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page">
            <a:extLst xmlns:a="http://schemas.openxmlformats.org/drawingml/2006/main">
              <a:ext uri="{FF2B5EF4-FFF2-40B4-BE49-F238E27FC236}">
                <a16:creationId xmlns:a16="http://schemas.microsoft.com/office/drawing/2014/main" id="{C570FD52-DA94-413E-A50F-1862394B50D9}"/>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21</a:t>
            </a:r>
          </a:p>
        </p:txBody>
      </p:sp>
      <p:sp>
        <p:nvSpPr>
          <p:cNvPr id="2" name="title">
            <a:extLst xmlns:a="http://schemas.openxmlformats.org/drawingml/2006/main">
              <a:ext uri="{FF2B5EF4-FFF2-40B4-BE49-F238E27FC236}">
                <a16:creationId xmlns:a16="http://schemas.microsoft.com/office/drawing/2014/main" id="{6265440F-5FD3-4707-9F5F-EA39C3BBAC70}"/>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Backup: earlier three-model validation</a:t>
            </a:r>
          </a:p>
        </p:txBody>
      </p:sp>
      <p:graphicFrame>
        <p:nvGraphicFramePr>
          <p:cNvPr id="8" name=""/>
          <p:cNvGraphicFramePr/>
          <p:nvPr/>
        </p:nvGraphicFramePr>
        <p:xfrm>
          <a:off xmlns:a="http://schemas.openxmlformats.org/drawingml/2006/main" x="685800" y="1657350"/>
          <a:ext xmlns:a="http://schemas.openxmlformats.org/drawingml/2006/main" cx="10820400" cy="3333750"/>
        </p:xfrm>
        <a:graphic xmlns:a="http://schemas.openxmlformats.org/drawingml/2006/main">
          <a:graphicData uri="http://schemas.openxmlformats.org/drawingml/2006/table">
            <a:tbl>
              <a:tblPr/>
              <a:tblGrid>
                <a:gridCol w="2524125"/>
                <a:gridCol w="2381250"/>
                <a:gridCol w="2381250"/>
                <a:gridCol w="3533775"/>
              </a:tblGrid>
              <a:tr h="1111250">
                <a:tc>
                  <a:txBody>
                    <a:bodyPr/>
                    <a:lstStyle/>
                    <a:p>
                      <a:r>
                        <a:rPr sz="2100" b="1">
                          <a:solidFill>
                            <a:srgbClr val="FFFFFF"/>
                          </a:solidFill>
                          <a:latin typeface="Helvetica Neue"/>
                          <a:ea typeface="Helvetica Neue"/>
                          <a:cs typeface="Helvetica Neue"/>
                        </a:rPr>
                        <a:t>Domain</a:t>
                      </a:r>
                    </a:p>
                  </a:txBody>
                  <a:tcPr marL="91440" marR="91440" marT="45720" marB="45720">
                    <a:solidFill>
                      <a:srgbClr val="142C40"/>
                    </a:solidFill>
                  </a:tcPr>
                </a:tc>
                <a:tc>
                  <a:txBody>
                    <a:bodyPr/>
                    <a:lstStyle/>
                    <a:p>
                      <a:r>
                        <a:rPr sz="2100" b="1">
                          <a:solidFill>
                            <a:srgbClr val="FFFFFF"/>
                          </a:solidFill>
                          <a:latin typeface="Helvetica Neue"/>
                          <a:ea typeface="Helvetica Neue"/>
                          <a:cs typeface="Helvetica Neue"/>
                        </a:rPr>
                        <a:t>Self-check</a:t>
                      </a:r>
                    </a:p>
                  </a:txBody>
                  <a:tcPr marL="91440" marR="91440" marT="45720" marB="45720">
                    <a:solidFill>
                      <a:srgbClr val="142C40"/>
                    </a:solidFill>
                  </a:tcPr>
                </a:tc>
                <a:tc>
                  <a:txBody>
                    <a:bodyPr/>
                    <a:lstStyle/>
                    <a:p>
                      <a:r>
                        <a:rPr sz="2100" b="1">
                          <a:solidFill>
                            <a:srgbClr val="FFFFFF"/>
                          </a:solidFill>
                          <a:latin typeface="Helvetica Neue"/>
                          <a:ea typeface="Helvetica Neue"/>
                          <a:cs typeface="Helvetica Neue"/>
                        </a:rPr>
                        <a:t>Cross-check</a:t>
                      </a:r>
                    </a:p>
                  </a:txBody>
                  <a:tcPr marL="91440" marR="91440" marT="45720" marB="45720">
                    <a:solidFill>
                      <a:srgbClr val="142C40"/>
                    </a:solidFill>
                  </a:tcPr>
                </a:tc>
                <a:tc>
                  <a:txBody>
                    <a:bodyPr/>
                    <a:lstStyle/>
                    <a:p>
                      <a:r>
                        <a:rPr sz="2100" b="1">
                          <a:solidFill>
                            <a:srgbClr val="FFFFFF"/>
                          </a:solidFill>
                          <a:latin typeface="Helvetica Neue"/>
                          <a:ea typeface="Helvetica Neue"/>
                          <a:cs typeface="Helvetica Neue"/>
                        </a:rPr>
                        <a:t>97.5% difference CI</a:t>
                      </a:r>
                    </a:p>
                  </a:txBody>
                  <a:tcPr marL="91440" marR="91440" marT="45720" marB="45720">
                    <a:solidFill>
                      <a:srgbClr val="142C40"/>
                    </a:solidFill>
                  </a:tcPr>
                </a:tc>
              </a:tr>
              <a:tr h="1111250">
                <a:tc>
                  <a:txBody>
                    <a:bodyPr/>
                    <a:lstStyle/>
                    <a:p>
                      <a:r>
                        <a:rPr sz="2100" b="0">
                          <a:solidFill>
                            <a:srgbClr val="142C40"/>
                          </a:solidFill>
                          <a:latin typeface="Helvetica Neue"/>
                          <a:ea typeface="Helvetica Neue"/>
                          <a:cs typeface="Helvetica Neue"/>
                        </a:rPr>
                        <a:t>facts</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43.94%</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44.64%</a:t>
                      </a:r>
                    </a:p>
                  </a:txBody>
                  <a:tcPr marL="91440" marR="91440" marT="45720" marB="45720">
                    <a:solidFill>
                      <a:srgbClr val="F0F4F7"/>
                    </a:solidFill>
                  </a:tcPr>
                </a:tc>
                <a:tc>
                  <a:txBody>
                    <a:bodyPr/>
                    <a:lstStyle/>
                    <a:p>
                      <a:r>
                        <a:rPr sz="2100" b="0">
                          <a:solidFill>
                            <a:srgbClr val="142C40"/>
                          </a:solidFill>
                          <a:latin typeface="Helvetica Neue"/>
                          <a:ea typeface="Helvetica Neue"/>
                          <a:cs typeface="Helvetica Neue"/>
                        </a:rPr>
                        <a:t>[-4.98, +6.17] pp</a:t>
                      </a:r>
                    </a:p>
                  </a:txBody>
                  <a:tcPr marL="91440" marR="91440" marT="45720" marB="45720">
                    <a:solidFill>
                      <a:srgbClr val="F0F4F7"/>
                    </a:solidFill>
                  </a:tcPr>
                </a:tc>
              </a:tr>
              <a:tr h="1111250">
                <a:tc>
                  <a:txBody>
                    <a:bodyPr/>
                    <a:lstStyle/>
                    <a:p>
                      <a:r>
                        <a:rPr sz="2100" b="0">
                          <a:solidFill>
                            <a:srgbClr val="142C40"/>
                          </a:solidFill>
                          <a:latin typeface="Helvetica Neue"/>
                          <a:ea typeface="Helvetica Neue"/>
                          <a:cs typeface="Helvetica Neue"/>
                        </a:rPr>
                        <a:t>mathematics</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4.02%</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2.01%</a:t>
                      </a:r>
                    </a:p>
                  </a:txBody>
                  <a:tcPr marL="91440" marR="91440" marT="45720" marB="45720">
                    <a:solidFill>
                      <a:srgbClr val="FFFFFF"/>
                    </a:solidFill>
                  </a:tcPr>
                </a:tc>
                <a:tc>
                  <a:txBody>
                    <a:bodyPr/>
                    <a:lstStyle/>
                    <a:p>
                      <a:r>
                        <a:rPr sz="2100" b="0">
                          <a:solidFill>
                            <a:srgbClr val="142C40"/>
                          </a:solidFill>
                          <a:latin typeface="Helvetica Neue"/>
                          <a:ea typeface="Helvetica Neue"/>
                          <a:cs typeface="Helvetica Neue"/>
                        </a:rPr>
                        <a:t>[-5.21, +0.00] pp</a:t>
                      </a:r>
                    </a:p>
                  </a:txBody>
                  <a:tcPr marL="91440" marR="91440" marT="45720" marB="45720">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4734F86B-5904-4D5E-9289-9777987C417E}"/>
              </a:ext>
            </a:extLst>
          </p:cNvPr>
          <p:cNvSpPr>
            <a:spLocks xmlns:a="http://schemas.openxmlformats.org/drawingml/2006/main" noGrp="1"/>
          </p:cNvSpPr>
          <p:nvPr/>
        </p:nvSpPr>
        <p:spPr>
          <a:xfrm xmlns:a="http://schemas.openxmlformats.org/drawingml/2006/main">
            <a:off x="723900" y="5238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Earlier evidence did not confirm a stable benefit in either domain.</a:t>
            </a:r>
          </a:p>
        </p:txBody>
      </p:sp>
      <p:sp>
        <p:nvSpPr>
          <p:cNvPr id="5" name="footnote">
            <a:extLst xmlns:a="http://schemas.openxmlformats.org/drawingml/2006/main">
              <a:ext uri="{FF2B5EF4-FFF2-40B4-BE49-F238E27FC236}">
                <a16:creationId xmlns:a16="http://schemas.microsoft.com/office/drawing/2014/main" id="{0D2C4D72-5AC0-4226-A3C3-04837C39C762}"/>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Facts 578 pairs / 100 questions; maths 199 pairs / 39 questions. Different setup; no pooling.</a:t>
            </a:r>
          </a:p>
        </p:txBody>
      </p:sp>
    </p:spTree>
    <p:extLst>
      <p:ext uri="{BB962C8B-B14F-4D97-AF65-F5344CB8AC3E}">
        <p14:creationId xmlns:p14="http://schemas.microsoft.com/office/powerpoint/2010/main" val="365385292"/>
      </p:ext>
    </p:extLst>
  </p:cSld>
</p:sld>
</file>

<file path=ppt/slides/slide2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5" name="page">
            <a:extLst xmlns:a="http://schemas.openxmlformats.org/drawingml/2006/main">
              <a:ext uri="{FF2B5EF4-FFF2-40B4-BE49-F238E27FC236}">
                <a16:creationId xmlns:a16="http://schemas.microsoft.com/office/drawing/2014/main" id="{BD21CACB-CCE1-41A4-A5BE-054E3575BD7A}"/>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22</a:t>
            </a:r>
          </a:p>
        </p:txBody>
      </p:sp>
      <p:sp>
        <p:nvSpPr>
          <p:cNvPr id="2" name="title">
            <a:extLst xmlns:a="http://schemas.openxmlformats.org/drawingml/2006/main">
              <a:ext uri="{FF2B5EF4-FFF2-40B4-BE49-F238E27FC236}">
                <a16:creationId xmlns:a16="http://schemas.microsoft.com/office/drawing/2014/main" id="{AAE5C7CC-ED18-49E7-AA4E-B20E1559ADEF}"/>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Backup: recovery and source-risk checks</a:t>
            </a:r>
          </a:p>
        </p:txBody>
      </p:sp>
      <p:graphicFrame>
        <p:nvGraphicFramePr>
          <p:cNvPr id="7" name=""/>
          <p:cNvGraphicFramePr/>
          <p:nvPr/>
        </p:nvGraphicFramePr>
        <p:xfrm>
          <a:off xmlns:a="http://schemas.openxmlformats.org/drawingml/2006/main" x="685800" y="1657350"/>
          <a:ext xmlns:a="http://schemas.openxmlformats.org/drawingml/2006/main" cx="10820400" cy="3333750"/>
        </p:xfrm>
        <a:graphic xmlns:a="http://schemas.openxmlformats.org/drawingml/2006/main">
          <a:graphicData uri="http://schemas.openxmlformats.org/drawingml/2006/table">
            <a:tbl>
              <a:tblPr/>
              <a:tblGrid>
                <a:gridCol w="4191000"/>
                <a:gridCol w="3571875"/>
                <a:gridCol w="3057525"/>
              </a:tblGrid>
              <a:tr h="666750">
                <a:tc>
                  <a:txBody>
                    <a:bodyPr/>
                    <a:lstStyle/>
                    <a:p>
                      <a:r>
                        <a:rPr sz="1800" b="1">
                          <a:solidFill>
                            <a:srgbClr val="FFFFFF"/>
                          </a:solidFill>
                          <a:latin typeface="Helvetica Neue"/>
                          <a:ea typeface="Helvetica Neue"/>
                          <a:cs typeface="Helvetica Neue"/>
                        </a:rPr>
                        <a:t>Analysis</a:t>
                      </a:r>
                    </a:p>
                  </a:txBody>
                  <a:tcPr marL="91440" marR="91440" marT="45720" marB="45720">
                    <a:solidFill>
                      <a:srgbClr val="142C40"/>
                    </a:solidFill>
                  </a:tcPr>
                </a:tc>
                <a:tc>
                  <a:txBody>
                    <a:bodyPr/>
                    <a:lstStyle/>
                    <a:p>
                      <a:r>
                        <a:rPr sz="1800" b="1">
                          <a:solidFill>
                            <a:srgbClr val="FFFFFF"/>
                          </a:solidFill>
                          <a:latin typeface="Helvetica Neue"/>
                          <a:ea typeface="Helvetica Neue"/>
                          <a:cs typeface="Helvetica Neue"/>
                        </a:rPr>
                        <a:t>Math self vs cross</a:t>
                      </a:r>
                    </a:p>
                  </a:txBody>
                  <a:tcPr marL="91440" marR="91440" marT="45720" marB="45720">
                    <a:solidFill>
                      <a:srgbClr val="142C40"/>
                    </a:solidFill>
                  </a:tcPr>
                </a:tc>
                <a:tc>
                  <a:txBody>
                    <a:bodyPr/>
                    <a:lstStyle/>
                    <a:p>
                      <a:r>
                        <a:rPr sz="1800" b="1">
                          <a:solidFill>
                            <a:srgbClr val="FFFFFF"/>
                          </a:solidFill>
                          <a:latin typeface="Helvetica Neue"/>
                          <a:ea typeface="Helvetica Neue"/>
                          <a:cs typeface="Helvetica Neue"/>
                        </a:rPr>
                        <a:t>Interpretation</a:t>
                      </a:r>
                    </a:p>
                  </a:txBody>
                  <a:tcPr marL="91440" marR="91440" marT="45720" marB="45720">
                    <a:solidFill>
                      <a:srgbClr val="142C40"/>
                    </a:solidFill>
                  </a:tcPr>
                </a:tc>
              </a:tr>
              <a:tr h="666750">
                <a:tc>
                  <a:txBody>
                    <a:bodyPr/>
                    <a:lstStyle/>
                    <a:p>
                      <a:r>
                        <a:rPr sz="1800" b="0">
                          <a:solidFill>
                            <a:srgbClr val="142C40"/>
                          </a:solidFill>
                          <a:latin typeface="Helvetica Neue"/>
                          <a:ea typeface="Helvetica Neue"/>
                          <a:cs typeface="Helvetica Neue"/>
                        </a:rPr>
                        <a:t>Original-run semantic result</a:t>
                      </a:r>
                    </a:p>
                  </a:txBody>
                  <a:tcPr marL="91440" marR="91440" marT="45720" marB="45720">
                    <a:solidFill>
                      <a:srgbClr val="F0F4F7"/>
                    </a:solidFill>
                  </a:tcPr>
                </a:tc>
                <a:tc>
                  <a:txBody>
                    <a:bodyPr/>
                    <a:lstStyle/>
                    <a:p>
                      <a:r>
                        <a:rPr sz="1800" b="0">
                          <a:solidFill>
                            <a:srgbClr val="142C40"/>
                          </a:solidFill>
                          <a:latin typeface="Helvetica Neue"/>
                          <a:ea typeface="Helvetica Neue"/>
                          <a:cs typeface="Helvetica Neue"/>
                        </a:rPr>
                        <a:t>5.65% vs 1.32%; 109 pairs</a:t>
                      </a:r>
                    </a:p>
                  </a:txBody>
                  <a:tcPr marL="91440" marR="91440" marT="45720" marB="45720">
                    <a:solidFill>
                      <a:srgbClr val="F0F4F7"/>
                    </a:solidFill>
                  </a:tcPr>
                </a:tc>
                <a:tc>
                  <a:txBody>
                    <a:bodyPr/>
                    <a:lstStyle/>
                    <a:p>
                      <a:r>
                        <a:rPr sz="1800" b="0">
                          <a:solidFill>
                            <a:srgbClr val="142C40"/>
                          </a:solidFill>
                          <a:latin typeface="Helvetica Neue"/>
                          <a:ea typeface="Helvetica Neue"/>
                          <a:cs typeface="Helvetica Neue"/>
                        </a:rPr>
                        <a:t>97.5% CI crosses zero</a:t>
                      </a:r>
                    </a:p>
                  </a:txBody>
                  <a:tcPr marL="91440" marR="91440" marT="45720" marB="45720">
                    <a:solidFill>
                      <a:srgbClr val="F0F4F7"/>
                    </a:solidFill>
                  </a:tcPr>
                </a:tc>
              </a:tr>
              <a:tr h="666750">
                <a:tc>
                  <a:txBody>
                    <a:bodyPr/>
                    <a:lstStyle/>
                    <a:p>
                      <a:r>
                        <a:rPr sz="1800" b="0">
                          <a:solidFill>
                            <a:srgbClr val="142C40"/>
                          </a:solidFill>
                          <a:latin typeface="Helvetica Neue"/>
                          <a:ea typeface="Helvetica Neue"/>
                          <a:cs typeface="Helvetica Neue"/>
                        </a:rPr>
                        <a:t>Completed-data overlay</a:t>
                      </a:r>
                    </a:p>
                  </a:txBody>
                  <a:tcPr marL="91440" marR="91440" marT="45720" marB="45720">
                    <a:solidFill>
                      <a:srgbClr val="FFFFFF"/>
                    </a:solidFill>
                  </a:tcPr>
                </a:tc>
                <a:tc>
                  <a:txBody>
                    <a:bodyPr/>
                    <a:lstStyle/>
                    <a:p>
                      <a:r>
                        <a:rPr sz="1800" b="0">
                          <a:solidFill>
                            <a:srgbClr val="142C40"/>
                          </a:solidFill>
                          <a:latin typeface="Helvetica Neue"/>
                          <a:ea typeface="Helvetica Neue"/>
                          <a:cs typeface="Helvetica Neue"/>
                        </a:rPr>
                        <a:t>10.37% vs 5.49%; 164 pairs</a:t>
                      </a:r>
                    </a:p>
                  </a:txBody>
                  <a:tcPr marL="91440" marR="91440" marT="45720" marB="45720">
                    <a:solidFill>
                      <a:srgbClr val="FFFFFF"/>
                    </a:solidFill>
                  </a:tcPr>
                </a:tc>
                <a:tc>
                  <a:txBody>
                    <a:bodyPr/>
                    <a:lstStyle/>
                    <a:p>
                      <a:r>
                        <a:rPr sz="1800" b="0">
                          <a:solidFill>
                            <a:srgbClr val="142C40"/>
                          </a:solidFill>
                          <a:latin typeface="Helvetica Neue"/>
                          <a:ea typeface="Helvetica Neue"/>
                          <a:cs typeface="Helvetica Neue"/>
                        </a:rPr>
                        <a:t>21 higher-limit recoveries</a:t>
                      </a:r>
                    </a:p>
                  </a:txBody>
                  <a:tcPr marL="91440" marR="91440" marT="45720" marB="45720">
                    <a:solidFill>
                      <a:srgbClr val="FFFFFF"/>
                    </a:solidFill>
                  </a:tcPr>
                </a:tc>
              </a:tr>
              <a:tr h="666750">
                <a:tc>
                  <a:txBody>
                    <a:bodyPr/>
                    <a:lstStyle/>
                    <a:p>
                      <a:r>
                        <a:rPr sz="1800" b="0">
                          <a:solidFill>
                            <a:srgbClr val="142C40"/>
                          </a:solidFill>
                          <a:latin typeface="Helvetica Neue"/>
                          <a:ea typeface="Helvetica Neue"/>
                          <a:cs typeface="Helvetica Neue"/>
                        </a:rPr>
                        <a:t>Exclude all higher-limit-exposed questions</a:t>
                      </a:r>
                    </a:p>
                  </a:txBody>
                  <a:tcPr marL="91440" marR="91440" marT="45720" marB="45720">
                    <a:solidFill>
                      <a:srgbClr val="F0F4F7"/>
                    </a:solidFill>
                  </a:tcPr>
                </a:tc>
                <a:tc>
                  <a:txBody>
                    <a:bodyPr/>
                    <a:lstStyle/>
                    <a:p>
                      <a:r>
                        <a:rPr sz="1800" b="0">
                          <a:solidFill>
                            <a:srgbClr val="142C40"/>
                          </a:solidFill>
                          <a:latin typeface="Helvetica Neue"/>
                          <a:ea typeface="Helvetica Neue"/>
                          <a:cs typeface="Helvetica Neue"/>
                        </a:rPr>
                        <a:t>5.83% vs 0.00%; 30 questions</a:t>
                      </a:r>
                    </a:p>
                  </a:txBody>
                  <a:tcPr marL="91440" marR="91440" marT="45720" marB="45720">
                    <a:solidFill>
                      <a:srgbClr val="F0F4F7"/>
                    </a:solidFill>
                  </a:tcPr>
                </a:tc>
                <a:tc>
                  <a:txBody>
                    <a:bodyPr/>
                    <a:lstStyle/>
                    <a:p>
                      <a:r>
                        <a:rPr sz="1800" b="0">
                          <a:solidFill>
                            <a:srgbClr val="142C40"/>
                          </a:solidFill>
                          <a:latin typeface="Helvetica Neue"/>
                          <a:ea typeface="Helvetica Neue"/>
                          <a:cs typeface="Helvetica Neue"/>
                        </a:rPr>
                        <a:t>Separate post-hoc sensitivity</a:t>
                      </a:r>
                    </a:p>
                  </a:txBody>
                  <a:tcPr marL="91440" marR="91440" marT="45720" marB="45720">
                    <a:solidFill>
                      <a:srgbClr val="F0F4F7"/>
                    </a:solidFill>
                  </a:tcPr>
                </a:tc>
              </a:tr>
              <a:tr h="666750">
                <a:tc>
                  <a:txBody>
                    <a:bodyPr/>
                    <a:lstStyle/>
                    <a:p>
                      <a:r>
                        <a:rPr sz="1800" b="0">
                          <a:solidFill>
                            <a:srgbClr val="142C40"/>
                          </a:solidFill>
                          <a:latin typeface="Helvetica Neue"/>
                          <a:ea typeface="Helvetica Neue"/>
                          <a:cs typeface="Helvetica Neue"/>
                        </a:rPr>
                        <a:t>Exclude visible benchmark-source-risk questions</a:t>
                      </a:r>
                    </a:p>
                  </a:txBody>
                  <a:tcPr marL="91440" marR="91440" marT="45720" marB="45720">
                    <a:solidFill>
                      <a:srgbClr val="FFFFFF"/>
                    </a:solidFill>
                  </a:tcPr>
                </a:tc>
                <a:tc>
                  <a:txBody>
                    <a:bodyPr/>
                    <a:lstStyle/>
                    <a:p>
                      <a:r>
                        <a:rPr sz="1800" b="0">
                          <a:solidFill>
                            <a:srgbClr val="142C40"/>
                          </a:solidFill>
                          <a:latin typeface="Helvetica Neue"/>
                          <a:ea typeface="Helvetica Neue"/>
                          <a:cs typeface="Helvetica Neue"/>
                        </a:rPr>
                        <a:t>11.46% vs 6.25%; 24 questions</a:t>
                      </a:r>
                    </a:p>
                  </a:txBody>
                  <a:tcPr marL="91440" marR="91440" marT="45720" marB="45720">
                    <a:solidFill>
                      <a:srgbClr val="FFFFFF"/>
                    </a:solidFill>
                  </a:tcPr>
                </a:tc>
                <a:tc>
                  <a:txBody>
                    <a:bodyPr/>
                    <a:lstStyle/>
                    <a:p>
                      <a:r>
                        <a:rPr sz="1800" b="0">
                          <a:solidFill>
                            <a:srgbClr val="142C40"/>
                          </a:solidFill>
                          <a:latin typeface="Helvetica Neue"/>
                          <a:ea typeface="Helvetica Neue"/>
                          <a:cs typeface="Helvetica Neue"/>
                        </a:rPr>
                        <a:t>Separate post-hoc sensitivity</a:t>
                      </a:r>
                    </a:p>
                  </a:txBody>
                  <a:tcPr marL="91440" marR="91440" marT="45720" marB="45720">
                    <a:solidFill>
                      <a:srgbClr val="FFFFFF"/>
                    </a:solidFill>
                  </a:tcPr>
                </a:tc>
              </a:tr>
            </a:tbl>
          </a:graphicData>
        </a:graphic>
      </p:graphicFrame>
      <p:sp>
        <p:nvSpPr>
          <p:cNvPr id="4" name="footnote">
            <a:extLst xmlns:a="http://schemas.openxmlformats.org/drawingml/2006/main">
              <a:ext uri="{FF2B5EF4-FFF2-40B4-BE49-F238E27FC236}">
                <a16:creationId xmlns:a16="http://schemas.microsoft.com/office/drawing/2014/main" id="{F31CA99A-870C-465C-B65F-66A11A080A7A}"/>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The two exclusion analyses are separate subsets; neither proves absence of contamination.</a:t>
            </a:r>
          </a:p>
        </p:txBody>
      </p:sp>
    </p:spTree>
    <p:extLst>
      <p:ext uri="{BB962C8B-B14F-4D97-AF65-F5344CB8AC3E}">
        <p14:creationId xmlns:p14="http://schemas.microsoft.com/office/powerpoint/2010/main" val="365385292"/>
      </p:ext>
    </p:extLst>
  </p:cSld>
</p:sld>
</file>

<file path=ppt/slides/slide2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8" name="page">
            <a:extLst xmlns:a="http://schemas.openxmlformats.org/drawingml/2006/main">
              <a:ext uri="{FF2B5EF4-FFF2-40B4-BE49-F238E27FC236}">
                <a16:creationId xmlns:a16="http://schemas.microsoft.com/office/drawing/2014/main" id="{02D0D2CE-5690-429F-BDDD-24C8ECB9A0FD}"/>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23</a:t>
            </a:r>
          </a:p>
        </p:txBody>
      </p:sp>
      <p:sp>
        <p:nvSpPr>
          <p:cNvPr id="2" name="title">
            <a:extLst xmlns:a="http://schemas.openxmlformats.org/drawingml/2006/main">
              <a:ext uri="{FF2B5EF4-FFF2-40B4-BE49-F238E27FC236}">
                <a16:creationId xmlns:a16="http://schemas.microsoft.com/office/drawing/2014/main" id="{A7276672-FEA2-4816-9FDC-5E36A9095B27}"/>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Backup: actual checking prompts</a:t>
            </a:r>
          </a:p>
        </p:txBody>
      </p:sp>
      <p:sp>
        <p:nvSpPr>
          <p:cNvPr id="3" name="">
            <a:extLst xmlns:a="http://schemas.openxmlformats.org/drawingml/2006/main">
              <a:ext uri="{FF2B5EF4-FFF2-40B4-BE49-F238E27FC236}">
                <a16:creationId xmlns:a16="http://schemas.microsoft.com/office/drawing/2014/main" id="{5AAA6A7C-D108-4D23-837B-F07E396C3D46}"/>
              </a:ext>
            </a:extLst>
          </p:cNvPr>
          <p:cNvSpPr>
            <a:spLocks xmlns:a="http://schemas.openxmlformats.org/drawingml/2006/main" noGrp="1"/>
          </p:cNvSpPr>
          <p:nvPr/>
        </p:nvSpPr>
        <p:spPr>
          <a:xfrm xmlns:a="http://schemas.openxmlformats.org/drawingml/2006/main">
            <a:off x="723900" y="15621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E77"/>
                </a:solidFill>
                <a:latin typeface="Helvetica Neue"/>
                <a:ea typeface="Helvetica Neue"/>
                <a:cs typeface="Helvetica Neue"/>
              </a:defRPr>
            </a:pPr>
            <a:r>
              <a:rPr sz="2250" b="1">
                <a:solidFill>
                  <a:srgbClr val="147E77"/>
                </a:solidFill>
                <a:latin typeface="Helvetica Neue"/>
                <a:ea typeface="Helvetica Neue"/>
                <a:cs typeface="Helvetica Neue"/>
              </a:rPr>
              <a:t>Self-check</a:t>
            </a:r>
          </a:p>
        </p:txBody>
      </p:sp>
      <p:sp>
        <p:nvSpPr>
          <p:cNvPr id="4" name="">
            <a:extLst xmlns:a="http://schemas.openxmlformats.org/drawingml/2006/main">
              <a:ext uri="{FF2B5EF4-FFF2-40B4-BE49-F238E27FC236}">
                <a16:creationId xmlns:a16="http://schemas.microsoft.com/office/drawing/2014/main" id="{C780C5B6-DD93-4443-BAD4-AF6FF7C1F217}"/>
              </a:ext>
            </a:extLst>
          </p:cNvPr>
          <p:cNvSpPr>
            <a:spLocks xmlns:a="http://schemas.openxmlformats.org/drawingml/2006/main" noGrp="1"/>
          </p:cNvSpPr>
          <p:nvPr/>
        </p:nvSpPr>
        <p:spPr>
          <a:xfrm xmlns:a="http://schemas.openxmlformats.org/drawingml/2006/main">
            <a:off x="723900" y="20764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40"/>
                </a:solidFill>
                <a:latin typeface="Helvetica Neue"/>
                <a:ea typeface="Helvetica Neue"/>
                <a:cs typeface="Helvetica Neue"/>
              </a:defRPr>
            </a:pPr>
            <a:r>
              <a:rPr sz="2175" b="0">
                <a:solidFill>
                  <a:srgbClr val="142C40"/>
                </a:solidFill>
                <a:latin typeface="Helvetica Neue"/>
                <a:ea typeface="Helvetica Neue"/>
                <a:cs typeface="Helvetica Neue"/>
              </a:rPr>
              <a:t>Please check the original question again and give your final answer.</a:t>
            </a:r>
          </a:p>
        </p:txBody>
      </p:sp>
      <p:sp>
        <p:nvSpPr>
          <p:cNvPr id="5" name="">
            <a:extLst xmlns:a="http://schemas.openxmlformats.org/drawingml/2006/main">
              <a:ext uri="{FF2B5EF4-FFF2-40B4-BE49-F238E27FC236}">
                <a16:creationId xmlns:a16="http://schemas.microsoft.com/office/drawing/2014/main" id="{81913DA5-4275-400D-AB78-7D5C5BB8F172}"/>
              </a:ext>
            </a:extLst>
          </p:cNvPr>
          <p:cNvSpPr>
            <a:spLocks xmlns:a="http://schemas.openxmlformats.org/drawingml/2006/main" noGrp="1"/>
          </p:cNvSpPr>
          <p:nvPr/>
        </p:nvSpPr>
        <p:spPr>
          <a:xfrm xmlns:a="http://schemas.openxmlformats.org/drawingml/2006/main">
            <a:off x="723900" y="31337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E77"/>
                </a:solidFill>
                <a:latin typeface="Helvetica Neue"/>
                <a:ea typeface="Helvetica Neue"/>
                <a:cs typeface="Helvetica Neue"/>
              </a:defRPr>
            </a:pPr>
            <a:r>
              <a:rPr sz="2250" b="1">
                <a:solidFill>
                  <a:srgbClr val="147E77"/>
                </a:solidFill>
                <a:latin typeface="Helvetica Neue"/>
                <a:ea typeface="Helvetica Neue"/>
                <a:cs typeface="Helvetica Neue"/>
              </a:rPr>
              <a:t>Cross-check</a:t>
            </a:r>
          </a:p>
        </p:txBody>
      </p:sp>
      <p:sp>
        <p:nvSpPr>
          <p:cNvPr id="6" name="">
            <a:extLst xmlns:a="http://schemas.openxmlformats.org/drawingml/2006/main">
              <a:ext uri="{FF2B5EF4-FFF2-40B4-BE49-F238E27FC236}">
                <a16:creationId xmlns:a16="http://schemas.microsoft.com/office/drawing/2014/main" id="{9B049CFA-1BB3-4E0F-A26A-5A760939D2D8}"/>
              </a:ext>
            </a:extLst>
          </p:cNvPr>
          <p:cNvSpPr>
            <a:spLocks xmlns:a="http://schemas.openxmlformats.org/drawingml/2006/main" noGrp="1"/>
          </p:cNvSpPr>
          <p:nvPr/>
        </p:nvSpPr>
        <p:spPr>
          <a:xfrm xmlns:a="http://schemas.openxmlformats.org/drawingml/2006/main">
            <a:off x="723900" y="3667125"/>
            <a:ext cx="10572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40"/>
                </a:solidFill>
                <a:latin typeface="Helvetica Neue"/>
                <a:ea typeface="Helvetica Neue"/>
                <a:cs typeface="Helvetica Neue"/>
              </a:defRPr>
            </a:pPr>
            <a:r>
              <a:rPr sz="2100" b="0">
                <a:solidFill>
                  <a:srgbClr val="142C40"/>
                </a:solidFill>
                <a:latin typeface="Helvetica Neue"/>
                <a:ea typeface="Helvetica Neue"/>
                <a:cs typeface="Helvetica Neue"/>
              </a:rPr>
              <a:t>Another AI assistant suggested:</a:t>
            </a:r>
          </a:p>
          <a:p xmlns:a="http://schemas.openxmlformats.org/drawingml/2006/main">
            <a:pPr>
              <a:defRPr sz="2100" b="0">
                <a:solidFill>
                  <a:srgbClr val="142C40"/>
                </a:solidFill>
                <a:latin typeface="Helvetica Neue"/>
                <a:ea typeface="Helvetica Neue"/>
                <a:cs typeface="Helvetica Neue"/>
              </a:defRPr>
            </a:pPr>
            <a:r>
              <a:rPr sz="2100" b="0">
                <a:solidFill>
                  <a:srgbClr val="142C40"/>
                </a:solidFill>
                <a:latin typeface="Helvetica Neue"/>
                <a:ea typeface="Helvetica Neue"/>
                <a:cs typeface="Helvetica Neue"/>
              </a:rPr>
              <a:t>[Actual peer answer, abstention and reasoning]</a:t>
            </a:r>
          </a:p>
          <a:p xmlns:a="http://schemas.openxmlformats.org/drawingml/2006/main">
            <a:r>
              <a:t/>
            </a:r>
          </a:p>
          <a:p xmlns:a="http://schemas.openxmlformats.org/drawingml/2006/main">
            <a:pPr>
              <a:defRPr sz="2100" b="0">
                <a:solidFill>
                  <a:srgbClr val="142C40"/>
                </a:solidFill>
                <a:latin typeface="Helvetica Neue"/>
                <a:ea typeface="Helvetica Neue"/>
                <a:cs typeface="Helvetica Neue"/>
              </a:defRPr>
            </a:pPr>
            <a:r>
              <a:rPr sz="2100" b="0">
                <a:solidFill>
                  <a:srgbClr val="142C40"/>
                </a:solidFill>
                <a:latin typeface="Helvetica Neue"/>
                <a:ea typeface="Helvetica Neue"/>
                <a:cs typeface="Helvetica Neue"/>
              </a:rPr>
              <a:t>Please check the original question again and give your final answer.</a:t>
            </a:r>
          </a:p>
        </p:txBody>
      </p:sp>
      <p:sp>
        <p:nvSpPr>
          <p:cNvPr id="7" name="footnote">
            <a:extLst xmlns:a="http://schemas.openxmlformats.org/drawingml/2006/main">
              <a:ext uri="{FF2B5EF4-FFF2-40B4-BE49-F238E27FC236}">
                <a16:creationId xmlns:a16="http://schemas.microsoft.com/office/drawing/2014/main" id="{B53919BC-1681-4F70-B621-6F1E17468545}"/>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Facts example: In which year did MGA rebrand as the Museum of Australian Photography?</a:t>
            </a:r>
          </a:p>
        </p:txBody>
      </p:sp>
    </p:spTree>
    <p:extLst>
      <p:ext uri="{BB962C8B-B14F-4D97-AF65-F5344CB8AC3E}">
        <p14:creationId xmlns:p14="http://schemas.microsoft.com/office/powerpoint/2010/main" val="365385292"/>
      </p:ext>
    </p:extLst>
  </p:cSld>
</p:sld>
</file>

<file path=ppt/slides/slide2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5" name="page">
            <a:extLst xmlns:a="http://schemas.openxmlformats.org/drawingml/2006/main">
              <a:ext uri="{FF2B5EF4-FFF2-40B4-BE49-F238E27FC236}">
                <a16:creationId xmlns:a16="http://schemas.microsoft.com/office/drawing/2014/main" id="{C17E1DEC-CFE7-4E4E-9131-706EDAA3FB68}"/>
              </a:ext>
            </a:extLst>
          </p:cNvPr>
          <p:cNvSpPr>
            <a:spLocks xmlns:a="http://schemas.openxmlformats.org/drawingml/2006/main" noGrp="1"/>
          </p:cNvSpPr>
          <p:nvPr/>
        </p:nvSpPr>
        <p:spPr>
          <a:xfrm xmlns:a="http://schemas.openxmlformats.org/drawingml/2006/main">
            <a:off x="11068050" y="6410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586"/>
                </a:solidFill>
                <a:latin typeface="Helvetica Neue"/>
                <a:ea typeface="Helvetica Neue"/>
                <a:cs typeface="Helvetica Neue"/>
              </a:defRPr>
            </a:pPr>
            <a:r>
              <a:rPr sz="1275" b="0">
                <a:solidFill>
                  <a:srgbClr val="657586"/>
                </a:solidFill>
                <a:latin typeface="Helvetica Neue"/>
                <a:ea typeface="Helvetica Neue"/>
                <a:cs typeface="Helvetica Neue"/>
              </a:rPr>
              <a:t>24</a:t>
            </a:r>
          </a:p>
        </p:txBody>
      </p:sp>
      <p:sp>
        <p:nvSpPr>
          <p:cNvPr id="2" name="title">
            <a:extLst xmlns:a="http://schemas.openxmlformats.org/drawingml/2006/main">
              <a:ext uri="{FF2B5EF4-FFF2-40B4-BE49-F238E27FC236}">
                <a16:creationId xmlns:a16="http://schemas.microsoft.com/office/drawing/2014/main" id="{D5B49B92-557F-4173-971C-F7CEEE6C392B}"/>
              </a:ext>
            </a:extLst>
          </p:cNvPr>
          <p:cNvSpPr>
            <a:spLocks xmlns:a="http://schemas.openxmlformats.org/drawingml/2006/main" noGrp="1"/>
          </p:cNvSpPr>
          <p:nvPr/>
        </p:nvSpPr>
        <p:spPr>
          <a:xfrm xmlns:a="http://schemas.openxmlformats.org/drawingml/2006/main">
            <a:off x="647700" y="40005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40"/>
                </a:solidFill>
                <a:latin typeface="Helvetica Neue"/>
                <a:ea typeface="Helvetica Neue"/>
                <a:cs typeface="Helvetica Neue"/>
              </a:defRPr>
            </a:pPr>
            <a:r>
              <a:rPr sz="3225" b="1">
                <a:solidFill>
                  <a:srgbClr val="142C40"/>
                </a:solidFill>
                <a:latin typeface="Helvetica Neue"/>
                <a:ea typeface="Helvetica Neue"/>
                <a:cs typeface="Helvetica Neue"/>
              </a:rPr>
              <a:t>Backup: related work and public benchmarks</a:t>
            </a:r>
          </a:p>
        </p:txBody>
      </p:sp>
      <p:graphicFrame>
        <p:nvGraphicFramePr>
          <p:cNvPr id="7" name=""/>
          <p:cNvGraphicFramePr/>
          <p:nvPr/>
        </p:nvGraphicFramePr>
        <p:xfrm>
          <a:off xmlns:a="http://schemas.openxmlformats.org/drawingml/2006/main" x="685800" y="1657350"/>
          <a:ext xmlns:a="http://schemas.openxmlformats.org/drawingml/2006/main" cx="10820400" cy="3333750"/>
        </p:xfrm>
        <a:graphic xmlns:a="http://schemas.openxmlformats.org/drawingml/2006/main">
          <a:graphicData uri="http://schemas.openxmlformats.org/drawingml/2006/table">
            <a:tbl>
              <a:tblPr/>
              <a:tblGrid>
                <a:gridCol w="5857875"/>
                <a:gridCol w="4962525"/>
              </a:tblGrid>
              <a:tr h="666750">
                <a:tc>
                  <a:txBody>
                    <a:bodyPr/>
                    <a:lstStyle/>
                    <a:p>
                      <a:r>
                        <a:rPr sz="2025" b="1">
                          <a:solidFill>
                            <a:srgbClr val="FFFFFF"/>
                          </a:solidFill>
                          <a:latin typeface="Helvetica Neue"/>
                          <a:ea typeface="Helvetica Neue"/>
                          <a:cs typeface="Helvetica Neue"/>
                        </a:rPr>
                        <a:t>Source</a:t>
                      </a:r>
                    </a:p>
                  </a:txBody>
                  <a:tcPr marL="91440" marR="91440" marT="45720" marB="45720">
                    <a:solidFill>
                      <a:srgbClr val="142C40"/>
                    </a:solidFill>
                  </a:tcPr>
                </a:tc>
                <a:tc>
                  <a:txBody>
                    <a:bodyPr/>
                    <a:lstStyle/>
                    <a:p>
                      <a:r>
                        <a:rPr sz="2025" b="1">
                          <a:solidFill>
                            <a:srgbClr val="FFFFFF"/>
                          </a:solidFill>
                          <a:latin typeface="Helvetica Neue"/>
                          <a:ea typeface="Helvetica Neue"/>
                          <a:cs typeface="Helvetica Neue"/>
                        </a:rPr>
                        <a:t>What it contributes</a:t>
                      </a:r>
                    </a:p>
                  </a:txBody>
                  <a:tcPr marL="91440" marR="91440" marT="45720" marB="45720">
                    <a:solidFill>
                      <a:srgbClr val="142C40"/>
                    </a:solidFill>
                  </a:tcPr>
                </a:tc>
              </a:tr>
              <a:tr h="666750">
                <a:tc>
                  <a:txBody>
                    <a:bodyPr/>
                    <a:lstStyle/>
                    <a:p>
                      <a:r>
                        <a:rPr sz="2025" b="0">
                          <a:solidFill>
                            <a:srgbClr val="142C40"/>
                          </a:solidFill>
                          <a:latin typeface="Helvetica Neue"/>
                          <a:ea typeface="Helvetica Neue"/>
                          <a:cs typeface="Helvetica Neue"/>
                        </a:rPr>
                        <a:t>Huang et al., ICLR 2024</a:t>
                      </a:r>
                    </a:p>
                  </a:txBody>
                  <a:tcPr marL="91440" marR="91440" marT="45720" marB="45720">
                    <a:solidFill>
                      <a:srgbClr val="F0F4F7"/>
                    </a:solidFill>
                  </a:tcPr>
                </a:tc>
                <a:tc>
                  <a:txBody>
                    <a:bodyPr/>
                    <a:lstStyle/>
                    <a:p>
                      <a:r>
                        <a:rPr sz="2025" b="0">
                          <a:solidFill>
                            <a:srgbClr val="142C40"/>
                          </a:solidFill>
                          <a:latin typeface="Helvetica Neue"/>
                          <a:ea typeface="Helvetica Neue"/>
                          <a:cs typeface="Helvetica Neue"/>
                        </a:rPr>
                        <a:t>Limits of intrinsic self-correction</a:t>
                      </a:r>
                    </a:p>
                  </a:txBody>
                  <a:tcPr marL="91440" marR="91440" marT="45720" marB="45720">
                    <a:solidFill>
                      <a:srgbClr val="F0F4F7"/>
                    </a:solidFill>
                  </a:tcPr>
                </a:tc>
              </a:tr>
              <a:tr h="666750">
                <a:tc>
                  <a:txBody>
                    <a:bodyPr/>
                    <a:lstStyle/>
                    <a:p>
                      <a:r>
                        <a:rPr sz="2025" b="0">
                          <a:solidFill>
                            <a:srgbClr val="142C40"/>
                          </a:solidFill>
                          <a:latin typeface="Helvetica Neue"/>
                          <a:ea typeface="Helvetica Neue"/>
                          <a:cs typeface="Helvetica Neue"/>
                        </a:rPr>
                        <a:t>Dhuliawala et al., ACL Findings 2024</a:t>
                      </a:r>
                    </a:p>
                  </a:txBody>
                  <a:tcPr marL="91440" marR="91440" marT="45720" marB="45720">
                    <a:solidFill>
                      <a:srgbClr val="FFFFFF"/>
                    </a:solidFill>
                  </a:tcPr>
                </a:tc>
                <a:tc>
                  <a:txBody>
                    <a:bodyPr/>
                    <a:lstStyle/>
                    <a:p>
                      <a:r>
                        <a:rPr sz="2025" b="0">
                          <a:solidFill>
                            <a:srgbClr val="142C40"/>
                          </a:solidFill>
                          <a:latin typeface="Helvetica Neue"/>
                          <a:ea typeface="Helvetica Neue"/>
                          <a:cs typeface="Helvetica Neue"/>
                        </a:rPr>
                        <a:t>Chain-of-Verification</a:t>
                      </a:r>
                    </a:p>
                  </a:txBody>
                  <a:tcPr marL="91440" marR="91440" marT="45720" marB="45720">
                    <a:solidFill>
                      <a:srgbClr val="FFFFFF"/>
                    </a:solidFill>
                  </a:tcPr>
                </a:tc>
              </a:tr>
              <a:tr h="666750">
                <a:tc>
                  <a:txBody>
                    <a:bodyPr/>
                    <a:lstStyle/>
                    <a:p>
                      <a:r>
                        <a:rPr sz="2025" b="0">
                          <a:solidFill>
                            <a:srgbClr val="142C40"/>
                          </a:solidFill>
                          <a:latin typeface="Helvetica Neue"/>
                          <a:ea typeface="Helvetica Neue"/>
                          <a:cs typeface="Helvetica Neue"/>
                        </a:rPr>
                        <a:t>Google SimpleQA Verified / CHAMP</a:t>
                      </a:r>
                    </a:p>
                  </a:txBody>
                  <a:tcPr marL="91440" marR="91440" marT="45720" marB="45720">
                    <a:solidFill>
                      <a:srgbClr val="F0F4F7"/>
                    </a:solidFill>
                  </a:tcPr>
                </a:tc>
                <a:tc>
                  <a:txBody>
                    <a:bodyPr/>
                    <a:lstStyle/>
                    <a:p>
                      <a:r>
                        <a:rPr sz="2025" b="0">
                          <a:solidFill>
                            <a:srgbClr val="142C40"/>
                          </a:solidFill>
                          <a:latin typeface="Helvetica Neue"/>
                          <a:ea typeface="Helvetica Neue"/>
                          <a:cs typeface="Helvetica Neue"/>
                        </a:rPr>
                        <a:t>Selected facts and mathematics questions</a:t>
                      </a:r>
                    </a:p>
                  </a:txBody>
                  <a:tcPr marL="91440" marR="91440" marT="45720" marB="45720">
                    <a:solidFill>
                      <a:srgbClr val="F0F4F7"/>
                    </a:solidFill>
                  </a:tcPr>
                </a:tc>
              </a:tr>
              <a:tr h="666750">
                <a:tc>
                  <a:txBody>
                    <a:bodyPr/>
                    <a:lstStyle/>
                    <a:p>
                      <a:r>
                        <a:rPr sz="2025" b="0">
                          <a:solidFill>
                            <a:srgbClr val="142C40"/>
                          </a:solidFill>
                          <a:latin typeface="Helvetica Neue"/>
                          <a:ea typeface="Helvetica Neue"/>
                          <a:cs typeface="Helvetica Neue"/>
                        </a:rPr>
                        <a:t>Artificial Analysis: M3 vs V4 Pro 0813</a:t>
                      </a:r>
                    </a:p>
                  </a:txBody>
                  <a:tcPr marL="91440" marR="91440" marT="45720" marB="45720">
                    <a:solidFill>
                      <a:srgbClr val="FFFFFF"/>
                    </a:solidFill>
                  </a:tcPr>
                </a:tc>
                <a:tc>
                  <a:txBody>
                    <a:bodyPr/>
                    <a:lstStyle/>
                    <a:p>
                      <a:r>
                        <a:rPr sz="2025" b="0">
                          <a:solidFill>
                            <a:srgbClr val="142C40"/>
                          </a:solidFill>
                          <a:latin typeface="Helvetica Neue"/>
                          <a:ea typeface="Helvetica Neue"/>
                          <a:cs typeface="Helvetica Neue"/>
                        </a:rPr>
                        <a:t>Reasoning-mode index: 29 vs 36</a:t>
                      </a:r>
                    </a:p>
                  </a:txBody>
                  <a:tcPr marL="91440" marR="91440" marT="45720" marB="45720">
                    <a:solidFill>
                      <a:srgbClr val="FFFFFF"/>
                    </a:solidFill>
                  </a:tcPr>
                </a:tc>
              </a:tr>
            </a:tbl>
          </a:graphicData>
        </a:graphic>
      </p:graphicFrame>
      <p:sp>
        <p:nvSpPr>
          <p:cNvPr id="4" name="footnote">
            <a:extLst xmlns:a="http://schemas.openxmlformats.org/drawingml/2006/main">
              <a:ext uri="{FF2B5EF4-FFF2-40B4-BE49-F238E27FC236}">
                <a16:creationId xmlns:a16="http://schemas.microsoft.com/office/drawing/2014/main" id="{15716D84-CC85-48CE-AE07-3505AFC57059}"/>
              </a:ext>
            </a:extLst>
          </p:cNvPr>
          <p:cNvSpPr>
            <a:spLocks xmlns:a="http://schemas.openxmlformats.org/drawingml/2006/main" noGrp="1"/>
          </p:cNvSpPr>
          <p:nvPr/>
        </p:nvSpPr>
        <p:spPr>
          <a:xfrm xmlns:a="http://schemas.openxmlformats.org/drawingml/2006/main">
            <a:off x="723900" y="6038850"/>
            <a:ext cx="10248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57586"/>
                </a:solidFill>
                <a:latin typeface="Helvetica Neue"/>
                <a:ea typeface="Helvetica Neue"/>
                <a:cs typeface="Helvetica Neue"/>
              </a:defRPr>
            </a:pPr>
            <a:r>
              <a:rPr sz="1650" b="0">
                <a:solidFill>
                  <a:srgbClr val="657586"/>
                </a:solidFill>
                <a:latin typeface="Helvetica Neue"/>
                <a:ea typeface="Helvetica Neue"/>
                <a:cs typeface="Helvetica Neue"/>
              </a:rPr>
              <a:t>Public reasoning benchmarks use different settings; our collection has thinking disabled.</a:t>
            </a:r>
          </a:p>
        </p:txBody>
      </p:sp>
    </p:spTree>
    <p:extLst>
      <p:ext uri="{BB962C8B-B14F-4D97-AF65-F5344CB8AC3E}">
        <p14:creationId xmlns:p14="http://schemas.microsoft.com/office/powerpoint/2010/main" val="3653852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2026-10-06T08:49:00.3380000Z</dcterms:created>
  <dcterms:modified xsi:type="dcterms:W3CDTF">2026-10-06T08:49:00.3380000Z</dcterms:modified>
</coreProperties>
</file>