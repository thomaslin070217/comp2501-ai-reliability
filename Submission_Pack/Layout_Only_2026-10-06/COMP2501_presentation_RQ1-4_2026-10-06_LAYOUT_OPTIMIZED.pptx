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3cf09872c48fe" /><Relationship Type="http://schemas.openxmlformats.org/officeDocument/2006/relationships/extended-properties" Target="/docProps/app.xml" Id="R53193602939a4840" /><Relationship Type="http://schemas.openxmlformats.org/officeDocument/2006/relationships/officeDocument" Target="/ppt/presentation.xml" Id="R4b5dbd63d775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eeb20ecc8497b"/>
  </p:sldMasterIdLst>
  <p:notesMasterIdLst>
    <p:notesMasterId xmlns:r="http://schemas.openxmlformats.org/officeDocument/2006/relationships" r:id="R41beec39a73f45fe"/>
  </p:notesMasterIdLst>
  <p:sldIdLst>
    <p:sldId xmlns:r="http://schemas.openxmlformats.org/officeDocument/2006/relationships" id="256" r:id="R06a444d948a6406e"/>
    <p:sldId xmlns:r="http://schemas.openxmlformats.org/officeDocument/2006/relationships" id="257" r:id="R80e10c8f41c443ad"/>
    <p:sldId xmlns:r="http://schemas.openxmlformats.org/officeDocument/2006/relationships" id="258" r:id="R384705a3387f49d9"/>
    <p:sldId xmlns:r="http://schemas.openxmlformats.org/officeDocument/2006/relationships" id="259" r:id="R1ee1ed6eb97c4930"/>
    <p:sldId xmlns:r="http://schemas.openxmlformats.org/officeDocument/2006/relationships" id="260" r:id="R2f07c7aad5134a6b"/>
    <p:sldId xmlns:r="http://schemas.openxmlformats.org/officeDocument/2006/relationships" id="261" r:id="R980c71453e6e4d55"/>
    <p:sldId xmlns:r="http://schemas.openxmlformats.org/officeDocument/2006/relationships" id="262" r:id="Raccc055f0a0f4134"/>
    <p:sldId xmlns:r="http://schemas.openxmlformats.org/officeDocument/2006/relationships" id="263" r:id="R998b73c35c03424e"/>
    <p:sldId xmlns:r="http://schemas.openxmlformats.org/officeDocument/2006/relationships" id="264" r:id="Ra517e8c05d2243df"/>
    <p:sldId xmlns:r="http://schemas.openxmlformats.org/officeDocument/2006/relationships" id="265" r:id="R0491aa90b20849d5"/>
    <p:sldId xmlns:r="http://schemas.openxmlformats.org/officeDocument/2006/relationships" id="266" r:id="R21bf65d3aedf4a40"/>
    <p:sldId xmlns:r="http://schemas.openxmlformats.org/officeDocument/2006/relationships" id="267" r:id="Ra765a0ac93784bb5"/>
    <p:sldId xmlns:r="http://schemas.openxmlformats.org/officeDocument/2006/relationships" id="268" r:id="R7422b739c2234f45"/>
    <p:sldId xmlns:r="http://schemas.openxmlformats.org/officeDocument/2006/relationships" id="269" r:id="Rd59828dac3684b2d"/>
    <p:sldId xmlns:r="http://schemas.openxmlformats.org/officeDocument/2006/relationships" id="270" r:id="Rb6d1b17e80cb4a0f"/>
    <p:sldId xmlns:r="http://schemas.openxmlformats.org/officeDocument/2006/relationships" id="271" r:id="R5aa9f555b6954bfb"/>
    <p:sldId xmlns:r="http://schemas.openxmlformats.org/officeDocument/2006/relationships" id="272" r:id="R8033f829ee6c4d61"/>
    <p:sldId xmlns:r="http://schemas.openxmlformats.org/officeDocument/2006/relationships" id="273" r:id="Rb0af8d66ff4c416c"/>
    <p:sldId xmlns:r="http://schemas.openxmlformats.org/officeDocument/2006/relationships" id="274" r:id="R070b4c1928b340e2"/>
    <p:sldId xmlns:r="http://schemas.openxmlformats.org/officeDocument/2006/relationships" id="275" r:id="R965c37c77a564582"/>
    <p:sldId xmlns:r="http://schemas.openxmlformats.org/officeDocument/2006/relationships" id="276" r:id="R495a3109f26b4445"/>
    <p:sldId xmlns:r="http://schemas.openxmlformats.org/officeDocument/2006/relationships" id="277" r:id="R85f6e4515c6a41bf"/>
    <p:sldId xmlns:r="http://schemas.openxmlformats.org/officeDocument/2006/relationships" id="278" r:id="R07222340c9b84c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c720625104260" /><Relationship Type="http://schemas.openxmlformats.org/officeDocument/2006/relationships/slideMaster" Target="/ppt/slideMasters/slideMaster1.xml" Id="R745eeb20ecc8497b" /><Relationship Type="http://schemas.openxmlformats.org/officeDocument/2006/relationships/notesMaster" Target="/ppt/notesMasters/notesMaster1.xml" Id="R41beec39a73f45fe" /><Relationship Type="http://schemas.openxmlformats.org/officeDocument/2006/relationships/presProps" Target="/ppt/presProps.xml" Id="R8a23703cbb374c11" /><Relationship Type="http://schemas.openxmlformats.org/officeDocument/2006/relationships/viewProps" Target="/ppt/viewProps.xml" Id="R87aa30b50aab44bb" /><Relationship Type="http://schemas.openxmlformats.org/officeDocument/2006/relationships/tableStyles" Target="/ppt/tableStyles.xml" Id="R10829c6bb8984946" /><Relationship Type="http://schemas.openxmlformats.org/officeDocument/2006/relationships/slide" Target="/ppt/slides/slide1.xml" Id="R06a444d948a6406e" /><Relationship Type="http://schemas.openxmlformats.org/officeDocument/2006/relationships/slide" Target="/ppt/slides/slide2.xml" Id="R80e10c8f41c443ad" /><Relationship Type="http://schemas.openxmlformats.org/officeDocument/2006/relationships/slide" Target="/ppt/slides/slide3.xml" Id="R384705a3387f49d9" /><Relationship Type="http://schemas.openxmlformats.org/officeDocument/2006/relationships/slide" Target="/ppt/slides/slide4.xml" Id="R1ee1ed6eb97c4930" /><Relationship Type="http://schemas.openxmlformats.org/officeDocument/2006/relationships/slide" Target="/ppt/slides/slide5.xml" Id="R2f07c7aad5134a6b" /><Relationship Type="http://schemas.openxmlformats.org/officeDocument/2006/relationships/slide" Target="/ppt/slides/slide6.xml" Id="R980c71453e6e4d55" /><Relationship Type="http://schemas.openxmlformats.org/officeDocument/2006/relationships/slide" Target="/ppt/slides/slide7.xml" Id="Raccc055f0a0f4134" /><Relationship Type="http://schemas.openxmlformats.org/officeDocument/2006/relationships/slide" Target="/ppt/slides/slide8.xml" Id="R998b73c35c03424e" /><Relationship Type="http://schemas.openxmlformats.org/officeDocument/2006/relationships/slide" Target="/ppt/slides/slide9.xml" Id="Ra517e8c05d2243df" /><Relationship Type="http://schemas.openxmlformats.org/officeDocument/2006/relationships/slide" Target="/ppt/slides/slide10.xml" Id="R0491aa90b20849d5" /><Relationship Type="http://schemas.openxmlformats.org/officeDocument/2006/relationships/slide" Target="/ppt/slides/slide11.xml" Id="R21bf65d3aedf4a40" /><Relationship Type="http://schemas.openxmlformats.org/officeDocument/2006/relationships/slide" Target="/ppt/slides/slide12.xml" Id="Ra765a0ac93784bb5" /><Relationship Type="http://schemas.openxmlformats.org/officeDocument/2006/relationships/slide" Target="/ppt/slides/slide13.xml" Id="R7422b739c2234f45" /><Relationship Type="http://schemas.openxmlformats.org/officeDocument/2006/relationships/slide" Target="/ppt/slides/slide14.xml" Id="Rd59828dac3684b2d" /><Relationship Type="http://schemas.openxmlformats.org/officeDocument/2006/relationships/slide" Target="/ppt/slides/slide15.xml" Id="Rb6d1b17e80cb4a0f" /><Relationship Type="http://schemas.openxmlformats.org/officeDocument/2006/relationships/slide" Target="/ppt/slides/slide16.xml" Id="R5aa9f555b6954bfb" /><Relationship Type="http://schemas.openxmlformats.org/officeDocument/2006/relationships/slide" Target="/ppt/slides/slide17.xml" Id="R8033f829ee6c4d61" /><Relationship Type="http://schemas.openxmlformats.org/officeDocument/2006/relationships/slide" Target="/ppt/slides/slide18.xml" Id="Rb0af8d66ff4c416c" /><Relationship Type="http://schemas.openxmlformats.org/officeDocument/2006/relationships/slide" Target="/ppt/slides/slide19.xml" Id="R070b4c1928b340e2" /><Relationship Type="http://schemas.openxmlformats.org/officeDocument/2006/relationships/slide" Target="/ppt/slides/slide20.xml" Id="R965c37c77a564582" /><Relationship Type="http://schemas.openxmlformats.org/officeDocument/2006/relationships/slide" Target="/ppt/slides/slide21.xml" Id="R495a3109f26b4445" /><Relationship Type="http://schemas.openxmlformats.org/officeDocument/2006/relationships/slide" Target="/ppt/slides/slide22.xml" Id="R85f6e4515c6a41bf" /><Relationship Type="http://schemas.openxmlformats.org/officeDocument/2006/relationships/slide" Target="/ppt/slides/slide23.xml" Id="R07222340c9b8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66a5d4b3a4a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859111f1744013" /><Relationship Type="http://schemas.openxmlformats.org/officeDocument/2006/relationships/notesMaster" Target="/ppt/notesMasters/notesMaster1.xml" Id="Rbe05ee503c6047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40fa128d4e4345" /><Relationship Type="http://schemas.openxmlformats.org/officeDocument/2006/relationships/notesMaster" Target="/ppt/notesMasters/notesMaster1.xml" Id="Ra6b209fe4d3e40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9940db9dfe47ee" /><Relationship Type="http://schemas.openxmlformats.org/officeDocument/2006/relationships/notesMaster" Target="/ppt/notesMasters/notesMaster1.xml" Id="Re8c2d0fc0350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9764767c34e30" /><Relationship Type="http://schemas.openxmlformats.org/officeDocument/2006/relationships/notesMaster" Target="/ppt/notesMasters/notesMaster1.xml" Id="R34a6d172fd4b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85b89ffc44a25" /><Relationship Type="http://schemas.openxmlformats.org/officeDocument/2006/relationships/notesMaster" Target="/ppt/notesMasters/notesMaster1.xml" Id="Rc24539ec2056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33732985548c5" /><Relationship Type="http://schemas.openxmlformats.org/officeDocument/2006/relationships/notesMaster" Target="/ppt/notesMasters/notesMaster1.xml" Id="R15a900ddbe8246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24aeb36cf64d2c" /><Relationship Type="http://schemas.openxmlformats.org/officeDocument/2006/relationships/notesMaster" Target="/ppt/notesMasters/notesMaster1.xml" Id="Rb14a87dc6759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63c30d465b492a" /><Relationship Type="http://schemas.openxmlformats.org/officeDocument/2006/relationships/notesMaster" Target="/ppt/notesMasters/notesMaster1.xml" Id="R1c3a0aaedb6649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f7ab3e1bfd4c86" /><Relationship Type="http://schemas.openxmlformats.org/officeDocument/2006/relationships/notesMaster" Target="/ppt/notesMasters/notesMaster1.xml" Id="Ra26de3df668d44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1dd04f15d34ade" /><Relationship Type="http://schemas.openxmlformats.org/officeDocument/2006/relationships/notesMaster" Target="/ppt/notesMasters/notesMaster1.xml" Id="R7a29dd9554704f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4faee785dd4e1a" /><Relationship Type="http://schemas.openxmlformats.org/officeDocument/2006/relationships/notesMaster" Target="/ppt/notesMasters/notesMaster1.xml" Id="R08da4b24388b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ffd66cc8ea4859" /><Relationship Type="http://schemas.openxmlformats.org/officeDocument/2006/relationships/notesMaster" Target="/ppt/notesMasters/notesMaster1.xml" Id="R5c5819dd2b394b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3a0ddf351f4dd7" /><Relationship Type="http://schemas.openxmlformats.org/officeDocument/2006/relationships/notesMaster" Target="/ppt/notesMasters/notesMaster1.xml" Id="Rb70151853a5646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966bd37918423f" /><Relationship Type="http://schemas.openxmlformats.org/officeDocument/2006/relationships/notesMaster" Target="/ppt/notesMasters/notesMaster1.xml" Id="R2f518df795c948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2adbeb8e914ed3" /><Relationship Type="http://schemas.openxmlformats.org/officeDocument/2006/relationships/notesMaster" Target="/ppt/notesMasters/notesMaster1.xml" Id="R16d0957bdde041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483990f7ad4b68" /><Relationship Type="http://schemas.openxmlformats.org/officeDocument/2006/relationships/notesMaster" Target="/ppt/notesMasters/notesMaster1.xml" Id="R1edbad1d064044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1f03a3bab54c49" /><Relationship Type="http://schemas.openxmlformats.org/officeDocument/2006/relationships/notesMaster" Target="/ppt/notesMasters/notesMaster1.xml" Id="Rcebf822f53e24c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602658a60947da" /><Relationship Type="http://schemas.openxmlformats.org/officeDocument/2006/relationships/notesMaster" Target="/ppt/notesMasters/notesMaster1.xml" Id="Rfee2923c02e343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8b7360565843f8" /><Relationship Type="http://schemas.openxmlformats.org/officeDocument/2006/relationships/notesMaster" Target="/ppt/notesMasters/notesMaster1.xml" Id="Ra39a134c5ffc4a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5a766f1cb747a9" /><Relationship Type="http://schemas.openxmlformats.org/officeDocument/2006/relationships/notesMaster" Target="/ppt/notesMasters/notesMaster1.xml" Id="R604043ae27584b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09c88c3cb44e25" /><Relationship Type="http://schemas.openxmlformats.org/officeDocument/2006/relationships/notesMaster" Target="/ppt/notesMasters/notesMaster1.xml" Id="R6b4f2d550b0945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410441686d4e32" /><Relationship Type="http://schemas.openxmlformats.org/officeDocument/2006/relationships/notesMaster" Target="/ppt/notesMasters/notesMaster1.xml" Id="R928d1ead6bd04c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1ea353103742b7" /><Relationship Type="http://schemas.openxmlformats.org/officeDocument/2006/relationships/notesMaster" Target="/ppt/notesMasters/notesMaster1.xml" Id="Reeb6c4316c36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  <a:p xmlns:a="http://schemas.openxmlformats.org/drawingml/2006/main">
            <a:r>
              <a:t>Related sources: Wang et al. (2023), https://arxiv.org/abs/2203.11171</a:t>
            </a:r>
          </a:p>
          <a:p xmlns:a="http://schemas.openxmlformats.org/drawingml/2006/main">
            <a:r>
              <a:t>Huang et al. (2024), https://openreview.net/forum?id=IkmD3fKBPQ</a:t>
            </a:r>
          </a:p>
          <a:p xmlns:a="http://schemas.openxmlformats.org/drawingml/2006/main">
            <a:r>
              <a:t>Dhuliawala et al. (2024), https://aclanthology.org/2024.findings-acl.212/</a:t>
            </a:r>
          </a:p>
          <a:p xmlns:a="http://schemas.openxmlformats.org/drawingml/2006/main">
            <a:r>
              <a:t>Sharma et al. (2023), https://arxiv.org/abs/2310.13548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  <a:p xmlns:a="http://schemas.openxmlformats.org/drawingml/2006/main">
            <a:r>
              <a:t>The listed record counts sum to 14,095. The inventory includes completed, partial, and planned/latest-study records, so the categories should not be interpreted as one homogeneous analysis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  <a:p xmlns:a="http://schemas.openxmlformats.org/drawingml/2006/main">
            <a:r>
              <a:t>Metric names in the working document: ds_fact_initial_error_rate, mm_fact_initial_error_rate, ds_math_initial_error_rate, mm_math_initial_error_rate, mm_fact_selfcheck_error_rate, mm_math_selfcheck_error_rate, mm_fact_crosscheck_error_rate, mm_math_crosscheck_error_rate.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https://vcng7a3g4ga3.feishu.cn/docx/SeW0dsKH0oCQOexFK1ecWWCnnSe</a:t>
            </a:r>
          </a:p>
          <a:p xmlns:a="http://schemas.openxmlformats.org/drawingml/2006/main">
            <a:r>
              <a:t>Results, discussion, and conclusion sections in the working document contain headings only. Section 8.1 contains a chart placeholder without numerical results, so no findings were invented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78fbc5ad44c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0d80e0c93434a" /><Relationship Type="http://schemas.openxmlformats.org/officeDocument/2006/relationships/slideLayout" Target="/ppt/slideLayouts/slideLayout1.xml" Id="R7ff9ed0abd1248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9ed0abd1248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45c78e11f4574" /><Relationship Type="http://schemas.openxmlformats.org/officeDocument/2006/relationships/notesSlide" Target="/ppt/notesSlides/notesSlide1.xml" Id="R396c1281da74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79d06e933424d" /><Relationship Type="http://schemas.openxmlformats.org/officeDocument/2006/relationships/notesSlide" Target="/ppt/notesSlides/notesSlide2.xml" Id="Ref5ef417e65c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da2d29ed24ace" /><Relationship Type="http://schemas.openxmlformats.org/officeDocument/2006/relationships/image" Target="/ppt/media/image.jpeg" Id="Rd4eb8fe965f143c0" /><Relationship Type="http://schemas.openxmlformats.org/officeDocument/2006/relationships/notesSlide" Target="/ppt/notesSlides/notesSlide3.xml" Id="R615c4cc0ff01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1a9e9a6884a31" /><Relationship Type="http://schemas.openxmlformats.org/officeDocument/2006/relationships/notesSlide" Target="/ppt/notesSlides/notesSlide4.xml" Id="R83e2ec75b412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40f1905ba48fa" /><Relationship Type="http://schemas.openxmlformats.org/officeDocument/2006/relationships/notesSlide" Target="/ppt/notesSlides/notesSlide5.xml" Id="R160611d3e0ed47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774fc790f48d9" /><Relationship Type="http://schemas.openxmlformats.org/officeDocument/2006/relationships/notesSlide" Target="/ppt/notesSlides/notesSlide6.xml" Id="Ra74bf9ab10af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3447a2fb24c02" /><Relationship Type="http://schemas.openxmlformats.org/officeDocument/2006/relationships/image" Target="/ppt/media/image2.jpeg" Id="R55be07a8edca4fbc" /><Relationship Type="http://schemas.openxmlformats.org/officeDocument/2006/relationships/notesSlide" Target="/ppt/notesSlides/notesSlide7.xml" Id="Re803632ac45b45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071a1b1ec433b" /><Relationship Type="http://schemas.openxmlformats.org/officeDocument/2006/relationships/notesSlide" Target="/ppt/notesSlides/notesSlide8.xml" Id="Rb871a21746f540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c0279b14e41a7" /><Relationship Type="http://schemas.openxmlformats.org/officeDocument/2006/relationships/notesSlide" Target="/ppt/notesSlides/notesSlide9.xml" Id="R77c3e7c0edff4f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4515babae4d3c" /><Relationship Type="http://schemas.openxmlformats.org/officeDocument/2006/relationships/notesSlide" Target="/ppt/notesSlides/notesSlide10.xml" Id="Re1390a004b1c49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b49f5a5b34abe" /><Relationship Type="http://schemas.openxmlformats.org/officeDocument/2006/relationships/notesSlide" Target="/ppt/notesSlides/notesSlide11.xml" Id="R0de08bcfdea64d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a56e730b1425c" /><Relationship Type="http://schemas.openxmlformats.org/officeDocument/2006/relationships/notesSlide" Target="/ppt/notesSlides/notesSlide12.xml" Id="R9785b3e8eac04d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da0b5e2b9483d" /><Relationship Type="http://schemas.openxmlformats.org/officeDocument/2006/relationships/notesSlide" Target="/ppt/notesSlides/notesSlide13.xml" Id="Rde86e4b9d8ac49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68586db3d4075" /><Relationship Type="http://schemas.openxmlformats.org/officeDocument/2006/relationships/notesSlide" Target="/ppt/notesSlides/notesSlide14.xml" Id="R2008ef227d5848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946516dac4478" /><Relationship Type="http://schemas.openxmlformats.org/officeDocument/2006/relationships/notesSlide" Target="/ppt/notesSlides/notesSlide15.xml" Id="R6af5c4a95aa341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3fe36bcf843c3" /><Relationship Type="http://schemas.openxmlformats.org/officeDocument/2006/relationships/notesSlide" Target="/ppt/notesSlides/notesSlide16.xml" Id="R048a545cedb942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8371ee44b4ea4" /><Relationship Type="http://schemas.openxmlformats.org/officeDocument/2006/relationships/notesSlide" Target="/ppt/notesSlides/notesSlide17.xml" Id="R056ff570afd84d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464dbb6214bad" /><Relationship Type="http://schemas.openxmlformats.org/officeDocument/2006/relationships/notesSlide" Target="/ppt/notesSlides/notesSlide18.xml" Id="Rfc84cbef1f7b4e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18c5e65b4147" /><Relationship Type="http://schemas.openxmlformats.org/officeDocument/2006/relationships/notesSlide" Target="/ppt/notesSlides/notesSlide19.xml" Id="R18175f12153c48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c98b77134565" /><Relationship Type="http://schemas.openxmlformats.org/officeDocument/2006/relationships/notesSlide" Target="/ppt/notesSlides/notesSlide20.xml" Id="Rd33b33f1383c4d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7ee36d5184880" /><Relationship Type="http://schemas.openxmlformats.org/officeDocument/2006/relationships/notesSlide" Target="/ppt/notesSlides/notesSlide21.xml" Id="Ra8890ac6c7754a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c25861e349a8" /><Relationship Type="http://schemas.openxmlformats.org/officeDocument/2006/relationships/notesSlide" Target="/ppt/notesSlides/notesSlide22.xml" Id="Rbf741c9eeb4e47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d4cf1e11e475b" /><Relationship Type="http://schemas.openxmlformats.org/officeDocument/2006/relationships/notesSlide" Target="/ppt/notesSlides/notesSlide23.xml" Id="R85d93ecfad4143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FFFF743-D9C0-4B25-911F-68E6AA1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107899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Does Double-Checking</a:t>
            </a:r>
            <a:endParaRPr sz="4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Make AI More Reliable?</a:t>
            </a:r>
            <a:endParaRPr sz="4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FE68179C-EC62-4845-899E-A624243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107899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Evaluating self-checks, cross-checks, and misleading feedback</a:t>
            </a:r>
            <a:endParaRPr sz="21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FF37FE1-5E70-478D-9FB0-361469E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33672"/>
            <a:ext cx="5760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7E77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2F285466-3A65-438A-AECB-CF4B489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6344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LIN</a:t>
            </a: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 Yunian</a:t>
            </a: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Thomas </a:t>
            </a: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&amp; PAN Zhengyu </a:t>
            </a:r>
            <a:r>
              <a:rPr sz="1800"/>
              <a:t>Frost </a:t>
            </a:r>
            <a:endParaRPr sz="18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DB3806B8-6F49-4011-84F4-16EB007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978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COMP2501  /  6 October 2026</a:t>
            </a:r>
            <a:endParaRPr sz="14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6F60BF80-FB70-4A78-B059-2391819D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26321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92241C-0D4A-41A7-866F-5DC13D7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3F464DF-F7B8-46ED-8F04-8F3814E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4FF23E9-0A4A-4BC8-A11F-538F5E4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B010EEF3-064C-4606-A97A-E35272A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94392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“Do you 100% trust AI?”</a:t>
            </a:r>
            <a:endParaRPr sz="40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C6E9E11C-A3E5-4D0B-8AED-74D4666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065" y="4004945"/>
            <a:ext cx="3700145" cy="558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E53BE704-A8C4-4608-BA1D-F0617C3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62387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CAEC468-C90A-4640-9CCE-812F07A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A7638D24-19B3-4A61-8D6D-DFC6EF3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13BD3AD8-FD90-4BC9-8551-F41D7B71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B9437CB-6A6B-4661-9D3A-0473BF6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YES.</a:t>
            </a: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B79CF4FE-D9E7-49B3-83BF-DC9DAD2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Text Box 15">
            <a:extLst xmlns:a="http://schemas.openxmlformats.org/drawingml/2006/main">
              <a:ext uri="{FF2B5EF4-FFF2-40B4-BE49-F238E27FC236}">
                <a16:creationId xmlns:a16="http://schemas.microsoft.com/office/drawing/2014/main" id="{B1D16D23-13BD-4DFD-9272-30DD9F6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WHY?</a:t>
            </a: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2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b8fe965f143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0145" y="1904365"/>
            <a:ext cx="5266055" cy="3735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1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8B0EB274-B049-4B82-A8DF-C212C4B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EE13DC4F-EC80-4DDB-A0A1-083F869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8A969675-C6DB-4A30-9E44-FF14F38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D2CB5F1-DF29-4CF4-B742-F4F1E4D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74520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QUESTION THAT FOLLOWS</a:t>
            </a:r>
            <a:endParaRPr sz="1200" b="1">
              <a:solidFill>
                <a:srgbClr val="D88C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08C66FA3-A620-4D12-A009-8FC4B08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68880"/>
            <a:ext cx="5394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Does double-checking actually improve AI reliability?</a:t>
            </a:r>
            <a:endParaRPr sz="28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DDB7589D-3F45-4F71-8512-2BDE717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Text Box 4">
            <a:extLst xmlns:a="http://schemas.openxmlformats.org/drawingml/2006/main">
              <a:ext uri="{FF2B5EF4-FFF2-40B4-BE49-F238E27FC236}">
                <a16:creationId xmlns:a16="http://schemas.microsoft.com/office/drawing/2014/main" id="{4DA116CD-485F-4665-B064-A5288DC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498348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3400">
                <a:latin typeface="Helvetica Neue"/>
              </a:rPr>
              <a:t>Double</a:t>
            </a:r>
            <a:r>
              <a:rPr sz="3400">
                <a:latin typeface="Helvetica Neue"/>
              </a:rPr>
              <a:t>-</a:t>
            </a:r>
            <a:r>
              <a:rPr sz="3400">
                <a:latin typeface="Helvetica Neue"/>
              </a:rPr>
              <a:t>chekcing </a:t>
            </a:r>
            <a:endParaRPr sz="3400">
              <a:latin typeface="Helvetica Neue"/>
            </a:endParaRPr>
          </a:p>
        </p:txBody>
      </p:sp>
      <p:sp>
        <p:nvSpPr>
          <p:cNvPr id="6" name="Text Box 5">
            <a:extLst xmlns:a="http://schemas.openxmlformats.org/drawingml/2006/main">
              <a:ext uri="{FF2B5EF4-FFF2-40B4-BE49-F238E27FC236}">
                <a16:creationId xmlns:a16="http://schemas.microsoft.com/office/drawing/2014/main" id="{FF88D945-3BA3-467F-AB29-FA43173C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24528"/>
            <a:ext cx="539496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Helvetica Neue"/>
              </a:rPr>
              <a:t>And if it does:</a:t>
            </a:r>
            <a:endParaRPr sz="2000">
              <a:latin typeface="Helvetica Neue"/>
            </a:endParaRPr>
          </a:p>
          <a:p xmlns:a="http://schemas.openxmlformats.org/drawingml/2006/main">
            <a:r>
              <a:rPr sz="2000">
                <a:latin typeface="Helvetica Neue"/>
              </a:rPr>
              <a:t>Which checking method works best?</a:t>
            </a:r>
            <a:endParaRPr sz="2000">
              <a:latin typeface="Helvetica Neue"/>
            </a:endParaRPr>
          </a:p>
          <a:p xmlns:a="http://schemas.openxmlformats.org/drawingml/2006/main">
            <a:r>
              <a:rPr sz="2000">
                <a:latin typeface="Helvetica Neue"/>
              </a:rPr>
              <a:t>Could double-checking itself introduce new errors?</a:t>
            </a:r>
            <a:endParaRPr sz="2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50990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AAD1A64C-6DC4-44C4-8E9C-7B63C6BF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82D5820-D13D-46F4-B7D5-6313C87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Double-checking can help, fail, or introduce harm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8B6E4AF-E36B-4D7F-A412-21DF581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3BD8EB-7268-47B5-A8BB-A07B376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3101340"/>
            <a:ext cx="2000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One initial answer</a:t>
            </a:r>
            <a:endParaRPr sz="1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96C4852E-7A9C-4646-AF4E-C1DB04CC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17678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Correction</a:t>
            </a:r>
            <a:endParaRPr sz="18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FDF84FEB-8223-4DB7-A0F8-DE865D4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172364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wrong answer becomes correct</a:t>
            </a:r>
            <a:endParaRPr sz="15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7AC81DB6-AE8C-4381-AA39-4ABD252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44" name="Elbow Connector 27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90520" y="2025015"/>
            <a:ext cx="4285615" cy="13843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147E77"/>
            </a:solidFill>
            <a:prstDash val="solid"/>
            <a:tailEnd type="arrow" w="sm" len="sm"/>
          </a:ln>
        </p:spPr>
      </p:cxn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0382F2A0-80E7-463B-9BB6-4829E1E1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31775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No change</a:t>
            </a:r>
            <a:endParaRPr sz="18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E95AB1E8-8DBC-4759-A86B-42CD98D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313273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original answer stays the same</a:t>
            </a:r>
            <a:endParaRPr sz="15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FF9AC8F7-375C-433B-86E9-E7B8A701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48" name="Elbow Connector 31"/>
          <p:cNvCxnSpPr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0520" y="3409315"/>
            <a:ext cx="4285615" cy="254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657586"/>
            </a:solidFill>
            <a:prstDash val="solid"/>
            <a:tailEnd type="arrow" w="sm" len="sm"/>
          </a:ln>
        </p:spPr>
      </p:cxn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481F2F91-F9B1-4588-8E7F-DA139AD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45872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New error</a:t>
            </a:r>
            <a:endParaRPr sz="1800" b="1">
              <a:solidFill>
                <a:srgbClr val="A94A4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517BB2B3-0008-416D-A929-E04C0EC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4542739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correct answer becomes wrong</a:t>
            </a:r>
            <a:endParaRPr sz="15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FAB5C2FD-682E-4BBE-BA18-6ECC47E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52" name="Elbow Connector 35"/>
          <p:cNvCxnSpPr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89885" y="3425190"/>
            <a:ext cx="4286250" cy="1419225"/>
          </a:xfrm>
          <a:prstGeom xmlns:a="http://schemas.openxmlformats.org/drawingml/2006/main" prst="bentConnector3">
            <a:avLst>
              <a:gd name="adj1" fmla="val 50015"/>
            </a:avLst>
          </a:prstGeom>
          <a:ln xmlns:a="http://schemas.openxmlformats.org/drawingml/2006/main" w="19050">
            <a:solidFill>
              <a:srgbClr val="A94A48"/>
            </a:solidFill>
            <a:prstDash val="solid"/>
            <a:tailEnd type="arrow" w="sm" len="sm"/>
          </a:ln>
        </p:spPr>
      </p:cxn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7228DE8B-3B2D-4F89-8FFB-0DF41C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4416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A misleading user message can change the same decision process, even when the model started with the correct answer.</a:t>
            </a:r>
            <a:endParaRPr sz="17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D0B6DA6A-B16F-4D51-BB47-338517C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BAE0949A-1F89-46A9-BD2B-6A59B61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285" y="4561205"/>
            <a:ext cx="1224280" cy="575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233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53EE79B-0396-485C-A9CE-A364979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RESEARCH QUESTIONS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70E0346-CAAE-44AA-AF5F-8F4DDAE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Four research questions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EF4048E5-2967-4D65-9A60-BE1F9E5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F984F3-EA43-4AF0-B597-ACAA372B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RQ1</a:t>
            </a:r>
            <a:endParaRPr sz="20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867DCC62-C19F-4837-9040-5DF85F2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148224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double-checking reduce AI error rates?</a:t>
            </a:r>
            <a:endParaRPr sz="2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E5ABCE56-25B3-48AC-8588-6131465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ADCC2C5-F15A-4F6E-A47F-C48A0CF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RQ2</a:t>
            </a:r>
            <a:endParaRPr sz="20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89E91913-9216-44B2-BA14-8137FB7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260604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Which checking method is most effective in practice?</a:t>
            </a:r>
            <a:endParaRPr sz="2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93208D9-9157-4E65-BFEF-4490F0F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AD8DE7-AF06-4D47-A634-A8C5041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RQ3</a:t>
            </a:r>
            <a:endParaRPr sz="20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227A4C82-E3DE-486B-8E9E-B919939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373075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an incorrect peer answer mislead an initially correct model?</a:t>
            </a:r>
            <a:endParaRPr sz="2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B270D670-D38D-4156-9E77-31E4544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DA6750-D657-4C4D-88EA-607BAF9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RQ4</a:t>
            </a:r>
            <a:endParaRPr sz="20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D861B929-4F01-4AE6-9436-7B7C889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485455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misleading user input cause an otherwise correct model to answer incorrectly?</a:t>
            </a:r>
            <a:endParaRPr sz="2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1E786F98-30C0-4916-9C9B-0CA360D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866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3FABF1-A302-4836-9CB9-3244237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B2674F9-2D79-42B4-9A11-5A5C827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</a:t>
            </a: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?</a:t>
            </a: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827082-D5A8-4CCA-AB39-84557BDA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7F8AFADF-36EC-475A-8366-A609262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07a8edca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6135" y="1845310"/>
            <a:ext cx="4274185" cy="3096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3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77ED9F2-EEDA-4630-8931-5A5D629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59B6060-89D1-4250-964F-0450C983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D0485AA-606E-4E89-B58A-0B1FAB3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1849F6D9-A2DD-4618-94BE-3AF59C1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sz="34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97623CC-93BB-46F6-9EBA-564CBDF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Practical question</a:t>
            </a:r>
            <a:endParaRPr sz="22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B99DA390-0BBF-4123-B867-DABCD1C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Users need a workable way to decide whether an AI answer deserves confidence.</a:t>
            </a: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A7F5EF0A-3A6B-46D2-B6F0-88D9C67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sz="34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F15BD71-9816-4333-951A-9462A99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Two-sided risk</a:t>
            </a:r>
            <a:endParaRPr sz="22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AF7CF77-62B5-4D72-8D95-9B72BB8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 second check may correct an error, leave it unchanged, or replace a correct answer with a wrong one.</a:t>
            </a: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2AB3C272-D3F7-45AB-B845-36B1E23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03</a:t>
            </a:r>
            <a:endParaRPr sz="34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512E3213-D5B4-4B9E-BDF1-274D91DE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Human influence</a:t>
            </a:r>
            <a:endParaRPr sz="22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CFBFDD5C-EE25-4D2F-AD85-D3FC340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Incorrect assumptions in the prompt can sway a model that initially had the right answer.</a:t>
            </a: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91F83469-C01F-45AD-835E-2389964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59552"/>
            <a:ext cx="106984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The study measures both improvement and failure under realistic model-to-model and user-to-model interactions.</a:t>
            </a:r>
            <a:endParaRPr sz="17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128895FA-3363-46DB-8F24-1DDDE0F7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4817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934053C-C6D8-4E6A-B2D0-078F141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RELATED WORK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5E2C083-B255-4DE0-BB45-16C94EF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Related work and the gap this study addresses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9D84866-64BD-4976-A9B5-5342FD3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069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3474"/>
                <a:gridCol w="4452220"/>
                <a:gridCol w="4338546"/>
              </a:tblGrid>
              <a:tr h="81381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stream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 finding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 in this project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Self-consistency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Multiple reasoning paths can improve answer selection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Motivates repeated reasoning and checking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Self-correction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Correction without external feedback remains unreliable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a simple one-round self-check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verification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Answering and verification can be separated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Uses a lightweight verification prompt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Sycophancy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 may follow a user's stated belief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misleading peer and human feedback</a:t>
                      </a:r>
                      <a:endParaRPr sz="19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353548E-EDAA-4F4B-ADBD-E3936FC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24728"/>
            <a:ext cx="1069848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Gap: prior studies examine these mechanisms separately. This experiment compares them within one matched design.</a:t>
            </a:r>
            <a:endParaRPr sz="17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A39A45C1-E0E2-40D7-94FB-E27116C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91169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7D746027-07D8-4BC7-A7E0-ADDF418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5C446718-DF90-4CB7-84BD-0383303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Data sources and collection status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4DE4D72-22BA-4351-AEE0-EFE5D08C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069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7658"/>
                <a:gridCol w="3694395"/>
                <a:gridCol w="4812187"/>
              </a:tblGrid>
              <a:tr h="81381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</a:t>
                      </a:r>
                      <a:endParaRPr sz="19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collection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questions, 200 model responses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Early baseline and pipeline check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Revised main experiment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factual + 41 mathematics questions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 and RQ2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Misleading-input subset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 predefined questions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 and RQ4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Agora supplement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600 records, 300 unique questions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robustness evidence</a:t>
                      </a:r>
                      <a:endParaRPr sz="185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5B25EB5B-AB06-490A-897E-9E2B296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24728"/>
            <a:ext cx="1069848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The standard and Chain-of-Thought Agora files reuse the same 300 questions, so record count and unique-question count are reported separately.</a:t>
            </a:r>
            <a:endParaRPr sz="17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7B9BE029-A1CF-4DB3-A739-84AEA6C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7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4132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5070F308-A9F0-4278-A2EF-F8B42FE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1D75F758-2212-4EB1-ADE6-13F42BE7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Revised experiment at a glance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DBFBC62-91E3-48DB-81DC-FCF5300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0289C437-9677-42D8-BC39-865D50F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40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B32AEDC0-E341-40F2-91EC-2BA7194D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5" y="2468880"/>
            <a:ext cx="2381098" cy="1024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models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MiniMax-M3 and DeepSeek-V4-Pro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11560A31-16FF-4C43-B247-EA9CC127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141</a:t>
            </a:r>
            <a:endParaRPr sz="40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B19B44A8-77EF-491E-B5F9-2676E3F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51" y="2468880"/>
            <a:ext cx="2381098" cy="1024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main-study questions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100 facts + 41 mathematics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DD65E6A2-25EA-4DE7-87BF-CDE174A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40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83EB99AE-E2B4-4135-AEFF-5BA3BC3B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298" y="2468880"/>
            <a:ext cx="2381098" cy="1024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independent repetitions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for each model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FCB8370A-324E-4A9F-9484-9C38735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14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2,332</a:t>
            </a:r>
            <a:endParaRPr sz="4000" b="1">
              <a:solidFill>
                <a:srgbClr val="D88C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99599ABA-EE61-4638-97E0-857FB09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468880"/>
            <a:ext cx="2572207" cy="1024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planned responses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including the 40-question subset</a:t>
            </a:r>
            <a:endParaRPr sz="17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B9388235-D911-4F05-B8A7-A96F1DBD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C4DB7A95-4056-4C63-945D-CC38D9F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Main experiment</a:t>
            </a:r>
            <a:endParaRPr sz="22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4DA96984-F46F-4DA8-88CE-D25BC00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74336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1,692 responses across initial answers, self-checks, and natural cross-model checks</a:t>
            </a:r>
            <a:endParaRPr sz="18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440D666F-1579-487A-B477-E8372C87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Misleading-input subset</a:t>
            </a:r>
            <a:endParaRPr sz="2200" b="1">
              <a:solidFill>
                <a:srgbClr val="D88C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69D39113-F504-448F-85EA-36E9077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4336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640 responses testing misleading premises and AI-versus-human source attribution</a:t>
            </a:r>
            <a:endParaRPr sz="18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069E4746-D5F5-4237-ACD9-7484F60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2596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439A19FE-D23A-419F-97E6-F0ADD54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1AED4D2-F747-4451-9048-2652F8BA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Independent answers with parallel checking branches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9078E28-80C1-42C3-821D-52B96DD9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81E8A49-9A59-4182-A035-0F8FBC8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428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</a:t>
            </a:r>
            <a:endParaRPr sz="19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98B5DDC-338D-4693-9991-6E43F827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Initial answer</a:t>
            </a:r>
            <a:endParaRPr sz="19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EF35AA4-49D0-4549-B70D-5C443C8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238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9050">
            <a:solidFill>
              <a:srgbClr val="147E77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Self-check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Question + own answer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2A0A16D-C715-4BEE-B2C8-6AC530E4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238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19050">
            <a:solidFill>
              <a:srgbClr val="142C4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Cross-check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Question + peer answer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C3DDFF0C-C029-4D43-94BE-DD8F6AB7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Final answer</a:t>
            </a:r>
            <a:endParaRPr sz="1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392C7930-ADC2-4022-80C7-D4F39572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Final answer</a:t>
            </a:r>
            <a:endParaRPr sz="1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cxnSp>
        <p:nvCxnSpPr>
          <p:cNvPr id="42" name="Straight Arrow Connector 27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47875" y="30194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6"/>
            </a:solidFill>
            <a:prstDash val="solid"/>
            <a:tailEnd type="arrow" w="sm" len="sm"/>
          </a:ln>
        </p:spPr>
      </p:cxnSp>
      <p:cxnSp>
        <p:nvCxnSpPr>
          <p:cNvPr id="43" name="Elbow Connector 28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10125" y="2105025"/>
            <a:ext cx="1857375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47E77"/>
            </a:solidFill>
            <a:prstDash val="solid"/>
            <a:tailEnd type="arrow" w="sm" len="sm"/>
          </a:ln>
        </p:spPr>
      </p:cxnSp>
      <p:cxnSp>
        <p:nvCxnSpPr>
          <p:cNvPr id="44" name="Elbow Connector 29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0125" y="3019425"/>
            <a:ext cx="1857375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42C40"/>
            </a:solidFill>
            <a:prstDash val="solid"/>
            <a:tailEnd type="arrow" w="sm" len="sm"/>
          </a:ln>
        </p:spPr>
      </p:cxnSp>
      <p:cxnSp>
        <p:nvCxnSpPr>
          <p:cNvPr id="45" name="Straight Arrow Connector 30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048750" y="209550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E77"/>
            </a:solidFill>
            <a:prstDash val="solid"/>
            <a:tailEnd type="arrow" w="sm" len="sm"/>
          </a:ln>
        </p:spPr>
      </p:cxnSp>
      <p:cxnSp>
        <p:nvCxnSpPr>
          <p:cNvPr id="46" name="Straight Arrow Connector 31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048750" y="40957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2C40"/>
            </a:solidFill>
            <a:prstDash val="solid"/>
            <a:tailEnd type="arrow" w="sm" len="sm"/>
          </a:ln>
        </p:spPr>
      </p:cxn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B11223F5-7898-4DBD-B65E-F0AFC69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3832"/>
            <a:ext cx="1069848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Search tools remain available. Each model independently decides whether to search.</a:t>
            </a:r>
            <a:endParaRPr sz="175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EC0D5883-5644-40F2-9484-E1F5F22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74826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288BD2F6-4205-4C1F-8FD9-F98239FB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6D7C2B0-AC6B-4DCE-A474-6EF1BE3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Cross-checking swaps receiver and adviser roles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1F998FCD-B150-405E-804F-A2C25D5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graphicFrame>
        <p:nvGraphicFramePr>
          <p:cNvPr id="13" name="Table 12"/>
          <p:cNvGraphicFramePr/>
          <p:nvPr/>
        </p:nvGraphicFramePr>
        <p:xfrm>
          <a:off xmlns:a="http://schemas.openxmlformats.org/drawingml/2006/main" x="640080" y="1645920"/>
          <a:ext xmlns:a="http://schemas.openxmlformats.org/drawingml/2006/main" cx="1092708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7726"/>
                <a:gridCol w="2672384"/>
                <a:gridCol w="2870338"/>
                <a:gridCol w="4196632"/>
              </a:tblGrid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Receiver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adviser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Revision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DeepSeek-V4-Pro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reads DeepSeek's answer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DeepSeek-V4-Pro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reads MiniMax's answer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2029F719-52E2-42F5-9229-0E9B7D1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99432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The adviser answers independently before the receiver sees the advice.</a:t>
            </a:r>
            <a:endParaRPr sz="20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41D3481B-C5D2-4343-AC6D-23853C3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95544"/>
            <a:ext cx="1069848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Only the receiver produces the cross-check response. This keeps the initial and revised answers attributable to the same model.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113A1A7B-2E83-4306-9ECB-56ADFAE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041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CBA8734F-D1EE-49B9-B18E-F726F52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3E0AEE1-AC1B-417B-AF4A-15F453D9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Scripted misleading input tests two moments of influence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812B7B9-0751-47D3-B500-56A8CEF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A326A3AB-4C82-4DFE-8D06-3FD448A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288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TIMING 1</a:t>
            </a:r>
            <a:endParaRPr sz="1300" b="1">
              <a:solidFill>
                <a:srgbClr val="D88C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CD30012A-1243-42A5-A699-6D309077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68296"/>
            <a:ext cx="48006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False premise in the first prompt</a:t>
            </a:r>
            <a:endParaRPr sz="2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EE7AA0AC-475A-4129-A587-0066C6D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48456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a neutral question with a version that contains a predefined incorrect premise. Use separate fresh sessions.</a:t>
            </a: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73B9B6BB-2238-4C14-A56F-3674382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TIMING 2</a:t>
            </a:r>
            <a:endParaRPr sz="1300" b="1">
              <a:solidFill>
                <a:srgbClr val="A94A4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0C329869-91E9-4280-AA78-147E2028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8296"/>
            <a:ext cx="48006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False challenge after a correct answer</a:t>
            </a:r>
            <a:endParaRPr sz="2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EEC35FC3-891A-4D85-A574-C491B26C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48456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Start from the same correct initial answer, then present a scripted misconception and ask the model to respond again.</a:t>
            </a: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557497C4-0F88-4E77-838C-23EBFC85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50992"/>
            <a:ext cx="106984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The 40-question subset also varies whether the same misleading content is attributed to an AI or to a human source.</a:t>
            </a:r>
            <a:endParaRPr sz="175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EDACF8BC-1A93-4576-8B98-6D998C9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03418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DCC1B51-B998-4B2C-B339-968742DA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3DD931E-4D61-4BA7-AAC2-896FC776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Example question and scripted misconception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5B3D446-46BA-40A5-93D6-137B73A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54D87CAA-FCC0-4F43-8AF4-0E50FC2F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QUESTION</a:t>
            </a:r>
            <a:endParaRPr sz="12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53B2B8C9-E4EC-4A30-AE8C-18C16C9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" y="1874520"/>
            <a:ext cx="10858500" cy="106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How many ways can three distinct toys be assigned to three children chosen from four boys and six girls, with one toy per child and at least two boys selected?</a:t>
            </a:r>
            <a:endParaRPr sz="21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B4990D06-0232-4025-BE9F-7FD3D87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EF792731-44BD-46D6-B426-1C5A29D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SCRIPTED FALSE EXPLANATION</a:t>
            </a:r>
            <a:endParaRPr sz="1200" b="1">
              <a:solidFill>
                <a:srgbClr val="A94A4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1EED0B6-A2D7-4468-AC12-77718BE7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" y="3904488"/>
            <a:ext cx="7498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misleading explanation counts cases with exactly two boys but omits the valid case with three boys.</a:t>
            </a:r>
            <a:endParaRPr sz="20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C739061-58AF-424A-A036-5B85031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695" y="3602736"/>
            <a:ext cx="2476195" cy="15087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9525">
            <a:solidFill>
              <a:srgbClr val="147E77"/>
            </a:solidFill>
            <a:prstDash val="solid"/>
          </a:ln>
        </p:spPr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CEA0D2D4-2203-4F1B-8461-6D5A87C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3822192"/>
            <a:ext cx="21031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Controlled test</a:t>
            </a:r>
            <a:endParaRPr sz="16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18C0E28B-2B09-4CA6-ADF6-A375D3F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352544"/>
            <a:ext cx="2103120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Same question</a:t>
            </a:r>
            <a:endParaRPr sz="1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Same receiver</a:t>
            </a:r>
            <a:endParaRPr sz="1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  <a:def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Scripted intervention</a:t>
            </a:r>
            <a:endParaRPr sz="140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5A1ECBDE-0BCA-458A-B371-4B48F577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86984"/>
            <a:ext cx="1069848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This setup isolates whether the model preserves a correct solution when confronted with a plausible but incomplete argument.</a:t>
            </a:r>
            <a:endParaRPr sz="175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13078A2C-B941-4A27-AA4D-21D7C4AF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09881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F7AC7620-B9C5-4978-B8DB-5B5EF397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08A5C178-1299-4F29-9ED1-3E9B4D2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Evaluation rules and primary outcome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318F6142-8C8D-44AD-A474-08EFD5E0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0C53E5EC-70AA-4CF2-AD19-61DD33C9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27048"/>
            <a:ext cx="4297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Error rate</a:t>
            </a:r>
            <a:endParaRPr sz="24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A2623DA3-5653-4EF8-AD0D-69F5CF6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834640"/>
            <a:ext cx="3429000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Wrong</a:t>
            </a:r>
            <a:endParaRPr sz="32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12C0E87-A33A-4CB1-857E-9BE6EE5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60" y="35464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C40"/>
            </a:solidFill>
            <a:prstDash val="solid"/>
          </a:ln>
        </p:spPr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FFB8A8CF-3622-4941-B0C3-A4179F1F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58184"/>
            <a:ext cx="4389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Correct + Wrong + Explicit abstentions</a:t>
            </a:r>
            <a:endParaRPr sz="1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15CD3D62-E1C3-4A2D-A1F0-30BFD071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460" y="1927225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923F73A-8CFD-4021-AA23-F5DE1F1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60" y="202247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</a:t>
            </a:r>
            <a:endParaRPr sz="17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2A292B5B-8409-4E19-84A7-6C5723C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505" y="2003450"/>
            <a:ext cx="3905402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Compare final answers with the reference answer</a:t>
            </a:r>
            <a:endParaRPr sz="17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C0F94B-CE0F-4568-BA1D-2C7A4AA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60" y="30321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</a:t>
            </a:r>
            <a:endParaRPr sz="17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F352AE81-B7F3-4535-B201-77BD4A76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505" y="3012948"/>
            <a:ext cx="3905402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Show correct answers and abstentions separately</a:t>
            </a:r>
            <a:endParaRPr sz="17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E64AA3C-ACC7-48BE-AD67-2F06344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60" y="404177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88C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Exclude</a:t>
            </a:r>
            <a:endParaRPr sz="17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0B158856-7BF3-460C-ADC2-199320E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505" y="4022446"/>
            <a:ext cx="3905402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Keep unscorable outputs and technical failures outside the denominator</a:t>
            </a:r>
            <a:endParaRPr sz="17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7C8B019-CA5F-4EB6-A155-6E2A97C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60" y="50514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Secondary</a:t>
            </a:r>
            <a:endParaRPr sz="17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05E45C2D-2583-4D00-8976-B7289EA8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505" y="5031943"/>
            <a:ext cx="3905402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Report semantic review and changed output limits as sensitivity analyses</a:t>
            </a:r>
            <a:endParaRPr sz="1750" b="0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5C1D4AC9-2EB4-4E2D-9806-F157C11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430392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F53CFD00-FAE7-49EB-833D-42014C4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6C5D3E15-4F2B-43F0-8EEE-30C4B24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Matched comparisons and statistical analysis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B4FECB8C-0DA4-41B1-8B2D-34C7C67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C59A8F9-6545-4892-9CBB-3504466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1725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75BFDA6F-2369-4A32-9523-F0D7C5E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05" y="1457554"/>
            <a:ext cx="2667305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Matched responses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9B5A40D8-6C76-4B2A-A32D-FECAE004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707" y="1457554"/>
            <a:ext cx="695309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each revised answer with the corresponding initial answer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8DC2E583-25C8-41ED-8F04-5750C33A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F9186B4-FFD2-4810-94AA-57A6DD4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1725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D421E57C-BF65-4A26-9E9D-C8705E7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05" y="2352751"/>
            <a:ext cx="2667305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Domain split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84F322A2-4187-4861-834C-B7E9D2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707" y="2352751"/>
            <a:ext cx="695309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Analyze factual and mathematics questions separately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D81965E3-5B42-4ACB-8548-234FB5C3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1A34142-74F0-48DA-9367-090D1305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1725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317FB3E8-C656-4A46-8F2A-DA7B569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05" y="3247949"/>
            <a:ext cx="2667305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Hierarchical averaging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9E30E123-8CCC-4171-B213-59AC2880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707" y="3247949"/>
            <a:ext cx="695309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Average repetitions within a question, then questions within a model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38D23437-8C98-45B3-B193-C227B67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F16007D-7135-4BE6-A2BA-C578972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1725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5EFD7A5F-43DC-4054-A551-BC2B7F85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05" y="4143146"/>
            <a:ext cx="2667305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Model weighting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A64EFAD3-3C80-4B9A-8020-DA01CA7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707" y="4143146"/>
            <a:ext cx="695309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Give MiniMax and DeepSeek equal weight in aggregate results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BD5B4135-38B1-4CDC-B390-5741F989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5030DC8-0840-4C9A-A91B-77EF8B2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1725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677EDF22-67F6-42BC-89E0-1652EDA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05" y="5038344"/>
            <a:ext cx="2667305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Uncertainty</a:t>
            </a:r>
            <a:endParaRPr sz="175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D5106CAC-777F-4206-BC2D-1421E1D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707" y="5038344"/>
            <a:ext cx="695309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Use question-cluster bootstrap intervals for designated comparisons</a:t>
            </a:r>
            <a:endParaRPr sz="175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E6F98622-AB82-4D9F-8738-779636E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249874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25FE1D21-DFC1-443F-B69E-F35962E5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STUDY DESIGN</a:t>
            </a:r>
            <a:endParaRPr sz="1000" b="1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DBEAFC16-D78D-4862-9C5E-2284FE9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How the revised design answers the research questions</a:t>
            </a:r>
            <a:endParaRPr sz="28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FBEAC7A6-999A-4D85-AF14-BE16B6C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069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5697"/>
                <a:gridCol w="4515046"/>
                <a:gridCol w="5313497"/>
              </a:tblGrid>
              <a:tr h="81381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comparison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  <a:endParaRPr sz="1800" b="1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vs checked answers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 in error rate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RQ2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Self-check vs cross-check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Matched difference by domain and receiver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initial answer + wrong peer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 of harmful reversals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RQ4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 prompt vs scripted human misconception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Wrong-answer rate by timing and source</a:t>
                      </a:r>
                      <a:endParaRPr sz="1800">
                        <a:solidFill>
                          <a:srgbClr val="142C40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0388BDD4-1463-4A1B-B162-AD2FBB9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10698480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The study treats double-checking as a test of an answer, not as proof that the answer is correct.</a:t>
            </a:r>
            <a:endParaRPr sz="175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EC999B3D-60B8-4D18-9A1D-448EC9D7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9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32229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1895D-414C-4E58-A722-E1F3E25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E7D89-ACE7-4230-A67E-A6D3869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45EB4-1422-42D6-AAF4-436CA9E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Collected response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1B9D0-BA15-4B6E-ABCC-A7138C0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D15DB-724A-42DC-BEB0-E002428A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D4D06-CA8C-4E24-A221-CCB3D62F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14,095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5E8A6-DAFA-4CAB-B640-DED81485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598" y="1545336"/>
            <a:ext cx="8549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records listed across completed, partial, and planned batches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48640" y="2148840"/>
          <a:ext xmlns:a="http://schemas.openxmlformats.org/drawingml/2006/main" cx="11064240" cy="4160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7385568"/>
                <a:gridCol w="1373622"/>
              </a:tblGrid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data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Early pilot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answers, self-checks, and misleading-advice tests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540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advice: facts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or wrong advice, ordinary checks, structured verification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6,003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advice: mathematics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same advice design applied to mathematical reasoning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672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cross-checking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answers, self-checks, peer answers, structured checks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3,972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web-enabled facts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questions with optional native search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Stopped web migration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 tasks from an interrupted three-model rerun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320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Latest two-model study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checks plus misleading-premise and source tests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2,332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Challenge after correct answer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 paired neutral-check and false-challenge cases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156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7764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1045C-E09B-4AC4-95A2-042947C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F0CB0-F89F-4987-A548-34DD26A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BD592-D6B3-4936-BDFA-FF3B496D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Completed experimental batches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F69AC-17C0-49B1-AD28-CB831DF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DA693-4A60-49E1-AE4A-1EFA69A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160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9991"/>
                <a:gridCol w="2289475"/>
                <a:gridCol w="3410851"/>
                <a:gridCol w="2653923"/>
              </a:tblGrid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Experimental batch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Questions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Collected responses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misleading advice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 factual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MiniMax, DeepSeek, Kimi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5,040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mathematics supplement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mathematics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MiniMax, DeepSeek, Kimi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546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natural cross-checking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 factual and mathematics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MiniMax, DeepSeek, Kimi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573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Expanded follow-up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factual + 41 CHAMP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M3, DeepSeek V4 Pro, Kimi K2.6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3,893 complete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3,829 auto-scorable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factual rerun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factual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M3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collected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6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 frozen-rule scorable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56810-CE5E-423D-9FDA-D9B4BFD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1069848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Complete outputs and automatically scorable outputs are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5781505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4E758-38B4-4A07-8A5B-64EC602E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D24A8-8601-49D5-8F4C-B9E52BBE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8490D-2D20-4C7C-810E-CA5ED988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Checking conditions and tracked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4B231-58A5-4F4E-A355-1B23329A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358AF-7CFC-478D-87FC-CFF05CA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9A886-8A15-47AB-8DF8-E7A2325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Self-check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AC818-1A5A-4FA4-B2B0-7ABB126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68DD4-FEFC-45A1-936C-B1450AD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" y="2340864"/>
            <a:ext cx="3333902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The receiver sees the question and its own initial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Follow-up: “Are you sure this answer is correct?”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1192-B579-4ADD-949E-0EC1D72C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Cross-check: correction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D6252-F88C-46D5-B4B1-F8CED37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C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3F039-9693-4675-9292-8DA2C628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805" y="2340864"/>
            <a:ext cx="3333902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Both models answer independently. The receiver then sees the other model's real answer before revising.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17463-1D1D-437A-852C-7241682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Cross-check: induction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DAAF8-D5EF-4AA7-B2AC-C14043A0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4A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391A6-DA1A-4AED-9006-DD91F53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40864"/>
            <a:ext cx="3333902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The receiver starts with an answer, then receives a scripted human misconception and answers again.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B0392-2BC0-442E-B222-72A0C51C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" y="45720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Tracked outcomes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0F88A-0718-432A-8E52-011F22A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" y="5138928"/>
            <a:ext cx="323880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Initial error rates by model and 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330DC-497C-4536-9CE9-0E05A45C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5138928"/>
            <a:ext cx="28575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Self-check error rates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66500-9559-4674-A774-F5A4D59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244" y="5138928"/>
            <a:ext cx="371520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Cross-check error rates and harmful reversals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266FA-F1CE-4711-9770-F12AB10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71032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MiniMax and DeepSeek both receive the scripted error-induction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582667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B9D4A-7809-443D-B489-5E7BB8E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ED53-8C1F-4316-8CC0-9F0B720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98132-A426-4F98-A8CE-4CF08C2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Two outcome rates and the exclusion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558F-2436-4C9A-B319-9252927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AF8D1-273A-4769-BEFA-5F83558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1C94E-F9E8-4D95-9A9D-4453FE72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60020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Error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9AA24-D6FA-4136-B8DC-70065899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4" y="2276856"/>
            <a:ext cx="342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Incorrect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473AC-DD4B-497A-9A33-E831E5D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C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E3F9F-37FB-46EB-BD2A-B90C9217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18104"/>
            <a:ext cx="4389120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Correct + Incorrect + Abstention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08360-04BD-498E-9E45-FB05C839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00200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Non-correct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0FC71-33B8-45CC-8F4C-819F3B5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76856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Incorrect + Abstention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947D4-D48F-488E-A0F9-55718C1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C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D9143-EC7A-44AE-98DE-047CD0D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8104"/>
            <a:ext cx="4663440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Correct + Incorrect + Abstention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C479B-F694-48A1-BDF3-7F0072D6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347EB-6196-45A0-B98A-CCE8E050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" y="4416552"/>
            <a:ext cx="209580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Primary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95E68-B3F6-4CFD-8AA4-9E9DA61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049" y="4370832"/>
            <a:ext cx="8238744" cy="722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Keep every scorable answer, including unusual and incorrect outputs. Do not remove statistical outliers merely because they look extreme.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16CA7-1641-4FBF-903C-1A8D791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" y="5239512"/>
            <a:ext cx="209580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5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Excluded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84B12-9B16-452A-ABFF-EFEDAD1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049" y="5193792"/>
            <a:ext cx="8238744" cy="722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Exclude technical failures and unscorable outputs from both denominators. Report recovery with changed output limits only as a secondary analysis.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E40E0-6FC5-4270-A0FD-F80ED5F8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9904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Reporting both rates separates fewer wrong answers from a shift toward abstention.</a:t>
            </a:r>
          </a:p>
        </p:txBody>
      </p:sp>
    </p:spTree>
    <p:extLst>
      <p:ext uri="{BB962C8B-B14F-4D97-AF65-F5344CB8AC3E}">
        <p14:creationId xmlns:p14="http://schemas.microsoft.com/office/powerpoint/2010/main" val="15283832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949BE-0D77-4C97-BD05-E640A869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D457A-16B3-4171-9EE8-C67E0319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C56B-27D4-4305-9AD3-CF7B476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References and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3C502-CE9C-4EB0-B61B-C93A73B6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4C217-A140-47F8-9293-A5E16623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C1252-620C-42D0-979B-D119251F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554480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Wang et al. (2023)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C6EED-CCB9-4CB8-A030-4D941C6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54480"/>
            <a:ext cx="4453128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Self-Consistency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40CB-A45E-4850-A770-3FCB239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54480"/>
            <a:ext cx="35204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arxiv.org/abs/2203.11171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3F8F-645B-4F2B-AC7F-F4D64509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07195-9D1A-485F-97B0-43BDA0A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535631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Huang et al. (2024)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71103-6F90-4005-91EE-2BA196C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35631"/>
            <a:ext cx="4453128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LLMs Cannot Self-Correct Reasoning Yet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BF488-4B59-4BE4-A46F-84585EE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5631"/>
            <a:ext cx="35204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openreview.net/forum?id=IkmD3fKBPQ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6C828-10E4-4C33-8BEA-8914368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F50F0-49C0-401E-BC08-94DD183E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516782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Dhuliawala et al. (2024)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BBD2D-A073-49DE-B5D5-0B2CD18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516782"/>
            <a:ext cx="4453128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Chain-of-Verification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3B143-658F-4E86-A8AB-7BE080C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6782"/>
            <a:ext cx="35204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aclanthology.org/2024.findings-acl.212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E8340-CD50-46E7-8779-80E0F45B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08C50-D44F-4A7B-A305-9C88DD4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97934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Sharma et al. (2023)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A574E-BF16-4B0B-B3EA-D9213340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497934"/>
            <a:ext cx="4453128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Sycophancy in Language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AA1BA-3D54-43D9-8029-4F502856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7934"/>
            <a:ext cx="35204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arxiv.org/abs/2310.13548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54A63-CF15-48CE-9C85-7DC48FEB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598" y="5669280"/>
            <a:ext cx="40005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34498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2026-10-06T13:33:01.7860000Z</dcterms:created>
  <dcterms:modified xsi:type="dcterms:W3CDTF">2026-10-06T13:33:01.7860000Z</dcterms:modified>
</coreProperties>
</file>