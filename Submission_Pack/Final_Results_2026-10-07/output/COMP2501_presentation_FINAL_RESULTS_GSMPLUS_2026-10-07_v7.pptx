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460c917cc842ad" /><Relationship Type="http://schemas.openxmlformats.org/officeDocument/2006/relationships/extended-properties" Target="/docProps/app.xml" Id="R3b5b9fb9f0b14517" /><Relationship Type="http://schemas.openxmlformats.org/officeDocument/2006/relationships/officeDocument" Target="/ppt/presentation.xml" Id="R24017463b51444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2feb377c8e4c39"/>
  </p:sldMasterIdLst>
  <p:notesMasterIdLst>
    <p:notesMasterId xmlns:r="http://schemas.openxmlformats.org/officeDocument/2006/relationships" r:id="R87a1875f5a624f1e"/>
  </p:notesMasterIdLst>
  <p:sldIdLst>
    <p:sldId xmlns:r="http://schemas.openxmlformats.org/officeDocument/2006/relationships" id="256" r:id="Reca246a84c914eae"/>
    <p:sldId xmlns:r="http://schemas.openxmlformats.org/officeDocument/2006/relationships" id="257" r:id="R0df5c8b262144cb9"/>
    <p:sldId xmlns:r="http://schemas.openxmlformats.org/officeDocument/2006/relationships" id="258" r:id="Radf216d9d364427b"/>
    <p:sldId xmlns:r="http://schemas.openxmlformats.org/officeDocument/2006/relationships" id="259" r:id="Rcb737afeb86f4e5a"/>
    <p:sldId xmlns:r="http://schemas.openxmlformats.org/officeDocument/2006/relationships" id="260" r:id="Rab86bb32955e4130"/>
    <p:sldId xmlns:r="http://schemas.openxmlformats.org/officeDocument/2006/relationships" id="261" r:id="R9dc297d6cbb2484d"/>
    <p:sldId xmlns:r="http://schemas.openxmlformats.org/officeDocument/2006/relationships" id="262" r:id="R0c326cb6cbbd4f8b"/>
    <p:sldId xmlns:r="http://schemas.openxmlformats.org/officeDocument/2006/relationships" id="263" r:id="R5941b8c778a74b33"/>
    <p:sldId xmlns:r="http://schemas.openxmlformats.org/officeDocument/2006/relationships" id="264" r:id="R0cc90295b99b4dc0"/>
    <p:sldId xmlns:r="http://schemas.openxmlformats.org/officeDocument/2006/relationships" id="265" r:id="R528633d5ce6346a9"/>
    <p:sldId xmlns:r="http://schemas.openxmlformats.org/officeDocument/2006/relationships" id="266" r:id="R80ffb9e214a44d76"/>
    <p:sldId xmlns:r="http://schemas.openxmlformats.org/officeDocument/2006/relationships" id="267" r:id="Rda9f084c00154532"/>
    <p:sldId xmlns:r="http://schemas.openxmlformats.org/officeDocument/2006/relationships" id="268" r:id="Re6321da0458f4391"/>
    <p:sldId xmlns:r="http://schemas.openxmlformats.org/officeDocument/2006/relationships" id="269" r:id="R5758d9ec700f4858"/>
    <p:sldId xmlns:r="http://schemas.openxmlformats.org/officeDocument/2006/relationships" id="270" r:id="Ra7355586795947c4"/>
    <p:sldId xmlns:r="http://schemas.openxmlformats.org/officeDocument/2006/relationships" id="271" r:id="R813827db3f9e44f2"/>
    <p:sldId xmlns:r="http://schemas.openxmlformats.org/officeDocument/2006/relationships" id="272" r:id="R7353c790868d46cf"/>
    <p:sldId xmlns:r="http://schemas.openxmlformats.org/officeDocument/2006/relationships" id="273" r:id="Rf29a8bd4f4794114"/>
    <p:sldId xmlns:r="http://schemas.openxmlformats.org/officeDocument/2006/relationships" id="274" r:id="R6b90a4dd07dd4cd1"/>
    <p:sldId xmlns:r="http://schemas.openxmlformats.org/officeDocument/2006/relationships" id="275" r:id="R5bfe3a5e65af4ba5"/>
    <p:sldId xmlns:r="http://schemas.openxmlformats.org/officeDocument/2006/relationships" id="276" r:id="Rc3b1fe3fea5e4502"/>
    <p:sldId xmlns:r="http://schemas.openxmlformats.org/officeDocument/2006/relationships" id="277" r:id="R1344c99235ce4540"/>
    <p:sldId xmlns:r="http://schemas.openxmlformats.org/officeDocument/2006/relationships" id="278" r:id="R391803053f894e77"/>
    <p:sldId xmlns:r="http://schemas.openxmlformats.org/officeDocument/2006/relationships" id="279" r:id="R5511c6b195fb42e6"/>
    <p:sldId xmlns:r="http://schemas.openxmlformats.org/officeDocument/2006/relationships" id="280" r:id="R09ed827937c24aa4"/>
    <p:sldId xmlns:r="http://schemas.openxmlformats.org/officeDocument/2006/relationships" id="281" r:id="Ra78a4feaf4414dd5"/>
    <p:sldId xmlns:r="http://schemas.openxmlformats.org/officeDocument/2006/relationships" id="282" r:id="R896fb9f2cac44af8"/>
    <p:sldId xmlns:r="http://schemas.openxmlformats.org/officeDocument/2006/relationships" id="283" r:id="R51ec036ee1474600"/>
    <p:sldId xmlns:r="http://schemas.openxmlformats.org/officeDocument/2006/relationships" id="284" r:id="R28e306b0cc9b48da"/>
    <p:sldId xmlns:r="http://schemas.openxmlformats.org/officeDocument/2006/relationships" id="285" r:id="R1a2803f928ed46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1d877ba2224110" /><Relationship Type="http://schemas.openxmlformats.org/officeDocument/2006/relationships/slideMaster" Target="/ppt/slideMasters/slideMaster1.xml" Id="R832feb377c8e4c39" /><Relationship Type="http://schemas.openxmlformats.org/officeDocument/2006/relationships/notesMaster" Target="/ppt/notesMasters/notesMaster1.xml" Id="R87a1875f5a624f1e" /><Relationship Type="http://schemas.openxmlformats.org/officeDocument/2006/relationships/presProps" Target="/ppt/presProps.xml" Id="Rfb638b5a7bd74ba2" /><Relationship Type="http://schemas.openxmlformats.org/officeDocument/2006/relationships/viewProps" Target="/ppt/viewProps.xml" Id="Re88868897ab14775" /><Relationship Type="http://schemas.openxmlformats.org/officeDocument/2006/relationships/tableStyles" Target="/ppt/tableStyles.xml" Id="Rf79a34cc87924cc9" /><Relationship Type="http://schemas.openxmlformats.org/officeDocument/2006/relationships/slide" Target="/ppt/slides/slide1.xml" Id="Reca246a84c914eae" /><Relationship Type="http://schemas.openxmlformats.org/officeDocument/2006/relationships/slide" Target="/ppt/slides/slide2.xml" Id="R0df5c8b262144cb9" /><Relationship Type="http://schemas.openxmlformats.org/officeDocument/2006/relationships/slide" Target="/ppt/slides/slide3.xml" Id="Radf216d9d364427b" /><Relationship Type="http://schemas.openxmlformats.org/officeDocument/2006/relationships/slide" Target="/ppt/slides/slide4.xml" Id="Rcb737afeb86f4e5a" /><Relationship Type="http://schemas.openxmlformats.org/officeDocument/2006/relationships/slide" Target="/ppt/slides/slide5.xml" Id="Rab86bb32955e4130" /><Relationship Type="http://schemas.openxmlformats.org/officeDocument/2006/relationships/slide" Target="/ppt/slides/slide6.xml" Id="R9dc297d6cbb2484d" /><Relationship Type="http://schemas.openxmlformats.org/officeDocument/2006/relationships/slide" Target="/ppt/slides/slide7.xml" Id="R0c326cb6cbbd4f8b" /><Relationship Type="http://schemas.openxmlformats.org/officeDocument/2006/relationships/slide" Target="/ppt/slides/slide8.xml" Id="R5941b8c778a74b33" /><Relationship Type="http://schemas.openxmlformats.org/officeDocument/2006/relationships/slide" Target="/ppt/slides/slide9.xml" Id="R0cc90295b99b4dc0" /><Relationship Type="http://schemas.openxmlformats.org/officeDocument/2006/relationships/slide" Target="/ppt/slides/slide10.xml" Id="R528633d5ce6346a9" /><Relationship Type="http://schemas.openxmlformats.org/officeDocument/2006/relationships/slide" Target="/ppt/slides/slide11.xml" Id="R80ffb9e214a44d76" /><Relationship Type="http://schemas.openxmlformats.org/officeDocument/2006/relationships/slide" Target="/ppt/slides/slide12.xml" Id="Rda9f084c00154532" /><Relationship Type="http://schemas.openxmlformats.org/officeDocument/2006/relationships/slide" Target="/ppt/slides/slide13.xml" Id="Re6321da0458f4391" /><Relationship Type="http://schemas.openxmlformats.org/officeDocument/2006/relationships/slide" Target="/ppt/slides/slide14.xml" Id="R5758d9ec700f4858" /><Relationship Type="http://schemas.openxmlformats.org/officeDocument/2006/relationships/slide" Target="/ppt/slides/slide15.xml" Id="Ra7355586795947c4" /><Relationship Type="http://schemas.openxmlformats.org/officeDocument/2006/relationships/slide" Target="/ppt/slides/slide16.xml" Id="R813827db3f9e44f2" /><Relationship Type="http://schemas.openxmlformats.org/officeDocument/2006/relationships/slide" Target="/ppt/slides/slide17.xml" Id="R7353c790868d46cf" /><Relationship Type="http://schemas.openxmlformats.org/officeDocument/2006/relationships/slide" Target="/ppt/slides/slide18.xml" Id="Rf29a8bd4f4794114" /><Relationship Type="http://schemas.openxmlformats.org/officeDocument/2006/relationships/slide" Target="/ppt/slides/slide19.xml" Id="R6b90a4dd07dd4cd1" /><Relationship Type="http://schemas.openxmlformats.org/officeDocument/2006/relationships/slide" Target="/ppt/slides/slide20.xml" Id="R5bfe3a5e65af4ba5" /><Relationship Type="http://schemas.openxmlformats.org/officeDocument/2006/relationships/slide" Target="/ppt/slides/slide21.xml" Id="Rc3b1fe3fea5e4502" /><Relationship Type="http://schemas.openxmlformats.org/officeDocument/2006/relationships/slide" Target="/ppt/slides/slide22.xml" Id="R1344c99235ce4540" /><Relationship Type="http://schemas.openxmlformats.org/officeDocument/2006/relationships/slide" Target="/ppt/slides/slide23.xml" Id="R391803053f894e77" /><Relationship Type="http://schemas.openxmlformats.org/officeDocument/2006/relationships/slide" Target="/ppt/slides/slide24.xml" Id="R5511c6b195fb42e6" /><Relationship Type="http://schemas.openxmlformats.org/officeDocument/2006/relationships/slide" Target="/ppt/slides/slide25.xml" Id="R09ed827937c24aa4" /><Relationship Type="http://schemas.openxmlformats.org/officeDocument/2006/relationships/slide" Target="/ppt/slides/slide26.xml" Id="Ra78a4feaf4414dd5" /><Relationship Type="http://schemas.openxmlformats.org/officeDocument/2006/relationships/slide" Target="/ppt/slides/slide27.xml" Id="R896fb9f2cac44af8" /><Relationship Type="http://schemas.openxmlformats.org/officeDocument/2006/relationships/slide" Target="/ppt/slides/slide28.xml" Id="R51ec036ee1474600" /><Relationship Type="http://schemas.openxmlformats.org/officeDocument/2006/relationships/slide" Target="/ppt/slides/slide29.xml" Id="R28e306b0cc9b48da" /><Relationship Type="http://schemas.openxmlformats.org/officeDocument/2006/relationships/slide" Target="/ppt/slides/slide30.xml" Id="R1a2803f928ed46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5d908c354446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92fde5a86643a1" /><Relationship Type="http://schemas.openxmlformats.org/officeDocument/2006/relationships/notesMaster" Target="/ppt/notesMasters/notesMaster1.xml" Id="R8b18989d75234c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c0ee1ad47a47f6" /><Relationship Type="http://schemas.openxmlformats.org/officeDocument/2006/relationships/notesMaster" Target="/ppt/notesMasters/notesMaster1.xml" Id="Rdc40a164d7154d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c57df13a8e40d1" /><Relationship Type="http://schemas.openxmlformats.org/officeDocument/2006/relationships/notesMaster" Target="/ppt/notesMasters/notesMaster1.xml" Id="R584ec7ee61914f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f8066da97f45ed" /><Relationship Type="http://schemas.openxmlformats.org/officeDocument/2006/relationships/notesMaster" Target="/ppt/notesMasters/notesMaster1.xml" Id="Rbcaef5b812b147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6eaec7099e4e87" /><Relationship Type="http://schemas.openxmlformats.org/officeDocument/2006/relationships/notesMaster" Target="/ppt/notesMasters/notesMaster1.xml" Id="R29088a8ddf5147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4c582231b4456e" /><Relationship Type="http://schemas.openxmlformats.org/officeDocument/2006/relationships/notesMaster" Target="/ppt/notesMasters/notesMaster1.xml" Id="R626920ee4f7e42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a689ae9699429b" /><Relationship Type="http://schemas.openxmlformats.org/officeDocument/2006/relationships/notesMaster" Target="/ppt/notesMasters/notesMaster1.xml" Id="R4a7f4a9fa8364c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48f25ea507415a" /><Relationship Type="http://schemas.openxmlformats.org/officeDocument/2006/relationships/notesMaster" Target="/ppt/notesMasters/notesMaster1.xml" Id="Red760a59408845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82938ed196487a" /><Relationship Type="http://schemas.openxmlformats.org/officeDocument/2006/relationships/notesMaster" Target="/ppt/notesMasters/notesMaster1.xml" Id="R38d7f91072ef4d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7063e591ed466d" /><Relationship Type="http://schemas.openxmlformats.org/officeDocument/2006/relationships/notesMaster" Target="/ppt/notesMasters/notesMaster1.xml" Id="R341634a499ef40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a4ce42ed564684" /><Relationship Type="http://schemas.openxmlformats.org/officeDocument/2006/relationships/notesMaster" Target="/ppt/notesMasters/notesMaster1.xml" Id="R9e02dfe86c0443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056e5b9c7f4201" /><Relationship Type="http://schemas.openxmlformats.org/officeDocument/2006/relationships/notesMaster" Target="/ppt/notesMasters/notesMaster1.xml" Id="Rc9a94b16018f49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6d199c40214b8b" /><Relationship Type="http://schemas.openxmlformats.org/officeDocument/2006/relationships/notesMaster" Target="/ppt/notesMasters/notesMaster1.xml" Id="R82060e2725c342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1dde2b54684e14" /><Relationship Type="http://schemas.openxmlformats.org/officeDocument/2006/relationships/notesMaster" Target="/ppt/notesMasters/notesMaster1.xml" Id="Rd85f94f8c5e14e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04e6bbf7994c80" /><Relationship Type="http://schemas.openxmlformats.org/officeDocument/2006/relationships/notesMaster" Target="/ppt/notesMasters/notesMaster1.xml" Id="Ra8dd76ea211846b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99136ae2924b54" /><Relationship Type="http://schemas.openxmlformats.org/officeDocument/2006/relationships/notesMaster" Target="/ppt/notesMasters/notesMaster1.xml" Id="Re8430fefe19a44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85adaaebf9e46de" /><Relationship Type="http://schemas.openxmlformats.org/officeDocument/2006/relationships/notesMaster" Target="/ppt/notesMasters/notesMaster1.xml" Id="Rdb35877b495149d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24987173604278" /><Relationship Type="http://schemas.openxmlformats.org/officeDocument/2006/relationships/notesMaster" Target="/ppt/notesMasters/notesMaster1.xml" Id="R73d56d1dc55441a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96a0c2548e741e8" /><Relationship Type="http://schemas.openxmlformats.org/officeDocument/2006/relationships/notesMaster" Target="/ppt/notesMasters/notesMaster1.xml" Id="R63554633cb2f48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67de8a386db4339" /><Relationship Type="http://schemas.openxmlformats.org/officeDocument/2006/relationships/notesMaster" Target="/ppt/notesMasters/notesMaster1.xml" Id="R25a93de206ee414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e8f3f448b7f4876" /><Relationship Type="http://schemas.openxmlformats.org/officeDocument/2006/relationships/notesMaster" Target="/ppt/notesMasters/notesMaster1.xml" Id="R7c04fd85c77447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82d0fc9133f441f" /><Relationship Type="http://schemas.openxmlformats.org/officeDocument/2006/relationships/notesMaster" Target="/ppt/notesMasters/notesMaster1.xml" Id="R9befecf25da848d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ef1494bcabb417b" /><Relationship Type="http://schemas.openxmlformats.org/officeDocument/2006/relationships/notesMaster" Target="/ppt/notesMasters/notesMaster1.xml" Id="Ref51e01b0ee34d5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61b4d6e5d7a4425" /><Relationship Type="http://schemas.openxmlformats.org/officeDocument/2006/relationships/notesMaster" Target="/ppt/notesMasters/notesMaster1.xml" Id="Raac9ed67a41d46d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b1f4f9c2ca54c6b" /><Relationship Type="http://schemas.openxmlformats.org/officeDocument/2006/relationships/notesMaster" Target="/ppt/notesMasters/notesMaster1.xml" Id="R7d48149adc784c3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eb08ec83ae34fec" /><Relationship Type="http://schemas.openxmlformats.org/officeDocument/2006/relationships/notesMaster" Target="/ppt/notesMasters/notesMaster1.xml" Id="Ra0086b6469c9407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bae6dee42b14e06" /><Relationship Type="http://schemas.openxmlformats.org/officeDocument/2006/relationships/notesMaster" Target="/ppt/notesMasters/notesMaster1.xml" Id="R90ce1beadc47481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03f76ad8ab34245" /><Relationship Type="http://schemas.openxmlformats.org/officeDocument/2006/relationships/notesMaster" Target="/ppt/notesMasters/notesMaster1.xml" Id="Ra29086802d03463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e626f361ae74535" /><Relationship Type="http://schemas.openxmlformats.org/officeDocument/2006/relationships/notesMaster" Target="/ppt/notesMasters/notesMaster1.xml" Id="Ra908c55584ad420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2e15e5e70ae4668" /><Relationship Type="http://schemas.openxmlformats.org/officeDocument/2006/relationships/notesMaster" Target="/ppt/notesMasters/notesMaster1.xml" Id="Rc376d2b9b1df40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Math_Crosscheck_500/collection_v3_followups/analysis/condition_counts_common.csv and paired_error_effects.csv. Natural minus self bootstrap interval: -2.22 to 0.00 pp; no stable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Math_Crosscheck_500/collection_v3_controlled/derived/controlled_summary.csv. Fifty selected questions, no technical exclusions.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Math_Crosscheck_500/collection_v3_human_first/derived/deepseek_first_prompt_summary.csv and minimax_first_prompt_summary.csv. First prompts are fresh conversations. DeepSeek p=0.25, MiniMax p=0.125. MiniMax orders 86,160,252 have post-hoc ambiguity sensitivity.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9d0aba8b247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67feed01c847e8" /><Relationship Type="http://schemas.openxmlformats.org/officeDocument/2006/relationships/slideLayout" Target="/ppt/slideLayouts/slideLayout1.xml" Id="R570a75889e17496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0a75889e1749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c7edc0fbc419a" /><Relationship Type="http://schemas.openxmlformats.org/officeDocument/2006/relationships/notesSlide" Target="/ppt/notesSlides/notesSlide1.xml" Id="R15457069ea864e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c39ce9de74773" /><Relationship Type="http://schemas.openxmlformats.org/officeDocument/2006/relationships/notesSlide" Target="/ppt/notesSlides/notesSlide2.xml" Id="R2af5951bbb754e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6ef27eb1d4bec" /><Relationship Type="http://schemas.openxmlformats.org/officeDocument/2006/relationships/image" Target="/ppt/media/image.jpeg" Id="R851c29f3327e4e97" /><Relationship Type="http://schemas.openxmlformats.org/officeDocument/2006/relationships/notesSlide" Target="/ppt/notesSlides/notesSlide3.xml" Id="Rb50e69479ac14f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93938d4fe4a74" /><Relationship Type="http://schemas.openxmlformats.org/officeDocument/2006/relationships/notesSlide" Target="/ppt/notesSlides/notesSlide4.xml" Id="R37ab7b39c58d45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c7f1e95414494" /><Relationship Type="http://schemas.openxmlformats.org/officeDocument/2006/relationships/notesSlide" Target="/ppt/notesSlides/notesSlide5.xml" Id="R4b5ed0932b394b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74e0a178f4ed1" /><Relationship Type="http://schemas.openxmlformats.org/officeDocument/2006/relationships/notesSlide" Target="/ppt/notesSlides/notesSlide6.xml" Id="R4291cceeddb543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a7ffedfb74f45" /><Relationship Type="http://schemas.openxmlformats.org/officeDocument/2006/relationships/image" Target="/ppt/media/image2.jpeg" Id="R3dfe04111cd94619" /><Relationship Type="http://schemas.openxmlformats.org/officeDocument/2006/relationships/notesSlide" Target="/ppt/notesSlides/notesSlide7.xml" Id="R139ad1cee69d4d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4955cac0d4840" /><Relationship Type="http://schemas.openxmlformats.org/officeDocument/2006/relationships/notesSlide" Target="/ppt/notesSlides/notesSlide8.xml" Id="Re345f05131d54b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bfb6b47604ef8" /><Relationship Type="http://schemas.openxmlformats.org/officeDocument/2006/relationships/notesSlide" Target="/ppt/notesSlides/notesSlide9.xml" Id="R1ed66d11667b45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c9f879d5b4f6e" /><Relationship Type="http://schemas.openxmlformats.org/officeDocument/2006/relationships/notesSlide" Target="/ppt/notesSlides/notesSlide10.xml" Id="R405706bb36e544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3e8dedfa8405b" /><Relationship Type="http://schemas.openxmlformats.org/officeDocument/2006/relationships/image" Target="/ppt/media/image.png" Id="R14022212d1214e6d" /><Relationship Type="http://schemas.openxmlformats.org/officeDocument/2006/relationships/notesSlide" Target="/ppt/notesSlides/notesSlide11.xml" Id="R0c1cf55966104f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5b0c79b6e4a16" /><Relationship Type="http://schemas.openxmlformats.org/officeDocument/2006/relationships/notesSlide" Target="/ppt/notesSlides/notesSlide12.xml" Id="R81d2fd0247f043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bcd33ba7b4627" /><Relationship Type="http://schemas.openxmlformats.org/officeDocument/2006/relationships/notesSlide" Target="/ppt/notesSlides/notesSlide13.xml" Id="R9f63b029664c49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83f4ba93d46fb" /><Relationship Type="http://schemas.openxmlformats.org/officeDocument/2006/relationships/image" Target="/ppt/media/image2.png" Id="Ra678b36be3d54337" /><Relationship Type="http://schemas.openxmlformats.org/officeDocument/2006/relationships/notesSlide" Target="/ppt/notesSlides/notesSlide14.xml" Id="R2c34d46ee1204d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bee3e00e44001" /><Relationship Type="http://schemas.openxmlformats.org/officeDocument/2006/relationships/image" Target="/ppt/media/image3.png" Id="R637ada1ed71d4451" /><Relationship Type="http://schemas.openxmlformats.org/officeDocument/2006/relationships/notesSlide" Target="/ppt/notesSlides/notesSlide15.xml" Id="R9d3474f36d61411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9b36b10194353" /><Relationship Type="http://schemas.openxmlformats.org/officeDocument/2006/relationships/image" Target="/ppt/media/image4.png" Id="R9ae18b4b156f495e" /><Relationship Type="http://schemas.openxmlformats.org/officeDocument/2006/relationships/notesSlide" Target="/ppt/notesSlides/notesSlide16.xml" Id="R0277ad09c93f44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296d1d34e4326" /><Relationship Type="http://schemas.openxmlformats.org/officeDocument/2006/relationships/image" Target="/ppt/media/image5.png" Id="Ra01a6902a6ca4db8" /><Relationship Type="http://schemas.openxmlformats.org/officeDocument/2006/relationships/notesSlide" Target="/ppt/notesSlides/notesSlide17.xml" Id="Rbd9f8f69865c43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8540951a44182" /><Relationship Type="http://schemas.openxmlformats.org/officeDocument/2006/relationships/image" Target="/ppt/media/image6.png" Id="Rf16dec4f61404bc4" /><Relationship Type="http://schemas.openxmlformats.org/officeDocument/2006/relationships/notesSlide" Target="/ppt/notesSlides/notesSlide18.xml" Id="R1ba3f22cc46a468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813fed838427c" /><Relationship Type="http://schemas.openxmlformats.org/officeDocument/2006/relationships/image" Target="/ppt/media/image7.png" Id="R179e8d7d4b2e45ea" /><Relationship Type="http://schemas.openxmlformats.org/officeDocument/2006/relationships/notesSlide" Target="/ppt/notesSlides/notesSlide19.xml" Id="R6767bd764fc848e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050cc95754b28" /><Relationship Type="http://schemas.openxmlformats.org/officeDocument/2006/relationships/notesSlide" Target="/ppt/notesSlides/notesSlide20.xml" Id="Rb89de3718bc6415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9e4ea50ed4d37" /><Relationship Type="http://schemas.openxmlformats.org/officeDocument/2006/relationships/notesSlide" Target="/ppt/notesSlides/notesSlide21.xml" Id="R130173f5bc71407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fcbf4cf3a474a" /><Relationship Type="http://schemas.openxmlformats.org/officeDocument/2006/relationships/notesSlide" Target="/ppt/notesSlides/notesSlide22.xml" Id="Rb0e38054e2f0437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7e68a0bd74b24" /><Relationship Type="http://schemas.openxmlformats.org/officeDocument/2006/relationships/notesSlide" Target="/ppt/notesSlides/notesSlide23.xml" Id="Rc912e3c5348b4c9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b76c5923742d5" /><Relationship Type="http://schemas.openxmlformats.org/officeDocument/2006/relationships/notesSlide" Target="/ppt/notesSlides/notesSlide24.xml" Id="Rf992521a11f4453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bca81aa424cac" /><Relationship Type="http://schemas.openxmlformats.org/officeDocument/2006/relationships/notesSlide" Target="/ppt/notesSlides/notesSlide25.xml" Id="R4476ecf6f9d841b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dcadd14424c35" /><Relationship Type="http://schemas.openxmlformats.org/officeDocument/2006/relationships/notesSlide" Target="/ppt/notesSlides/notesSlide26.xml" Id="Rb2b5644ce3ee4db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d72f008914bf1" /><Relationship Type="http://schemas.openxmlformats.org/officeDocument/2006/relationships/notesSlide" Target="/ppt/notesSlides/notesSlide27.xml" Id="R34f28f4bcf6e41f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915f3dba14125" /><Relationship Type="http://schemas.openxmlformats.org/officeDocument/2006/relationships/notesSlide" Target="/ppt/notesSlides/notesSlide28.xml" Id="Rcb8b97166d6a449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ef620042e4e71" /><Relationship Type="http://schemas.openxmlformats.org/officeDocument/2006/relationships/notesSlide" Target="/ppt/notesSlides/notesSlide29.xml" Id="R7919c01c1981421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ac1f02b694a9d" /><Relationship Type="http://schemas.openxmlformats.org/officeDocument/2006/relationships/notesSlide" Target="/ppt/notesSlides/notesSlide30.xml" Id="Re63a9f08ecb843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3FFFF743-D9C0-4B25-911F-68E6AA14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1078992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Can We Trust AI More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After Cross-Checking?</a:t>
            </a: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FE68179C-EC62-4845-899E-A624243B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83280"/>
            <a:ext cx="107899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Evaluating self-checks, cross-checks, and misleading feedback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DFF37FE1-5E70-478D-9FB0-361469E2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33672"/>
            <a:ext cx="5760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7E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s 4">
            <a:extLst xmlns:a="http://schemas.openxmlformats.org/drawingml/2006/main">
              <a:ext uri="{FF2B5EF4-FFF2-40B4-BE49-F238E27FC236}">
                <a16:creationId xmlns:a16="http://schemas.microsoft.com/office/drawing/2014/main" id="{2F285466-3A65-438A-AECB-CF4B489A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6344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LINYUNIAN and PAN ZHENGYU</a:t>
            </a:r>
            <a:endParaRPr sz="180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DB3806B8-6F49-4011-84F4-16EB007D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978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COMP2501  /  7 October 2026</a:t>
            </a: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6F60BF80-FB70-4A78-B059-2391819D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263216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B192241C-0D4A-41A7-866F-5DC13D79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BACKGROUND</a:t>
            </a: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33F464DF-F7B8-46ED-8F04-8F3814EB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Where the research question came from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C4FF23E9-0A4A-4BC8-A11F-538F5E44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s 4">
            <a:extLst xmlns:a="http://schemas.openxmlformats.org/drawingml/2006/main">
              <a:ext uri="{FF2B5EF4-FFF2-40B4-BE49-F238E27FC236}">
                <a16:creationId xmlns:a16="http://schemas.microsoft.com/office/drawing/2014/main" id="{B010EEF3-064C-4606-A97A-E35272AA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80360"/>
            <a:ext cx="9994392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“Do you 100% trust AI?”</a:t>
            </a: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C6E9E11C-A3E5-4D0B-8AED-74D4666B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065" y="4004945"/>
            <a:ext cx="3700145" cy="558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endParaRPr sz="20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E53BE704-A8C4-4608-BA1D-F0617C32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623873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ECAEC468-C90A-4640-9CCE-812F07A4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BACKGROUND</a:t>
            </a: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A7638D24-19B3-4A61-8D6D-DFC6EF31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Where the research question came from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13BD3AD8-FD90-4BC9-8551-F41D7B71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2B9437CB-6A6B-4661-9D3A-0473BF61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3891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YES.</a:t>
            </a:r>
          </a:p>
          <a:p xmlns:a="http://schemas.openxmlformats.org/drawingml/2006/main">
            <a:pPr>
              <a:buNone/>
              <a:defRPr sz="36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endParaRPr sz="36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B79CF4FE-D9E7-49B3-83BF-DC9DAD29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Text Box 15">
            <a:extLst xmlns:a="http://schemas.openxmlformats.org/drawingml/2006/main">
              <a:ext uri="{FF2B5EF4-FFF2-40B4-BE49-F238E27FC236}">
                <a16:creationId xmlns:a16="http://schemas.microsoft.com/office/drawing/2014/main" id="{B1D16D23-13BD-4DFD-9272-30DD9F64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23360"/>
            <a:ext cx="4389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endParaRPr sz="36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>
              <a:buNone/>
              <a:defRPr sz="36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WHY?</a:t>
            </a:r>
          </a:p>
        </p:txBody>
      </p:sp>
      <p:pic>
        <p:nvPicPr>
          <p:cNvPr id="24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c29f3327e4e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0145" y="1904365"/>
            <a:ext cx="5266055" cy="37350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214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8B0EB274-B049-4B82-A8DF-C212C4B5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BACKGROUND</a:t>
            </a: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EE13DC4F-EC80-4DDB-A0A1-083F8697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Where the research question came from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8A969675-C6DB-4A30-9E44-FF14F38E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CD2CB5F1-DF29-4CF4-B742-F4F1E4DF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874520"/>
            <a:ext cx="53949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rPr>
              <a:t>QUESTION THAT FOLLOWS</a:t>
            </a:r>
          </a:p>
        </p:txBody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08C66FA3-A620-4D12-A009-8FC4B089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468880"/>
            <a:ext cx="53949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Does double-checking actually improve AI reliability?</a:t>
            </a: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DDB7589D-3F45-4F71-8512-2BDE7176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" name="Text Box 4">
            <a:extLst xmlns:a="http://schemas.openxmlformats.org/drawingml/2006/main">
              <a:ext uri="{FF2B5EF4-FFF2-40B4-BE49-F238E27FC236}">
                <a16:creationId xmlns:a16="http://schemas.microsoft.com/office/drawing/2014/main" id="{4DA116CD-485F-4665-B064-A5288DCC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498348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spAutoFit/>
          </a:bodyPr>
          <a:lstStyle xmlns:a="http://schemas.openxmlformats.org/drawingml/2006/main"/>
          <a:p xmlns:a="http://schemas.openxmlformats.org/drawingml/2006/main">
            <a:r>
              <a:rPr sz="3400" b="1">
                <a:latin typeface="Helvetica Neue"/>
                <a:ea typeface="Helvetica Neue"/>
                <a:cs typeface="Helvetica Neue"/>
              </a:rPr>
              <a:t>Double-</a:t>
            </a:r>
            <a:r>
              <a:rPr sz="3400" b="1">
                <a:latin typeface="Helvetica Neue"/>
                <a:ea typeface="Helvetica Neue"/>
                <a:cs typeface="Helvetica Neue"/>
              </a:rPr>
              <a:t>checking</a:t>
            </a:r>
            <a:r>
              <a:rPr sz="3400" b="1">
                <a:latin typeface="Helvetica Neue"/>
                <a:ea typeface="Helvetica Neue"/>
                <a:cs typeface="Helvetica Neue"/>
              </a:rPr>
              <a:t> </a:t>
            </a:r>
          </a:p>
        </p:txBody>
      </p:sp>
      <p:sp>
        <p:nvSpPr>
          <p:cNvPr id="6" name="Text Box 5">
            <a:extLst xmlns:a="http://schemas.openxmlformats.org/drawingml/2006/main">
              <a:ext uri="{FF2B5EF4-FFF2-40B4-BE49-F238E27FC236}">
                <a16:creationId xmlns:a16="http://schemas.microsoft.com/office/drawing/2014/main" id="{FF88D945-3BA3-467F-AB29-FA43173C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224528"/>
            <a:ext cx="539496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Helvetica Neue"/>
                <a:ea typeface="Helvetica Neue"/>
                <a:cs typeface="Helvetica Neue"/>
              </a:rPr>
              <a:t>And if it does:</a:t>
            </a:r>
          </a:p>
          <a:p xmlns:a="http://schemas.openxmlformats.org/drawingml/2006/main">
            <a:r>
              <a:rPr sz="2000">
                <a:latin typeface="Helvetica Neue"/>
                <a:ea typeface="Helvetica Neue"/>
                <a:cs typeface="Helvetica Neue"/>
              </a:rPr>
              <a:t>Which checking method works best?</a:t>
            </a:r>
          </a:p>
          <a:p xmlns:a="http://schemas.openxmlformats.org/drawingml/2006/main">
            <a:r>
              <a:rPr sz="2000">
                <a:latin typeface="Helvetica Neue"/>
                <a:ea typeface="Helvetica Neue"/>
                <a:cs typeface="Helvetica Neue"/>
              </a:rPr>
              <a:t>Could double-checking itself introduce new errors?</a:t>
            </a:r>
          </a:p>
        </p:txBody>
      </p:sp>
    </p:spTree>
    <p:extLst>
      <p:ext uri="{BB962C8B-B14F-4D97-AF65-F5344CB8AC3E}">
        <p14:creationId xmlns:p14="http://schemas.microsoft.com/office/powerpoint/2010/main" val="19509908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AAD1A64C-6DC4-44C4-8E9C-7B63C6BF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BACKGROUND</a:t>
            </a: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C82D5820-D13D-46F4-B7D5-6313C876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Double-checking can help, fail, or introduce harm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C8B6E4AF-E36B-4D7F-A412-21DF581E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A3BD8EB-7268-47B5-A8BB-A07B376F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" y="3101340"/>
            <a:ext cx="2000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EFF5"/>
          </a:solidFill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One initial answer</a:t>
            </a: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96C4852E-7A9C-4646-AF4E-C1DB04CC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135" y="176784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Correction</a:t>
            </a: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FDF84FEB-8223-4DB7-A0F8-DE865D44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004" y="1723644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 wrong answer becomes correct</a:t>
            </a:r>
          </a:p>
        </p:txBody>
      </p:sp>
      <p:sp>
        <p:nvSpPr>
          <p:cNvPr id="8" name="Rectangles 7">
            <a:extLst xmlns:a="http://schemas.openxmlformats.org/drawingml/2006/main">
              <a:ext uri="{FF2B5EF4-FFF2-40B4-BE49-F238E27FC236}">
                <a16:creationId xmlns:a16="http://schemas.microsoft.com/office/drawing/2014/main" id="{7AC81DB6-AE8C-4381-AA39-4ABD2521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635" y="312039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92" name="Elbow Connector 27"/>
          <p:cNvCxnSpPr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90520" y="2025015"/>
            <a:ext cx="4285615" cy="1384300"/>
          </a:xfrm>
          <a:prstGeom xmlns:a="http://schemas.openxmlformats.org/drawingml/2006/main" prst="bentConnector3">
            <a:avLst>
              <a:gd name="adj1" fmla="val 50007"/>
            </a:avLst>
          </a:prstGeom>
          <a:ln xmlns:a="http://schemas.openxmlformats.org/drawingml/2006/main" w="19050">
            <a:solidFill>
              <a:srgbClr val="147E77"/>
            </a:solidFill>
            <a:prstDash val="solid"/>
            <a:tailEnd type="arrow" w="sm" len="sm"/>
          </a:ln>
        </p:spPr>
      </p:cxn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0382F2A0-80E7-463B-9BB6-4829E1E1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135" y="317754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No change</a:t>
            </a:r>
          </a:p>
        </p:txBody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E95AB1E8-8DBC-4759-A86B-42CD98D0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004" y="3132734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The original answer stays the same</a:t>
            </a: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FF9AC8F7-375C-433B-86E9-E7B8A701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635" y="312039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96" name="Elbow Connector 31"/>
          <p:cNvCxnSpPr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90520" y="3409315"/>
            <a:ext cx="4285615" cy="25400"/>
          </a:xfrm>
          <a:prstGeom xmlns:a="http://schemas.openxmlformats.org/drawingml/2006/main" prst="bentConnector3">
            <a:avLst>
              <a:gd name="adj1" fmla="val 50007"/>
            </a:avLst>
          </a:prstGeom>
          <a:ln xmlns:a="http://schemas.openxmlformats.org/drawingml/2006/main" w="19050">
            <a:solidFill>
              <a:srgbClr val="657586"/>
            </a:solidFill>
            <a:prstDash val="solid"/>
            <a:tailEnd type="arrow" w="sm" len="sm"/>
          </a:ln>
        </p:spPr>
      </p:cxnSp>
      <p:sp>
        <p:nvSpPr>
          <p:cNvPr id="14" name="Rectangles 13">
            <a:extLst xmlns:a="http://schemas.openxmlformats.org/drawingml/2006/main">
              <a:ext uri="{FF2B5EF4-FFF2-40B4-BE49-F238E27FC236}">
                <a16:creationId xmlns:a16="http://schemas.microsoft.com/office/drawing/2014/main" id="{481F2F91-F9B1-4588-8E7F-DA139ADD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135" y="458724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A94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94A48"/>
                </a:solidFill>
                <a:latin typeface="Helvetica Neue"/>
                <a:ea typeface="Helvetica Neue"/>
                <a:cs typeface="Helvetica Neue"/>
              </a:rPr>
              <a:t>New error</a:t>
            </a:r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517BB2B3-0008-416D-A929-E04C0EC4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004" y="4542739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 correct answer becomes wrong</a:t>
            </a:r>
          </a:p>
        </p:txBody>
      </p:sp>
      <p:sp>
        <p:nvSpPr>
          <p:cNvPr id="16" name="Rectangles 15">
            <a:extLst xmlns:a="http://schemas.openxmlformats.org/drawingml/2006/main">
              <a:ext uri="{FF2B5EF4-FFF2-40B4-BE49-F238E27FC236}">
                <a16:creationId xmlns:a16="http://schemas.microsoft.com/office/drawing/2014/main" id="{FAB5C2FD-682E-4BBE-BA18-6ECC47E1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635" y="312039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100" name="Elbow Connector 35"/>
          <p:cNvCxnSpPr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889885" y="3425190"/>
            <a:ext cx="4286250" cy="1419225"/>
          </a:xfrm>
          <a:prstGeom xmlns:a="http://schemas.openxmlformats.org/drawingml/2006/main" prst="bentConnector3">
            <a:avLst>
              <a:gd name="adj1" fmla="val 50015"/>
            </a:avLst>
          </a:prstGeom>
          <a:ln xmlns:a="http://schemas.openxmlformats.org/drawingml/2006/main" w="19050">
            <a:solidFill>
              <a:srgbClr val="A94A48"/>
            </a:solidFill>
            <a:prstDash val="solid"/>
            <a:tailEnd type="arrow" w="sm" len="sm"/>
          </a:ln>
        </p:spPr>
      </p:cxnSp>
      <p:sp>
        <p:nvSpPr>
          <p:cNvPr id="18" name="Rectangles 17">
            <a:extLst xmlns:a="http://schemas.openxmlformats.org/drawingml/2006/main">
              <a:ext uri="{FF2B5EF4-FFF2-40B4-BE49-F238E27FC236}">
                <a16:creationId xmlns:a16="http://schemas.microsoft.com/office/drawing/2014/main" id="{7228DE8B-3B2D-4F89-8FFB-0DF41CBC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4416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A misleading user message can change the same decision process, even when the model started with the correct answer.</a:t>
            </a:r>
          </a:p>
        </p:txBody>
      </p:sp>
      <p:sp>
        <p:nvSpPr>
          <p:cNvPr id="19" name="Rectangles 18">
            <a:extLst xmlns:a="http://schemas.openxmlformats.org/drawingml/2006/main">
              <a:ext uri="{FF2B5EF4-FFF2-40B4-BE49-F238E27FC236}">
                <a16:creationId xmlns:a16="http://schemas.microsoft.com/office/drawing/2014/main" id="{D0B6DA6A-B16F-4D51-BB47-338517CF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3" name="Rectangles 12">
            <a:extLst xmlns:a="http://schemas.openxmlformats.org/drawingml/2006/main">
              <a:ext uri="{FF2B5EF4-FFF2-40B4-BE49-F238E27FC236}">
                <a16:creationId xmlns:a16="http://schemas.microsoft.com/office/drawing/2014/main" id="{BAE0949A-1F89-46A9-BD2B-6A59B617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285" y="4561205"/>
            <a:ext cx="1224280" cy="575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02335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E53EE79B-0396-485C-A9CE-A3649794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RESEARCH QUESTIONS</a:t>
            </a: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270E0346-CAAE-44AA-AF5F-8F4DDAE8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Four research questions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EF4048E5-2967-4D65-9A60-BE1F9E5E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6F984F3-EA43-4AF0-B597-ACAA372B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76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RQ1</a:t>
            </a: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867DCC62-C19F-4837-9040-5DF85F2F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598" y="1482242"/>
            <a:ext cx="97383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Can double-checking reduce AI error rates?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E5ABCE56-25B3-48AC-8588-6131465B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479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ADCC2C5-F15A-4F6E-A47F-C48A0CF4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876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RQ2</a:t>
            </a:r>
          </a:p>
        </p:txBody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89E91913-9216-44B2-BA14-8137FB7F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598" y="2606040"/>
            <a:ext cx="97383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Which checking method reduces errors more on matched questions?</a:t>
            </a: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593208D9-9157-4E65-BFEF-4490F0FE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718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CAD8DE7-AF06-4D47-A634-A8C50417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876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42C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RQ3</a:t>
            </a: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227A4C82-E3DE-486B-8E9E-B9199398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598" y="3730752"/>
            <a:ext cx="97383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Can an incorrect peer answer mislead an initially correct model?</a:t>
            </a:r>
          </a:p>
        </p:txBody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B270D670-D38D-4156-9E77-31E45444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958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9DA6750-D657-4C4D-88EA-607BAF9A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876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42C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RQ4</a:t>
            </a:r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D861B929-4F01-4AE6-9436-7B7C889A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598" y="4854550"/>
            <a:ext cx="97383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Can a false user premise lead a model to answer incorrectly?</a:t>
            </a:r>
          </a:p>
        </p:txBody>
      </p:sp>
      <p:sp>
        <p:nvSpPr>
          <p:cNvPr id="16" name="Rectangles 15">
            <a:extLst xmlns:a="http://schemas.openxmlformats.org/drawingml/2006/main">
              <a:ext uri="{FF2B5EF4-FFF2-40B4-BE49-F238E27FC236}">
                <a16:creationId xmlns:a16="http://schemas.microsoft.com/office/drawing/2014/main" id="{1E786F98-30C0-4916-9C9B-0CA360D5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8660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B13FABF1-A302-4836-9CB9-3244237E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MOTIVATION</a:t>
            </a: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2B2674F9-2D79-42B4-9A11-5A5C827D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60350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Why this study matters?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2A827082-D5A8-4CCA-AB39-84557BDA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7F8AFADF-36EC-475A-8366-A6092622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pic>
        <p:nvPicPr>
          <p:cNvPr id="21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e04111cd946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76135" y="1845310"/>
            <a:ext cx="4274185" cy="30962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7341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E77ED9F2-EEDA-4630-8931-5A5D6296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MOTIVATION</a:t>
            </a: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459B6060-89D1-4250-964F-0450C983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Why this study matters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AD0485AA-606E-4E89-B58A-0B1FAB32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s 4">
            <a:extLst xmlns:a="http://schemas.openxmlformats.org/drawingml/2006/main">
              <a:ext uri="{FF2B5EF4-FFF2-40B4-BE49-F238E27FC236}">
                <a16:creationId xmlns:a16="http://schemas.microsoft.com/office/drawing/2014/main" id="{1849F6D9-A2DD-4618-94BE-3AF59C1F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55648"/>
            <a:ext cx="342900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497623CC-93BB-46F6-9EBA-564CBDFE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34290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Practical question</a:t>
            </a: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B99DA390-0BBF-4123-B867-DABCD1C0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46704"/>
            <a:ext cx="3429000" cy="178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Users need a workable way to decide whether an AI answer deserves confidence.</a:t>
            </a:r>
          </a:p>
        </p:txBody>
      </p:sp>
      <p:sp>
        <p:nvSpPr>
          <p:cNvPr id="8" name="Rectangles 7">
            <a:extLst xmlns:a="http://schemas.openxmlformats.org/drawingml/2006/main">
              <a:ext uri="{FF2B5EF4-FFF2-40B4-BE49-F238E27FC236}">
                <a16:creationId xmlns:a16="http://schemas.microsoft.com/office/drawing/2014/main" id="{A7F5EF0A-3A6B-46D2-B6F0-88D9C671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55648"/>
            <a:ext cx="342900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2F15BD71-9816-4333-951A-9462A998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670048"/>
            <a:ext cx="34290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Two-sided risk</a:t>
            </a:r>
          </a:p>
        </p:txBody>
      </p: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CAF7CF77-62B5-4D72-8D95-9B72BB84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346704"/>
            <a:ext cx="3429000" cy="178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A second check may correct an error, leave it unchanged, or replace a correct answer with a wrong one.</a:t>
            </a:r>
          </a:p>
        </p:txBody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2AB3C272-D3F7-45AB-B845-36B1E239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755648"/>
            <a:ext cx="342900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512E3213-D5B4-4B9E-BDF1-274D91DE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670048"/>
            <a:ext cx="34290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Human influence</a:t>
            </a:r>
          </a:p>
        </p:txBody>
      </p:sp>
      <p:sp>
        <p:nvSpPr>
          <p:cNvPr id="13" name="Rectangles 12">
            <a:extLst xmlns:a="http://schemas.openxmlformats.org/drawingml/2006/main">
              <a:ext uri="{FF2B5EF4-FFF2-40B4-BE49-F238E27FC236}">
                <a16:creationId xmlns:a16="http://schemas.microsoft.com/office/drawing/2014/main" id="{CFBFDD5C-EE25-4D2F-AD85-D3FC3408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346704"/>
            <a:ext cx="3429000" cy="178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Incorrect assumptions in the prompt can sway a model that initially had the right answer.</a:t>
            </a:r>
          </a:p>
        </p:txBody>
      </p:sp>
      <p:sp>
        <p:nvSpPr>
          <p:cNvPr id="14" name="Rectangles 13">
            <a:extLst xmlns:a="http://schemas.openxmlformats.org/drawingml/2006/main">
              <a:ext uri="{FF2B5EF4-FFF2-40B4-BE49-F238E27FC236}">
                <a16:creationId xmlns:a16="http://schemas.microsoft.com/office/drawing/2014/main" id="{91F83469-C01F-45AD-835E-23899648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59552"/>
            <a:ext cx="106984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We test real initial answers and neutral checks, then researcher-written misleading prompts.</a:t>
            </a:r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128895FA-3363-46DB-8F24-1DDDE0F7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48179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3934053C-C6D8-4E6A-B2D0-078F1415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RELATED WORK</a:t>
            </a: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35E2C083-B255-4DE0-BB45-16C94EFE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Related work and the gap this study addresses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69D84866-64BD-4976-A9B5-5342FD3A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548640" y="1572768"/>
          <a:ext xmlns:a="http://schemas.openxmlformats.org/drawingml/2006/main" cx="11064240" cy="40690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73474"/>
                <a:gridCol w="4452220"/>
                <a:gridCol w="4338546"/>
              </a:tblGrid>
              <a:tr h="813816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 stream</a:t>
                      </a: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Prior finding</a:t>
                      </a: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 in this project</a:t>
                      </a: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Self-consistency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Multiple reasoning paths can improve answer selection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Motivates repeated reasoning and checking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Self-correction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Correction without external feedback remains unreliable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Tests a simple one-round self-check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Structured verification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Answering and verification can be separated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Uses a lightweight verification prompt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Sycophancy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Models may follow a user's stated belief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Tests misleading peer and human feedback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4353548E-EDAA-4F4B-ADBD-E3936FC1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24728"/>
            <a:ext cx="1069848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Our results compare neutral checking, natural peer replies and controlled false inputs.</a:t>
            </a: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A39A45C1-E0E2-40D7-94FB-E27116C1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911694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6FE62E99-4B57-41F5-AC24-B792EC5D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B8EFB1-757A-4F2C-B62E-4A1B6192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Three cohorts and separate comparisons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C8163-94AF-44FA-A0DF-E15F2D96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E93E15D-9340-42AA-AB56-EA4B3BE0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647825"/>
          <a:ext xmlns:a="http://schemas.openxmlformats.org/drawingml/2006/main" cx="110490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477000"/>
              </a:tblGrid>
              <a:tr h="5746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Item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study scope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</a:tr>
              <a:tr h="5746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Cohorts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 facts; 500 GSM-Plus v3; 500 private revised math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Facts and GSM: DeepSeek + MiniMax; private math: MiniMax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5746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 baseline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DeepSeek 500; MiniMax 496 original, 500 rescued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GSM-Plus v3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495 common scoreable pairs; scripted peer and first-prompt tests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5746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math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M1 500; M2 493; simulated M3/M4 70 each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ootnote">
            <a:extLst xmlns:a="http://schemas.openxmlformats.org/drawingml/2006/main">
              <a:ext uri="{FF2B5EF4-FFF2-40B4-BE49-F238E27FC236}">
                <a16:creationId xmlns:a16="http://schemas.microsoft.com/office/drawing/2014/main" id="{534D895A-D0F5-4A48-86C7-4BB9EA31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Rates use each cohort’s own scored denominator; technical rescue results are labeled separately.</a:t>
            </a:r>
          </a:p>
        </p:txBody>
      </p:sp>
    </p:spTree>
    <p:extLst>
      <p:ext uri="{BB962C8B-B14F-4D97-AF65-F5344CB8AC3E}">
        <p14:creationId xmlns:p14="http://schemas.microsoft.com/office/powerpoint/2010/main" val="6690660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B5076A0B-7051-4877-B84D-596E800C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INITIAL ANSWERS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E16493-5696-4B21-B65E-9086CC96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Factual initial answers by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B9B24-6812-421C-BBE0-6EC84A82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22212d1214e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1447800"/>
            <a:ext cx="11430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Pending summary">
            <a:extLst xmlns:a="http://schemas.openxmlformats.org/drawingml/2006/main">
              <a:ext uri="{FF2B5EF4-FFF2-40B4-BE49-F238E27FC236}">
                <a16:creationId xmlns:a16="http://schemas.microsoft.com/office/drawing/2014/main" id="{EF7C104B-FE8F-44CC-8EE4-9220B049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DeepSeek: 423 correct, 44 wrong, 33 abstain. MiniMax rescue: 368 correct, 90 wrong, 42 abstain.</a:t>
            </a:r>
          </a:p>
        </p:txBody>
      </p:sp>
      <p:sp>
        <p:nvSpPr>
          <p:cNvPr id="6" name="Figure context">
            <a:extLst xmlns:a="http://schemas.openxmlformats.org/drawingml/2006/main">
              <a:ext uri="{FF2B5EF4-FFF2-40B4-BE49-F238E27FC236}">
                <a16:creationId xmlns:a16="http://schemas.microsoft.com/office/drawing/2014/main" id="{A4B27834-41BB-499E-97B6-16F8239A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MiniMax original 496: 368 correct, 89 wrong, 39 abstain; 4 technical. Rescue changes search/prompt.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79580DCE-5A96-464D-8336-8FB56433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163044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D66D51A5-DD66-43BC-AF6B-D99AE9BE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METHODOLOGY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B99989-BBF2-439B-B7BC-2A35E399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Setup and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10775-93BF-4733-909A-FA66A4AE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D1051A5-A935-4195-A6D1-BB57B00A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Models">
            <a:extLst xmlns:a="http://schemas.openxmlformats.org/drawingml/2006/main">
              <a:ext uri="{FF2B5EF4-FFF2-40B4-BE49-F238E27FC236}">
                <a16:creationId xmlns:a16="http://schemas.microsoft.com/office/drawing/2014/main" id="{109DA1E6-EC2E-4AE3-AADB-CA757277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GSM-Plus v3 and private revised math use different 500-question banks.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6215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333875"/>
                <a:gridCol w="4381500"/>
              </a:tblGrid>
              <a:tr h="6032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Condition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Procedure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Prompt / branch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</a:tr>
              <a:tr h="6032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 initial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Two models answer each of 500 facts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question only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GSM-Plus v3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Initial, neutral self and real DeepSeek cross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495 common scoreable pairs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6032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 scripted tests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AI peer or false human premise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 selected questions per test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math M1/M2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 initial and neutral self-review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 M1; 493 M2 tasks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6032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math M3/M4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false answer in simulated AI/user branches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 eligible questions per branch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Footnote">
            <a:extLst xmlns:a="http://schemas.openxmlformats.org/drawingml/2006/main">
              <a:ext uri="{FF2B5EF4-FFF2-40B4-BE49-F238E27FC236}">
                <a16:creationId xmlns:a16="http://schemas.microsoft.com/office/drawing/2014/main" id="{C6126700-C190-4D91-B02B-3991D035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Natural cross uses a real independent reply. Scripted AI and human messages are researcher-written.</a:t>
            </a:r>
          </a:p>
        </p:txBody>
      </p:sp>
    </p:spTree>
    <p:extLst>
      <p:ext uri="{BB962C8B-B14F-4D97-AF65-F5344CB8AC3E}">
        <p14:creationId xmlns:p14="http://schemas.microsoft.com/office/powerpoint/2010/main" val="8083707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7DBA8C50-B558-44E9-8F7C-758DC85B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METHODOLOGY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1E86D8-9928-4B48-AE5D-21336A94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Comparisons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E98EF-81C1-423B-9B92-51CA28C6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66BBE04-7B4C-4563-82E7-28CE53F8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6381750"/>
              </a:tblGrid>
              <a:tr h="4953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comparison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</a:tr>
              <a:tr h="4953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RQ1: Does checking reduce errors?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M1/M2 on 488 pairs; GSM initial/self on 495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RQ2: Which checking method works best?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 self vs natural cross on the same 495 questions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4953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RQ3: Can a wrong peer mislead?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M3 and GSM scripted wrong AI peer, separate banks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RQ4: Can a user mistake mislead?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M4 and GSM first-prompt false premise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6" name="Denominator">
            <a:extLst xmlns:a="http://schemas.openxmlformats.org/drawingml/2006/main">
              <a:ext uri="{FF2B5EF4-FFF2-40B4-BE49-F238E27FC236}">
                <a16:creationId xmlns:a16="http://schemas.microsoft.com/office/drawing/2014/main" id="{8386892F-0151-4195-BD3B-D352651C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N = Correct + Incorrect + Explicit abstention</a:t>
            </a:r>
          </a:p>
        </p:txBody>
      </p:sp>
      <p:sp>
        <p:nvSpPr>
          <p:cNvPr id="7" name="Error formula">
            <a:extLst xmlns:a="http://schemas.openxmlformats.org/drawingml/2006/main">
              <a:ext uri="{FF2B5EF4-FFF2-40B4-BE49-F238E27FC236}">
                <a16:creationId xmlns:a16="http://schemas.microsoft.com/office/drawing/2014/main" id="{CEF6456F-FC6A-4A73-8D34-4B7CD530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202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Error rate = Incorrect / N</a:t>
            </a:r>
          </a:p>
        </p:txBody>
      </p:sp>
      <p:sp>
        <p:nvSpPr>
          <p:cNvPr id="8" name="Noncorrect formula">
            <a:extLst xmlns:a="http://schemas.openxmlformats.org/drawingml/2006/main">
              <a:ext uri="{FF2B5EF4-FFF2-40B4-BE49-F238E27FC236}">
                <a16:creationId xmlns:a16="http://schemas.microsoft.com/office/drawing/2014/main" id="{1CDF45D5-590B-46B2-814F-30202AD8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482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58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D58A25"/>
                </a:solidFill>
                <a:latin typeface="Helvetica Neue"/>
                <a:ea typeface="Helvetica Neue"/>
                <a:cs typeface="Helvetica Neue"/>
              </a:rPr>
              <a:t>Non-correct rate = (Incorrect + Abstention) / N</a:t>
            </a:r>
          </a:p>
        </p:txBody>
      </p:sp>
      <p:sp>
        <p:nvSpPr>
          <p:cNvPr id="9" name="Footnote">
            <a:extLst xmlns:a="http://schemas.openxmlformats.org/drawingml/2006/main">
              <a:ext uri="{FF2B5EF4-FFF2-40B4-BE49-F238E27FC236}">
                <a16:creationId xmlns:a16="http://schemas.microsoft.com/office/drawing/2014/main" id="{901026DD-95D0-4A8C-AEF0-31761BA4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Each comparison uses its own denominator; no pooled fact/GSM/private math rate.</a:t>
            </a:r>
          </a:p>
        </p:txBody>
      </p:sp>
    </p:spTree>
    <p:extLst>
      <p:ext uri="{BB962C8B-B14F-4D97-AF65-F5344CB8AC3E}">
        <p14:creationId xmlns:p14="http://schemas.microsoft.com/office/powerpoint/2010/main" val="16032736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DD243214-83AE-4564-8780-041C2217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RESULTS  •  PRIVATE MATH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E4F9B7-8A5D-44C8-A40E-DDFBD3A3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Private math: self-review lowered paired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15C53-EC8C-44CA-9522-6C301ADA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8b36be3d543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1447800"/>
            <a:ext cx="11430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Pending summary">
            <a:extLst xmlns:a="http://schemas.openxmlformats.org/drawingml/2006/main">
              <a:ext uri="{FF2B5EF4-FFF2-40B4-BE49-F238E27FC236}">
                <a16:creationId xmlns:a16="http://schemas.microsoft.com/office/drawing/2014/main" id="{D926A48E-033F-4494-B3BD-6AC6FF17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Same 488 questions: 66 wrong before, 42 wrong after. Net change: −4.92 percentage points.</a:t>
            </a:r>
          </a:p>
        </p:txBody>
      </p:sp>
      <p:sp>
        <p:nvSpPr>
          <p:cNvPr id="6" name="Figure context">
            <a:extLst xmlns:a="http://schemas.openxmlformats.org/drawingml/2006/main">
              <a:ext uri="{FF2B5EF4-FFF2-40B4-BE49-F238E27FC236}">
                <a16:creationId xmlns:a16="http://schemas.microsoft.com/office/drawing/2014/main" id="{731E89C8-DFC0-4117-8C4C-77FB1106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Correct/wrong/abstain: M1 422/66/0; M2 446/42/0. Excluded: 1 unscorable, 4 technical.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B8ED3713-4F57-472F-983B-DF52198F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002997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1BE486A0-5EE6-4691-8DF4-07F93456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RESULTS  •  PRIVATE MATH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4AB377-16BF-4E48-A8A5-3028F31E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Self-review corrected 32 errors and introduced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62647-8CCA-436E-A043-6B72011B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ada1ed71d44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1447800"/>
            <a:ext cx="11430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Pending summary">
            <a:extLst xmlns:a="http://schemas.openxmlformats.org/drawingml/2006/main">
              <a:ext uri="{FF2B5EF4-FFF2-40B4-BE49-F238E27FC236}">
                <a16:creationId xmlns:a16="http://schemas.microsoft.com/office/drawing/2014/main" id="{82BAC68A-CCF8-498B-ADD0-7624AF81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Among 488 scoreable pairs, 32 wrong answers became correct; 8 correct answers became wrong.</a:t>
            </a:r>
          </a:p>
        </p:txBody>
      </p:sp>
      <p:sp>
        <p:nvSpPr>
          <p:cNvPr id="6" name="Figure context">
            <a:extLst xmlns:a="http://schemas.openxmlformats.org/drawingml/2006/main">
              <a:ext uri="{FF2B5EF4-FFF2-40B4-BE49-F238E27FC236}">
                <a16:creationId xmlns:a16="http://schemas.microsoft.com/office/drawing/2014/main" id="{4F12D54E-F864-4C3B-A7C7-2788AAA9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M2: 446 correct, 42 wrong, 0 abstain; 1 unscorable and 4 technical excluded.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3F8BF909-A0D9-46E0-BC59-1932D908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830013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4E0BCB98-4E5F-46D7-BBCC-D3344B27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RESULTS  •  PRIVATE MATH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3178C04-7B4C-4AF8-A522-CC0554C1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Private math: simulated user challenge raised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6AC0A-36C2-4DDF-831F-165BEA9F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18b4b156f49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1447800"/>
            <a:ext cx="11430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Pending summary">
            <a:extLst xmlns:a="http://schemas.openxmlformats.org/drawingml/2006/main">
              <a:ext uri="{FF2B5EF4-FFF2-40B4-BE49-F238E27FC236}">
                <a16:creationId xmlns:a16="http://schemas.microsoft.com/office/drawing/2014/main" id="{6DE3CB9F-AF76-490F-B334-505C3E6B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M3: 1/68 wrong from a decimal slip; 0/69 adopted the false target. M4: 11/68 wrong.</a:t>
            </a:r>
          </a:p>
        </p:txBody>
      </p:sp>
      <p:sp>
        <p:nvSpPr>
          <p:cNvPr id="6" name="Figure context">
            <a:extLst xmlns:a="http://schemas.openxmlformats.org/drawingml/2006/main">
              <a:ext uri="{FF2B5EF4-FFF2-40B4-BE49-F238E27FC236}">
                <a16:creationId xmlns:a16="http://schemas.microsoft.com/office/drawing/2014/main" id="{EFE702A3-D60A-40B0-9862-122E622F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68 pairs: AI 67 correct/1 wrong/0 abstain; user 57/11/0. Excluded: 1 unscorable pair, 1 M4 technical.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AAB61284-C12E-43DD-965B-ECF45F4E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557097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9F624FE0-D9BC-4D77-906E-AF6389DF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RESULTS  •  GSM-PLUS V3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41981B-6843-4565-93A1-89618615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GSM-Plus v3: self and natural cross reduced errors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03381659-F48B-4070-B13F-8608B4AE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EC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a6902a6ca4db8"/>
          <a:stretch xmlns:a="http://schemas.openxmlformats.org/drawingml/2006/main"/>
        </p:blipFill>
        <p:spPr>
          <a:xfrm xmlns:a="http://schemas.openxmlformats.org/drawingml/2006/main">
            <a:off x="381000" y="1447800"/>
            <a:ext cx="11430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B8C095C8-2E70-4DEE-9CC5-8A8C7EE8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Same 495 questions: 17 wrong initially, 9 after self, 4 after natural cross.</a:t>
            </a:r>
          </a:p>
        </p:txBody>
      </p:sp>
      <p:sp>
        <p:nvSpPr>
          <p:cNvPr id="6" name="Figure context">
            <a:extLst xmlns:a="http://schemas.openxmlformats.org/drawingml/2006/main">
              <a:ext uri="{FF2B5EF4-FFF2-40B4-BE49-F238E27FC236}">
                <a16:creationId xmlns:a16="http://schemas.microsoft.com/office/drawing/2014/main" id="{280FC65F-C89D-4628-A0C2-21644AC2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Correct/wrong/abstain: 478/17/0, 486/9/0, 491/4/0. One unscorable pair excluded.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F543B412-1C39-4C0F-8FD6-4E24F173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733067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8A06AB72-8626-402D-A84A-96C81776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RESULTS  •  GSM-PLUS V3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770963E-2813-4316-8D92-9BC91C9A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GSM-Plus v3: scripted wrong AI peer, zero observed errors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D81BBEED-D0AF-4E3A-8242-5145C1D3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EC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dec4f61404bc4"/>
          <a:stretch xmlns:a="http://schemas.openxmlformats.org/drawingml/2006/main"/>
        </p:blipFill>
        <p:spPr>
          <a:xfrm xmlns:a="http://schemas.openxmlformats.org/drawingml/2006/main">
            <a:off x="381000" y="1447800"/>
            <a:ext cx="11430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0B1EAE8C-AF55-431C-8628-3AB94EC8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Both branches: 50 correct, 0 wrong, 0 abstain; false-target adoption 0/50.</a:t>
            </a:r>
          </a:p>
        </p:txBody>
      </p:sp>
      <p:sp>
        <p:nvSpPr>
          <p:cNvPr id="6" name="Figure context">
            <a:extLst xmlns:a="http://schemas.openxmlformats.org/drawingml/2006/main">
              <a:ext uri="{FF2B5EF4-FFF2-40B4-BE49-F238E27FC236}">
                <a16:creationId xmlns:a16="http://schemas.microsoft.com/office/drawing/2014/main" id="{AD25C590-BEE2-4CE0-B267-147E27F5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Selected initially correct questions. Scripted peer is researcher-written, not a DeepSeek reply.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31BB5DDF-A9D3-479F-9AC3-143D6C87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083549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06FB4A89-3FCD-4810-B392-C5C21873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RESULTS  •  GSM-PLUS V3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4506DF-DBD9-4752-984F-963A35FA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GSM-Plus v3: false premise in the first prompt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118C86A1-C36C-41B6-B732-961D117A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EC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e8d7d4b2e45ea"/>
          <a:stretch xmlns:a="http://schemas.openxmlformats.org/drawingml/2006/main"/>
        </p:blipFill>
        <p:spPr>
          <a:xfrm xmlns:a="http://schemas.openxmlformats.org/drawingml/2006/main">
            <a:off x="381000" y="1447800"/>
            <a:ext cx="11430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6677E37C-22E7-4FEB-A76B-DE30A749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DeepSeek: 0→3/50 wrong. MiniMax: 1→5/50 wrong.</a:t>
            </a:r>
          </a:p>
        </p:txBody>
      </p:sp>
      <p:sp>
        <p:nvSpPr>
          <p:cNvPr id="6" name="Figure context">
            <a:extLst xmlns:a="http://schemas.openxmlformats.org/drawingml/2006/main">
              <a:ext uri="{FF2B5EF4-FFF2-40B4-BE49-F238E27FC236}">
                <a16:creationId xmlns:a16="http://schemas.microsoft.com/office/drawing/2014/main" id="{87053E9D-08EF-4707-998C-50E43F2C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MiniMax: 4 correct-to-wrong, 3 target adoptions; paired p=0.125. Ambiguity sensitivity is post-hoc.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1035DF5F-3138-4F74-B3F8-BCBC596D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301584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FCB8F2D2-D177-453E-9550-A32015CE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ILLUSTRATIVE EXAMPLE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0165ABA-F376-4042-8D59-EB5AF200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 plausible explanation can omit a valid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27CE6-DC3D-4A90-9E51-AFB03EE0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70B094E-B543-4C0A-B7A4-B982F024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A1AA6A29-5ABC-4621-B4D5-C73C3B5F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1049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Three distinct toys, one per child. Choose three children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from four boys and six girls, with at least two boys.</a:t>
            </a:r>
          </a:p>
        </p:txBody>
      </p:sp>
      <p:sp>
        <p:nvSpPr>
          <p:cNvPr id="6" name="Correct label">
            <a:extLst xmlns:a="http://schemas.openxmlformats.org/drawingml/2006/main">
              <a:ext uri="{FF2B5EF4-FFF2-40B4-BE49-F238E27FC236}">
                <a16:creationId xmlns:a16="http://schemas.microsoft.com/office/drawing/2014/main" id="{111CBE07-B495-4B63-A9BB-E5614782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Complete solution</a:t>
            </a:r>
          </a:p>
        </p:txBody>
      </p:sp>
      <p:sp>
        <p:nvSpPr>
          <p:cNvPr id="7" name="Correct calculation">
            <a:extLst xmlns:a="http://schemas.openxmlformats.org/drawingml/2006/main">
              <a:ext uri="{FF2B5EF4-FFF2-40B4-BE49-F238E27FC236}">
                <a16:creationId xmlns:a16="http://schemas.microsoft.com/office/drawing/2014/main" id="{AB99981D-1178-4802-9F10-E8CC9764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95675"/>
            <a:ext cx="514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Exactly two boys: 6 × 6 = 36 groups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Three boys: 4 groups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(36 + 4) × 3! = 240</a:t>
            </a:r>
          </a:p>
        </p:txBody>
      </p:sp>
      <p:sp>
        <p:nvSpPr>
          <p:cNvPr id="8" name="Wrong label">
            <a:extLst xmlns:a="http://schemas.openxmlformats.org/drawingml/2006/main">
              <a:ext uri="{FF2B5EF4-FFF2-40B4-BE49-F238E27FC236}">
                <a16:creationId xmlns:a16="http://schemas.microsoft.com/office/drawing/2014/main" id="{3DAFA5A2-B5B2-4842-969A-50E37E0E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8607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B3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33C35"/>
                </a:solidFill>
                <a:latin typeface="Helvetica Neue"/>
                <a:ea typeface="Helvetica Neue"/>
                <a:cs typeface="Helvetica Neue"/>
              </a:rPr>
              <a:t>Scripted wrong explanation</a:t>
            </a:r>
          </a:p>
        </p:txBody>
      </p:sp>
      <p:sp>
        <p:nvSpPr>
          <p:cNvPr id="9" name="Wrong calculation">
            <a:extLst xmlns:a="http://schemas.openxmlformats.org/drawingml/2006/main">
              <a:ext uri="{FF2B5EF4-FFF2-40B4-BE49-F238E27FC236}">
                <a16:creationId xmlns:a16="http://schemas.microsoft.com/office/drawing/2014/main" id="{8342CCE6-DB30-4642-AEEE-A0B72A14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95675"/>
            <a:ext cx="5191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Choose two boys and one girl.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36 × 3! = 216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Missing case: all three are boys.</a:t>
            </a:r>
          </a:p>
        </p:txBody>
      </p:sp>
      <p:sp>
        <p:nvSpPr>
          <p:cNvPr id="10" name="Footnote">
            <a:extLst xmlns:a="http://schemas.openxmlformats.org/drawingml/2006/main">
              <a:ext uri="{FF2B5EF4-FFF2-40B4-BE49-F238E27FC236}">
                <a16:creationId xmlns:a16="http://schemas.microsoft.com/office/drawing/2014/main" id="{F2104D34-AC1F-4D2D-BACB-E79818D1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Illustrative construction only. The new M3/M4 false suggestions were researcher-written.</a:t>
            </a:r>
          </a:p>
        </p:txBody>
      </p:sp>
    </p:spTree>
    <p:extLst>
      <p:ext uri="{BB962C8B-B14F-4D97-AF65-F5344CB8AC3E}">
        <p14:creationId xmlns:p14="http://schemas.microsoft.com/office/powerpoint/2010/main" val="11010987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114891A6-9D4C-4971-A9E3-7CA7773B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DISCUSSION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181F028-0666-455C-AAA0-F537516F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Interpretation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C5693-5E80-47AF-9160-EBF6EB8D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276DD61-85B5-4E5C-B49C-DBCB1707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Discussion label">
            <a:extLst xmlns:a="http://schemas.openxmlformats.org/drawingml/2006/main">
              <a:ext uri="{FF2B5EF4-FFF2-40B4-BE49-F238E27FC236}">
                <a16:creationId xmlns:a16="http://schemas.microsoft.com/office/drawing/2014/main" id="{B971ECE1-EC53-45B3-8EFE-7E9F5979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6" name="Discussion content">
            <a:extLst xmlns:a="http://schemas.openxmlformats.org/drawingml/2006/main">
              <a:ext uri="{FF2B5EF4-FFF2-40B4-BE49-F238E27FC236}">
                <a16:creationId xmlns:a16="http://schemas.microsoft.com/office/drawing/2014/main" id="{C89DACE9-193F-4061-8333-94B95CB8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5095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Private math: 66/488 wrong became 42/488 after self-review.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GSM-Plus v3: 17/495 initial, 9/495 self, 4/495 natural cross.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False first-prompt premise: DeepSeek 0→3/50; MiniMax 1→5/50 wrong.</a:t>
            </a:r>
          </a:p>
        </p:txBody>
      </p:sp>
      <p:sp>
        <p:nvSpPr>
          <p:cNvPr id="7" name="Limitations label">
            <a:extLst xmlns:a="http://schemas.openxmlformats.org/drawingml/2006/main">
              <a:ext uri="{FF2B5EF4-FFF2-40B4-BE49-F238E27FC236}">
                <a16:creationId xmlns:a16="http://schemas.microsoft.com/office/drawing/2014/main" id="{7E36D00B-72AE-4BFF-B135-CD3BCACD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28775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D58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D58A25"/>
                </a:solidFill>
                <a:latin typeface="Helvetica Neue"/>
                <a:ea typeface="Helvetica Neue"/>
                <a:cs typeface="Helvetica Neue"/>
              </a:rPr>
              <a:t>Known limitations</a:t>
            </a:r>
          </a:p>
        </p:txBody>
      </p:sp>
      <p:sp>
        <p:nvSpPr>
          <p:cNvPr id="8" name="Limitations content">
            <a:extLst xmlns:a="http://schemas.openxmlformats.org/drawingml/2006/main">
              <a:ext uri="{FF2B5EF4-FFF2-40B4-BE49-F238E27FC236}">
                <a16:creationId xmlns:a16="http://schemas.microsoft.com/office/drawing/2014/main" id="{1064ABD9-DF39-45D2-9681-639CAA0E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00275"/>
            <a:ext cx="5191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The two math banks are different; rates cannot be pooled.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GSM natural-minus-self interval reaches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Scripted prompts do not isolate source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Ambiguous keys and extra-budget continuations need separate views.</a:t>
            </a:r>
          </a:p>
        </p:txBody>
      </p:sp>
      <p:sp>
        <p:nvSpPr>
          <p:cNvPr id="9" name="Footnote">
            <a:extLst xmlns:a="http://schemas.openxmlformats.org/drawingml/2006/main">
              <a:ext uri="{FF2B5EF4-FFF2-40B4-BE49-F238E27FC236}">
                <a16:creationId xmlns:a16="http://schemas.microsoft.com/office/drawing/2014/main" id="{D17FD513-3CEA-4040-B802-39CC0CD0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Results describe selected questions and exact prompt conditions. No broad model ranking follows.</a:t>
            </a:r>
          </a:p>
        </p:txBody>
      </p:sp>
    </p:spTree>
    <p:extLst>
      <p:ext uri="{BB962C8B-B14F-4D97-AF65-F5344CB8AC3E}">
        <p14:creationId xmlns:p14="http://schemas.microsoft.com/office/powerpoint/2010/main" val="2651532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D3852D96-DC67-48EA-B584-636C802F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EA36FA-32B6-4107-8F36-CD2A83F4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Answers to the four research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3D618-DF68-443F-B688-1951A074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0E0A9C5-5CDD-4C6D-99E2-22DF277F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609725"/>
          <a:ext xmlns:a="http://schemas.openxmlformats.org/drawingml/2006/main" cx="11049000" cy="3419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33875"/>
                <a:gridCol w="6715125"/>
              </a:tblGrid>
              <a:tr h="68389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Evidence-based answer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</a:tr>
              <a:tr h="68389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RQ1: Does checking reduce errors?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66→42/488; GSM 17→9/495 wrong after self-check.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RQ2: Which method works better?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 natural 4/495 vs self 9/495; interval touches zero.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68389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RQ3: Can a wrong peer mislead?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M3 1/68 wrong from a decimal slip, 0/69 target adoption; GSM peer 0/50 wrong.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RQ4: Can user mistakes cause errors?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user 11/68; GSM false first prompt: DeepSeek 3/50, MiniMax 5/50.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6" name="Conclusion placeholder">
            <a:extLst xmlns:a="http://schemas.openxmlformats.org/drawingml/2006/main">
              <a:ext uri="{FF2B5EF4-FFF2-40B4-BE49-F238E27FC236}">
                <a16:creationId xmlns:a16="http://schemas.microsoft.com/office/drawing/2014/main" id="{4308AC94-BD2F-420F-B5C5-FFA2FC32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24475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Different question banks and prompt timings. Report each condition separately.</a:t>
            </a:r>
          </a:p>
        </p:txBody>
      </p:sp>
    </p:spTree>
    <p:extLst>
      <p:ext uri="{BB962C8B-B14F-4D97-AF65-F5344CB8AC3E}">
        <p14:creationId xmlns:p14="http://schemas.microsoft.com/office/powerpoint/2010/main" val="648546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">
            <a:extLst xmlns:a="http://schemas.openxmlformats.org/drawingml/2006/main">
              <a:ext uri="{FF2B5EF4-FFF2-40B4-BE49-F238E27FC236}">
                <a16:creationId xmlns:a16="http://schemas.microsoft.com/office/drawing/2014/main" id="{C180763E-F514-42CC-ACDB-FE5F4C93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FUTURE 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1C1F64A-F0F1-4ABC-A75B-072E2426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Further tests of reliable checking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A5EDD-1ED3-4E0B-9C35-28ADD927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3581CEB-2527-4F9E-AE5A-9EBE963D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Number 0">
            <a:extLst xmlns:a="http://schemas.openxmlformats.org/drawingml/2006/main">
              <a:ext uri="{FF2B5EF4-FFF2-40B4-BE49-F238E27FC236}">
                <a16:creationId xmlns:a16="http://schemas.microsoft.com/office/drawing/2014/main" id="{03C23842-1632-4523-BD62-540467F1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Topic 0">
            <a:extLst xmlns:a="http://schemas.openxmlformats.org/drawingml/2006/main">
              <a:ext uri="{FF2B5EF4-FFF2-40B4-BE49-F238E27FC236}">
                <a16:creationId xmlns:a16="http://schemas.microsoft.com/office/drawing/2014/main" id="{97BFCB94-0564-4B6A-BF00-31C78B81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85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Model combinations</a:t>
            </a:r>
          </a:p>
        </p:txBody>
      </p:sp>
      <p:sp>
        <p:nvSpPr>
          <p:cNvPr id="7" name="Description 0">
            <a:extLst xmlns:a="http://schemas.openxmlformats.org/drawingml/2006/main">
              <a:ext uri="{FF2B5EF4-FFF2-40B4-BE49-F238E27FC236}">
                <a16:creationId xmlns:a16="http://schemas.microsoft.com/office/drawing/2014/main" id="{30C32C79-412F-48CD-92B3-280F0CC4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2407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Repeat the paired design with other model versions and gateways.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08976-8BCC-4C06-BB85-2B19428B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28900"/>
            <a:ext cx="1000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9" name="Number 1">
            <a:extLst xmlns:a="http://schemas.openxmlformats.org/drawingml/2006/main">
              <a:ext uri="{FF2B5EF4-FFF2-40B4-BE49-F238E27FC236}">
                <a16:creationId xmlns:a16="http://schemas.microsoft.com/office/drawing/2014/main" id="{A3D65CF2-09E9-4F02-A67C-BC5C854F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Topic 1">
            <a:extLst xmlns:a="http://schemas.openxmlformats.org/drawingml/2006/main">
              <a:ext uri="{FF2B5EF4-FFF2-40B4-BE49-F238E27FC236}">
                <a16:creationId xmlns:a16="http://schemas.microsoft.com/office/drawing/2014/main" id="{BB1ABA06-88CB-45EE-BB51-B7C71ED3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241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Tasks beyond mathematics</a:t>
            </a:r>
          </a:p>
        </p:txBody>
      </p:sp>
      <p:sp>
        <p:nvSpPr>
          <p:cNvPr id="11" name="Description 1">
            <a:extLst xmlns:a="http://schemas.openxmlformats.org/drawingml/2006/main">
              <a:ext uri="{FF2B5EF4-FFF2-40B4-BE49-F238E27FC236}">
                <a16:creationId xmlns:a16="http://schemas.microsoft.com/office/drawing/2014/main" id="{0148A5F9-F29F-4D5D-B7FB-B5E1095E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623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Test tasks with independently verified keys and more varied difficulty.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DD36E-05CF-4E2D-B076-A6233798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67125"/>
            <a:ext cx="1000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13" name="Number 2">
            <a:extLst xmlns:a="http://schemas.openxmlformats.org/drawingml/2006/main">
              <a:ext uri="{FF2B5EF4-FFF2-40B4-BE49-F238E27FC236}">
                <a16:creationId xmlns:a16="http://schemas.microsoft.com/office/drawing/2014/main" id="{950A67DA-F812-40C4-AC2C-AF69E073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Topic 2">
            <a:extLst xmlns:a="http://schemas.openxmlformats.org/drawingml/2006/main">
              <a:ext uri="{FF2B5EF4-FFF2-40B4-BE49-F238E27FC236}">
                <a16:creationId xmlns:a16="http://schemas.microsoft.com/office/drawing/2014/main" id="{125380E5-9AA8-475E-B20F-700E6D5D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623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Structured agent communication</a:t>
            </a:r>
          </a:p>
        </p:txBody>
      </p:sp>
      <p:sp>
        <p:nvSpPr>
          <p:cNvPr id="15" name="Description 2">
            <a:extLst xmlns:a="http://schemas.openxmlformats.org/drawingml/2006/main">
              <a:ext uri="{FF2B5EF4-FFF2-40B4-BE49-F238E27FC236}">
                <a16:creationId xmlns:a16="http://schemas.microsoft.com/office/drawing/2014/main" id="{EABD6315-4D77-40D4-9C12-2E572C01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005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Compare matched source labels while holding the challenge wording constant.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08D3E-2060-4A8E-B0F5-2F27B8D5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05350"/>
            <a:ext cx="1000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17" name="Number 3">
            <a:extLst xmlns:a="http://schemas.openxmlformats.org/drawingml/2006/main">
              <a:ext uri="{FF2B5EF4-FFF2-40B4-BE49-F238E27FC236}">
                <a16:creationId xmlns:a16="http://schemas.microsoft.com/office/drawing/2014/main" id="{5D9B67B6-9F50-4BBA-B8F8-61C712D1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Topic 3">
            <a:extLst xmlns:a="http://schemas.openxmlformats.org/drawingml/2006/main">
              <a:ext uri="{FF2B5EF4-FFF2-40B4-BE49-F238E27FC236}">
                <a16:creationId xmlns:a16="http://schemas.microsoft.com/office/drawing/2014/main" id="{F3D4BC39-275B-403F-A6B7-0B93CC9F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006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Real human–AI interaction</a:t>
            </a:r>
          </a:p>
        </p:txBody>
      </p:sp>
      <p:sp>
        <p:nvSpPr>
          <p:cNvPr id="19" name="Description 3">
            <a:extLst xmlns:a="http://schemas.openxmlformats.org/drawingml/2006/main">
              <a:ext uri="{FF2B5EF4-FFF2-40B4-BE49-F238E27FC236}">
                <a16:creationId xmlns:a16="http://schemas.microsoft.com/office/drawing/2014/main" id="{56A4B716-1539-44D1-A626-86DD3B70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387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Observe actual user corrections and independent model advice.</a:t>
            </a:r>
          </a:p>
        </p:txBody>
      </p:sp>
    </p:spTree>
    <p:extLst>
      <p:ext uri="{BB962C8B-B14F-4D97-AF65-F5344CB8AC3E}">
        <p14:creationId xmlns:p14="http://schemas.microsoft.com/office/powerpoint/2010/main" val="20454847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28FCC118-4AA9-4888-A5C3-815D621C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REFERENCES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E0F257-08BD-4F46-BD88-F59638D0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References, sources and Q&amp;A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2652E-2A32-4A98-ABF6-E23BF56E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1ED861C-4D2E-4121-AD3E-D61C7E83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7048500"/>
              </a:tblGrid>
              <a:tr h="5349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Topic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</a:tr>
              <a:tr h="5349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Wang et al. (2023)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Self-Consistency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Huang et al. (2024)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LLMs Cannot Self-Correct Reasoning Yet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5349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Dhuliawala et al. (2024)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Chain-of-Verification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Sharma et al. (2023)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Sycophancy in Language Models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5349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project records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 500, GSM-Plus v3 and private revised math 500 ledgers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Questions">
            <a:extLst xmlns:a="http://schemas.openxmlformats.org/drawingml/2006/main">
              <a:ext uri="{FF2B5EF4-FFF2-40B4-BE49-F238E27FC236}">
                <a16:creationId xmlns:a16="http://schemas.microsoft.com/office/drawing/2014/main" id="{F9B331D5-0B0B-4121-A7F5-861860C9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1341570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2B3C6772-0F95-45B3-B85E-57BE9355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APPENDIX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C05C015-062A-4F47-9D4C-A26C513E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Current denominators and exclusions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2F44A-C523-4488-8E92-ABEA75ED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9D327B4-77BB-44FF-B56D-36E909CE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4667250"/>
                <a:gridCol w="3762375"/>
              </a:tblGrid>
              <a:tr h="6953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Definition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Eligible sample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</a:tr>
              <a:tr h="6953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Error rate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Incorrect / (correct + incorrect + abstain)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Scoreable answers only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Math self-review change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(42 − 66) / 488 = −4.92 pp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488 complete scoreable pairs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6953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Simulated AI / user error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1/68 versus 11/68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68 complete scoreable pairs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Technical exclusions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M1 4, M2 4, M4 1 original truncations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Extra-budget continuations separate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6" name="Footnote">
            <a:extLst xmlns:a="http://schemas.openxmlformats.org/drawingml/2006/main">
              <a:ext uri="{FF2B5EF4-FFF2-40B4-BE49-F238E27FC236}">
                <a16:creationId xmlns:a16="http://schemas.microsoft.com/office/drawing/2014/main" id="{A6635AA3-80FE-4668-A69B-5A5E4DD4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Report counts, percentages and percentage points with their own denominators.</a:t>
            </a:r>
          </a:p>
        </p:txBody>
      </p:sp>
    </p:spTree>
    <p:extLst>
      <p:ext uri="{BB962C8B-B14F-4D97-AF65-F5344CB8AC3E}">
        <p14:creationId xmlns:p14="http://schemas.microsoft.com/office/powerpoint/2010/main" val="19345645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DF43400E-7D82-47C0-9F25-C9774AB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APPENDIX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77AC358-2236-40D3-82A5-8A0DA377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Evidence used in the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A5EC1-55AE-40E7-9BD0-D46FE00A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499FDFA-3F46-4C57-8503-2A366ED6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409700"/>
          <a:ext xmlns:a="http://schemas.openxmlformats.org/drawingml/2006/main" cx="110490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5238750"/>
              </a:tblGrid>
              <a:tr h="5778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item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 / source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</a:tr>
              <a:tr h="5778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 initial answers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DeepSeek 500; MiniMax 496 original / 500 rescue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5778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GSM-Plus v3 natural checks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495 paired initial/self/cross answers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5778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 scripted wrong peer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 selected; 0 wrong, 0 target adoptions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5778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 false first prompt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 pairs per model, neutral / false premise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5778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revised math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M1 500; M2 493; M3/M4 70 each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ootnote">
            <a:extLst xmlns:a="http://schemas.openxmlformats.org/drawingml/2006/main">
              <a:ext uri="{FF2B5EF4-FFF2-40B4-BE49-F238E27FC236}">
                <a16:creationId xmlns:a16="http://schemas.microsoft.com/office/drawing/2014/main" id="{048A8516-16DE-4D18-9E39-F2CAD1BF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GSM-Plus v3 and private revised math are different banks and are never pooled.</a:t>
            </a:r>
          </a:p>
        </p:txBody>
      </p:sp>
    </p:spTree>
    <p:extLst>
      <p:ext uri="{BB962C8B-B14F-4D97-AF65-F5344CB8AC3E}">
        <p14:creationId xmlns:p14="http://schemas.microsoft.com/office/powerpoint/2010/main" val="62793070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A5252-AC44-4CA5-93CB-64ECC293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COMP2501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0487D-0A34-467B-B1BB-761C9596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DATA 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42E12-F1D1-412B-96E6-24896F5A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Three separate study cohorts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8CCB5-D8B6-4D2F-948B-7BA00826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B1435-5FED-48CC-A341-178EB4FA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3FD04-E504-4724-B13A-B12B5CD5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500 ×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AE060-0F90-4798-AE1A-439DA173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430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fact questions, GSM-Plus v3 math and private revised math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95300" y="2114550"/>
          <a:ext xmlns:a="http://schemas.openxmlformats.org/drawingml/2006/main" cx="11201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7477125"/>
                <a:gridCol w="1390650"/>
              </a:tblGrid>
              <a:tr h="43391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Category</a:t>
                      </a:r>
                    </a:p>
                  </a:txBody>
                  <a:tcPr marL="66675" marR="66675" marT="47625" marB="47625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Included data</a:t>
                      </a:r>
                    </a:p>
                  </a:txBody>
                  <a:tcPr marL="66675" marR="66675" marT="47625" marB="47625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</a:t>
                      </a:r>
                    </a:p>
                  </a:txBody>
                  <a:tcPr marL="66675" marR="66675" marT="47625" marB="47625" anchor="ctr">
                    <a:solidFill>
                      <a:srgbClr val="142C40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 questions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500 questions for two models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 initial cells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DeepSeek 500; MiniMax 496 original / 500 rescue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 + 496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GSM-Plus v3 bank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arithmetic word problems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 common paired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 initial, self, real DeepSeek cross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495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 scripted AI peer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Initially correct MiniMax questions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 first prompt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Neutral/false premise for two models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 each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revised math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undergraduate math bank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M1–M4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 / 493 / 70 / 70 logical tasks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1,133 tasks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95149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79000-A7AE-4754-BDFF-22484BDC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COMP2501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E1E89-C781-4748-96AB-14EA85B9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DATA 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AAE74-9A35-4DB0-A68E-A47A1A20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Private revised math stages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9977C-7179-4844-93D4-6BF06E3A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C3947-12F3-43C6-8730-F7AD1944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57200" y="1504950"/>
          <a:ext xmlns:a="http://schemas.openxmlformats.org/drawingml/2006/main" cx="112776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333625"/>
                <a:gridCol w="3476625"/>
                <a:gridCol w="2705100"/>
              </a:tblGrid>
              <a:tr h="6508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Experimental batch</a:t>
                      </a:r>
                    </a:p>
                  </a:txBody>
                  <a:tcPr marL="66675" marR="66675" marT="47625" marB="47625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Questions</a:t>
                      </a:r>
                    </a:p>
                  </a:txBody>
                  <a:tcPr marL="66675" marR="66675" marT="47625" marB="47625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66675" marR="66675" marT="47625" marB="47625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Task records</a:t>
                      </a:r>
                    </a:p>
                  </a:txBody>
                  <a:tcPr marL="66675" marR="66675" marT="47625" marB="47625" anchor="ctr">
                    <a:solidFill>
                      <a:srgbClr val="142C40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M1 original request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MiniMax-M3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500; 4 truncated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M1 with continuations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MiniMax-M3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500; 4 flagged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M2 neutral review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493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MiniMax-M3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493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M3 simulated Agent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MiniMax-M3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M4 simulated user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MiniMax-M3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5708B-E7D7-47FC-AA1B-E1FC72E2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6737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GSM-Plus v3 natural, scripted peer and first-prompt results are on separate slides.</a:t>
            </a:r>
          </a:p>
        </p:txBody>
      </p:sp>
    </p:spTree>
    <p:extLst>
      <p:ext uri="{BB962C8B-B14F-4D97-AF65-F5344CB8AC3E}">
        <p14:creationId xmlns:p14="http://schemas.microsoft.com/office/powerpoint/2010/main" val="209268657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D49521-50C3-451A-8E48-F1C20BBD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COMP2501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8DE26-2A42-464C-BA2B-5714859C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ANALYSIS 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C4971-6859-4BF5-A133-B1AA1BB1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Scoring and comparison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246F0-002B-4D81-BADF-0F391B52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081FD-791B-4176-A3D6-4885A29F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21965-479F-453E-827A-07999303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B77C6-64FB-479E-95F8-1FBC6492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09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Paired math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53E98-2587-4EF1-A0AA-CCC9E400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097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Compare M2 with its own M1 answer on the same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79F04-C862-491F-A301-93594EC3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AB6A7-7E35-472A-A940-F344DA96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B93EE-F57E-4B3E-A81A-C2ABB9FA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02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Separate domains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DB0F8-4742-4CB3-9059-C5C8081A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027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Facts and revised mathematics are distinct samples.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01F94-96EF-4A6E-A057-5B55E16E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90825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49FEE-9B4D-4F72-8F72-168B9B15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4AD62-6007-4468-AEE2-D081FE9A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90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Visible exclusions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20E6B-715B-4F57-B76D-3E8C0FEE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Report ambiguous, unscorable and technical cases outside scored 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B8D1F-CD52-4C8C-B238-69F47B02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D8E41-10B1-4585-921A-62FE457D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CBAC2-BD4F-4A0E-9EA6-9A82ACAA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814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Independent branches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4BAC88-7F23-4357-8252-CB76D1F2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8142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M2, M3 and M4 each start from the original M1 conversation.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4B5FF6-D69E-4B91-AF6E-868ACAF8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71975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3A1BB-A332-4EA7-8A8D-56713573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434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A50391-9244-4038-8DD6-D7D8D59C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Sensitivity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F55B4B-2EFC-4DDE-A216-D574F81E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720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Flag continuations that increase the output budget.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31D7DF-F0EF-4F82-B71F-63C7FDBF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BFDD7-0E63-4423-B51E-EA37FA1F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Primary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288D4A-3AB0-46A6-B513-C760BC3F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6959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Use original-budget, complete scoreable pairs.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891A48-86CE-4C01-98C3-A53EB219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695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rPr>
              <a:t>Secondary analysis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7ED8CF-1B56-41A3-A7CE-F6BFEA8B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6959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Report technical rescue results separately.</a:t>
            </a:r>
          </a:p>
        </p:txBody>
      </p:sp>
    </p:spTree>
    <p:extLst>
      <p:ext uri="{BB962C8B-B14F-4D97-AF65-F5344CB8AC3E}">
        <p14:creationId xmlns:p14="http://schemas.microsoft.com/office/powerpoint/2010/main" val="29587295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BB4ED-F6A3-4F53-B383-FC429262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COMP2501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AD5B1-F380-47AD-83D2-03A535BF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EVIDENCE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F61B3-9CE4-41E3-A8C8-794559DC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Evidence status and study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39000-3255-4395-ADFE-9A9D7BC5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E9D19-74BF-47FC-A8C0-3BEB98E0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F64EF-D19B-459E-A6D5-D19F8CEE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Verified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FEAB8-9D05-4332-A19B-7BD533A9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Versioned fact, GSM-Plus v3 and private math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7D7F6-51EB-4753-88AF-A40F9478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500 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75982-883E-4952-924D-918610B7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2 math banks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9AF71-F751-4349-BD66-1EAAEA40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Raw records, grading overlays and hashes are preserved.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DDD3E-F8C7-4E72-B512-679A8262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4BB11-475A-4188-8C6F-EB69F2E6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rPr>
              <a:t>Limits to 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972AD-FA99-4C4D-A2F2-BBFB6535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8A6BC-1012-49E1-A8F3-34FE88B0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Selected questions and different banks limit generalization.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253C0-9D75-4461-8FDB-003253CF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908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85DA3-19D6-4195-B633-287FFF04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Natural vs self interval touches zero in GSM-Plus v3.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0C276-FC61-49E8-933D-D881C4BB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52115-CDDC-426B-B994-83003524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Source framing, prompt wording and timing differ.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EEB82-D1FC-4773-B0D9-46F1ECA1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292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A94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94A48"/>
                </a:solidFill>
                <a:latin typeface="Helvetica Neue"/>
                <a:ea typeface="Helvetica Neue"/>
                <a:cs typeface="Helvetica Neue"/>
              </a:rPr>
              <a:t>MiniMax first-prompt paired p = 0.125; no stable average increase established.</a:t>
            </a:r>
          </a:p>
        </p:txBody>
      </p:sp>
    </p:spTree>
    <p:extLst>
      <p:ext uri="{BB962C8B-B14F-4D97-AF65-F5344CB8AC3E}">
        <p14:creationId xmlns:p14="http://schemas.microsoft.com/office/powerpoint/2010/main" val="494375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2026-10-06T19:43:49.4730000Z</dcterms:created>
  <dcterms:modified xsi:type="dcterms:W3CDTF">2026-10-06T19:43:49.4730000Z</dcterms:modified>
</coreProperties>
</file>