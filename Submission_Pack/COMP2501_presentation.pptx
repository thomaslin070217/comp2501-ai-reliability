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1.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2.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3.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4.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89a2d8a5cc1548f7" /><Relationship Type="http://schemas.openxmlformats.org/officeDocument/2006/relationships/extended-properties" Target="/docProps/app.xml" Id="R5235e8b1bc6443f4" /><Relationship Type="http://schemas.openxmlformats.org/officeDocument/2006/relationships/officeDocument" Target="/ppt/presentation.xml" Id="Rdecba31eaa814af0" /></Relationships>
</file>

<file path=ppt/presentation.xml><?xml version="1.0" encoding="utf-8"?>
<p:presentation xmlns:p="http://schemas.openxmlformats.org/presentationml/2006/main">
  <p:sldMasterIdLst>
    <p:sldMasterId xmlns:r="http://schemas.openxmlformats.org/officeDocument/2006/relationships" id="2147483648" r:id="R2441884ebc2f449a"/>
  </p:sldMasterIdLst>
  <p:notesMasterIdLst>
    <p:notesMasterId xmlns:r="http://schemas.openxmlformats.org/officeDocument/2006/relationships" r:id="R0a5e57a51b11471b"/>
  </p:notesMasterIdLst>
  <p:sldIdLst>
    <p:sldId xmlns:r="http://schemas.openxmlformats.org/officeDocument/2006/relationships" id="256" r:id="R5811d115ced74e62"/>
    <p:sldId xmlns:r="http://schemas.openxmlformats.org/officeDocument/2006/relationships" id="257" r:id="R76ed0e615e174419"/>
    <p:sldId xmlns:r="http://schemas.openxmlformats.org/officeDocument/2006/relationships" id="258" r:id="R2b1830e266944e21"/>
    <p:sldId xmlns:r="http://schemas.openxmlformats.org/officeDocument/2006/relationships" id="259" r:id="Rd266fa9cd47e4a3f"/>
    <p:sldId xmlns:r="http://schemas.openxmlformats.org/officeDocument/2006/relationships" id="260" r:id="R4795d19ad1924653"/>
    <p:sldId xmlns:r="http://schemas.openxmlformats.org/officeDocument/2006/relationships" id="261" r:id="Ra4141191c5b84e6a"/>
    <p:sldId xmlns:r="http://schemas.openxmlformats.org/officeDocument/2006/relationships" id="262" r:id="Rfbeaa4e985e8454c"/>
    <p:sldId xmlns:r="http://schemas.openxmlformats.org/officeDocument/2006/relationships" id="263" r:id="Rec1411b7f82d4224"/>
    <p:sldId xmlns:r="http://schemas.openxmlformats.org/officeDocument/2006/relationships" id="264" r:id="R2110947d13ab40e1"/>
    <p:sldId xmlns:r="http://schemas.openxmlformats.org/officeDocument/2006/relationships" id="265" r:id="R35e10a94b20f4bd1"/>
    <p:sldId xmlns:r="http://schemas.openxmlformats.org/officeDocument/2006/relationships" id="266" r:id="Red642cbe52384bea"/>
    <p:sldId xmlns:r="http://schemas.openxmlformats.org/officeDocument/2006/relationships" id="267" r:id="Rb76bc6dfca1842c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6b9f9823cc34526" /><Relationship Type="http://schemas.openxmlformats.org/officeDocument/2006/relationships/slideMaster" Target="/ppt/slideMasters/slideMaster1.xml" Id="R2441884ebc2f449a" /><Relationship Type="http://schemas.openxmlformats.org/officeDocument/2006/relationships/notesMaster" Target="/ppt/notesMasters/notesMaster1.xml" Id="R0a5e57a51b11471b" /><Relationship Type="http://schemas.openxmlformats.org/officeDocument/2006/relationships/presProps" Target="/ppt/presProps.xml" Id="Rdee98a7f0662493d" /><Relationship Type="http://schemas.openxmlformats.org/officeDocument/2006/relationships/tableStyles" Target="/ppt/tableStyles.xml" Id="R1f95cd1974474d68" /><Relationship Type="http://schemas.openxmlformats.org/officeDocument/2006/relationships/slide" Target="/ppt/slides/slide1.xml" Id="R5811d115ced74e62" /><Relationship Type="http://schemas.openxmlformats.org/officeDocument/2006/relationships/slide" Target="/ppt/slides/slide2.xml" Id="R76ed0e615e174419" /><Relationship Type="http://schemas.openxmlformats.org/officeDocument/2006/relationships/slide" Target="/ppt/slides/slide3.xml" Id="R2b1830e266944e21" /><Relationship Type="http://schemas.openxmlformats.org/officeDocument/2006/relationships/slide" Target="/ppt/slides/slide4.xml" Id="Rd266fa9cd47e4a3f" /><Relationship Type="http://schemas.openxmlformats.org/officeDocument/2006/relationships/slide" Target="/ppt/slides/slide5.xml" Id="R4795d19ad1924653" /><Relationship Type="http://schemas.openxmlformats.org/officeDocument/2006/relationships/slide" Target="/ppt/slides/slide6.xml" Id="Ra4141191c5b84e6a" /><Relationship Type="http://schemas.openxmlformats.org/officeDocument/2006/relationships/slide" Target="/ppt/slides/slide7.xml" Id="Rfbeaa4e985e8454c" /><Relationship Type="http://schemas.openxmlformats.org/officeDocument/2006/relationships/slide" Target="/ppt/slides/slide8.xml" Id="Rec1411b7f82d4224" /><Relationship Type="http://schemas.openxmlformats.org/officeDocument/2006/relationships/slide" Target="/ppt/slides/slide9.xml" Id="R2110947d13ab40e1" /><Relationship Type="http://schemas.openxmlformats.org/officeDocument/2006/relationships/slide" Target="/ppt/slides/slide10.xml" Id="R35e10a94b20f4bd1" /><Relationship Type="http://schemas.openxmlformats.org/officeDocument/2006/relationships/slide" Target="/ppt/slides/slide11.xml" Id="Red642cbe52384bea" /><Relationship Type="http://schemas.openxmlformats.org/officeDocument/2006/relationships/slide" Target="/ppt/slides/slide12.xml" Id="Rb76bc6dfca1842c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5eabce0acc44ea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21a6fb969024fd9" /><Relationship Type="http://schemas.openxmlformats.org/officeDocument/2006/relationships/notesMaster" Target="/ppt/notesMasters/notesMaster1.xml" Id="R3c9e530ea51748db" /></Relationships>
</file>

<file path=ppt/notesSlides/_rels/notesSlide2.xml.rels>&#65279;<?xml version="1.0" encoding="utf-8"?><Relationships xmlns="http://schemas.openxmlformats.org/package/2006/relationships"><Relationship Type="http://schemas.openxmlformats.org/officeDocument/2006/relationships/slide" Target="/ppt/slides/slide2.xml" Id="Ra159281dcb9040a5" /><Relationship Type="http://schemas.openxmlformats.org/officeDocument/2006/relationships/notesMaster" Target="/ppt/notesMasters/notesMaster1.xml" Id="Rae8ef70123144076" /></Relationships>
</file>

<file path=ppt/notesSlides/_rels/notesSlide3.xml.rels>&#65279;<?xml version="1.0" encoding="utf-8"?><Relationships xmlns="http://schemas.openxmlformats.org/package/2006/relationships"><Relationship Type="http://schemas.openxmlformats.org/officeDocument/2006/relationships/slide" Target="/ppt/slides/slide3.xml" Id="R89c293572bac4829" /><Relationship Type="http://schemas.openxmlformats.org/officeDocument/2006/relationships/notesMaster" Target="/ppt/notesMasters/notesMaster1.xml" Id="R95c8eb0a445f45f1" /></Relationships>
</file>

<file path=ppt/notesSlides/_rels/notesSlide4.xml.rels>&#65279;<?xml version="1.0" encoding="utf-8"?><Relationships xmlns="http://schemas.openxmlformats.org/package/2006/relationships"><Relationship Type="http://schemas.openxmlformats.org/officeDocument/2006/relationships/slide" Target="/ppt/slides/slide4.xml" Id="Rade8d7182bdf45c0" /><Relationship Type="http://schemas.openxmlformats.org/officeDocument/2006/relationships/notesMaster" Target="/ppt/notesMasters/notesMaster1.xml" Id="Ra026ca9a1d734762" /></Relationships>
</file>

<file path=ppt/notesSlides/_rels/notesSlide5.xml.rels>&#65279;<?xml version="1.0" encoding="utf-8"?><Relationships xmlns="http://schemas.openxmlformats.org/package/2006/relationships"><Relationship Type="http://schemas.openxmlformats.org/officeDocument/2006/relationships/slide" Target="/ppt/slides/slide5.xml" Id="Ra6a66affdbe64c7b" /><Relationship Type="http://schemas.openxmlformats.org/officeDocument/2006/relationships/notesMaster" Target="/ppt/notesMasters/notesMaster1.xml" Id="Re93ef0decc704a20" /></Relationships>
</file>

<file path=ppt/notesSlides/_rels/notesSlide6.xml.rels>&#65279;<?xml version="1.0" encoding="utf-8"?><Relationships xmlns="http://schemas.openxmlformats.org/package/2006/relationships"><Relationship Type="http://schemas.openxmlformats.org/officeDocument/2006/relationships/slide" Target="/ppt/slides/slide6.xml" Id="R1147edac8a9e4687" /><Relationship Type="http://schemas.openxmlformats.org/officeDocument/2006/relationships/notesMaster" Target="/ppt/notesMasters/notesMaster1.xml" Id="R79d1957b313f4a84" /></Relationships>
</file>

<file path=ppt/notesSlides/_rels/notesSlide7.xml.rels>&#65279;<?xml version="1.0" encoding="utf-8"?><Relationships xmlns="http://schemas.openxmlformats.org/package/2006/relationships"><Relationship Type="http://schemas.openxmlformats.org/officeDocument/2006/relationships/slide" Target="/ppt/slides/slide7.xml" Id="R9468b73cc944486c" /><Relationship Type="http://schemas.openxmlformats.org/officeDocument/2006/relationships/notesMaster" Target="/ppt/notesMasters/notesMaster1.xml" Id="R88f438a660dc4839" /></Relationships>
</file>

<file path=ppt/notesSlides/_rels/notesSlide8.xml.rels>&#65279;<?xml version="1.0" encoding="utf-8"?><Relationships xmlns="http://schemas.openxmlformats.org/package/2006/relationships"><Relationship Type="http://schemas.openxmlformats.org/officeDocument/2006/relationships/slide" Target="/ppt/slides/slide8.xml" Id="R0e827df5f2574967" /><Relationship Type="http://schemas.openxmlformats.org/officeDocument/2006/relationships/notesMaster" Target="/ppt/notesMasters/notesMaster1.xml" Id="R802db07b8d9c43c9" /></Relationships>
</file>

<file path=ppt/notesSlides/_rels/notesSlide9.xml.rels>&#65279;<?xml version="1.0" encoding="utf-8"?><Relationships xmlns="http://schemas.openxmlformats.org/package/2006/relationships"><Relationship Type="http://schemas.openxmlformats.org/officeDocument/2006/relationships/slide" Target="/ppt/slides/slide9.xml" Id="R8f573844ac6849dd" /><Relationship Type="http://schemas.openxmlformats.org/officeDocument/2006/relationships/notesMaster" Target="/ppt/notesMasters/notesMaster1.xml" Id="R23749e9648664b1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c51549ac1ad4096" /><Relationship Type="http://schemas.openxmlformats.org/officeDocument/2006/relationships/notesMaster" Target="/ppt/notesMasters/notesMaster1.xml" Id="R92adcaaa5ee94cd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19aa46de8d94b15" /><Relationship Type="http://schemas.openxmlformats.org/officeDocument/2006/relationships/notesMaster" Target="/ppt/notesMasters/notesMaster1.xml" Id="Rdbaf40f593db49d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0ec9408d40c40e7" /><Relationship Type="http://schemas.openxmlformats.org/officeDocument/2006/relationships/notesMaster" Target="/ppt/notesMasters/notesMaster1.xml" Id="R8fb2a05ee0ee4f2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 seconds. Introduce the concrete question: if we ask an AI to check another AI, do we gain reliability or merely become more cautious? The tested method is one follow-up prompt, not browsing, an ensemble or retraining. </a:t>
            </a:r>
          </a:p>
          <a:p xmlns:a="http://schemas.openxmlformats.org/drawingml/2006/main">
            <a:r>
              <a:t>Sources: https://github.com/ThomasLin070217/comp2501-ai-reliability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40 seconds. Explain the two separate research questions. RQ1 compares an incorrect answer alone with the same answer plus explanation. RQ2 compares exactly matched peer material under neutral and structured prompts, and also tests whether true corrections survive. </a:t>
            </a:r>
          </a:p>
          <a:p xmlns:a="http://schemas.openxmlformats.org/drawingml/2006/main">
            <a:r>
              <a:t>Sources: https://openreview.net/forum?id=IkmD3fKBPQ</a:t>
            </a:r>
          </a:p>
          <a:p xmlns:a="http://schemas.openxmlformats.org/drawingml/2006/main">
            <a:r>
              <a:t>https://aclanthology.org/2024.findings-acl.212/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65 seconds. Each baseline creates six separate conversations. C2 and C3 see identical wrong material; C4 and C5 see identical correct material. The arrows people may imagine are comparisons, not a chain of edits. Another model generated the material for an assigned target. Explain C0 as spontaneous rechecking control. </a:t>
            </a:r>
          </a:p>
          <a:p xmlns:a="http://schemas.openxmlformats.org/drawingml/2006/main">
            <a:r>
              <a:t>Sources: https://github.com/ThomasLin070217/comp2501-ai-reliability/blob/main/docs/experiment-plan-v1.md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 seconds. Distinguish questions, responses and paired units. We have 120 selected questions, 5040 returned outputs, one unusable output and its seven-response unit excluded. Initially correct and initially wrong subsets have different denominators. All current processing is R. Bootstrap resamples whole question clusters, including all models/repeats. </a:t>
            </a:r>
          </a:p>
          <a:p xmlns:a="http://schemas.openxmlformats.org/drawingml/2006/main">
            <a:r>
              <a:t>Sources: https://huggingface.co/datasets/google/simpleqa-verified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 seconds. Read counts: five, three, zero out of 154 initially correct units. Adding a wrong explanation did not show increased harm. C2 minus C1 is -1.30 percentage points with interval [-5.17,2.31]. Structured checking has only three events behind its apparent reduction. Zero is not a safety guarantee. </a:t>
            </a:r>
          </a:p>
          <a:p xmlns:a="http://schemas.openxmlformats.org/drawingml/2006/main">
            <a:r>
              <a:t>Sources: https://github.com/ThomasLin070217/comp2501-ai-reliability/blob/main/Peer_Misleading_Study/reports/main_r/effects.csv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55 seconds. Correct advice repairs 76 of 322 baseline errors under neutral prompting, and 45 under structured verification. Paired difference is -9.63 percentage points with question-cluster interval [-14.38,-5.25]. There are 48 adverse discordant units and 17 reverse units. This does not prove actual users prefer the neutral method: uncertainty can be useful. </a:t>
            </a:r>
          </a:p>
          <a:p xmlns:a="http://schemas.openxmlformats.org/drawingml/2006/main">
            <a:r>
              <a:t>Sources: https://github.com/ThomasLin070217/comp2501-ai-reliability/blob/main/Peer_Misleading_Study/reports/main_r/effects.csv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 seconds. The stacked bars all use 719 complete units. Structured prompts shift many outputs into abstention. Date accuracy does not validate the explanation or prove evidence was consulted. Mention the correct 1975 candidate with explicit uncertainty as a case of mixed dimensions. </a:t>
            </a:r>
          </a:p>
          <a:p xmlns:a="http://schemas.openxmlformats.org/drawingml/2006/main">
            <a:r>
              <a:t>Sources: https://github.com/ThomasLin070217/comp2501-ai-reliability/blob/main/docs/review-discussion-2026-10-02.md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45 seconds. Ask the audience whether area is 50. Side length 10 forces height about 8.66, so conditions are inconsistent. Correct rejection of a contradictory premise is a mathematical conclusion, not the model refusing from uncertainty. This is MathTrap Table 13, a historical GPT-4-0125-preview failure; no claim every current model fails this exact item. </a:t>
            </a:r>
          </a:p>
          <a:p xmlns:a="http://schemas.openxmlformats.org/drawingml/2006/main">
            <a:r>
              <a:t>Sources: https://aclanthology.org/2024.emnlp-main.915/ (Table 13)</a:t>
            </a:r>
          </a:p>
          <a:p xmlns:a="http://schemas.openxmlformats.org/drawingml/2006/main">
            <a:r>
              <a:t>https://machinelearning.apple.com/research/gsm-symbolic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 seconds. Read the current math counts from the slide, keeping the supplement separate from factual results. None of 55 initially correct units flipped. C0 alone reaches 68/71. Thirteen of 16 initial field errors already have a correct endpoint in the reason, so do not describe all gains as logical repairs. State 13 of 16 planned items passed peer-material quality; only three families have complete trap/control coverage. Numbers and repeated outputs are dependent. This is descriptive evidence and not a benchmark or universal method ranking. </a:t>
            </a:r>
          </a:p>
          <a:p xmlns:a="http://schemas.openxmlformats.org/drawingml/2006/main">
            <a:r>
              <a:t>Sources: https://github.com/ThomasLin070217/comp2501-ai-reliability/tree/main/Math_Supplement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45 seconds. Explain limitations that affect inference: selected dates, low baseline accuracy, few harmful flips, disputed references and partial human review. The math schema cues logical categories. Generated arguments follow assigned faulty routes. The original balanced math viability criterion failed and is transparently documented. </a:t>
            </a:r>
          </a:p>
          <a:p xmlns:a="http://schemas.openxmlformats.org/drawingml/2006/main">
            <a:r>
              <a:t>Sources: https://github.com/ThomasLin070217/comp2501-ai-reliability/blob/main/Math_Supplement/protocol/deviations.md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40 seconds. Give the proposed next solution: display candidate, uncertainty and source support separately, then validate through a trusted source or executable check. We did not test that retrieval/tool arm, so it is a future experiment rather than a claimed measured improvement. </a:t>
            </a:r>
          </a:p>
          <a:p xmlns:a="http://schemas.openxmlformats.org/drawingml/2006/main">
            <a:r>
              <a:t>Sources: https://arxiv.org/abs/2005.11401</a:t>
            </a:r>
          </a:p>
          <a:p xmlns:a="http://schemas.openxmlformats.org/drawingml/2006/main">
            <a:r>
              <a:t>https://aclanthology.org/2024.findings-acl.212/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 seconds. Acknowledge data and papers, R packages, and AI assistance. Codex built and checked much of the implementation; Claude Code was configured to Kimi. A user filled 45 targeted records; full independent human annotation remains pending. Invite questions without claiming all generated explanations were human validated. </a:t>
            </a:r>
          </a:p>
          <a:p xmlns:a="http://schemas.openxmlformats.org/drawingml/2006/main">
            <a:r>
              <a:t>Sources: https://huggingface.co/datasets/google/simpleqa-verified</a:t>
            </a:r>
          </a:p>
          <a:p xmlns:a="http://schemas.openxmlformats.org/drawingml/2006/main">
            <a:r>
              <a:t>https://openreview.net/forum?id=IkmD3fKBPQ</a:t>
            </a:r>
          </a:p>
          <a:p xmlns:a="http://schemas.openxmlformats.org/drawingml/2006/main">
            <a:r>
              <a:t>https://aclanthology.org/2024.findings-acl.212/</a:t>
            </a:r>
          </a:p>
          <a:p xmlns:a="http://schemas.openxmlformats.org/drawingml/2006/main">
            <a:r>
              <a:t>https://aclanthology.org/2024.emnlp-main.915/</a:t>
            </a:r>
          </a:p>
          <a:p xmlns:a="http://schemas.openxmlformats.org/drawingml/2006/main">
            <a:r>
              <a:t>https://machinelearning.apple.com/research/gsm-symbolic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ec4ed75d51d4e5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408014720d4406f" /><Relationship Type="http://schemas.openxmlformats.org/officeDocument/2006/relationships/slideLayout" Target="/ppt/slideLayouts/slideLayout1.xml" Id="Rcd9ae759a24d4b2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d9ae759a24d4b2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5d0c45497744cf5" /><Relationship Type="http://schemas.openxmlformats.org/officeDocument/2006/relationships/notesSlide" Target="/ppt/notesSlides/notesSlide1.xml" Id="Ra8277f76b34444fd"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6ada6d6e73b493a" /><Relationship Type="http://schemas.openxmlformats.org/officeDocument/2006/relationships/notesSlide" Target="/ppt/notesSlides/notesSlide2.xml" Id="R69699798d79841eb"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8fb5b20c40f47cc" /><Relationship Type="http://schemas.openxmlformats.org/officeDocument/2006/relationships/notesSlide" Target="/ppt/notesSlides/notesSlide3.xml" Id="R4c023e3c91c24a6b"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b3dffdbfd1e4f71" /><Relationship Type="http://schemas.openxmlformats.org/officeDocument/2006/relationships/notesSlide" Target="/ppt/notesSlides/notesSlide4.xml" Id="R67a10c13319148c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e1c1e9d5ae84cc7" /><Relationship Type="http://schemas.openxmlformats.org/officeDocument/2006/relationships/chart" Target="/ppt/slides/charts/chart1.xml" Id="R75f1ea2509674c1a" /><Relationship Type="http://schemas.openxmlformats.org/officeDocument/2006/relationships/notesSlide" Target="/ppt/notesSlides/notesSlide5.xml" Id="R4a5766d956084ad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e1580fcef9b74fc2" /><Relationship Type="http://schemas.openxmlformats.org/officeDocument/2006/relationships/chart" Target="/ppt/slides/charts/chart2.xml" Id="R793da7610e52481a" /><Relationship Type="http://schemas.openxmlformats.org/officeDocument/2006/relationships/notesSlide" Target="/ppt/notesSlides/notesSlide6.xml" Id="Re4cf539537fe413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c37b242957f64cf7" /><Relationship Type="http://schemas.openxmlformats.org/officeDocument/2006/relationships/chart" Target="/ppt/slides/charts/chart3.xml" Id="Rec74396d5b6c4b45" /><Relationship Type="http://schemas.openxmlformats.org/officeDocument/2006/relationships/notesSlide" Target="/ppt/notesSlides/notesSlide7.xml" Id="Ree6b68c4d8494cf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9b9286d0dbe4777" /><Relationship Type="http://schemas.openxmlformats.org/officeDocument/2006/relationships/notesSlide" Target="/ppt/notesSlides/notesSlide8.xml" Id="Rae14220b373240f6"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09904a1325144573" /><Relationship Type="http://schemas.openxmlformats.org/officeDocument/2006/relationships/chart" Target="/ppt/slides/charts/chart4.xml" Id="R0a2de909c4bb4d04" /><Relationship Type="http://schemas.openxmlformats.org/officeDocument/2006/relationships/notesSlide" Target="/ppt/notesSlides/notesSlide9.xml" Id="Rae5017bc212741b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6a3ee196fc34673" /><Relationship Type="http://schemas.openxmlformats.org/officeDocument/2006/relationships/notesSlide" Target="/ppt/notesSlides/notesSlide10.xml" Id="R921c626dd502495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9654c10cf51c42b5" /><Relationship Type="http://schemas.openxmlformats.org/officeDocument/2006/relationships/notesSlide" Target="/ppt/notesSlides/notesSlide11.xml" Id="R3c77fff79ab64ec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9ce49db837424d1f" /><Relationship Type="http://schemas.openxmlformats.org/officeDocument/2006/relationships/notesSlide" Target="/ppt/notesSlides/notesSlide12.xml" Id="R839608ac49894a1b"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correct_to_incorrect</c:v>
          </c:tx>
          <c:spPr>
            <a:solidFill xmlns:a="http://schemas.openxmlformats.org/drawingml/2006/main">
              <a:srgbClr val="C45F48"/>
            </a:solidFill>
          </c:spPr>
          <c:cat>
            <c:strRef>
              <c:f>'Chart Data'!$A$2:$A$4</c:f>
              <c:strCache>
                <c:ptCount val="3"/>
                <c:pt idx="0">
                  <c:v>C1 Wrong only</c:v>
                </c:pt>
                <c:pt idx="1">
                  <c:v>C2 Wrong + reason</c:v>
                </c:pt>
                <c:pt idx="2">
                  <c:v>C3 Structured</c:v>
                </c:pt>
              </c:strCache>
            </c:strRef>
          </c:cat>
          <c:val>
            <c:numRef>
              <c:f>'Chart Data'!$B$2:$B$4</c:f>
              <c:numCache>
                <c:formatCode>0</c:formatCode>
                <c:ptCount val="3"/>
                <c:pt idx="0">
                  <c:v>5</c:v>
                </c:pt>
                <c:pt idx="1">
                  <c:v>3</c:v>
                </c:pt>
                <c:pt idx="2">
                  <c:v>0</c:v>
                </c:pt>
              </c:numCache>
            </c:numRef>
          </c:val>
        </c:ser>
        <c:dLbls>
          <c:txPr>
            <a:bodyPr xmlns:a="http://schemas.openxmlformats.org/drawingml/2006/main" anchorCtr="1"/>
            <a:lstStyle xmlns:a="http://schemas.openxmlformats.org/drawingml/2006/main"/>
            <a:p xmlns:a="http://schemas.openxmlformats.org/drawingml/2006/main">
              <a:pPr>
                <a:defRPr sz="1800">
                  <a:latin typeface="Helvetica Neue"/>
                  <a:ea typeface="Helvetica Neue"/>
                  <a:cs typeface="Helvetica Neue"/>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725">
                <a:solidFill>
                  <a:srgbClr val="666666"/>
                </a:solidFill>
                <a:latin typeface="Helvetica Neue"/>
                <a:ea typeface="Helvetica Neue"/>
                <a:cs typeface="Helvetica Neue"/>
              </a:defRPr>
            </a:pPr>
          </a:p>
        </c:txPr>
        <c:crossAx val="48672768"/>
      </c:catAx>
      <c:valAx>
        <c:axId val="48672768"/>
        <c:scaling>
          <c:orientation val="minMax"/>
        </c:scaling>
        <c:delete val="0"/>
        <c:axPos val="l"/>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Helvetica Neue"/>
                <a:ea typeface="Helvetica Neue"/>
                <a:cs typeface="Helvetica Neue"/>
              </a:defRPr>
            </a:pPr>
          </a:p>
        </c:txPr>
        <c:crossAx val="48650112"/>
        <c:crossBetween val="between"/>
      </c:valAx>
    </c:plotArea>
    <c:plotVisOnly val="1"/>
  </c:chart>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incorrect_to_correct</c:v>
          </c:tx>
          <c:spPr>
            <a:solidFill xmlns:a="http://schemas.openxmlformats.org/drawingml/2006/main">
              <a:srgbClr val="147E77"/>
            </a:solidFill>
          </c:spPr>
          <c:cat>
            <c:strRef>
              <c:f>'Chart Data'!$A$2:$A$3</c:f>
              <c:strCache>
                <c:ptCount val="2"/>
                <c:pt idx="0">
                  <c:v>C4 Correct advice</c:v>
                </c:pt>
                <c:pt idx="1">
                  <c:v>C5 Structured</c:v>
                </c:pt>
              </c:strCache>
            </c:strRef>
          </c:cat>
          <c:val>
            <c:numRef>
              <c:f>'Chart Data'!$B$2:$B$3</c:f>
              <c:numCache>
                <c:formatCode>0</c:formatCode>
                <c:ptCount val="2"/>
                <c:pt idx="0">
                  <c:v>76</c:v>
                </c:pt>
                <c:pt idx="1">
                  <c:v>45</c:v>
                </c:pt>
              </c:numCache>
            </c:numRef>
          </c:val>
        </c:ser>
        <c:dLbls>
          <c:txPr>
            <a:bodyPr xmlns:a="http://schemas.openxmlformats.org/drawingml/2006/main" anchorCtr="1"/>
            <a:lstStyle xmlns:a="http://schemas.openxmlformats.org/drawingml/2006/main"/>
            <a:p xmlns:a="http://schemas.openxmlformats.org/drawingml/2006/main">
              <a:pPr>
                <a:defRPr sz="1800">
                  <a:latin typeface="Helvetica Neue"/>
                  <a:ea typeface="Helvetica Neue"/>
                  <a:cs typeface="Helvetica Neue"/>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725">
                <a:solidFill>
                  <a:srgbClr val="666666"/>
                </a:solidFill>
                <a:latin typeface="Helvetica Neue"/>
                <a:ea typeface="Helvetica Neue"/>
                <a:cs typeface="Helvetica Neue"/>
              </a:defRPr>
            </a:pPr>
          </a:p>
        </c:txPr>
        <c:crossAx val="48672768"/>
      </c:catAx>
      <c:valAx>
        <c:axId val="48672768"/>
        <c:scaling>
          <c:orientation val="minMax"/>
        </c:scaling>
        <c:delete val="0"/>
        <c:axPos val="l"/>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Helvetica Neue"/>
                <a:ea typeface="Helvetica Neue"/>
                <a:cs typeface="Helvetica Neue"/>
              </a:defRPr>
            </a:pPr>
          </a:p>
        </c:txPr>
        <c:crossAx val="48650112"/>
        <c:crossBetween val="between"/>
      </c:valAx>
    </c:plotArea>
    <c:plotVisOnly val="1"/>
  </c:chart>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col"/>
        <c:grouping val="stacked"/>
        <c:varyColors val="0"/>
        <c:ser>
          <c:idx val="0"/>
          <c:order val="0"/>
          <c:tx>
            <c:v>Correct</c:v>
          </c:tx>
          <c:spPr>
            <a:solidFill xmlns:a="http://schemas.openxmlformats.org/drawingml/2006/main">
              <a:srgbClr val="8AC7C2"/>
            </a:solidFill>
          </c:spPr>
          <c:cat>
            <c:strRef>
              <c:f>'Chart Data'!$A$2:$A$5</c:f>
              <c:strCache>
                <c:ptCount val="4"/>
                <c:pt idx="0">
                  <c:v>C2 Wrong advice</c:v>
                </c:pt>
                <c:pt idx="1">
                  <c:v>C3 Structured</c:v>
                </c:pt>
                <c:pt idx="2">
                  <c:v>C4 Correct advice</c:v>
                </c:pt>
                <c:pt idx="3">
                  <c:v>C5 Structured</c:v>
                </c:pt>
              </c:strCache>
            </c:strRef>
          </c:cat>
          <c:val>
            <c:numRef>
              <c:f>'Chart Data'!$B$2:$B$5</c:f>
              <c:numCache>
                <c:formatCode>0</c:formatCode>
                <c:ptCount val="4"/>
                <c:pt idx="0">
                  <c:v>162</c:v>
                </c:pt>
                <c:pt idx="1">
                  <c:v>141</c:v>
                </c:pt>
                <c:pt idx="2">
                  <c:v>353</c:v>
                </c:pt>
                <c:pt idx="3">
                  <c:v>193</c:v>
                </c:pt>
              </c:numCache>
            </c:numRef>
          </c:val>
        </c:ser>
        <c:ser>
          <c:idx val="1"/>
          <c:order val="1"/>
          <c:tx>
            <c:v>Wrong</c:v>
          </c:tx>
          <c:spPr>
            <a:solidFill xmlns:a="http://schemas.openxmlformats.org/drawingml/2006/main">
              <a:srgbClr val="EAB29F"/>
            </a:solidFill>
          </c:spPr>
          <c:cat>
            <c:strRef>
              <c:f>'Chart Data'!$C$2:$C$5</c:f>
              <c:strCache>
                <c:ptCount val="4"/>
                <c:pt idx="0">
                  <c:v>C2 Wrong advice</c:v>
                </c:pt>
                <c:pt idx="1">
                  <c:v>C3 Structured</c:v>
                </c:pt>
                <c:pt idx="2">
                  <c:v>C4 Correct advice</c:v>
                </c:pt>
                <c:pt idx="3">
                  <c:v>C5 Structured</c:v>
                </c:pt>
              </c:strCache>
            </c:strRef>
          </c:cat>
          <c:val>
            <c:numRef>
              <c:f>'Chart Data'!$D$2:$D$5</c:f>
              <c:numCache>
                <c:formatCode>0</c:formatCode>
                <c:ptCount val="4"/>
                <c:pt idx="0">
                  <c:v>377</c:v>
                </c:pt>
                <c:pt idx="1">
                  <c:v>258</c:v>
                </c:pt>
                <c:pt idx="2">
                  <c:v>217</c:v>
                </c:pt>
                <c:pt idx="3">
                  <c:v>183</c:v>
                </c:pt>
              </c:numCache>
            </c:numRef>
          </c:val>
        </c:ser>
        <c:ser>
          <c:idx val="2"/>
          <c:order val="2"/>
          <c:tx>
            <c:v>Abstain</c:v>
          </c:tx>
          <c:spPr>
            <a:solidFill xmlns:a="http://schemas.openxmlformats.org/drawingml/2006/main">
              <a:srgbClr val="D1DAE5"/>
            </a:solidFill>
          </c:spPr>
          <c:cat>
            <c:strRef>
              <c:f>'Chart Data'!$E$2:$E$5</c:f>
              <c:strCache>
                <c:ptCount val="4"/>
                <c:pt idx="0">
                  <c:v>C2 Wrong advice</c:v>
                </c:pt>
                <c:pt idx="1">
                  <c:v>C3 Structured</c:v>
                </c:pt>
                <c:pt idx="2">
                  <c:v>C4 Correct advice</c:v>
                </c:pt>
                <c:pt idx="3">
                  <c:v>C5 Structured</c:v>
                </c:pt>
              </c:strCache>
            </c:strRef>
          </c:cat>
          <c:val>
            <c:numRef>
              <c:f>'Chart Data'!$F$2:$F$5</c:f>
              <c:numCache>
                <c:formatCode>0</c:formatCode>
                <c:ptCount val="4"/>
                <c:pt idx="0">
                  <c:v>180</c:v>
                </c:pt>
                <c:pt idx="1">
                  <c:v>320</c:v>
                </c:pt>
                <c:pt idx="2">
                  <c:v>149</c:v>
                </c:pt>
                <c:pt idx="3">
                  <c:v>343</c:v>
                </c:pt>
              </c:numCache>
            </c:numRef>
          </c:val>
        </c:ser>
        <c:dLbls>
          <c:txPr>
            <a:bodyPr xmlns:a="http://schemas.openxmlformats.org/drawingml/2006/main" anchorCtr="1"/>
            <a:lstStyle xmlns:a="http://schemas.openxmlformats.org/drawingml/2006/main"/>
            <a:p xmlns:a="http://schemas.openxmlformats.org/drawingml/2006/main">
              <a:pPr>
                <a:defRPr sz="1800">
                  <a:solidFill>
                    <a:srgbClr val="142C40"/>
                  </a:solidFill>
                  <a:latin typeface="Helvetica Neue"/>
                  <a:ea typeface="Helvetica Neue"/>
                  <a:cs typeface="Helvetica Neue"/>
                </a:defRPr>
              </a:pPr>
            </a:p>
          </c:txPr>
          <c:dLblPos val="ctr"/>
          <c:showLegendKey val="0"/>
          <c:showVal val="1"/>
          <c:showCatName val="0"/>
          <c:showSerName val="0"/>
          <c:showPercent val="0"/>
          <c:showBubbleSize val="0"/>
          <c:showLeaderLines val="0"/>
        </c:dLbls>
        <c:overlap val="10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Helvetica Neue"/>
                <a:ea typeface="Helvetica Neue"/>
                <a:cs typeface="Helvetica Neue"/>
              </a:defRPr>
            </a:pPr>
          </a:p>
        </c:txPr>
        <c:crossAx val="48672768"/>
      </c:catAx>
      <c:valAx>
        <c:axId val="48672768"/>
        <c:scaling>
          <c:orientation val="minMax"/>
        </c:scaling>
        <c:delete val="0"/>
        <c:axPos val="l"/>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Helvetica Neue"/>
                <a:ea typeface="Helvetica Neue"/>
                <a:cs typeface="Helvetica Neue"/>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1725">
              <a:latin typeface="Helvetica Neue"/>
              <a:ea typeface="Helvetica Neue"/>
              <a:cs typeface="Helvetica Neue"/>
            </a:defRPr>
          </a:pPr>
        </a:p>
      </c:txPr>
    </c:legend>
    <c:plotVisOnly val="1"/>
  </c:chart>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correct</c:v>
          </c:tx>
          <c:spPr>
            <a:solidFill xmlns:a="http://schemas.openxmlformats.org/drawingml/2006/main">
              <a:srgbClr val="147E77"/>
            </a:solidFill>
          </c:spPr>
          <c:cat>
            <c:strRef>
              <c:f>'Chart Data'!$A$2:$A$8</c:f>
              <c:strCache>
                <c:ptCount val="7"/>
                <c:pt idx="0">
                  <c:v>Initial</c:v>
                </c:pt>
                <c:pt idx="1">
                  <c:v>C0</c:v>
                </c:pt>
                <c:pt idx="2">
                  <c:v>C1</c:v>
                </c:pt>
                <c:pt idx="3">
                  <c:v>C2</c:v>
                </c:pt>
                <c:pt idx="4">
                  <c:v>C3</c:v>
                </c:pt>
                <c:pt idx="5">
                  <c:v>C4</c:v>
                </c:pt>
                <c:pt idx="6">
                  <c:v>C5</c:v>
                </c:pt>
              </c:strCache>
            </c:strRef>
          </c:cat>
          <c:val>
            <c:numRef>
              <c:f>'Chart Data'!$B$2:$B$8</c:f>
              <c:numCache>
                <c:formatCode>0</c:formatCode>
                <c:ptCount val="7"/>
                <c:pt idx="0">
                  <c:v>55</c:v>
                </c:pt>
                <c:pt idx="1">
                  <c:v>68</c:v>
                </c:pt>
                <c:pt idx="2">
                  <c:v>66</c:v>
                </c:pt>
                <c:pt idx="3">
                  <c:v>65</c:v>
                </c:pt>
                <c:pt idx="4">
                  <c:v>67</c:v>
                </c:pt>
                <c:pt idx="5">
                  <c:v>71</c:v>
                </c:pt>
                <c:pt idx="6">
                  <c:v>70</c:v>
                </c:pt>
              </c:numCache>
            </c:numRef>
          </c:val>
        </c:ser>
        <c:dLbls>
          <c:txPr>
            <a:bodyPr xmlns:a="http://schemas.openxmlformats.org/drawingml/2006/main" anchorCtr="1"/>
            <a:lstStyle xmlns:a="http://schemas.openxmlformats.org/drawingml/2006/main"/>
            <a:p xmlns:a="http://schemas.openxmlformats.org/drawingml/2006/main">
              <a:pPr>
                <a:defRPr sz="1800">
                  <a:latin typeface="Helvetica Neue"/>
                  <a:ea typeface="Helvetica Neue"/>
                  <a:cs typeface="Helvetica Neue"/>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725">
                <a:solidFill>
                  <a:srgbClr val="666666"/>
                </a:solidFill>
                <a:latin typeface="Helvetica Neue"/>
                <a:ea typeface="Helvetica Neue"/>
                <a:cs typeface="Helvetica Neue"/>
              </a:defRPr>
            </a:pPr>
          </a:p>
        </c:txPr>
        <c:crossAx val="48672768"/>
      </c:catAx>
      <c:valAx>
        <c:axId val="48672768"/>
        <c:scaling>
          <c:orientation val="minMax"/>
        </c:scaling>
        <c:delete val="0"/>
        <c:axPos val="l"/>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Helvetica Neue"/>
                <a:ea typeface="Helvetica Neue"/>
                <a:cs typeface="Helvetica Neue"/>
              </a:defRPr>
            </a:pPr>
          </a:p>
        </c:txPr>
        <c:crossAx val="48650112"/>
        <c:crossBetween val="between"/>
      </c:valAx>
    </c:plotArea>
    <c:plotVisOnly val="1"/>
  </c:chart>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416336B-C197-476D-9DEA-990F3E4869B8}"/>
              </a:ext>
            </a:extLst>
          </p:cNvPr>
          <p:cNvSpPr>
            <a:spLocks xmlns:a="http://schemas.openxmlformats.org/drawingml/2006/main" noGrp="1"/>
          </p:cNvSpPr>
          <p:nvPr/>
        </p:nvSpPr>
        <p:spPr>
          <a:xfrm xmlns:a="http://schemas.openxmlformats.org/drawingml/2006/main">
            <a:off x="628650" y="400050"/>
            <a:ext cx="109347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Can structured double-checking</a:t>
            </a:r>
          </a:p>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resist misleading AI peers?</a:t>
            </a:r>
          </a:p>
        </p:txBody>
      </p:sp>
      <p:sp>
        <p:nvSpPr>
          <p:cNvPr id="2" name="">
            <a:extLst xmlns:a="http://schemas.openxmlformats.org/drawingml/2006/main">
              <a:ext uri="{FF2B5EF4-FFF2-40B4-BE49-F238E27FC236}">
                <a16:creationId xmlns:a16="http://schemas.microsoft.com/office/drawing/2014/main" id="{1AF998FE-5346-4EF5-ACC8-911030E768CD}"/>
              </a:ext>
            </a:extLst>
          </p:cNvPr>
          <p:cNvSpPr>
            <a:spLocks xmlns:a="http://schemas.openxmlformats.org/drawingml/2006/main" noGrp="1"/>
          </p:cNvSpPr>
          <p:nvPr/>
        </p:nvSpPr>
        <p:spPr>
          <a:xfrm xmlns:a="http://schemas.openxmlformats.org/drawingml/2006/main">
            <a:off x="685800" y="2647950"/>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147E77"/>
                </a:solidFill>
                <a:latin typeface="Helvetica Neue"/>
                <a:ea typeface="Helvetica Neue"/>
                <a:cs typeface="Helvetica Neue"/>
              </a:defRPr>
            </a:pPr>
            <a:r>
              <a:rPr sz="2100" b="1">
                <a:solidFill>
                  <a:srgbClr val="147E77"/>
                </a:solidFill>
                <a:latin typeface="Helvetica Neue"/>
                <a:ea typeface="Helvetica Neue"/>
                <a:cs typeface="Helvetica Neue"/>
              </a:rPr>
              <a:t>COMP2501</a:t>
            </a:r>
          </a:p>
        </p:txBody>
      </p:sp>
      <p:sp>
        <p:nvSpPr>
          <p:cNvPr id="3" name="">
            <a:extLst xmlns:a="http://schemas.openxmlformats.org/drawingml/2006/main">
              <a:ext uri="{FF2B5EF4-FFF2-40B4-BE49-F238E27FC236}">
                <a16:creationId xmlns:a16="http://schemas.microsoft.com/office/drawing/2014/main" id="{66E98BF5-D4A5-44B8-AC76-B563E39A0B3A}"/>
              </a:ext>
            </a:extLst>
          </p:cNvPr>
          <p:cNvSpPr>
            <a:spLocks xmlns:a="http://schemas.openxmlformats.org/drawingml/2006/main" noGrp="1"/>
          </p:cNvSpPr>
          <p:nvPr/>
        </p:nvSpPr>
        <p:spPr>
          <a:xfrm xmlns:a="http://schemas.openxmlformats.org/drawingml/2006/main">
            <a:off x="685800" y="3476625"/>
            <a:ext cx="10572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142C40"/>
                </a:solidFill>
                <a:latin typeface="Helvetica Neue"/>
                <a:ea typeface="Helvetica Neue"/>
                <a:cs typeface="Helvetica Neue"/>
              </a:defRPr>
            </a:pPr>
            <a:r>
              <a:rPr sz="2700" b="0">
                <a:solidFill>
                  <a:srgbClr val="142C40"/>
                </a:solidFill>
                <a:latin typeface="Helvetica Neue"/>
                <a:ea typeface="Helvetica Neue"/>
                <a:cs typeface="Helvetica Neue"/>
              </a:rPr>
              <a:t>A factual experiment with a separate mathematics supplement</a:t>
            </a:r>
          </a:p>
        </p:txBody>
      </p:sp>
      <p:sp>
        <p:nvSpPr>
          <p:cNvPr id="4" name="">
            <a:extLst xmlns:a="http://schemas.openxmlformats.org/drawingml/2006/main">
              <a:ext uri="{FF2B5EF4-FFF2-40B4-BE49-F238E27FC236}">
                <a16:creationId xmlns:a16="http://schemas.microsoft.com/office/drawing/2014/main" id="{63149B21-9298-4AA0-BC5C-B91ADA45E0FE}"/>
              </a:ext>
            </a:extLst>
          </p:cNvPr>
          <p:cNvSpPr>
            <a:spLocks xmlns:a="http://schemas.openxmlformats.org/drawingml/2006/main" noGrp="1"/>
          </p:cNvSpPr>
          <p:nvPr/>
        </p:nvSpPr>
        <p:spPr>
          <a:xfrm xmlns:a="http://schemas.openxmlformats.org/drawingml/2006/main">
            <a:off x="685800" y="5305425"/>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657586"/>
                </a:solidFill>
                <a:latin typeface="Helvetica Neue"/>
                <a:ea typeface="Helvetica Neue"/>
                <a:cs typeface="Helvetica Neue"/>
              </a:defRPr>
            </a:pPr>
            <a:r>
              <a:rPr sz="1875" b="0">
                <a:solidFill>
                  <a:srgbClr val="657586"/>
                </a:solidFill>
                <a:latin typeface="Helvetica Neue"/>
                <a:ea typeface="Helvetica Neue"/>
                <a:cs typeface="Helvetica Neue"/>
              </a:rPr>
              <a:t>120 factual questions  /  Three model APIs  /  R analysis</a:t>
            </a:r>
          </a:p>
        </p:txBody>
      </p:sp>
      <p:sp>
        <p:nvSpPr>
          <p:cNvPr id="5" name="">
            <a:extLst xmlns:a="http://schemas.openxmlformats.org/drawingml/2006/main">
              <a:ext uri="{FF2B5EF4-FFF2-40B4-BE49-F238E27FC236}">
                <a16:creationId xmlns:a16="http://schemas.microsoft.com/office/drawing/2014/main" id="{CA210F89-DB0C-4721-8EB7-E539F264DB76}"/>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1</a:t>
            </a:r>
          </a:p>
        </p:txBody>
      </p:sp>
    </p:spTree>
    <p:extLst>
      <p:ext uri="{BB962C8B-B14F-4D97-AF65-F5344CB8AC3E}">
        <p14:creationId xmlns:p14="http://schemas.microsoft.com/office/powerpoint/2010/main" val="2110086903"/>
      </p:ext>
    </p:extLst>
  </p:cSld>
</p:sld>
</file>

<file path=ppt/slides/slide2.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3B356EE-A5EC-4D49-A2DC-FA03169DC147}"/>
              </a:ext>
            </a:extLst>
          </p:cNvPr>
          <p:cNvSpPr>
            <a:spLocks xmlns:a="http://schemas.openxmlformats.org/drawingml/2006/main" noGrp="1"/>
          </p:cNvSpPr>
          <p:nvPr/>
        </p:nvSpPr>
        <p:spPr>
          <a:xfrm xmlns:a="http://schemas.openxmlformats.org/drawingml/2006/main">
            <a:off x="628650" y="400050"/>
            <a:ext cx="10934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Research questions</a:t>
            </a:r>
          </a:p>
        </p:txBody>
      </p:sp>
      <p:sp>
        <p:nvSpPr>
          <p:cNvPr id="2" name="">
            <a:extLst xmlns:a="http://schemas.openxmlformats.org/drawingml/2006/main">
              <a:ext uri="{FF2B5EF4-FFF2-40B4-BE49-F238E27FC236}">
                <a16:creationId xmlns:a16="http://schemas.microsoft.com/office/drawing/2014/main" id="{16B45D34-3159-44BA-A279-DDA858BDE811}"/>
              </a:ext>
            </a:extLst>
          </p:cNvPr>
          <p:cNvSpPr>
            <a:spLocks xmlns:a="http://schemas.openxmlformats.org/drawingml/2006/main" noGrp="1"/>
          </p:cNvSpPr>
          <p:nvPr/>
        </p:nvSpPr>
        <p:spPr>
          <a:xfrm xmlns:a="http://schemas.openxmlformats.org/drawingml/2006/main">
            <a:off x="685800" y="165735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RQ1  Does an explanation make a wrong AI suggestion more misleading?</a:t>
            </a:r>
          </a:p>
        </p:txBody>
      </p:sp>
      <p:sp>
        <p:nvSpPr>
          <p:cNvPr id="3" name="">
            <a:extLst xmlns:a="http://schemas.openxmlformats.org/drawingml/2006/main">
              <a:ext uri="{FF2B5EF4-FFF2-40B4-BE49-F238E27FC236}">
                <a16:creationId xmlns:a16="http://schemas.microsoft.com/office/drawing/2014/main" id="{B1845F8D-7311-4F4C-8714-246EB34CCB29}"/>
              </a:ext>
            </a:extLst>
          </p:cNvPr>
          <p:cNvSpPr>
            <a:spLocks xmlns:a="http://schemas.openxmlformats.org/drawingml/2006/main" noGrp="1"/>
          </p:cNvSpPr>
          <p:nvPr/>
        </p:nvSpPr>
        <p:spPr>
          <a:xfrm xmlns:a="http://schemas.openxmlformats.org/drawingml/2006/main">
            <a:off x="685800" y="262890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RQ2  Can a structured check resist the same wrong suggestion?</a:t>
            </a:r>
          </a:p>
        </p:txBody>
      </p:sp>
      <p:sp>
        <p:nvSpPr>
          <p:cNvPr id="4" name="">
            <a:extLst xmlns:a="http://schemas.openxmlformats.org/drawingml/2006/main">
              <a:ext uri="{FF2B5EF4-FFF2-40B4-BE49-F238E27FC236}">
                <a16:creationId xmlns:a16="http://schemas.microsoft.com/office/drawing/2014/main" id="{17609C7A-E232-4FE8-A357-B8C47A8198EC}"/>
              </a:ext>
            </a:extLst>
          </p:cNvPr>
          <p:cNvSpPr>
            <a:spLocks xmlns:a="http://schemas.openxmlformats.org/drawingml/2006/main" noGrp="1"/>
          </p:cNvSpPr>
          <p:nvPr/>
        </p:nvSpPr>
        <p:spPr>
          <a:xfrm xmlns:a="http://schemas.openxmlformats.org/drawingml/2006/main">
            <a:off x="685800" y="360045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Trade-off  Does that check still accept useful corrections?</a:t>
            </a:r>
          </a:p>
        </p:txBody>
      </p:sp>
      <p:sp>
        <p:nvSpPr>
          <p:cNvPr id="5" name="">
            <a:extLst xmlns:a="http://schemas.openxmlformats.org/drawingml/2006/main">
              <a:ext uri="{FF2B5EF4-FFF2-40B4-BE49-F238E27FC236}">
                <a16:creationId xmlns:a16="http://schemas.microsoft.com/office/drawing/2014/main" id="{41603CDB-46CF-4E09-A425-829D8714437E}"/>
              </a:ext>
            </a:extLst>
          </p:cNvPr>
          <p:cNvSpPr>
            <a:spLocks xmlns:a="http://schemas.openxmlformats.org/drawingml/2006/main" noGrp="1"/>
          </p:cNvSpPr>
          <p:nvPr/>
        </p:nvSpPr>
        <p:spPr>
          <a:xfrm xmlns:a="http://schemas.openxmlformats.org/drawingml/2006/main">
            <a:off x="685800" y="457200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Scope  One follow-up, no search tools, no model training</a:t>
            </a:r>
          </a:p>
        </p:txBody>
      </p:sp>
      <p:sp>
        <p:nvSpPr>
          <p:cNvPr id="6" name="">
            <a:extLst xmlns:a="http://schemas.openxmlformats.org/drawingml/2006/main">
              <a:ext uri="{FF2B5EF4-FFF2-40B4-BE49-F238E27FC236}">
                <a16:creationId xmlns:a16="http://schemas.microsoft.com/office/drawing/2014/main" id="{39F49AB8-7990-4F16-A0EB-E8BCC60131D7}"/>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2</a:t>
            </a:r>
          </a:p>
        </p:txBody>
      </p:sp>
    </p:spTree>
    <p:extLst>
      <p:ext uri="{BB962C8B-B14F-4D97-AF65-F5344CB8AC3E}">
        <p14:creationId xmlns:p14="http://schemas.microsoft.com/office/powerpoint/2010/main" val="763724272"/>
      </p:ext>
    </p:extLst>
  </p:cSld>
</p:sld>
</file>

<file path=ppt/slides/slide3.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C9F012CE-4233-4904-A722-AE7FE04D20B3}"/>
              </a:ext>
            </a:extLst>
          </p:cNvPr>
          <p:cNvSpPr>
            <a:spLocks xmlns:a="http://schemas.openxmlformats.org/drawingml/2006/main" noGrp="1"/>
          </p:cNvSpPr>
          <p:nvPr/>
        </p:nvSpPr>
        <p:spPr>
          <a:xfrm xmlns:a="http://schemas.openxmlformats.org/drawingml/2006/main">
            <a:off x="628650" y="400050"/>
            <a:ext cx="10934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Six independent branches from one baseline</a:t>
            </a:r>
          </a:p>
        </p:txBody>
      </p:sp>
      <p:graphicFrame>
        <p:nvGraphicFramePr>
          <p:cNvPr id="6" name=""/>
          <p:cNvGraphicFramePr/>
          <p:nvPr/>
        </p:nvGraphicFramePr>
        <p:xfrm>
          <a:off xmlns:a="http://schemas.openxmlformats.org/drawingml/2006/main" x="685800" y="1504950"/>
          <a:ext xmlns:a="http://schemas.openxmlformats.org/drawingml/2006/main" cx="10820400" cy="3810000"/>
        </p:xfrm>
        <a:graphic xmlns:a="http://schemas.openxmlformats.org/drawingml/2006/main">
          <a:graphicData uri="http://schemas.openxmlformats.org/drawingml/2006/table">
            <a:tbl>
              <a:tblPr/>
              <a:tblGrid>
                <a:gridCol w="1619250"/>
                <a:gridCol w="5619750"/>
                <a:gridCol w="3581400"/>
              </a:tblGrid>
              <a:tr h="544286">
                <a:tc>
                  <a:txBody>
                    <a:bodyPr/>
                    <a:lstStyle/>
                    <a:p>
                      <a:r>
                        <a:rPr sz="1950" b="1">
                          <a:solidFill>
                            <a:srgbClr val="FFFFFF"/>
                          </a:solidFill>
                          <a:latin typeface="Helvetica Neue"/>
                          <a:ea typeface="Helvetica Neue"/>
                          <a:cs typeface="Helvetica Neue"/>
                        </a:rPr>
                        <a:t>Condition</a:t>
                      </a:r>
                    </a:p>
                  </a:txBody>
                  <a:tcPr marL="91440" marR="91440" marT="45720" marB="45720">
                    <a:solidFill>
                      <a:srgbClr val="142C40"/>
                    </a:solidFill>
                  </a:tcPr>
                </a:tc>
                <a:tc>
                  <a:txBody>
                    <a:bodyPr/>
                    <a:lstStyle/>
                    <a:p>
                      <a:r>
                        <a:rPr sz="1950" b="1">
                          <a:solidFill>
                            <a:srgbClr val="FFFFFF"/>
                          </a:solidFill>
                          <a:latin typeface="Helvetica Neue"/>
                          <a:ea typeface="Helvetica Neue"/>
                          <a:cs typeface="Helvetica Neue"/>
                        </a:rPr>
                        <a:t>Peer material</a:t>
                      </a:r>
                    </a:p>
                  </a:txBody>
                  <a:tcPr marL="91440" marR="91440" marT="45720" marB="45720">
                    <a:solidFill>
                      <a:srgbClr val="142C40"/>
                    </a:solidFill>
                  </a:tcPr>
                </a:tc>
                <a:tc>
                  <a:txBody>
                    <a:bodyPr/>
                    <a:lstStyle/>
                    <a:p>
                      <a:r>
                        <a:rPr sz="1950" b="1">
                          <a:solidFill>
                            <a:srgbClr val="FFFFFF"/>
                          </a:solidFill>
                          <a:latin typeface="Helvetica Neue"/>
                          <a:ea typeface="Helvetica Neue"/>
                          <a:cs typeface="Helvetica Neue"/>
                        </a:rPr>
                        <a:t>Follow-up</a:t>
                      </a:r>
                    </a:p>
                  </a:txBody>
                  <a:tcPr marL="91440" marR="91440" marT="45720" marB="45720">
                    <a:solidFill>
                      <a:srgbClr val="142C40"/>
                    </a:solidFill>
                  </a:tcPr>
                </a:tc>
              </a:tr>
              <a:tr h="544286">
                <a:tc>
                  <a:txBody>
                    <a:bodyPr/>
                    <a:lstStyle/>
                    <a:p>
                      <a:r>
                        <a:rPr sz="1950" b="0">
                          <a:solidFill>
                            <a:srgbClr val="142C40"/>
                          </a:solidFill>
                          <a:latin typeface="Helvetica Neue"/>
                          <a:ea typeface="Helvetica Neue"/>
                          <a:cs typeface="Helvetica Neue"/>
                        </a:rPr>
                        <a:t>C0</a:t>
                      </a:r>
                    </a:p>
                  </a:txBody>
                  <a:tcPr marL="91440" marR="91440" marT="45720" marB="45720">
                    <a:solidFill>
                      <a:srgbClr val="F0F4F7"/>
                    </a:solidFill>
                  </a:tcPr>
                </a:tc>
                <a:tc>
                  <a:txBody>
                    <a:bodyPr/>
                    <a:lstStyle/>
                    <a:p>
                      <a:r>
                        <a:rPr sz="1950" b="0">
                          <a:solidFill>
                            <a:srgbClr val="142C40"/>
                          </a:solidFill>
                          <a:latin typeface="Helvetica Neue"/>
                          <a:ea typeface="Helvetica Neue"/>
                          <a:cs typeface="Helvetica Neue"/>
                        </a:rPr>
                        <a:t>None</a:t>
                      </a:r>
                    </a:p>
                  </a:txBody>
                  <a:tcPr marL="91440" marR="91440" marT="45720" marB="45720">
                    <a:solidFill>
                      <a:srgbClr val="F0F4F7"/>
                    </a:solidFill>
                  </a:tcPr>
                </a:tc>
                <a:tc>
                  <a:txBody>
                    <a:bodyPr/>
                    <a:lstStyle/>
                    <a:p>
                      <a:r>
                        <a:rPr sz="1950" b="0">
                          <a:solidFill>
                            <a:srgbClr val="142C40"/>
                          </a:solidFill>
                          <a:latin typeface="Helvetica Neue"/>
                          <a:ea typeface="Helvetica Neue"/>
                          <a:cs typeface="Helvetica Neue"/>
                        </a:rPr>
                        <a:t>Neutral recheck</a:t>
                      </a:r>
                    </a:p>
                  </a:txBody>
                  <a:tcPr marL="91440" marR="91440" marT="45720" marB="45720">
                    <a:solidFill>
                      <a:srgbClr val="F0F4F7"/>
                    </a:solidFill>
                  </a:tcPr>
                </a:tc>
              </a:tr>
              <a:tr h="544286">
                <a:tc>
                  <a:txBody>
                    <a:bodyPr/>
                    <a:lstStyle/>
                    <a:p>
                      <a:r>
                        <a:rPr sz="1950" b="0">
                          <a:solidFill>
                            <a:srgbClr val="142C40"/>
                          </a:solidFill>
                          <a:latin typeface="Helvetica Neue"/>
                          <a:ea typeface="Helvetica Neue"/>
                          <a:cs typeface="Helvetica Neue"/>
                        </a:rPr>
                        <a:t>C1</a:t>
                      </a:r>
                    </a:p>
                  </a:txBody>
                  <a:tcPr marL="91440" marR="91440" marT="45720" marB="45720">
                    <a:solidFill>
                      <a:srgbClr val="FFFFFF"/>
                    </a:solidFill>
                  </a:tcPr>
                </a:tc>
                <a:tc>
                  <a:txBody>
                    <a:bodyPr/>
                    <a:lstStyle/>
                    <a:p>
                      <a:r>
                        <a:rPr sz="1950" b="0">
                          <a:solidFill>
                            <a:srgbClr val="142C40"/>
                          </a:solidFill>
                          <a:latin typeface="Helvetica Neue"/>
                          <a:ea typeface="Helvetica Neue"/>
                          <a:cs typeface="Helvetica Neue"/>
                        </a:rPr>
                        <a:t>Wrong answer only</a:t>
                      </a:r>
                    </a:p>
                  </a:txBody>
                  <a:tcPr marL="91440" marR="91440" marT="45720" marB="45720">
                    <a:solidFill>
                      <a:srgbClr val="FFFFFF"/>
                    </a:solidFill>
                  </a:tcPr>
                </a:tc>
                <a:tc>
                  <a:txBody>
                    <a:bodyPr/>
                    <a:lstStyle/>
                    <a:p>
                      <a:r>
                        <a:rPr sz="1950" b="0">
                          <a:solidFill>
                            <a:srgbClr val="142C40"/>
                          </a:solidFill>
                          <a:latin typeface="Helvetica Neue"/>
                          <a:ea typeface="Helvetica Neue"/>
                          <a:cs typeface="Helvetica Neue"/>
                        </a:rPr>
                        <a:t>Neutral recheck</a:t>
                      </a:r>
                    </a:p>
                  </a:txBody>
                  <a:tcPr marL="91440" marR="91440" marT="45720" marB="45720">
                    <a:solidFill>
                      <a:srgbClr val="FFFFFF"/>
                    </a:solidFill>
                  </a:tcPr>
                </a:tc>
              </a:tr>
              <a:tr h="544286">
                <a:tc>
                  <a:txBody>
                    <a:bodyPr/>
                    <a:lstStyle/>
                    <a:p>
                      <a:r>
                        <a:rPr sz="1950" b="0">
                          <a:solidFill>
                            <a:srgbClr val="142C40"/>
                          </a:solidFill>
                          <a:latin typeface="Helvetica Neue"/>
                          <a:ea typeface="Helvetica Neue"/>
                          <a:cs typeface="Helvetica Neue"/>
                        </a:rPr>
                        <a:t>C2</a:t>
                      </a:r>
                    </a:p>
                  </a:txBody>
                  <a:tcPr marL="91440" marR="91440" marT="45720" marB="45720">
                    <a:solidFill>
                      <a:srgbClr val="F0F4F7"/>
                    </a:solidFill>
                  </a:tcPr>
                </a:tc>
                <a:tc>
                  <a:txBody>
                    <a:bodyPr/>
                    <a:lstStyle/>
                    <a:p>
                      <a:r>
                        <a:rPr sz="1950" b="0">
                          <a:solidFill>
                            <a:srgbClr val="142C40"/>
                          </a:solidFill>
                          <a:latin typeface="Helvetica Neue"/>
                          <a:ea typeface="Helvetica Neue"/>
                          <a:cs typeface="Helvetica Neue"/>
                        </a:rPr>
                        <a:t>Wrong answer + explanation</a:t>
                      </a:r>
                    </a:p>
                  </a:txBody>
                  <a:tcPr marL="91440" marR="91440" marT="45720" marB="45720">
                    <a:solidFill>
                      <a:srgbClr val="F0F4F7"/>
                    </a:solidFill>
                  </a:tcPr>
                </a:tc>
                <a:tc>
                  <a:txBody>
                    <a:bodyPr/>
                    <a:lstStyle/>
                    <a:p>
                      <a:r>
                        <a:rPr sz="1950" b="0">
                          <a:solidFill>
                            <a:srgbClr val="142C40"/>
                          </a:solidFill>
                          <a:latin typeface="Helvetica Neue"/>
                          <a:ea typeface="Helvetica Neue"/>
                          <a:cs typeface="Helvetica Neue"/>
                        </a:rPr>
                        <a:t>Neutral recheck</a:t>
                      </a:r>
                    </a:p>
                  </a:txBody>
                  <a:tcPr marL="91440" marR="91440" marT="45720" marB="45720">
                    <a:solidFill>
                      <a:srgbClr val="F0F4F7"/>
                    </a:solidFill>
                  </a:tcPr>
                </a:tc>
              </a:tr>
              <a:tr h="544286">
                <a:tc>
                  <a:txBody>
                    <a:bodyPr/>
                    <a:lstStyle/>
                    <a:p>
                      <a:r>
                        <a:rPr sz="1950" b="0">
                          <a:solidFill>
                            <a:srgbClr val="142C40"/>
                          </a:solidFill>
                          <a:latin typeface="Helvetica Neue"/>
                          <a:ea typeface="Helvetica Neue"/>
                          <a:cs typeface="Helvetica Neue"/>
                        </a:rPr>
                        <a:t>C3</a:t>
                      </a:r>
                    </a:p>
                  </a:txBody>
                  <a:tcPr marL="91440" marR="91440" marT="45720" marB="45720">
                    <a:solidFill>
                      <a:srgbClr val="FFFFFF"/>
                    </a:solidFill>
                  </a:tcPr>
                </a:tc>
                <a:tc>
                  <a:txBody>
                    <a:bodyPr/>
                    <a:lstStyle/>
                    <a:p>
                      <a:r>
                        <a:rPr sz="1950" b="0">
                          <a:solidFill>
                            <a:srgbClr val="142C40"/>
                          </a:solidFill>
                          <a:latin typeface="Helvetica Neue"/>
                          <a:ea typeface="Helvetica Neue"/>
                          <a:cs typeface="Helvetica Neue"/>
                        </a:rPr>
                        <a:t>Identical C2 material</a:t>
                      </a:r>
                    </a:p>
                  </a:txBody>
                  <a:tcPr marL="91440" marR="91440" marT="45720" marB="45720">
                    <a:solidFill>
                      <a:srgbClr val="FFFFFF"/>
                    </a:solidFill>
                  </a:tcPr>
                </a:tc>
                <a:tc>
                  <a:txBody>
                    <a:bodyPr/>
                    <a:lstStyle/>
                    <a:p>
                      <a:r>
                        <a:rPr sz="1950" b="0">
                          <a:solidFill>
                            <a:srgbClr val="142C40"/>
                          </a:solidFill>
                          <a:latin typeface="Helvetica Neue"/>
                          <a:ea typeface="Helvetica Neue"/>
                          <a:cs typeface="Helvetica Neue"/>
                        </a:rPr>
                        <a:t>Structured check</a:t>
                      </a:r>
                    </a:p>
                  </a:txBody>
                  <a:tcPr marL="91440" marR="91440" marT="45720" marB="45720">
                    <a:solidFill>
                      <a:srgbClr val="FFFFFF"/>
                    </a:solidFill>
                  </a:tcPr>
                </a:tc>
              </a:tr>
              <a:tr h="544286">
                <a:tc>
                  <a:txBody>
                    <a:bodyPr/>
                    <a:lstStyle/>
                    <a:p>
                      <a:r>
                        <a:rPr sz="1950" b="0">
                          <a:solidFill>
                            <a:srgbClr val="142C40"/>
                          </a:solidFill>
                          <a:latin typeface="Helvetica Neue"/>
                          <a:ea typeface="Helvetica Neue"/>
                          <a:cs typeface="Helvetica Neue"/>
                        </a:rPr>
                        <a:t>C4</a:t>
                      </a:r>
                    </a:p>
                  </a:txBody>
                  <a:tcPr marL="91440" marR="91440" marT="45720" marB="45720">
                    <a:solidFill>
                      <a:srgbClr val="F0F4F7"/>
                    </a:solidFill>
                  </a:tcPr>
                </a:tc>
                <a:tc>
                  <a:txBody>
                    <a:bodyPr/>
                    <a:lstStyle/>
                    <a:p>
                      <a:r>
                        <a:rPr sz="1950" b="0">
                          <a:solidFill>
                            <a:srgbClr val="142C40"/>
                          </a:solidFill>
                          <a:latin typeface="Helvetica Neue"/>
                          <a:ea typeface="Helvetica Neue"/>
                          <a:cs typeface="Helvetica Neue"/>
                        </a:rPr>
                        <a:t>Correct answer + explanation</a:t>
                      </a:r>
                    </a:p>
                  </a:txBody>
                  <a:tcPr marL="91440" marR="91440" marT="45720" marB="45720">
                    <a:solidFill>
                      <a:srgbClr val="F0F4F7"/>
                    </a:solidFill>
                  </a:tcPr>
                </a:tc>
                <a:tc>
                  <a:txBody>
                    <a:bodyPr/>
                    <a:lstStyle/>
                    <a:p>
                      <a:r>
                        <a:rPr sz="1950" b="0">
                          <a:solidFill>
                            <a:srgbClr val="142C40"/>
                          </a:solidFill>
                          <a:latin typeface="Helvetica Neue"/>
                          <a:ea typeface="Helvetica Neue"/>
                          <a:cs typeface="Helvetica Neue"/>
                        </a:rPr>
                        <a:t>Neutral recheck</a:t>
                      </a:r>
                    </a:p>
                  </a:txBody>
                  <a:tcPr marL="91440" marR="91440" marT="45720" marB="45720">
                    <a:solidFill>
                      <a:srgbClr val="F0F4F7"/>
                    </a:solidFill>
                  </a:tcPr>
                </a:tc>
              </a:tr>
              <a:tr h="544286">
                <a:tc>
                  <a:txBody>
                    <a:bodyPr/>
                    <a:lstStyle/>
                    <a:p>
                      <a:r>
                        <a:rPr sz="1950" b="0">
                          <a:solidFill>
                            <a:srgbClr val="142C40"/>
                          </a:solidFill>
                          <a:latin typeface="Helvetica Neue"/>
                          <a:ea typeface="Helvetica Neue"/>
                          <a:cs typeface="Helvetica Neue"/>
                        </a:rPr>
                        <a:t>C5</a:t>
                      </a:r>
                    </a:p>
                  </a:txBody>
                  <a:tcPr marL="91440" marR="91440" marT="45720" marB="45720">
                    <a:solidFill>
                      <a:srgbClr val="FFFFFF"/>
                    </a:solidFill>
                  </a:tcPr>
                </a:tc>
                <a:tc>
                  <a:txBody>
                    <a:bodyPr/>
                    <a:lstStyle/>
                    <a:p>
                      <a:r>
                        <a:rPr sz="1950" b="0">
                          <a:solidFill>
                            <a:srgbClr val="142C40"/>
                          </a:solidFill>
                          <a:latin typeface="Helvetica Neue"/>
                          <a:ea typeface="Helvetica Neue"/>
                          <a:cs typeface="Helvetica Neue"/>
                        </a:rPr>
                        <a:t>Identical C4 material</a:t>
                      </a:r>
                    </a:p>
                  </a:txBody>
                  <a:tcPr marL="91440" marR="91440" marT="45720" marB="45720">
                    <a:solidFill>
                      <a:srgbClr val="FFFFFF"/>
                    </a:solidFill>
                  </a:tcPr>
                </a:tc>
                <a:tc>
                  <a:txBody>
                    <a:bodyPr/>
                    <a:lstStyle/>
                    <a:p>
                      <a:r>
                        <a:rPr sz="1950" b="0">
                          <a:solidFill>
                            <a:srgbClr val="142C40"/>
                          </a:solidFill>
                          <a:latin typeface="Helvetica Neue"/>
                          <a:ea typeface="Helvetica Neue"/>
                          <a:cs typeface="Helvetica Neue"/>
                        </a:rPr>
                        <a:t>Structured check</a:t>
                      </a:r>
                    </a:p>
                  </a:txBody>
                  <a:tcPr marL="91440" marR="91440" marT="45720" marB="45720">
                    <a:solidFill>
                      <a:srgbClr val="FFFFFF"/>
                    </a:solidFill>
                  </a:tcPr>
                </a:tc>
              </a:tr>
            </a:tbl>
          </a:graphicData>
        </a:graphic>
      </p:graphicFrame>
      <p:sp>
        <p:nvSpPr>
          <p:cNvPr id="3" name="">
            <a:extLst xmlns:a="http://schemas.openxmlformats.org/drawingml/2006/main">
              <a:ext uri="{FF2B5EF4-FFF2-40B4-BE49-F238E27FC236}">
                <a16:creationId xmlns:a16="http://schemas.microsoft.com/office/drawing/2014/main" id="{B60C709D-055A-4C29-B32B-DC4BED13616E}"/>
              </a:ext>
            </a:extLst>
          </p:cNvPr>
          <p:cNvSpPr>
            <a:spLocks xmlns:a="http://schemas.openxmlformats.org/drawingml/2006/main" noGrp="1"/>
          </p:cNvSpPr>
          <p:nvPr/>
        </p:nvSpPr>
        <p:spPr>
          <a:xfrm xmlns:a="http://schemas.openxmlformats.org/drawingml/2006/main">
            <a:off x="685800" y="5734050"/>
            <a:ext cx="10763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657586"/>
                </a:solidFill>
                <a:latin typeface="Helvetica Neue"/>
                <a:ea typeface="Helvetica Neue"/>
                <a:cs typeface="Helvetica Neue"/>
              </a:defRPr>
            </a:pPr>
            <a:r>
              <a:rPr sz="1875" b="0">
                <a:solidFill>
                  <a:srgbClr val="657586"/>
                </a:solidFill>
                <a:latin typeface="Helvetica Neue"/>
                <a:ea typeface="Helvetica Neue"/>
                <a:cs typeface="Helvetica Neue"/>
              </a:rPr>
              <a:t>Every branch reuses the exact same initial answer. Advice errors are assigned.</a:t>
            </a:r>
          </a:p>
        </p:txBody>
      </p:sp>
      <p:sp>
        <p:nvSpPr>
          <p:cNvPr id="4" name="">
            <a:extLst xmlns:a="http://schemas.openxmlformats.org/drawingml/2006/main">
              <a:ext uri="{FF2B5EF4-FFF2-40B4-BE49-F238E27FC236}">
                <a16:creationId xmlns:a16="http://schemas.microsoft.com/office/drawing/2014/main" id="{293EA4C6-67FE-47F1-AA8A-6812C19F415C}"/>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3</a:t>
            </a:r>
          </a:p>
        </p:txBody>
      </p:sp>
    </p:spTree>
    <p:extLst>
      <p:ext uri="{BB962C8B-B14F-4D97-AF65-F5344CB8AC3E}">
        <p14:creationId xmlns:p14="http://schemas.microsoft.com/office/powerpoint/2010/main" val="634953450"/>
      </p:ext>
    </p:extLst>
  </p:cSld>
</p:sld>
</file>

<file path=ppt/slides/slide4.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089D806-6943-4E9D-8E44-115E0CD1A782}"/>
              </a:ext>
            </a:extLst>
          </p:cNvPr>
          <p:cNvSpPr>
            <a:spLocks xmlns:a="http://schemas.openxmlformats.org/drawingml/2006/main" noGrp="1"/>
          </p:cNvSpPr>
          <p:nvPr/>
        </p:nvSpPr>
        <p:spPr>
          <a:xfrm xmlns:a="http://schemas.openxmlformats.org/drawingml/2006/main">
            <a:off x="628650" y="400050"/>
            <a:ext cx="10934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Data, scoring and repeated responses</a:t>
            </a:r>
          </a:p>
        </p:txBody>
      </p:sp>
      <p:sp>
        <p:nvSpPr>
          <p:cNvPr id="2" name="">
            <a:extLst xmlns:a="http://schemas.openxmlformats.org/drawingml/2006/main">
              <a:ext uri="{FF2B5EF4-FFF2-40B4-BE49-F238E27FC236}">
                <a16:creationId xmlns:a16="http://schemas.microsoft.com/office/drawing/2014/main" id="{9DA69286-668A-4D91-870F-CCB03FDF6DDE}"/>
              </a:ext>
            </a:extLst>
          </p:cNvPr>
          <p:cNvSpPr>
            <a:spLocks xmlns:a="http://schemas.openxmlformats.org/drawingml/2006/main" noGrp="1"/>
          </p:cNvSpPr>
          <p:nvPr/>
        </p:nvSpPr>
        <p:spPr>
          <a:xfrm xmlns:a="http://schemas.openxmlformats.org/drawingml/2006/main">
            <a:off x="685800" y="165735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120 selected date questions from SimpleQA Verified</a:t>
            </a:r>
          </a:p>
        </p:txBody>
      </p:sp>
      <p:sp>
        <p:nvSpPr>
          <p:cNvPr id="3" name="">
            <a:extLst xmlns:a="http://schemas.openxmlformats.org/drawingml/2006/main">
              <a:ext uri="{FF2B5EF4-FFF2-40B4-BE49-F238E27FC236}">
                <a16:creationId xmlns:a16="http://schemas.microsoft.com/office/drawing/2014/main" id="{703A2954-A460-42E6-9EAB-46C42394271E}"/>
              </a:ext>
            </a:extLst>
          </p:cNvPr>
          <p:cNvSpPr>
            <a:spLocks xmlns:a="http://schemas.openxmlformats.org/drawingml/2006/main" noGrp="1"/>
          </p:cNvSpPr>
          <p:nvPr/>
        </p:nvSpPr>
        <p:spPr>
          <a:xfrm xmlns:a="http://schemas.openxmlformats.org/drawingml/2006/main">
            <a:off x="685800" y="262890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5,040 returned responses; 719 complete units after one exclusion</a:t>
            </a:r>
          </a:p>
        </p:txBody>
      </p:sp>
      <p:sp>
        <p:nvSpPr>
          <p:cNvPr id="4" name="">
            <a:extLst xmlns:a="http://schemas.openxmlformats.org/drawingml/2006/main">
              <a:ext uri="{FF2B5EF4-FFF2-40B4-BE49-F238E27FC236}">
                <a16:creationId xmlns:a16="http://schemas.microsoft.com/office/drawing/2014/main" id="{2216F504-9762-457F-90D3-7D0C4F08733E}"/>
              </a:ext>
            </a:extLst>
          </p:cNvPr>
          <p:cNvSpPr>
            <a:spLocks xmlns:a="http://schemas.openxmlformats.org/drawingml/2006/main" noGrp="1"/>
          </p:cNvSpPr>
          <p:nvPr/>
        </p:nvSpPr>
        <p:spPr>
          <a:xfrm xmlns:a="http://schemas.openxmlformats.org/drawingml/2006/main">
            <a:off x="685800" y="360045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Baseline: 154 correct, 322 wrong, 243 abstentions</a:t>
            </a:r>
          </a:p>
        </p:txBody>
      </p:sp>
      <p:sp>
        <p:nvSpPr>
          <p:cNvPr id="5" name="">
            <a:extLst xmlns:a="http://schemas.openxmlformats.org/drawingml/2006/main">
              <a:ext uri="{FF2B5EF4-FFF2-40B4-BE49-F238E27FC236}">
                <a16:creationId xmlns:a16="http://schemas.microsoft.com/office/drawing/2014/main" id="{817C5154-B725-4AC3-AC57-1AC5936771FA}"/>
              </a:ext>
            </a:extLst>
          </p:cNvPr>
          <p:cNvSpPr>
            <a:spLocks xmlns:a="http://schemas.openxmlformats.org/drawingml/2006/main" noGrp="1"/>
          </p:cNvSpPr>
          <p:nvPr/>
        </p:nvSpPr>
        <p:spPr>
          <a:xfrm xmlns:a="http://schemas.openxmlformats.org/drawingml/2006/main">
            <a:off x="685800" y="457200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R analysis; 5,000 bootstrap resamples of whole question clusters</a:t>
            </a:r>
          </a:p>
        </p:txBody>
      </p:sp>
      <p:sp>
        <p:nvSpPr>
          <p:cNvPr id="6" name="">
            <a:extLst xmlns:a="http://schemas.openxmlformats.org/drawingml/2006/main">
              <a:ext uri="{FF2B5EF4-FFF2-40B4-BE49-F238E27FC236}">
                <a16:creationId xmlns:a16="http://schemas.microsoft.com/office/drawing/2014/main" id="{45B18250-427D-45D2-996A-455C0A1AA919}"/>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4</a:t>
            </a:r>
          </a:p>
        </p:txBody>
      </p:sp>
    </p:spTree>
    <p:extLst>
      <p:ext uri="{BB962C8B-B14F-4D97-AF65-F5344CB8AC3E}">
        <p14:creationId xmlns:p14="http://schemas.microsoft.com/office/powerpoint/2010/main" val="468127271"/>
      </p:ext>
    </p:extLst>
  </p:cSld>
</p:sld>
</file>

<file path=ppt/slides/slide5.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18CDB20-8396-4759-8032-38595E4DF1FD}"/>
              </a:ext>
            </a:extLst>
          </p:cNvPr>
          <p:cNvSpPr>
            <a:spLocks xmlns:a="http://schemas.openxmlformats.org/drawingml/2006/main" noGrp="1"/>
          </p:cNvSpPr>
          <p:nvPr/>
        </p:nvSpPr>
        <p:spPr>
          <a:xfrm xmlns:a="http://schemas.openxmlformats.org/drawingml/2006/main">
            <a:off x="628650" y="400050"/>
            <a:ext cx="10934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Few initially correct answers became wrong</a:t>
            </a:r>
          </a:p>
        </p:txBody>
      </p:sp>
      <p:graphicFrame>
        <p:nvGraphicFramePr>
          <p:cNvPr id="7" name="Chart"/>
          <p:cNvGraphicFramePr/>
          <p:nvPr/>
        </p:nvGraphicFramePr>
        <p:xfrm>
          <a:off xmlns:a="http://schemas.openxmlformats.org/drawingml/2006/main" x="952500" y="1619250"/>
          <a:ext xmlns:a="http://schemas.openxmlformats.org/drawingml/2006/main" cx="10096500" cy="3429000"/>
        </p:xfrm>
        <a:graphic xmlns:a="http://schemas.openxmlformats.org/drawingml/2006/main">
          <a:graphicData uri="http://schemas.openxmlformats.org/drawingml/2006/chart">
            <c:chart xmlns:r="http://schemas.openxmlformats.org/officeDocument/2006/relationships" xmlns:c="http://schemas.openxmlformats.org/drawingml/2006/chart" r:id="R75f1ea2509674c1a"/>
          </a:graphicData>
        </a:graphic>
      </p:graphicFrame>
      <p:sp>
        <p:nvSpPr>
          <p:cNvPr id="3" name="">
            <a:extLst xmlns:a="http://schemas.openxmlformats.org/drawingml/2006/main">
              <a:ext uri="{FF2B5EF4-FFF2-40B4-BE49-F238E27FC236}">
                <a16:creationId xmlns:a16="http://schemas.microsoft.com/office/drawing/2014/main" id="{68A4E05C-AFAC-4588-8D20-41EF3AB4994C}"/>
              </a:ext>
            </a:extLst>
          </p:cNvPr>
          <p:cNvSpPr>
            <a:spLocks xmlns:a="http://schemas.openxmlformats.org/drawingml/2006/main" noGrp="1"/>
          </p:cNvSpPr>
          <p:nvPr/>
        </p:nvSpPr>
        <p:spPr>
          <a:xfrm xmlns:a="http://schemas.openxmlformats.org/drawingml/2006/main">
            <a:off x="685800" y="52387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147E77"/>
                </a:solidFill>
                <a:latin typeface="Helvetica Neue"/>
                <a:ea typeface="Helvetica Neue"/>
                <a:cs typeface="Helvetica Neue"/>
              </a:defRPr>
            </a:pPr>
            <a:r>
              <a:rPr sz="1950" b="1">
                <a:solidFill>
                  <a:srgbClr val="147E77"/>
                </a:solidFill>
                <a:latin typeface="Helvetica Neue"/>
                <a:ea typeface="Helvetica Neue"/>
                <a:cs typeface="Helvetica Neue"/>
              </a:rPr>
              <a:t>Counts out of 154 initially correct units</a:t>
            </a:r>
          </a:p>
        </p:txBody>
      </p:sp>
      <p:sp>
        <p:nvSpPr>
          <p:cNvPr id="4" name="">
            <a:extLst xmlns:a="http://schemas.openxmlformats.org/drawingml/2006/main">
              <a:ext uri="{FF2B5EF4-FFF2-40B4-BE49-F238E27FC236}">
                <a16:creationId xmlns:a16="http://schemas.microsoft.com/office/drawing/2014/main" id="{28CFF585-9489-4D44-AA3C-A3DA8FE51211}"/>
              </a:ext>
            </a:extLst>
          </p:cNvPr>
          <p:cNvSpPr>
            <a:spLocks xmlns:a="http://schemas.openxmlformats.org/drawingml/2006/main" noGrp="1"/>
          </p:cNvSpPr>
          <p:nvPr/>
        </p:nvSpPr>
        <p:spPr>
          <a:xfrm xmlns:a="http://schemas.openxmlformats.org/drawingml/2006/main">
            <a:off x="685800" y="5715000"/>
            <a:ext cx="10763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57586"/>
                </a:solidFill>
                <a:latin typeface="Helvetica Neue"/>
                <a:ea typeface="Helvetica Neue"/>
                <a:cs typeface="Helvetica Neue"/>
              </a:defRPr>
            </a:pPr>
            <a:r>
              <a:rPr sz="1800" b="0">
                <a:solidFill>
                  <a:srgbClr val="657586"/>
                </a:solidFill>
                <a:latin typeface="Helvetica Neue"/>
                <a:ea typeface="Helvetica Neue"/>
                <a:cs typeface="Helvetica Neue"/>
              </a:rPr>
              <a:t>C2 - C1: -1.30 pp [-5.17, 2.31]   /   C3 - C2: -1.95 pp [-4.46, 0.00]</a:t>
            </a:r>
          </a:p>
        </p:txBody>
      </p:sp>
      <p:sp>
        <p:nvSpPr>
          <p:cNvPr id="5" name="">
            <a:extLst xmlns:a="http://schemas.openxmlformats.org/drawingml/2006/main">
              <a:ext uri="{FF2B5EF4-FFF2-40B4-BE49-F238E27FC236}">
                <a16:creationId xmlns:a16="http://schemas.microsoft.com/office/drawing/2014/main" id="{63B58838-7DF8-4BC0-BAC8-47E321CA1C5B}"/>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5</a:t>
            </a:r>
          </a:p>
        </p:txBody>
      </p:sp>
    </p:spTree>
    <p:extLst>
      <p:ext uri="{BB962C8B-B14F-4D97-AF65-F5344CB8AC3E}">
        <p14:creationId xmlns:p14="http://schemas.microsoft.com/office/powerpoint/2010/main" val="1885816731"/>
      </p:ext>
    </p:extLst>
  </p:cSld>
</p:sld>
</file>

<file path=ppt/slides/slide6.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1A3478D-239B-4FD6-B398-418664BAAC6F}"/>
              </a:ext>
            </a:extLst>
          </p:cNvPr>
          <p:cNvSpPr>
            <a:spLocks xmlns:a="http://schemas.openxmlformats.org/drawingml/2006/main" noGrp="1"/>
          </p:cNvSpPr>
          <p:nvPr/>
        </p:nvSpPr>
        <p:spPr>
          <a:xfrm xmlns:a="http://schemas.openxmlformats.org/drawingml/2006/main">
            <a:off x="628650" y="400050"/>
            <a:ext cx="10934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Structured checking accepted fewer useful corrections</a:t>
            </a:r>
          </a:p>
        </p:txBody>
      </p:sp>
      <p:graphicFrame>
        <p:nvGraphicFramePr>
          <p:cNvPr id="7" name="Chart"/>
          <p:cNvGraphicFramePr/>
          <p:nvPr/>
        </p:nvGraphicFramePr>
        <p:xfrm>
          <a:off xmlns:a="http://schemas.openxmlformats.org/drawingml/2006/main" x="952500" y="1619250"/>
          <a:ext xmlns:a="http://schemas.openxmlformats.org/drawingml/2006/main" cx="10096500" cy="3429000"/>
        </p:xfrm>
        <a:graphic xmlns:a="http://schemas.openxmlformats.org/drawingml/2006/main">
          <a:graphicData uri="http://schemas.openxmlformats.org/drawingml/2006/chart">
            <c:chart xmlns:r="http://schemas.openxmlformats.org/officeDocument/2006/relationships" xmlns:c="http://schemas.openxmlformats.org/drawingml/2006/chart" r:id="R793da7610e52481a"/>
          </a:graphicData>
        </a:graphic>
      </p:graphicFrame>
      <p:sp>
        <p:nvSpPr>
          <p:cNvPr id="3" name="">
            <a:extLst xmlns:a="http://schemas.openxmlformats.org/drawingml/2006/main">
              <a:ext uri="{FF2B5EF4-FFF2-40B4-BE49-F238E27FC236}">
                <a16:creationId xmlns:a16="http://schemas.microsoft.com/office/drawing/2014/main" id="{9DCF8132-24EC-4BC8-8F09-97666DBD22E3}"/>
              </a:ext>
            </a:extLst>
          </p:cNvPr>
          <p:cNvSpPr>
            <a:spLocks xmlns:a="http://schemas.openxmlformats.org/drawingml/2006/main" noGrp="1"/>
          </p:cNvSpPr>
          <p:nvPr/>
        </p:nvSpPr>
        <p:spPr>
          <a:xfrm xmlns:a="http://schemas.openxmlformats.org/drawingml/2006/main">
            <a:off x="685800" y="52387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147E77"/>
                </a:solidFill>
                <a:latin typeface="Helvetica Neue"/>
                <a:ea typeface="Helvetica Neue"/>
                <a:cs typeface="Helvetica Neue"/>
              </a:defRPr>
            </a:pPr>
            <a:r>
              <a:rPr sz="1950" b="1">
                <a:solidFill>
                  <a:srgbClr val="147E77"/>
                </a:solidFill>
                <a:latin typeface="Helvetica Neue"/>
                <a:ea typeface="Helvetica Neue"/>
                <a:cs typeface="Helvetica Neue"/>
              </a:rPr>
              <a:t>Successful corrections out of 322 initially wrong units</a:t>
            </a:r>
          </a:p>
        </p:txBody>
      </p:sp>
      <p:sp>
        <p:nvSpPr>
          <p:cNvPr id="4" name="">
            <a:extLst xmlns:a="http://schemas.openxmlformats.org/drawingml/2006/main">
              <a:ext uri="{FF2B5EF4-FFF2-40B4-BE49-F238E27FC236}">
                <a16:creationId xmlns:a16="http://schemas.microsoft.com/office/drawing/2014/main" id="{A22C8F48-1E39-45D1-ADB6-0CBF0167C770}"/>
              </a:ext>
            </a:extLst>
          </p:cNvPr>
          <p:cNvSpPr>
            <a:spLocks xmlns:a="http://schemas.openxmlformats.org/drawingml/2006/main" noGrp="1"/>
          </p:cNvSpPr>
          <p:nvPr/>
        </p:nvSpPr>
        <p:spPr>
          <a:xfrm xmlns:a="http://schemas.openxmlformats.org/drawingml/2006/main">
            <a:off x="685800" y="5715000"/>
            <a:ext cx="10763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57586"/>
                </a:solidFill>
                <a:latin typeface="Helvetica Neue"/>
                <a:ea typeface="Helvetica Neue"/>
                <a:cs typeface="Helvetica Neue"/>
              </a:defRPr>
            </a:pPr>
            <a:r>
              <a:rPr sz="1800" b="0">
                <a:solidFill>
                  <a:srgbClr val="657586"/>
                </a:solidFill>
                <a:latin typeface="Helvetica Neue"/>
                <a:ea typeface="Helvetica Neue"/>
                <a:cs typeface="Helvetica Neue"/>
              </a:rPr>
              <a:t>C5 - C4: -9.63 percentage points   /   95% cluster interval [-14.38, -5.25]</a:t>
            </a:r>
          </a:p>
        </p:txBody>
      </p:sp>
      <p:sp>
        <p:nvSpPr>
          <p:cNvPr id="5" name="">
            <a:extLst xmlns:a="http://schemas.openxmlformats.org/drawingml/2006/main">
              <a:ext uri="{FF2B5EF4-FFF2-40B4-BE49-F238E27FC236}">
                <a16:creationId xmlns:a16="http://schemas.microsoft.com/office/drawing/2014/main" id="{89289454-7D18-4A5A-95FD-58D4E396AA96}"/>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6</a:t>
            </a:r>
          </a:p>
        </p:txBody>
      </p:sp>
    </p:spTree>
    <p:extLst>
      <p:ext uri="{BB962C8B-B14F-4D97-AF65-F5344CB8AC3E}">
        <p14:creationId xmlns:p14="http://schemas.microsoft.com/office/powerpoint/2010/main" val="1956876349"/>
      </p:ext>
    </p:extLst>
  </p:cSld>
</p:sld>
</file>

<file path=ppt/slides/slide7.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B1C892F-190F-4618-9458-78A7B97C5D40}"/>
              </a:ext>
            </a:extLst>
          </p:cNvPr>
          <p:cNvSpPr>
            <a:spLocks xmlns:a="http://schemas.openxmlformats.org/drawingml/2006/main" noGrp="1"/>
          </p:cNvSpPr>
          <p:nvPr/>
        </p:nvSpPr>
        <p:spPr>
          <a:xfrm xmlns:a="http://schemas.openxmlformats.org/drawingml/2006/main">
            <a:off x="628650" y="400050"/>
            <a:ext cx="10934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Checking also changes the willingness to answer</a:t>
            </a:r>
          </a:p>
        </p:txBody>
      </p:sp>
      <p:graphicFrame>
        <p:nvGraphicFramePr>
          <p:cNvPr id="7" name="Chart"/>
          <p:cNvGraphicFramePr/>
          <p:nvPr/>
        </p:nvGraphicFramePr>
        <p:xfrm>
          <a:off xmlns:a="http://schemas.openxmlformats.org/drawingml/2006/main" x="857250" y="1571625"/>
          <a:ext xmlns:a="http://schemas.openxmlformats.org/drawingml/2006/main" cx="10287000" cy="3571875"/>
        </p:xfrm>
        <a:graphic xmlns:a="http://schemas.openxmlformats.org/drawingml/2006/main">
          <a:graphicData uri="http://schemas.openxmlformats.org/drawingml/2006/chart">
            <c:chart xmlns:r="http://schemas.openxmlformats.org/officeDocument/2006/relationships" xmlns:c="http://schemas.openxmlformats.org/drawingml/2006/chart" r:id="Rec74396d5b6c4b45"/>
          </a:graphicData>
        </a:graphic>
      </p:graphicFrame>
      <p:sp>
        <p:nvSpPr>
          <p:cNvPr id="3" name="">
            <a:extLst xmlns:a="http://schemas.openxmlformats.org/drawingml/2006/main">
              <a:ext uri="{FF2B5EF4-FFF2-40B4-BE49-F238E27FC236}">
                <a16:creationId xmlns:a16="http://schemas.microsoft.com/office/drawing/2014/main" id="{A05B36AC-4362-441A-A8E8-D7F167CA2AAE}"/>
              </a:ext>
            </a:extLst>
          </p:cNvPr>
          <p:cNvSpPr>
            <a:spLocks xmlns:a="http://schemas.openxmlformats.org/drawingml/2006/main" noGrp="1"/>
          </p:cNvSpPr>
          <p:nvPr/>
        </p:nvSpPr>
        <p:spPr>
          <a:xfrm xmlns:a="http://schemas.openxmlformats.org/drawingml/2006/main">
            <a:off x="685800" y="5381625"/>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47E77"/>
                </a:solidFill>
                <a:latin typeface="Helvetica Neue"/>
                <a:ea typeface="Helvetica Neue"/>
                <a:cs typeface="Helvetica Neue"/>
              </a:defRPr>
            </a:pPr>
            <a:r>
              <a:rPr sz="2025" b="1">
                <a:solidFill>
                  <a:srgbClr val="147E77"/>
                </a:solidFill>
                <a:latin typeface="Helvetica Neue"/>
                <a:ea typeface="Helvetica Neue"/>
                <a:cs typeface="Helvetica Neue"/>
              </a:rPr>
              <a:t>All conditions contain 719 units. Uncertainty may help a user.</a:t>
            </a:r>
          </a:p>
        </p:txBody>
      </p:sp>
      <p:sp>
        <p:nvSpPr>
          <p:cNvPr id="4" name="">
            <a:extLst xmlns:a="http://schemas.openxmlformats.org/drawingml/2006/main">
              <a:ext uri="{FF2B5EF4-FFF2-40B4-BE49-F238E27FC236}">
                <a16:creationId xmlns:a16="http://schemas.microsoft.com/office/drawing/2014/main" id="{8AB9FF83-3E8C-4F45-AE03-A25D628AC913}"/>
              </a:ext>
            </a:extLst>
          </p:cNvPr>
          <p:cNvSpPr>
            <a:spLocks xmlns:a="http://schemas.openxmlformats.org/drawingml/2006/main" noGrp="1"/>
          </p:cNvSpPr>
          <p:nvPr/>
        </p:nvSpPr>
        <p:spPr>
          <a:xfrm xmlns:a="http://schemas.openxmlformats.org/drawingml/2006/main">
            <a:off x="685800" y="58864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57586"/>
                </a:solidFill>
                <a:latin typeface="Helvetica Neue"/>
                <a:ea typeface="Helvetica Neue"/>
                <a:cs typeface="Helvetica Neue"/>
              </a:defRPr>
            </a:pPr>
            <a:r>
              <a:rPr sz="1800" b="0">
                <a:solidFill>
                  <a:srgbClr val="657586"/>
                </a:solidFill>
                <a:latin typeface="Helvetica Neue"/>
                <a:ea typeface="Helvetica Neue"/>
                <a:cs typeface="Helvetica Neue"/>
              </a:rPr>
              <a:t>A correct answer or a claim of verification does not prove evidence was checked.</a:t>
            </a:r>
          </a:p>
        </p:txBody>
      </p:sp>
      <p:sp>
        <p:nvSpPr>
          <p:cNvPr id="5" name="">
            <a:extLst xmlns:a="http://schemas.openxmlformats.org/drawingml/2006/main">
              <a:ext uri="{FF2B5EF4-FFF2-40B4-BE49-F238E27FC236}">
                <a16:creationId xmlns:a16="http://schemas.microsoft.com/office/drawing/2014/main" id="{405A24EE-BCF4-4F63-8893-6F04CC50CCD4}"/>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7</a:t>
            </a:r>
          </a:p>
        </p:txBody>
      </p:sp>
    </p:spTree>
    <p:extLst>
      <p:ext uri="{BB962C8B-B14F-4D97-AF65-F5344CB8AC3E}">
        <p14:creationId xmlns:p14="http://schemas.microsoft.com/office/powerpoint/2010/main" val="1464186022"/>
      </p:ext>
    </p:extLst>
  </p:cSld>
</p:sld>
</file>

<file path=ppt/slides/slide8.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FB37887-14CB-4CEF-9FCC-A79A48E45348}"/>
              </a:ext>
            </a:extLst>
          </p:cNvPr>
          <p:cNvSpPr>
            <a:spLocks xmlns:a="http://schemas.openxmlformats.org/drawingml/2006/main" noGrp="1"/>
          </p:cNvSpPr>
          <p:nvPr/>
        </p:nvSpPr>
        <p:spPr>
          <a:xfrm xmlns:a="http://schemas.openxmlformats.org/drawingml/2006/main">
            <a:off x="628650" y="400050"/>
            <a:ext cx="10934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Mathematical validity before calculation</a:t>
            </a:r>
          </a:p>
        </p:txBody>
      </p:sp>
      <p:sp>
        <p:nvSpPr>
          <p:cNvPr id="2" name="">
            <a:extLst xmlns:a="http://schemas.openxmlformats.org/drawingml/2006/main">
              <a:ext uri="{FF2B5EF4-FFF2-40B4-BE49-F238E27FC236}">
                <a16:creationId xmlns:a16="http://schemas.microsoft.com/office/drawing/2014/main" id="{AF9ED4D3-D6FC-4067-A9E2-8C8194706A95}"/>
              </a:ext>
            </a:extLst>
          </p:cNvPr>
          <p:cNvSpPr>
            <a:spLocks xmlns:a="http://schemas.openxmlformats.org/drawingml/2006/main" noGrp="1"/>
          </p:cNvSpPr>
          <p:nvPr/>
        </p:nvSpPr>
        <p:spPr>
          <a:xfrm xmlns:a="http://schemas.openxmlformats.org/drawingml/2006/main">
            <a:off x="685800" y="165735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An equilateral triangle has perimeter 30 cm and height 10 cm.</a:t>
            </a:r>
          </a:p>
        </p:txBody>
      </p:sp>
      <p:sp>
        <p:nvSpPr>
          <p:cNvPr id="3" name="">
            <a:extLst xmlns:a="http://schemas.openxmlformats.org/drawingml/2006/main">
              <a:ext uri="{FF2B5EF4-FFF2-40B4-BE49-F238E27FC236}">
                <a16:creationId xmlns:a16="http://schemas.microsoft.com/office/drawing/2014/main" id="{6B308BE8-CCAC-4052-9C56-F04830A24F19}"/>
              </a:ext>
            </a:extLst>
          </p:cNvPr>
          <p:cNvSpPr>
            <a:spLocks xmlns:a="http://schemas.openxmlformats.org/drawingml/2006/main" noGrp="1"/>
          </p:cNvSpPr>
          <p:nvPr/>
        </p:nvSpPr>
        <p:spPr>
          <a:xfrm xmlns:a="http://schemas.openxmlformats.org/drawingml/2006/main">
            <a:off x="685800" y="262890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Direct substitution gives area = 10 × 10 / 2 = 50.</a:t>
            </a:r>
          </a:p>
        </p:txBody>
      </p:sp>
      <p:sp>
        <p:nvSpPr>
          <p:cNvPr id="4" name="">
            <a:extLst xmlns:a="http://schemas.openxmlformats.org/drawingml/2006/main">
              <a:ext uri="{FF2B5EF4-FFF2-40B4-BE49-F238E27FC236}">
                <a16:creationId xmlns:a16="http://schemas.microsoft.com/office/drawing/2014/main" id="{935991A1-2D89-47C3-B240-12E64F42F5DA}"/>
              </a:ext>
            </a:extLst>
          </p:cNvPr>
          <p:cNvSpPr>
            <a:spLocks xmlns:a="http://schemas.openxmlformats.org/drawingml/2006/main" noGrp="1"/>
          </p:cNvSpPr>
          <p:nvPr/>
        </p:nvSpPr>
        <p:spPr>
          <a:xfrm xmlns:a="http://schemas.openxmlformats.org/drawingml/2006/main">
            <a:off x="685800" y="360045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But side 10 forces height 5√3 ≈ 8.66. The conditions contradict.</a:t>
            </a:r>
          </a:p>
        </p:txBody>
      </p:sp>
      <p:sp>
        <p:nvSpPr>
          <p:cNvPr id="5" name="">
            <a:extLst xmlns:a="http://schemas.openxmlformats.org/drawingml/2006/main">
              <a:ext uri="{FF2B5EF4-FFF2-40B4-BE49-F238E27FC236}">
                <a16:creationId xmlns:a16="http://schemas.microsoft.com/office/drawing/2014/main" id="{2B763E9E-5874-4E88-BC79-7AC5D0C3A053}"/>
              </a:ext>
            </a:extLst>
          </p:cNvPr>
          <p:cNvSpPr>
            <a:spLocks xmlns:a="http://schemas.openxmlformats.org/drawingml/2006/main" noGrp="1"/>
          </p:cNvSpPr>
          <p:nvPr/>
        </p:nvSpPr>
        <p:spPr>
          <a:xfrm xmlns:a="http://schemas.openxmlformats.org/drawingml/2006/main">
            <a:off x="685800" y="457200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“Inconsistent” is a correct conclusion, not a refusal</a:t>
            </a:r>
          </a:p>
        </p:txBody>
      </p:sp>
      <p:sp>
        <p:nvSpPr>
          <p:cNvPr id="6" name="">
            <a:extLst xmlns:a="http://schemas.openxmlformats.org/drawingml/2006/main">
              <a:ext uri="{FF2B5EF4-FFF2-40B4-BE49-F238E27FC236}">
                <a16:creationId xmlns:a16="http://schemas.microsoft.com/office/drawing/2014/main" id="{7061AFE3-28B6-446A-BF52-0EDC1883528B}"/>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8</a:t>
            </a:r>
          </a:p>
        </p:txBody>
      </p:sp>
    </p:spTree>
    <p:extLst>
      <p:ext uri="{BB962C8B-B14F-4D97-AF65-F5344CB8AC3E}">
        <p14:creationId xmlns:p14="http://schemas.microsoft.com/office/powerpoint/2010/main" val="906096939"/>
      </p:ext>
    </p:extLst>
  </p:cSld>
</p:sld>
</file>

<file path=ppt/slides/slide9.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FCFE8DD2-87A2-470B-9765-BD8B37290E16}"/>
              </a:ext>
            </a:extLst>
          </p:cNvPr>
          <p:cNvSpPr>
            <a:spLocks xmlns:a="http://schemas.openxmlformats.org/drawingml/2006/main" noGrp="1"/>
          </p:cNvSpPr>
          <p:nvPr/>
        </p:nvSpPr>
        <p:spPr>
          <a:xfrm xmlns:a="http://schemas.openxmlformats.org/drawingml/2006/main">
            <a:off x="628650" y="400050"/>
            <a:ext cx="10934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Mathematics: a partial descriptive supplement</a:t>
            </a:r>
          </a:p>
        </p:txBody>
      </p:sp>
      <p:graphicFrame>
        <p:nvGraphicFramePr>
          <p:cNvPr id="7" name="Chart"/>
          <p:cNvGraphicFramePr/>
          <p:nvPr/>
        </p:nvGraphicFramePr>
        <p:xfrm>
          <a:off xmlns:a="http://schemas.openxmlformats.org/drawingml/2006/main" x="952500" y="1619250"/>
          <a:ext xmlns:a="http://schemas.openxmlformats.org/drawingml/2006/main" cx="10096500" cy="3429000"/>
        </p:xfrm>
        <a:graphic xmlns:a="http://schemas.openxmlformats.org/drawingml/2006/main">
          <a:graphicData uri="http://schemas.openxmlformats.org/drawingml/2006/chart">
            <c:chart xmlns:r="http://schemas.openxmlformats.org/officeDocument/2006/relationships" xmlns:c="http://schemas.openxmlformats.org/drawingml/2006/chart" r:id="R0a2de909c4bb4d04"/>
          </a:graphicData>
        </a:graphic>
      </p:graphicFrame>
      <p:sp>
        <p:nvSpPr>
          <p:cNvPr id="3" name="">
            <a:extLst xmlns:a="http://schemas.openxmlformats.org/drawingml/2006/main">
              <a:ext uri="{FF2B5EF4-FFF2-40B4-BE49-F238E27FC236}">
                <a16:creationId xmlns:a16="http://schemas.microsoft.com/office/drawing/2014/main" id="{40F997D9-1C0C-4594-AC50-0271C76EA392}"/>
              </a:ext>
            </a:extLst>
          </p:cNvPr>
          <p:cNvSpPr>
            <a:spLocks xmlns:a="http://schemas.openxmlformats.org/drawingml/2006/main" noGrp="1"/>
          </p:cNvSpPr>
          <p:nvPr/>
        </p:nvSpPr>
        <p:spPr>
          <a:xfrm xmlns:a="http://schemas.openxmlformats.org/drawingml/2006/main">
            <a:off x="685800" y="52387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147E77"/>
                </a:solidFill>
                <a:latin typeface="Helvetica Neue"/>
                <a:ea typeface="Helvetica Neue"/>
                <a:cs typeface="Helvetica Neue"/>
              </a:defRPr>
            </a:pPr>
            <a:r>
              <a:rPr sz="1950" b="1">
                <a:solidFill>
                  <a:srgbClr val="147E77"/>
                </a:solidFill>
                <a:latin typeface="Helvetica Neue"/>
                <a:ea typeface="Helvetica Neue"/>
                <a:cs typeface="Helvetica Neue"/>
              </a:rPr>
              <a:t>13 retained items; 71 complete units; correct final conclusions shown</a:t>
            </a:r>
          </a:p>
        </p:txBody>
      </p:sp>
      <p:sp>
        <p:nvSpPr>
          <p:cNvPr id="4" name="">
            <a:extLst xmlns:a="http://schemas.openxmlformats.org/drawingml/2006/main">
              <a:ext uri="{FF2B5EF4-FFF2-40B4-BE49-F238E27FC236}">
                <a16:creationId xmlns:a16="http://schemas.microsoft.com/office/drawing/2014/main" id="{8ED12023-1625-466D-936B-2B6EF2B81098}"/>
              </a:ext>
            </a:extLst>
          </p:cNvPr>
          <p:cNvSpPr>
            <a:spLocks xmlns:a="http://schemas.openxmlformats.org/drawingml/2006/main" noGrp="1"/>
          </p:cNvSpPr>
          <p:nvPr/>
        </p:nvSpPr>
        <p:spPr>
          <a:xfrm xmlns:a="http://schemas.openxmlformats.org/drawingml/2006/main">
            <a:off x="685800" y="5772150"/>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657586"/>
                </a:solidFill>
                <a:latin typeface="Helvetica Neue"/>
                <a:ea typeface="Helvetica Neue"/>
                <a:cs typeface="Helvetica Neue"/>
              </a:defRPr>
            </a:pPr>
            <a:r>
              <a:rPr sz="1875" b="0">
                <a:solidFill>
                  <a:srgbClr val="657586"/>
                </a:solidFill>
                <a:latin typeface="Helvetica Neue"/>
                <a:ea typeface="Helvetica Neue"/>
                <a:cs typeface="Helvetica Neue"/>
              </a:rPr>
              <a:t>13/16 initial errors have correct reasons but wrong final fields.</a:t>
            </a:r>
          </a:p>
        </p:txBody>
      </p:sp>
      <p:sp>
        <p:nvSpPr>
          <p:cNvPr id="5" name="">
            <a:extLst xmlns:a="http://schemas.openxmlformats.org/drawingml/2006/main">
              <a:ext uri="{FF2B5EF4-FFF2-40B4-BE49-F238E27FC236}">
                <a16:creationId xmlns:a16="http://schemas.microsoft.com/office/drawing/2014/main" id="{E4CE481F-5129-45B2-BD05-17DCD2BC3FCA}"/>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9</a:t>
            </a:r>
          </a:p>
        </p:txBody>
      </p:sp>
    </p:spTree>
    <p:extLst>
      <p:ext uri="{BB962C8B-B14F-4D97-AF65-F5344CB8AC3E}">
        <p14:creationId xmlns:p14="http://schemas.microsoft.com/office/powerpoint/2010/main" val="466372340"/>
      </p:ext>
    </p:extLst>
  </p:cSld>
</p:sld>
</file>

<file path=ppt/slides/slide10.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378A6C5-1D43-4876-A673-F1A6EFE8BEC2}"/>
              </a:ext>
            </a:extLst>
          </p:cNvPr>
          <p:cNvSpPr>
            <a:spLocks xmlns:a="http://schemas.openxmlformats.org/drawingml/2006/main" noGrp="1"/>
          </p:cNvSpPr>
          <p:nvPr/>
        </p:nvSpPr>
        <p:spPr>
          <a:xfrm xmlns:a="http://schemas.openxmlformats.org/drawingml/2006/main">
            <a:off x="628650" y="400050"/>
            <a:ext cx="10934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What these results can establish</a:t>
            </a:r>
          </a:p>
        </p:txBody>
      </p:sp>
      <p:sp>
        <p:nvSpPr>
          <p:cNvPr id="2" name="">
            <a:extLst xmlns:a="http://schemas.openxmlformats.org/drawingml/2006/main">
              <a:ext uri="{FF2B5EF4-FFF2-40B4-BE49-F238E27FC236}">
                <a16:creationId xmlns:a16="http://schemas.microsoft.com/office/drawing/2014/main" id="{E88F9F49-01EF-4E68-95AB-AD3EBC76EECE}"/>
              </a:ext>
            </a:extLst>
          </p:cNvPr>
          <p:cNvSpPr>
            <a:spLocks xmlns:a="http://schemas.openxmlformats.org/drawingml/2006/main" noGrp="1"/>
          </p:cNvSpPr>
          <p:nvPr/>
        </p:nvSpPr>
        <p:spPr>
          <a:xfrm xmlns:a="http://schemas.openxmlformats.org/drawingml/2006/main">
            <a:off x="685800" y="165735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This factual set does not show explanations increasing harmful flips.</a:t>
            </a:r>
          </a:p>
        </p:txBody>
      </p:sp>
      <p:sp>
        <p:nvSpPr>
          <p:cNvPr id="3" name="">
            <a:extLst xmlns:a="http://schemas.openxmlformats.org/drawingml/2006/main">
              <a:ext uri="{FF2B5EF4-FFF2-40B4-BE49-F238E27FC236}">
                <a16:creationId xmlns:a16="http://schemas.microsoft.com/office/drawing/2014/main" id="{69992A1A-BBF8-4284-A842-639E2CAF8E60}"/>
              </a:ext>
            </a:extLst>
          </p:cNvPr>
          <p:cNvSpPr>
            <a:spLocks xmlns:a="http://schemas.openxmlformats.org/drawingml/2006/main" noGrp="1"/>
          </p:cNvSpPr>
          <p:nvPr/>
        </p:nvSpPr>
        <p:spPr>
          <a:xfrm xmlns:a="http://schemas.openxmlformats.org/drawingml/2006/main">
            <a:off x="685800" y="262890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The structured prompt trades useful corrections for more caution.</a:t>
            </a:r>
          </a:p>
        </p:txBody>
      </p:sp>
      <p:sp>
        <p:nvSpPr>
          <p:cNvPr id="4" name="">
            <a:extLst xmlns:a="http://schemas.openxmlformats.org/drawingml/2006/main">
              <a:ext uri="{FF2B5EF4-FFF2-40B4-BE49-F238E27FC236}">
                <a16:creationId xmlns:a16="http://schemas.microsoft.com/office/drawing/2014/main" id="{4C300793-BB6A-4CC3-A086-E5F17A0442C2}"/>
              </a:ext>
            </a:extLst>
          </p:cNvPr>
          <p:cNvSpPr>
            <a:spLocks xmlns:a="http://schemas.openxmlformats.org/drawingml/2006/main" noGrp="1"/>
          </p:cNvSpPr>
          <p:nvPr/>
        </p:nvSpPr>
        <p:spPr>
          <a:xfrm xmlns:a="http://schemas.openxmlformats.org/drawingml/2006/main">
            <a:off x="685800" y="360045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Partial human review and disputed sources limit factual certainty.</a:t>
            </a:r>
          </a:p>
        </p:txBody>
      </p:sp>
      <p:sp>
        <p:nvSpPr>
          <p:cNvPr id="5" name="">
            <a:extLst xmlns:a="http://schemas.openxmlformats.org/drawingml/2006/main">
              <a:ext uri="{FF2B5EF4-FFF2-40B4-BE49-F238E27FC236}">
                <a16:creationId xmlns:a16="http://schemas.microsoft.com/office/drawing/2014/main" id="{CA1B28AB-4B4D-4DA7-ACF3-6E0B86F179C9}"/>
              </a:ext>
            </a:extLst>
          </p:cNvPr>
          <p:cNvSpPr>
            <a:spLocks xmlns:a="http://schemas.openxmlformats.org/drawingml/2006/main" noGrp="1"/>
          </p:cNvSpPr>
          <p:nvPr/>
        </p:nvSpPr>
        <p:spPr>
          <a:xfrm xmlns:a="http://schemas.openxmlformats.org/drawingml/2006/main">
            <a:off x="685800" y="457200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Selected math families and material failures limit generalisation</a:t>
            </a:r>
          </a:p>
        </p:txBody>
      </p:sp>
      <p:sp>
        <p:nvSpPr>
          <p:cNvPr id="6" name="">
            <a:extLst xmlns:a="http://schemas.openxmlformats.org/drawingml/2006/main">
              <a:ext uri="{FF2B5EF4-FFF2-40B4-BE49-F238E27FC236}">
                <a16:creationId xmlns:a16="http://schemas.microsoft.com/office/drawing/2014/main" id="{121F6889-DA28-47A7-8193-80B60B9529FC}"/>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10</a:t>
            </a:r>
          </a:p>
        </p:txBody>
      </p:sp>
    </p:spTree>
    <p:extLst>
      <p:ext uri="{BB962C8B-B14F-4D97-AF65-F5344CB8AC3E}">
        <p14:creationId xmlns:p14="http://schemas.microsoft.com/office/powerpoint/2010/main" val="1132327388"/>
      </p:ext>
    </p:extLst>
  </p:cSld>
</p:sld>
</file>

<file path=ppt/slides/slide11.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6002A05-F800-46CA-A256-ABE7D1BB8CFA}"/>
              </a:ext>
            </a:extLst>
          </p:cNvPr>
          <p:cNvSpPr>
            <a:spLocks xmlns:a="http://schemas.openxmlformats.org/drawingml/2006/main" noGrp="1"/>
          </p:cNvSpPr>
          <p:nvPr/>
        </p:nvSpPr>
        <p:spPr>
          <a:xfrm xmlns:a="http://schemas.openxmlformats.org/drawingml/2006/main">
            <a:off x="628650" y="400050"/>
            <a:ext cx="10934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Proposed next solution</a:t>
            </a:r>
          </a:p>
        </p:txBody>
      </p:sp>
      <p:sp>
        <p:nvSpPr>
          <p:cNvPr id="2" name="">
            <a:extLst xmlns:a="http://schemas.openxmlformats.org/drawingml/2006/main">
              <a:ext uri="{FF2B5EF4-FFF2-40B4-BE49-F238E27FC236}">
                <a16:creationId xmlns:a16="http://schemas.microsoft.com/office/drawing/2014/main" id="{A1FBAC0D-F5F1-46A9-8D00-14E416B9B288}"/>
              </a:ext>
            </a:extLst>
          </p:cNvPr>
          <p:cNvSpPr>
            <a:spLocks xmlns:a="http://schemas.openxmlformats.org/drawingml/2006/main" noGrp="1"/>
          </p:cNvSpPr>
          <p:nvPr/>
        </p:nvSpPr>
        <p:spPr>
          <a:xfrm xmlns:a="http://schemas.openxmlformats.org/drawingml/2006/main">
            <a:off x="685800" y="165735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Keep the candidate answer and its uncertainty visible separately.</a:t>
            </a:r>
          </a:p>
        </p:txBody>
      </p:sp>
      <p:sp>
        <p:nvSpPr>
          <p:cNvPr id="3" name="">
            <a:extLst xmlns:a="http://schemas.openxmlformats.org/drawingml/2006/main">
              <a:ext uri="{FF2B5EF4-FFF2-40B4-BE49-F238E27FC236}">
                <a16:creationId xmlns:a16="http://schemas.microsoft.com/office/drawing/2014/main" id="{0FCE3C2C-F8C3-4D3E-A2C3-13A2BABFD7D4}"/>
              </a:ext>
            </a:extLst>
          </p:cNvPr>
          <p:cNvSpPr>
            <a:spLocks xmlns:a="http://schemas.openxmlformats.org/drawingml/2006/main" noGrp="1"/>
          </p:cNvSpPr>
          <p:nvPr/>
        </p:nvSpPr>
        <p:spPr>
          <a:xfrm xmlns:a="http://schemas.openxmlformats.org/drawingml/2006/main">
            <a:off x="685800" y="262890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Attach evidence that supports the exact factual or mathematical claim.</a:t>
            </a:r>
          </a:p>
        </p:txBody>
      </p:sp>
      <p:sp>
        <p:nvSpPr>
          <p:cNvPr id="4" name="">
            <a:extLst xmlns:a="http://schemas.openxmlformats.org/drawingml/2006/main">
              <a:ext uri="{FF2B5EF4-FFF2-40B4-BE49-F238E27FC236}">
                <a16:creationId xmlns:a16="http://schemas.microsoft.com/office/drawing/2014/main" id="{56A5756E-DC48-4340-91C7-2222A42AB1B5}"/>
              </a:ext>
            </a:extLst>
          </p:cNvPr>
          <p:cNvSpPr>
            <a:spLocks xmlns:a="http://schemas.openxmlformats.org/drawingml/2006/main" noGrp="1"/>
          </p:cNvSpPr>
          <p:nvPr/>
        </p:nvSpPr>
        <p:spPr>
          <a:xfrm xmlns:a="http://schemas.openxmlformats.org/drawingml/2006/main">
            <a:off x="685800" y="360045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Check against a trusted source or an executable test.</a:t>
            </a:r>
          </a:p>
        </p:txBody>
      </p:sp>
      <p:sp>
        <p:nvSpPr>
          <p:cNvPr id="5" name="">
            <a:extLst xmlns:a="http://schemas.openxmlformats.org/drawingml/2006/main">
              <a:ext uri="{FF2B5EF4-FFF2-40B4-BE49-F238E27FC236}">
                <a16:creationId xmlns:a16="http://schemas.microsoft.com/office/drawing/2014/main" id="{A21460DD-6546-4EF8-B8D5-FA93869F7A08}"/>
              </a:ext>
            </a:extLst>
          </p:cNvPr>
          <p:cNvSpPr>
            <a:spLocks xmlns:a="http://schemas.openxmlformats.org/drawingml/2006/main" noGrp="1"/>
          </p:cNvSpPr>
          <p:nvPr/>
        </p:nvSpPr>
        <p:spPr>
          <a:xfrm xmlns:a="http://schemas.openxmlformats.org/drawingml/2006/main">
            <a:off x="685800" y="457200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Test this evidence-based arm next; it was not evaluated here</a:t>
            </a:r>
          </a:p>
        </p:txBody>
      </p:sp>
      <p:sp>
        <p:nvSpPr>
          <p:cNvPr id="6" name="">
            <a:extLst xmlns:a="http://schemas.openxmlformats.org/drawingml/2006/main">
              <a:ext uri="{FF2B5EF4-FFF2-40B4-BE49-F238E27FC236}">
                <a16:creationId xmlns:a16="http://schemas.microsoft.com/office/drawing/2014/main" id="{73E2282D-7837-43F0-9DB3-CE3C8AEC54AE}"/>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11</a:t>
            </a:r>
          </a:p>
        </p:txBody>
      </p:sp>
    </p:spTree>
    <p:extLst>
      <p:ext uri="{BB962C8B-B14F-4D97-AF65-F5344CB8AC3E}">
        <p14:creationId xmlns:p14="http://schemas.microsoft.com/office/powerpoint/2010/main" val="1676303989"/>
      </p:ext>
    </p:extLst>
  </p:cSld>
</p:sld>
</file>

<file path=ppt/slides/slide12.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DB70AAF-8AD5-45B8-9CD3-782A9F4E4576}"/>
              </a:ext>
            </a:extLst>
          </p:cNvPr>
          <p:cNvSpPr>
            <a:spLocks xmlns:a="http://schemas.openxmlformats.org/drawingml/2006/main" noGrp="1"/>
          </p:cNvSpPr>
          <p:nvPr/>
        </p:nvSpPr>
        <p:spPr>
          <a:xfrm xmlns:a="http://schemas.openxmlformats.org/drawingml/2006/main">
            <a:off x="628650" y="400050"/>
            <a:ext cx="10934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References and contributions</a:t>
            </a:r>
          </a:p>
        </p:txBody>
      </p:sp>
      <p:sp>
        <p:nvSpPr>
          <p:cNvPr id="2" name="">
            <a:extLst xmlns:a="http://schemas.openxmlformats.org/drawingml/2006/main">
              <a:ext uri="{FF2B5EF4-FFF2-40B4-BE49-F238E27FC236}">
                <a16:creationId xmlns:a16="http://schemas.microsoft.com/office/drawing/2014/main" id="{D9F44CDB-F49D-4C5A-A0F3-DA9354D01FEE}"/>
              </a:ext>
            </a:extLst>
          </p:cNvPr>
          <p:cNvSpPr>
            <a:spLocks xmlns:a="http://schemas.openxmlformats.org/drawingml/2006/main" noGrp="1"/>
          </p:cNvSpPr>
          <p:nvPr/>
        </p:nvSpPr>
        <p:spPr>
          <a:xfrm xmlns:a="http://schemas.openxmlformats.org/drawingml/2006/main">
            <a:off x="685800" y="1600200"/>
            <a:ext cx="10668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C40"/>
                </a:solidFill>
                <a:latin typeface="Helvetica Neue"/>
                <a:ea typeface="Helvetica Neue"/>
                <a:cs typeface="Helvetica Neue"/>
              </a:defRPr>
            </a:pPr>
            <a:r>
              <a:rPr sz="2025" b="0">
                <a:solidFill>
                  <a:srgbClr val="142C40"/>
                </a:solidFill>
                <a:latin typeface="Helvetica Neue"/>
                <a:ea typeface="Helvetica Neue"/>
                <a:cs typeface="Helvetica Neue"/>
              </a:rPr>
              <a:t>Google SimpleQA Verified: factual question source</a:t>
            </a:r>
          </a:p>
        </p:txBody>
      </p:sp>
      <p:sp>
        <p:nvSpPr>
          <p:cNvPr id="3" name="">
            <a:extLst xmlns:a="http://schemas.openxmlformats.org/drawingml/2006/main">
              <a:ext uri="{FF2B5EF4-FFF2-40B4-BE49-F238E27FC236}">
                <a16:creationId xmlns:a16="http://schemas.microsoft.com/office/drawing/2014/main" id="{58892EBE-77D6-4CED-861A-D08FC45D6C81}"/>
              </a:ext>
            </a:extLst>
          </p:cNvPr>
          <p:cNvSpPr>
            <a:spLocks xmlns:a="http://schemas.openxmlformats.org/drawingml/2006/main" noGrp="1"/>
          </p:cNvSpPr>
          <p:nvPr/>
        </p:nvSpPr>
        <p:spPr>
          <a:xfrm xmlns:a="http://schemas.openxmlformats.org/drawingml/2006/main">
            <a:off x="685800" y="2200275"/>
            <a:ext cx="10668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C40"/>
                </a:solidFill>
                <a:latin typeface="Helvetica Neue"/>
                <a:ea typeface="Helvetica Neue"/>
                <a:cs typeface="Helvetica Neue"/>
              </a:defRPr>
            </a:pPr>
            <a:r>
              <a:rPr sz="2025" b="0">
                <a:solidFill>
                  <a:srgbClr val="142C40"/>
                </a:solidFill>
                <a:latin typeface="Helvetica Neue"/>
                <a:ea typeface="Helvetica Neue"/>
                <a:cs typeface="Helvetica Neue"/>
              </a:rPr>
              <a:t>Huang et al. (ICLR 2024): limits of intrinsic self-correction</a:t>
            </a:r>
          </a:p>
        </p:txBody>
      </p:sp>
      <p:sp>
        <p:nvSpPr>
          <p:cNvPr id="4" name="">
            <a:extLst xmlns:a="http://schemas.openxmlformats.org/drawingml/2006/main">
              <a:ext uri="{FF2B5EF4-FFF2-40B4-BE49-F238E27FC236}">
                <a16:creationId xmlns:a16="http://schemas.microsoft.com/office/drawing/2014/main" id="{36C04139-FE4F-4A0F-BCEC-8BFF934C2363}"/>
              </a:ext>
            </a:extLst>
          </p:cNvPr>
          <p:cNvSpPr>
            <a:spLocks xmlns:a="http://schemas.openxmlformats.org/drawingml/2006/main" noGrp="1"/>
          </p:cNvSpPr>
          <p:nvPr/>
        </p:nvSpPr>
        <p:spPr>
          <a:xfrm xmlns:a="http://schemas.openxmlformats.org/drawingml/2006/main">
            <a:off x="685800" y="2800350"/>
            <a:ext cx="10668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C40"/>
                </a:solidFill>
                <a:latin typeface="Helvetica Neue"/>
                <a:ea typeface="Helvetica Neue"/>
                <a:cs typeface="Helvetica Neue"/>
              </a:defRPr>
            </a:pPr>
            <a:r>
              <a:rPr sz="2025" b="0">
                <a:solidFill>
                  <a:srgbClr val="142C40"/>
                </a:solidFill>
                <a:latin typeface="Helvetica Neue"/>
                <a:ea typeface="Helvetica Neue"/>
                <a:cs typeface="Helvetica Neue"/>
              </a:rPr>
              <a:t>Dhuliawala et al. (ACL Findings 2024): Chain-of-Verification</a:t>
            </a:r>
          </a:p>
        </p:txBody>
      </p:sp>
      <p:sp>
        <p:nvSpPr>
          <p:cNvPr id="5" name="">
            <a:extLst xmlns:a="http://schemas.openxmlformats.org/drawingml/2006/main">
              <a:ext uri="{FF2B5EF4-FFF2-40B4-BE49-F238E27FC236}">
                <a16:creationId xmlns:a16="http://schemas.microsoft.com/office/drawing/2014/main" id="{6415AAC3-15A1-47DC-B033-0CAD04F79C81}"/>
              </a:ext>
            </a:extLst>
          </p:cNvPr>
          <p:cNvSpPr>
            <a:spLocks xmlns:a="http://schemas.openxmlformats.org/drawingml/2006/main" noGrp="1"/>
          </p:cNvSpPr>
          <p:nvPr/>
        </p:nvSpPr>
        <p:spPr>
          <a:xfrm xmlns:a="http://schemas.openxmlformats.org/drawingml/2006/main">
            <a:off x="685800" y="3400425"/>
            <a:ext cx="10668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C40"/>
                </a:solidFill>
                <a:latin typeface="Helvetica Neue"/>
                <a:ea typeface="Helvetica Neue"/>
                <a:cs typeface="Helvetica Neue"/>
              </a:defRPr>
            </a:pPr>
            <a:r>
              <a:rPr sz="2025" b="0">
                <a:solidFill>
                  <a:srgbClr val="142C40"/>
                </a:solidFill>
                <a:latin typeface="Helvetica Neue"/>
                <a:ea typeface="Helvetica Neue"/>
                <a:cs typeface="Helvetica Neue"/>
              </a:rPr>
              <a:t>Zhao et al. (EMNLP 2024): MathTrap</a:t>
            </a:r>
          </a:p>
        </p:txBody>
      </p:sp>
      <p:sp>
        <p:nvSpPr>
          <p:cNvPr id="6" name="">
            <a:extLst xmlns:a="http://schemas.openxmlformats.org/drawingml/2006/main">
              <a:ext uri="{FF2B5EF4-FFF2-40B4-BE49-F238E27FC236}">
                <a16:creationId xmlns:a16="http://schemas.microsoft.com/office/drawing/2014/main" id="{22E29DE1-7224-4A9C-9034-D45024D98286}"/>
              </a:ext>
            </a:extLst>
          </p:cNvPr>
          <p:cNvSpPr>
            <a:spLocks xmlns:a="http://schemas.openxmlformats.org/drawingml/2006/main" noGrp="1"/>
          </p:cNvSpPr>
          <p:nvPr/>
        </p:nvSpPr>
        <p:spPr>
          <a:xfrm xmlns:a="http://schemas.openxmlformats.org/drawingml/2006/main">
            <a:off x="685800" y="4000500"/>
            <a:ext cx="10668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C40"/>
                </a:solidFill>
                <a:latin typeface="Helvetica Neue"/>
                <a:ea typeface="Helvetica Neue"/>
                <a:cs typeface="Helvetica Neue"/>
              </a:defRPr>
            </a:pPr>
            <a:r>
              <a:rPr sz="2025" b="0">
                <a:solidFill>
                  <a:srgbClr val="142C40"/>
                </a:solidFill>
                <a:latin typeface="Helvetica Neue"/>
                <a:ea typeface="Helvetica Neue"/>
                <a:cs typeface="Helvetica Neue"/>
              </a:rPr>
              <a:t>Mirzadeh et al. (ICLR 2025): GSM-Symbolic</a:t>
            </a:r>
          </a:p>
        </p:txBody>
      </p:sp>
      <p:sp>
        <p:nvSpPr>
          <p:cNvPr id="7" name="">
            <a:extLst xmlns:a="http://schemas.openxmlformats.org/drawingml/2006/main">
              <a:ext uri="{FF2B5EF4-FFF2-40B4-BE49-F238E27FC236}">
                <a16:creationId xmlns:a16="http://schemas.microsoft.com/office/drawing/2014/main" id="{BCA2156B-3DCD-43FC-B6B4-71D4AC0B82DC}"/>
              </a:ext>
            </a:extLst>
          </p:cNvPr>
          <p:cNvSpPr>
            <a:spLocks xmlns:a="http://schemas.openxmlformats.org/drawingml/2006/main" noGrp="1"/>
          </p:cNvSpPr>
          <p:nvPr/>
        </p:nvSpPr>
        <p:spPr>
          <a:xfrm xmlns:a="http://schemas.openxmlformats.org/drawingml/2006/main">
            <a:off x="685800" y="5095875"/>
            <a:ext cx="10668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657586"/>
                </a:solidFill>
                <a:latin typeface="Helvetica Neue"/>
                <a:ea typeface="Helvetica Neue"/>
                <a:cs typeface="Helvetica Neue"/>
              </a:defRPr>
            </a:pPr>
            <a:r>
              <a:rPr sz="1875" b="0">
                <a:solidFill>
                  <a:srgbClr val="657586"/>
                </a:solidFill>
                <a:latin typeface="Helvetica Neue"/>
                <a:ea typeface="Helvetica Neue"/>
                <a:cs typeface="Helvetica Neue"/>
              </a:rPr>
              <a:t>R processing. Codex implementation and review. Claude Code review used Kimi.</a:t>
            </a:r>
          </a:p>
          <a:p xmlns:a="http://schemas.openxmlformats.org/drawingml/2006/main">
            <a:pPr>
              <a:defRPr sz="1875" b="0">
                <a:solidFill>
                  <a:srgbClr val="657586"/>
                </a:solidFill>
                <a:latin typeface="Helvetica Neue"/>
                <a:ea typeface="Helvetica Neue"/>
                <a:cs typeface="Helvetica Neue"/>
              </a:defRPr>
            </a:pPr>
            <a:r>
              <a:rPr sz="1875" b="0">
                <a:solidFill>
                  <a:srgbClr val="657586"/>
                </a:solidFill>
                <a:latin typeface="Helvetica Neue"/>
                <a:ea typeface="Helvetica Neue"/>
                <a:cs typeface="Helvetica Neue"/>
              </a:rPr>
              <a:t>45 targeted human judgments; full independent review remains pending.</a:t>
            </a:r>
          </a:p>
        </p:txBody>
      </p:sp>
      <p:sp>
        <p:nvSpPr>
          <p:cNvPr id="8" name="">
            <a:extLst xmlns:a="http://schemas.openxmlformats.org/drawingml/2006/main">
              <a:ext uri="{FF2B5EF4-FFF2-40B4-BE49-F238E27FC236}">
                <a16:creationId xmlns:a16="http://schemas.microsoft.com/office/drawing/2014/main" id="{3197BD88-3281-489A-B06C-387871C48044}"/>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12</a:t>
            </a:r>
          </a:p>
        </p:txBody>
      </p:sp>
    </p:spTree>
    <p:extLst>
      <p:ext uri="{BB962C8B-B14F-4D97-AF65-F5344CB8AC3E}">
        <p14:creationId xmlns:p14="http://schemas.microsoft.com/office/powerpoint/2010/main" val="160074137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2026-10-02T15:38:38.5500000Z</dcterms:created>
  <dcterms:modified xsi:type="dcterms:W3CDTF">2026-10-02T15:38:38.5500000Z</dcterms:modified>
</coreProperties>
</file>