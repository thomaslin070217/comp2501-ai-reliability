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5.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d23506b83d146b8" /><Relationship Type="http://schemas.openxmlformats.org/officeDocument/2006/relationships/extended-properties" Target="/docProps/app.xml" Id="R60148fe744a249ef" /><Relationship Type="http://schemas.openxmlformats.org/officeDocument/2006/relationships/officeDocument" Target="/ppt/presentation.xml" Id="Rec890ed45e304676" /></Relationships>
</file>

<file path=ppt/presentation.xml><?xml version="1.0" encoding="utf-8"?>
<p:presentation xmlns:p="http://schemas.openxmlformats.org/presentationml/2006/main">
  <p:sldMasterIdLst>
    <p:sldMasterId xmlns:r="http://schemas.openxmlformats.org/officeDocument/2006/relationships" id="2147483648" r:id="R61b534bae91347ca"/>
  </p:sldMasterIdLst>
  <p:notesMasterIdLst>
    <p:notesMasterId xmlns:r="http://schemas.openxmlformats.org/officeDocument/2006/relationships" r:id="R5b2c59b5874948f3"/>
  </p:notesMasterIdLst>
  <p:sldIdLst>
    <p:sldId xmlns:r="http://schemas.openxmlformats.org/officeDocument/2006/relationships" id="256" r:id="R6ff2a74d323b445f"/>
    <p:sldId xmlns:r="http://schemas.openxmlformats.org/officeDocument/2006/relationships" id="257" r:id="R87c7310536ff4c7d"/>
    <p:sldId xmlns:r="http://schemas.openxmlformats.org/officeDocument/2006/relationships" id="258" r:id="Rb8b2f3d5ec4944bf"/>
    <p:sldId xmlns:r="http://schemas.openxmlformats.org/officeDocument/2006/relationships" id="259" r:id="R37c8c81746ba46f2"/>
    <p:sldId xmlns:r="http://schemas.openxmlformats.org/officeDocument/2006/relationships" id="260" r:id="Ra14935190b44476d"/>
    <p:sldId xmlns:r="http://schemas.openxmlformats.org/officeDocument/2006/relationships" id="261" r:id="R3941c8e8a5f34d24"/>
    <p:sldId xmlns:r="http://schemas.openxmlformats.org/officeDocument/2006/relationships" id="262" r:id="R75e9ad051404448c"/>
    <p:sldId xmlns:r="http://schemas.openxmlformats.org/officeDocument/2006/relationships" id="263" r:id="R0e344207227e4b36"/>
    <p:sldId xmlns:r="http://schemas.openxmlformats.org/officeDocument/2006/relationships" id="264" r:id="R0c6e8ff302d64037"/>
    <p:sldId xmlns:r="http://schemas.openxmlformats.org/officeDocument/2006/relationships" id="265" r:id="Re7621f4e7584445f"/>
    <p:sldId xmlns:r="http://schemas.openxmlformats.org/officeDocument/2006/relationships" id="266" r:id="R65cf237876a44cab"/>
    <p:sldId xmlns:r="http://schemas.openxmlformats.org/officeDocument/2006/relationships" id="267" r:id="Re728074b8de84c58"/>
    <p:sldId xmlns:r="http://schemas.openxmlformats.org/officeDocument/2006/relationships" id="268" r:id="R05e7a1995a58498f"/>
    <p:sldId xmlns:r="http://schemas.openxmlformats.org/officeDocument/2006/relationships" id="269" r:id="R5e28c8bcdb584da3"/>
    <p:sldId xmlns:r="http://schemas.openxmlformats.org/officeDocument/2006/relationships" id="270" r:id="R15b42210b40f4675"/>
    <p:sldId xmlns:r="http://schemas.openxmlformats.org/officeDocument/2006/relationships" id="271" r:id="R13be6a5f51694247"/>
    <p:sldId xmlns:r="http://schemas.openxmlformats.org/officeDocument/2006/relationships" id="272" r:id="R024aadd85833495a"/>
    <p:sldId xmlns:r="http://schemas.openxmlformats.org/officeDocument/2006/relationships" id="273" r:id="R31449385216048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ade2ca506a4f4b" /><Relationship Type="http://schemas.openxmlformats.org/officeDocument/2006/relationships/slideMaster" Target="/ppt/slideMasters/slideMaster1.xml" Id="R61b534bae91347ca" /><Relationship Type="http://schemas.openxmlformats.org/officeDocument/2006/relationships/notesMaster" Target="/ppt/notesMasters/notesMaster1.xml" Id="R5b2c59b5874948f3" /><Relationship Type="http://schemas.openxmlformats.org/officeDocument/2006/relationships/presProps" Target="/ppt/presProps.xml" Id="R0896e5afd8664175" /><Relationship Type="http://schemas.openxmlformats.org/officeDocument/2006/relationships/tableStyles" Target="/ppt/tableStyles.xml" Id="Rb58e0285fd3c47e6" /><Relationship Type="http://schemas.openxmlformats.org/officeDocument/2006/relationships/slide" Target="/ppt/slides/slide1.xml" Id="R6ff2a74d323b445f" /><Relationship Type="http://schemas.openxmlformats.org/officeDocument/2006/relationships/slide" Target="/ppt/slides/slide2.xml" Id="R87c7310536ff4c7d" /><Relationship Type="http://schemas.openxmlformats.org/officeDocument/2006/relationships/slide" Target="/ppt/slides/slide3.xml" Id="Rb8b2f3d5ec4944bf" /><Relationship Type="http://schemas.openxmlformats.org/officeDocument/2006/relationships/slide" Target="/ppt/slides/slide4.xml" Id="R37c8c81746ba46f2" /><Relationship Type="http://schemas.openxmlformats.org/officeDocument/2006/relationships/slide" Target="/ppt/slides/slide5.xml" Id="Ra14935190b44476d" /><Relationship Type="http://schemas.openxmlformats.org/officeDocument/2006/relationships/slide" Target="/ppt/slides/slide6.xml" Id="R3941c8e8a5f34d24" /><Relationship Type="http://schemas.openxmlformats.org/officeDocument/2006/relationships/slide" Target="/ppt/slides/slide7.xml" Id="R75e9ad051404448c" /><Relationship Type="http://schemas.openxmlformats.org/officeDocument/2006/relationships/slide" Target="/ppt/slides/slide8.xml" Id="R0e344207227e4b36" /><Relationship Type="http://schemas.openxmlformats.org/officeDocument/2006/relationships/slide" Target="/ppt/slides/slide9.xml" Id="R0c6e8ff302d64037" /><Relationship Type="http://schemas.openxmlformats.org/officeDocument/2006/relationships/slide" Target="/ppt/slides/slide10.xml" Id="Re7621f4e7584445f" /><Relationship Type="http://schemas.openxmlformats.org/officeDocument/2006/relationships/slide" Target="/ppt/slides/slide11.xml" Id="R65cf237876a44cab" /><Relationship Type="http://schemas.openxmlformats.org/officeDocument/2006/relationships/slide" Target="/ppt/slides/slide12.xml" Id="Re728074b8de84c58" /><Relationship Type="http://schemas.openxmlformats.org/officeDocument/2006/relationships/slide" Target="/ppt/slides/slide13.xml" Id="R05e7a1995a58498f" /><Relationship Type="http://schemas.openxmlformats.org/officeDocument/2006/relationships/slide" Target="/ppt/slides/slide14.xml" Id="R5e28c8bcdb584da3" /><Relationship Type="http://schemas.openxmlformats.org/officeDocument/2006/relationships/slide" Target="/ppt/slides/slide15.xml" Id="R15b42210b40f4675" /><Relationship Type="http://schemas.openxmlformats.org/officeDocument/2006/relationships/slide" Target="/ppt/slides/slide16.xml" Id="R13be6a5f51694247" /><Relationship Type="http://schemas.openxmlformats.org/officeDocument/2006/relationships/slide" Target="/ppt/slides/slide17.xml" Id="R024aadd85833495a" /><Relationship Type="http://schemas.openxmlformats.org/officeDocument/2006/relationships/slide" Target="/ppt/slides/slide18.xml" Id="R31449385216048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96f97f6f1ac4a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e0695613d24099" /><Relationship Type="http://schemas.openxmlformats.org/officeDocument/2006/relationships/notesMaster" Target="/ppt/notesMasters/notesMaster1.xml" Id="Rbfe4fd5b724642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5776bb28c64c62" /><Relationship Type="http://schemas.openxmlformats.org/officeDocument/2006/relationships/notesMaster" Target="/ppt/notesMasters/notesMaster1.xml" Id="Rd13249aac0c242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a7663e3b5b4f8b" /><Relationship Type="http://schemas.openxmlformats.org/officeDocument/2006/relationships/notesMaster" Target="/ppt/notesMasters/notesMaster1.xml" Id="R34741ab20ce64b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2ca4548b1e4068" /><Relationship Type="http://schemas.openxmlformats.org/officeDocument/2006/relationships/notesMaster" Target="/ppt/notesMasters/notesMaster1.xml" Id="R9ca2b722fdc643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d4c03aa112ae4776" /><Relationship Type="http://schemas.openxmlformats.org/officeDocument/2006/relationships/notesMaster" Target="/ppt/notesMasters/notesMaster1.xml" Id="R54c754888c76418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cdc9887b0f4963" /><Relationship Type="http://schemas.openxmlformats.org/officeDocument/2006/relationships/notesMaster" Target="/ppt/notesMasters/notesMaster1.xml" Id="R4a2d0686f39f47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173853ab944d93" /><Relationship Type="http://schemas.openxmlformats.org/officeDocument/2006/relationships/notesMaster" Target="/ppt/notesMasters/notesMaster1.xml" Id="R6679c3bcde9d40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2d2b3df463b3475b" /><Relationship Type="http://schemas.openxmlformats.org/officeDocument/2006/relationships/notesMaster" Target="/ppt/notesMasters/notesMaster1.xml" Id="Rdfcf2d94b6684167"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afa9aa03ee4290" /><Relationship Type="http://schemas.openxmlformats.org/officeDocument/2006/relationships/notesMaster" Target="/ppt/notesMasters/notesMaster1.xml" Id="Rec214c9a437640d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86da751e9264e88" /><Relationship Type="http://schemas.openxmlformats.org/officeDocument/2006/relationships/notesMaster" Target="/ppt/notesMasters/notesMaster1.xml" Id="Re5a60e81275b4b5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ea9ae833b7145d3" /><Relationship Type="http://schemas.openxmlformats.org/officeDocument/2006/relationships/notesMaster" Target="/ppt/notesMasters/notesMaster1.xml" Id="R47600f0203eb4f8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97f84efc8c74ef9" /><Relationship Type="http://schemas.openxmlformats.org/officeDocument/2006/relationships/notesMaster" Target="/ppt/notesMasters/notesMaster1.xml" Id="Raa3556b2a66e480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8c740e9f11a4aa0" /><Relationship Type="http://schemas.openxmlformats.org/officeDocument/2006/relationships/notesMaster" Target="/ppt/notesMasters/notesMaster1.xml" Id="R7400d74078fb41c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783cf19ce944e5d" /><Relationship Type="http://schemas.openxmlformats.org/officeDocument/2006/relationships/notesMaster" Target="/ppt/notesMasters/notesMaster1.xml" Id="R3d16c99107724c8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dc056290b484a92" /><Relationship Type="http://schemas.openxmlformats.org/officeDocument/2006/relationships/notesMaster" Target="/ppt/notesMasters/notesMaster1.xml" Id="Rf0228a8262284eb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5e03bd097d44e1f" /><Relationship Type="http://schemas.openxmlformats.org/officeDocument/2006/relationships/notesMaster" Target="/ppt/notesMasters/notesMaster1.xml" Id="R6594e17de6014f1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da76a07325d4296" /><Relationship Type="http://schemas.openxmlformats.org/officeDocument/2006/relationships/notesMaster" Target="/ppt/notesMasters/notesMaster1.xml" Id="R28d7e56191d94b5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a9c4a78f45445c8" /><Relationship Type="http://schemas.openxmlformats.org/officeDocument/2006/relationships/notesMaster" Target="/ppt/notesMasters/notesMaster1.xml" Id="R4554872b62174d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Introduce LINYUNIAN and PAN ZHENGYU and the question: can cross-checking justify more trust in AI? Reliability here means fewer wrong final outputs, not measured human trust or a guarantee of truth.</a:t>
            </a:r>
          </a:p>
          <a:p xmlns:a="http://schemas.openxmlformats.org/drawingml/2006/main">
            <a:r>
              <a:t>Sources: https://github.com/ThomasLin070217/comp2501-ai-reliability/blob/main/docs/experiment-architecture-v2.md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Tell the classroom story as LINYUNIAN's recollection: Professor LUO RUIBANG asked who would completely trust AI. LINYUNIAN raised a hand because multiple agents cross-check responses. Explain that this project tests that reason for trust. These slide sentences are a paraphrase, not a verbatim quotation of the professor.</a:t>
            </a:r>
          </a:p>
          <a:p xmlns:a="http://schemas.openxmlformats.org/drawingml/2006/main">
            <a:r>
              <a:t>Sources: https://github.com/ThomasLin070217/comp2501-ai-reliability/blob/main/CHAT_CONTEXT.md#u31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Explain A as natural cross-checking, B as controlled wrong input, C as structured verification. The original B/C protocol and endpoints remain unchanged. A is an explicitly post-hoc addition on previously studied questions, frozen before its new calls. Domains remain separate.</a:t>
            </a:r>
          </a:p>
          <a:p xmlns:a="http://schemas.openxmlformats.org/drawingml/2006/main">
            <a:r>
              <a:t>Sources: https://github.com/ThomasLin070217/comp2501-ai-reliability/blob/main/docs/experiment-architecture-v2.md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Each of three different models answers alone. That answer is N0 and is also another receiver's peer material. The receiver branches to N1 self-check, N2 natural peer-check, N3 structured peer-check. Primary N2-N1 controls for an extra receiver attempt. Total deployment cost still includes the donor. The skill itself was unavailable, so this is a defined one-round workflow.</a:t>
            </a:r>
          </a:p>
          <a:p xmlns:a="http://schemas.openxmlformats.org/drawingml/2006/main">
            <a:r>
              <a:t>Sources: https://github.com/ThomasLin070217/comp2501-ai-reliability/blob/main/Natural_Crosscheck/protocol/freeze.json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Read the factual bars with a 0-100% axis. Common-four samples are used in bars; pairwise contrasts can have different denominators. Primary pairs: -4.90 pp; 95% interval [-16.19, 5.94] Do not call an interval crossing zero evidence of equivalence. Questions are previously studied, not a fresh population sample.</a:t>
            </a:r>
          </a:p>
          <a:p xmlns:a="http://schemas.openxmlformats.org/drawingml/2006/main">
            <a:r>
              <a:t>Sources: https://github.com/ThomasLin070217/comp2501-ai-reliability/tree/main/Natural_Crosscheck/reports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Read the mathematics bars with the same 0-100% scale. Peer minus self: -5.41 pp; descriptive comparison Only13items and four families are represented. N0 has10field errors,8already-correct explanation endpoints and2addition errors. N1 fixes the8field errors; N2 fixes the remaining2arithmetic errors. This is descriptive, not a universal logic benchmark.</a:t>
            </a:r>
          </a:p>
          <a:p xmlns:a="http://schemas.openxmlformats.org/drawingml/2006/main">
            <a:r>
              <a:t>Sources: https://github.com/ThomasLin070217/comp2501-ai-reliability/tree/main/Natural_Crosscheck/reports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Read the paired facts table from self-check rows to peer-check columns. It shows both beneficial and harmful changes, including uncertainty becoming a wrong answer. Counts are paired alternatives, not sequential N1-to-N2 conversations. The table includes all valid N1/N2 pairs.</a:t>
            </a:r>
          </a:p>
          <a:p xmlns:a="http://schemas.openxmlformats.org/drawingml/2006/main">
            <a:r>
              <a:t>Sources: https://github.com/ThomasLin070217/comp2501-ai-reliability/tree/main/Natural_Crosscheck/reports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Explain original B/C conditions. A different model produced advice for researcher-assigned targets. This estimates response to controlled advice, not the frequency with which another model naturally errs. C2/C3 and C4/C5 use exactly matched suggestions. The previous prespecified harmful-flip endpoints remain in the report.</a:t>
            </a:r>
          </a:p>
          <a:p xmlns:a="http://schemas.openxmlformats.org/drawingml/2006/main">
            <a:r>
              <a:t>Sources: https://github.com/ThomasLin070217/comp2501-ai-reliability/blob/main/docs/experiment-plan-v1.md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Read both error-rate bar charts. C0/C1/C2: 46.04%,64.81%,52.43%; C2/C3:52.43%,35.88%. Error is wrong/(correct+wrong+abstain), all719. Wrong-only and wrong-plus-reason are +18.78/+6.40 pp vs neutral; structured is -16.55 pp vs ordinary same wrong advice. These all-unit comparisons are post hoc. Wrong explanations were not more harmful than wrong-only in the original harmful-flip endpoint.</a:t>
            </a:r>
          </a:p>
          <a:p xmlns:a="http://schemas.openxmlformats.org/drawingml/2006/main">
            <a:r>
              <a:t>Sources: https://github.com/ThomasLin070217/comp2501-ai-reliability/blob/main/Submission_Pack/补充分析_2026-10-03.md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Read the paired C2/C3 outcomes:144 wrong-to-abstain,5 wrong-to-correct,21 abstain-to-wrong,9 correct-to-wrong. The net reduction119 is not119 successful factual corrections. Correct answers also decline. Explicit uncertainty can be useful without finding the answer.</a:t>
            </a:r>
          </a:p>
          <a:p xmlns:a="http://schemas.openxmlformats.org/drawingml/2006/main">
            <a:r>
              <a:t>Sources: https://github.com/ThomasLin070217/comp2501-ai-reliability/blob/main/Submission_Pack/补充分析_2026-10-03.md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The correct-advice control is a counterweight:76/322 initially wrong units are repaired by C4,45/322 by C5. Difference -9.63pp,95% cluster interval[-14.38,-5.25]. Less error and less useful answering can coexist; report both, do not impose a universal utility score.</a:t>
            </a:r>
          </a:p>
          <a:p xmlns:a="http://schemas.openxmlformats.org/drawingml/2006/main">
            <a:r>
              <a:t>Sources: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Explain the equilateral triangle example from MathTrap:perimeter30 implies side10 and height5sqrt(3),about8.66,so height10 is inconsistent. Direct area50 ignores feasibility. A proved inconsistency is correct, not an abstention. This published example is a historical failure, not a claim every model now fails it.</a:t>
            </a:r>
          </a:p>
          <a:p xmlns:a="http://schemas.openxmlformats.org/drawingml/2006/main">
            <a:r>
              <a:t>Sources: https://aclanthology.org/2024.emnlp-main.915/ (Table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Define final-answer scoring and uncertainty. All current processing is R. The original math supplement has13/16 initial field errors whose explanations already reach the correct endpoint. Do not relabel those as purely failed reasoning. API or format failures are separate. Correct dates do not validate all explanatory claims.</a:t>
            </a:r>
          </a:p>
          <a:p xmlns:a="http://schemas.openxmlformats.org/drawingml/2006/main">
            <a:r>
              <a:t>Sources: https://github.com/ThomasLin070217/comp2501-ai-reliability/blob/main/Math_Supplement/reports/supplementary/semantic-review.md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Use the original Notepad++ example:official date28June2020. MiniMax C0 cannot confirm,C1/C2 say29June,C3 withdraws. The phrase as confirmed by the official release notes appeared without a search tool. A confidence phrase is not evidence retrieval. Preserve the reverse example in the report.</a:t>
            </a:r>
          </a:p>
          <a:p xmlns:a="http://schemas.openxmlformats.org/drawingml/2006/main">
            <a:r>
              <a:t>Sources: https://github.com/notepad-plus-plus/notepad-plus-plus/wiki/Changes-v7#788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Explain selected questions and exploratory analyses. Natural fact N2-N1 differs by receiver: DeepSeek-14.29pp, Kimi+20.59pp, MiniMax-21.21pp. These are descriptive exploratory strata with different donor directions. Earlier AI review covered240pairs/451responses; new review reads319responses including151math responses, not an independent human audit. No human source-label experiment or human behavior measurement was performed.</a:t>
            </a:r>
          </a:p>
          <a:p xmlns:a="http://schemas.openxmlformats.org/drawingml/2006/main">
            <a:r>
              <a:t>Sources: https://github.com/ThomasLin070217/comp2501-ai-reliability/blob/main/CHAT_CONTEXT.md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Answer: conditionally, not automatically. Natural fact error difference is-4.90pp with interval spanning zero. Two arithmetic errors remained after self-checking and were repaired with peer input;8earlier math errors were field/reason conflicts. Controlled wrong advice raises error; structured checking reduces it mainly by abstaining. There is no100%guarantee or universal best method.</a:t>
            </a:r>
          </a:p>
          <a:p xmlns:a="http://schemas.openxmlformats.org/drawingml/2006/main">
            <a:r>
              <a:t>Sources: https://github.com/ThomasLin070217/comp2501-ai-reliability/tree/main/Natural_Crosscheck/reports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Offer practical advice as a proposed workflow: separate assumptions from facts, seek independent answers before showing your own guess, compare evidence and resolve contradictions, retain uncertainty and externally verify consequential claims. External retrieval/calculators were not tested in these experiments.</a:t>
            </a:r>
          </a:p>
          <a:p xmlns:a="http://schemas.openxmlformats.org/drawingml/2006/main">
            <a:r>
              <a:t>Sources: https://aclanthology.org/2024.findings-acl.212/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Name both team members and acknowledge public datasets and papers, R packages, Codex implementation/drafting/review and earlier Claude Code review via Kimi. Do not invent independent human validation or individual student implementation roles.</a:t>
            </a:r>
          </a:p>
          <a:p xmlns:a="http://schemas.openxmlformats.org/drawingml/2006/main">
            <a:r>
              <a:t>Sources: https://huggingface.co/datasets/google/simpleqa-verified</a:t>
            </a:r>
          </a:p>
          <a:p xmlns:a="http://schemas.openxmlformats.org/drawingml/2006/main">
            <a:r>
              <a:t>https://openreview.net/forum?id=IkmD3fKBPQ</a:t>
            </a:r>
          </a:p>
          <a:p xmlns:a="http://schemas.openxmlformats.org/drawingml/2006/main">
            <a:r>
              <a:t>https://aclanthology.org/2024.findings-acl.212/</a:t>
            </a:r>
          </a:p>
          <a:p xmlns:a="http://schemas.openxmlformats.org/drawingml/2006/main">
            <a:r>
              <a:t>https://aclanthology.org/2024.emnlp-main.915/</a:t>
            </a:r>
          </a:p>
          <a:p xmlns:a="http://schemas.openxmlformats.org/drawingml/2006/main">
            <a:r>
              <a:t>https://machinelearning.apple.com/research/gsm-symbolic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aca71183f147f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be4be103baa4292" /><Relationship Type="http://schemas.openxmlformats.org/officeDocument/2006/relationships/slideLayout" Target="/ppt/slideLayouts/slideLayout1.xml" Id="R59d7c64b990a47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d7c64b990a47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e4530d7e944be9" /><Relationship Type="http://schemas.openxmlformats.org/officeDocument/2006/relationships/notesSlide" Target="/ppt/notesSlides/notesSlide1.xml" Id="R9eba43fe89f54c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81e0e80a1d045e9" /><Relationship Type="http://schemas.openxmlformats.org/officeDocument/2006/relationships/notesSlide" Target="/ppt/notesSlides/notesSlide2.xml" Id="Ra0a3f573c11549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bc687047bb44ea" /><Relationship Type="http://schemas.openxmlformats.org/officeDocument/2006/relationships/notesSlide" Target="/ppt/notesSlides/notesSlide3.xml" Id="Rca8ab9e52c6c4d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5ef84d23da44a03" /><Relationship Type="http://schemas.openxmlformats.org/officeDocument/2006/relationships/notesSlide" Target="/ppt/notesSlides/notesSlide4.xml" Id="R262a669821c14ef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39aaf8c7bec4075" /><Relationship Type="http://schemas.openxmlformats.org/officeDocument/2006/relationships/chart" Target="/ppt/slides/charts/chart1.xml" Id="R706b401b592648e8" /><Relationship Type="http://schemas.openxmlformats.org/officeDocument/2006/relationships/notesSlide" Target="/ppt/notesSlides/notesSlide5.xml" Id="Re6c5a457d3c044f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2960b3bb69d4ffa" /><Relationship Type="http://schemas.openxmlformats.org/officeDocument/2006/relationships/chart" Target="/ppt/slides/charts/chart2.xml" Id="R3c4586d542b54df1" /><Relationship Type="http://schemas.openxmlformats.org/officeDocument/2006/relationships/notesSlide" Target="/ppt/notesSlides/notesSlide6.xml" Id="Rfd962e5999684c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0a09b50a27040b5" /><Relationship Type="http://schemas.openxmlformats.org/officeDocument/2006/relationships/notesSlide" Target="/ppt/notesSlides/notesSlide7.xml" Id="R8ef86d4ac8a143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e8eca5689fe4bf6" /><Relationship Type="http://schemas.openxmlformats.org/officeDocument/2006/relationships/notesSlide" Target="/ppt/notesSlides/notesSlide8.xml" Id="R942e11efd1754d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e12a7403ce74d3a" /><Relationship Type="http://schemas.openxmlformats.org/officeDocument/2006/relationships/chart" Target="/ppt/slides/charts/chart3.xml" Id="Rd7448f4f29dc480a" /><Relationship Type="http://schemas.openxmlformats.org/officeDocument/2006/relationships/chart" Target="/ppt/slides/charts/chart4.xml" Id="Re50cfc19fcd14019" /><Relationship Type="http://schemas.openxmlformats.org/officeDocument/2006/relationships/notesSlide" Target="/ppt/notesSlides/notesSlide9.xml" Id="Rc02c437949fb48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56fad24f0d84857" /><Relationship Type="http://schemas.openxmlformats.org/officeDocument/2006/relationships/notesSlide" Target="/ppt/notesSlides/notesSlide10.xml" Id="R29bd260168c3499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bb1f26abf0e4a72" /><Relationship Type="http://schemas.openxmlformats.org/officeDocument/2006/relationships/chart" Target="/ppt/slides/charts/chart5.xml" Id="Rada90ee74dcf494c" /><Relationship Type="http://schemas.openxmlformats.org/officeDocument/2006/relationships/notesSlide" Target="/ppt/notesSlides/notesSlide11.xml" Id="R4e183704d7f04e4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cb49d9142dd4958" /><Relationship Type="http://schemas.openxmlformats.org/officeDocument/2006/relationships/notesSlide" Target="/ppt/notesSlides/notesSlide12.xml" Id="R0e2d1d6dc237493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61a395c68b74bda" /><Relationship Type="http://schemas.openxmlformats.org/officeDocument/2006/relationships/notesSlide" Target="/ppt/notesSlides/notesSlide13.xml" Id="Re390fc0486f9414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325defd361e4c31" /><Relationship Type="http://schemas.openxmlformats.org/officeDocument/2006/relationships/notesSlide" Target="/ppt/notesSlides/notesSlide14.xml" Id="R18b87593766d446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8f2336e599e43f4" /><Relationship Type="http://schemas.openxmlformats.org/officeDocument/2006/relationships/notesSlide" Target="/ppt/notesSlides/notesSlide15.xml" Id="R3d61b8bff00e49a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f354234ff0c4efe" /><Relationship Type="http://schemas.openxmlformats.org/officeDocument/2006/relationships/notesSlide" Target="/ppt/notesSlides/notesSlide16.xml" Id="R8c6a2fe5e1054b6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d3abd27ca684fad" /><Relationship Type="http://schemas.openxmlformats.org/officeDocument/2006/relationships/notesSlide" Target="/ppt/notesSlides/notesSlide17.xml" Id="R6067ff9aee7a40d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51ff5e3abf74d53" /><Relationship Type="http://schemas.openxmlformats.org/officeDocument/2006/relationships/notesSlide" Target="/ppt/notesSlides/notesSlide18.xml" Id="R2deb68a34fd4411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C45F48"/>
            </a:solidFill>
          </c:spPr>
          <c:dPt>
            <c:idx val="0"/>
            <c:invertIfNegative val="0"/>
            <c:spPr>
              <a:solidFill xmlns:a="http://schemas.openxmlformats.org/drawingml/2006/main">
                <a:srgbClr val="8B9BAE"/>
              </a:solidFill>
            </c:spPr>
          </c:dPt>
          <c:dPt>
            <c:idx val="1"/>
            <c:invertIfNegative val="0"/>
            <c:spPr>
              <a:solidFill xmlns:a="http://schemas.openxmlformats.org/drawingml/2006/main">
                <a:srgbClr val="657586"/>
              </a:solidFill>
            </c:spPr>
          </c:dPt>
          <c:dPt>
            <c:idx val="2"/>
            <c:invertIfNegative val="0"/>
            <c:spPr>
              <a:solidFill xmlns:a="http://schemas.openxmlformats.org/drawingml/2006/main">
                <a:srgbClr val="C45F48"/>
              </a:solidFill>
            </c:spPr>
          </c:dPt>
          <c:dPt>
            <c:idx val="3"/>
            <c:invertIfNegative val="0"/>
            <c:spPr>
              <a:solidFill xmlns:a="http://schemas.openxmlformats.org/drawingml/2006/main">
                <a:srgbClr val="147E77"/>
              </a:solidFill>
            </c:spPr>
          </c:dPt>
          <c:cat>
            <c:strRef>
              <c:f>'Chart Data'!$A$2:$A$5</c:f>
              <c:strCache>
                <c:ptCount val="4"/>
                <c:pt idx="0">
                  <c:v>N0 Direct
answer</c:v>
                </c:pt>
                <c:pt idx="1">
                  <c:v>N1 Self
check</c:v>
                </c:pt>
                <c:pt idx="2">
                  <c:v>N2 Peer
check</c:v>
                </c:pt>
                <c:pt idx="3">
                  <c:v>N3 Structured
peer check</c:v>
                </c:pt>
              </c:strCache>
            </c:strRef>
          </c:cat>
          <c:val>
            <c:numRef>
              <c:f>'Chart Data'!$B$2:$B$5</c:f>
              <c:numCache>
                <c:formatCode>0.00%</c:formatCode>
                <c:ptCount val="4"/>
                <c:pt idx="0">
                  <c:v>0.356435643564356</c:v>
                </c:pt>
                <c:pt idx="1">
                  <c:v>0.386138613861386</c:v>
                </c:pt>
                <c:pt idx="2">
                  <c:v>0.346534653465347</c:v>
                </c:pt>
                <c:pt idx="3">
                  <c:v>0.267326732673267</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C45F48"/>
            </a:solidFill>
          </c:spPr>
          <c:dPt>
            <c:idx val="0"/>
            <c:invertIfNegative val="0"/>
            <c:spPr>
              <a:solidFill xmlns:a="http://schemas.openxmlformats.org/drawingml/2006/main">
                <a:srgbClr val="8B9BAE"/>
              </a:solidFill>
            </c:spPr>
          </c:dPt>
          <c:dPt>
            <c:idx val="1"/>
            <c:invertIfNegative val="0"/>
            <c:spPr>
              <a:solidFill xmlns:a="http://schemas.openxmlformats.org/drawingml/2006/main">
                <a:srgbClr val="657586"/>
              </a:solidFill>
            </c:spPr>
          </c:dPt>
          <c:dPt>
            <c:idx val="2"/>
            <c:invertIfNegative val="0"/>
            <c:spPr>
              <a:solidFill xmlns:a="http://schemas.openxmlformats.org/drawingml/2006/main">
                <a:srgbClr val="C45F48"/>
              </a:solidFill>
            </c:spPr>
          </c:dPt>
          <c:dPt>
            <c:idx val="3"/>
            <c:invertIfNegative val="0"/>
            <c:spPr>
              <a:solidFill xmlns:a="http://schemas.openxmlformats.org/drawingml/2006/main">
                <a:srgbClr val="147E77"/>
              </a:solidFill>
            </c:spPr>
          </c:dPt>
          <c:cat>
            <c:strRef>
              <c:f>'Chart Data'!$A$2:$A$5</c:f>
              <c:strCache>
                <c:ptCount val="4"/>
                <c:pt idx="0">
                  <c:v>N0 Direct
answer</c:v>
                </c:pt>
                <c:pt idx="1">
                  <c:v>N1 Self
check</c:v>
                </c:pt>
                <c:pt idx="2">
                  <c:v>N2 Peer
check</c:v>
                </c:pt>
                <c:pt idx="3">
                  <c:v>N3 Structured
peer check</c:v>
                </c:pt>
              </c:strCache>
            </c:strRef>
          </c:cat>
          <c:val>
            <c:numRef>
              <c:f>'Chart Data'!$B$2:$B$5</c:f>
              <c:numCache>
                <c:formatCode>0.00%</c:formatCode>
                <c:ptCount val="4"/>
                <c:pt idx="0">
                  <c:v>0.27027027027027</c:v>
                </c:pt>
                <c:pt idx="1">
                  <c:v>0.0540540540540541</c:v>
                </c:pt>
                <c:pt idx="2">
                  <c:v>0</c:v>
                </c:pt>
                <c:pt idx="3">
                  <c:v>0</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C45F48"/>
            </a:solidFill>
          </c:spPr>
          <c:dPt>
            <c:idx val="0"/>
            <c:invertIfNegative val="0"/>
            <c:spPr>
              <a:solidFill xmlns:a="http://schemas.openxmlformats.org/drawingml/2006/main">
                <a:srgbClr val="657586"/>
              </a:solidFill>
            </c:spPr>
          </c:dPt>
          <c:dPt>
            <c:idx val="1"/>
            <c:invertIfNegative val="0"/>
            <c:spPr>
              <a:solidFill xmlns:a="http://schemas.openxmlformats.org/drawingml/2006/main">
                <a:srgbClr val="C45F48"/>
              </a:solidFill>
            </c:spPr>
          </c:dPt>
          <c:dPt>
            <c:idx val="2"/>
            <c:invertIfNegative val="0"/>
            <c:spPr>
              <a:solidFill xmlns:a="http://schemas.openxmlformats.org/drawingml/2006/main">
                <a:srgbClr val="C45F48"/>
              </a:solidFill>
            </c:spPr>
          </c:dPt>
          <c:cat>
            <c:strRef>
              <c:f>'Chart Data'!$A$2:$A$4</c:f>
              <c:strCache>
                <c:ptCount val="3"/>
                <c:pt idx="0">
                  <c:v>C0 Neutral
recheck</c:v>
                </c:pt>
                <c:pt idx="1">
                  <c:v>C1 Wrong
answer</c:v>
                </c:pt>
                <c:pt idx="2">
                  <c:v>C2 Wrong +
reason</c:v>
                </c:pt>
              </c:strCache>
            </c:strRef>
          </c:cat>
          <c:val>
            <c:numRef>
              <c:f>'Chart Data'!$B$2:$B$4</c:f>
              <c:numCache>
                <c:formatCode>0.00%</c:formatCode>
                <c:ptCount val="3"/>
                <c:pt idx="0">
                  <c:v>0.460361613351878</c:v>
                </c:pt>
                <c:pt idx="1">
                  <c:v>0.648122392211405</c:v>
                </c:pt>
                <c:pt idx="2">
                  <c:v>0.524339360222531</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C45F48"/>
            </a:solidFill>
          </c:spPr>
          <c:dPt>
            <c:idx val="0"/>
            <c:invertIfNegative val="0"/>
            <c:spPr>
              <a:solidFill xmlns:a="http://schemas.openxmlformats.org/drawingml/2006/main">
                <a:srgbClr val="C45F48"/>
              </a:solidFill>
            </c:spPr>
          </c:dPt>
          <c:dPt>
            <c:idx val="1"/>
            <c:invertIfNegative val="0"/>
            <c:spPr>
              <a:solidFill xmlns:a="http://schemas.openxmlformats.org/drawingml/2006/main">
                <a:srgbClr val="147E77"/>
              </a:solidFill>
            </c:spPr>
          </c:dPt>
          <c:cat>
            <c:strRef>
              <c:f>'Chart Data'!$A$2:$A$3</c:f>
              <c:strCache>
                <c:ptCount val="2"/>
                <c:pt idx="0">
                  <c:v>C2 Ordinary
recheck</c:v>
                </c:pt>
                <c:pt idx="1">
                  <c:v>C3 Structured
check</c:v>
                </c:pt>
              </c:strCache>
            </c:strRef>
          </c:cat>
          <c:val>
            <c:numRef>
              <c:f>'Chart Data'!$B$2:$B$3</c:f>
              <c:numCache>
                <c:formatCode>0.00%</c:formatCode>
                <c:ptCount val="2"/>
                <c:pt idx="0">
                  <c:v>0.524339360222531</c:v>
                </c:pt>
                <c:pt idx="1">
                  <c:v>0.358831710709319</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incorrect_to_correct</c:v>
          </c:tx>
          <c:spPr>
            <a:solidFill xmlns:a="http://schemas.openxmlformats.org/drawingml/2006/main">
              <a:srgbClr val="147E77"/>
            </a:solidFill>
          </c:spPr>
          <c:cat>
            <c:strRef>
              <c:f>'Chart Data'!$A$2:$A$3</c:f>
              <c:strCache>
                <c:ptCount val="2"/>
                <c:pt idx="0">
                  <c:v>C4 Correct advice</c:v>
                </c:pt>
                <c:pt idx="1">
                  <c:v>C5 Structured</c:v>
                </c:pt>
              </c:strCache>
            </c:strRef>
          </c:cat>
          <c:val>
            <c:numRef>
              <c:f>'Chart Data'!$B$2:$B$3</c:f>
              <c:numCache>
                <c:formatCode>0</c:formatCode>
                <c:ptCount val="2"/>
                <c:pt idx="0">
                  <c:v>76</c:v>
                </c:pt>
                <c:pt idx="1">
                  <c:v>45</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AF7C216-563D-4645-8C6D-AAF88D73A46E}"/>
              </a:ext>
            </a:extLst>
          </p:cNvPr>
          <p:cNvSpPr>
            <a:spLocks xmlns:a="http://schemas.openxmlformats.org/drawingml/2006/main" noGrp="1"/>
          </p:cNvSpPr>
          <p:nvPr/>
        </p:nvSpPr>
        <p:spPr>
          <a:xfrm xmlns:a="http://schemas.openxmlformats.org/drawingml/2006/main">
            <a:off x="628650" y="400050"/>
            <a:ext cx="109347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Can We Trust AI More</a:t>
            </a:r>
          </a:p>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After Cross-Checking?</a:t>
            </a:r>
          </a:p>
        </p:txBody>
      </p:sp>
      <p:sp>
        <p:nvSpPr>
          <p:cNvPr id="2" name="">
            <a:extLst xmlns:a="http://schemas.openxmlformats.org/drawingml/2006/main">
              <a:ext uri="{FF2B5EF4-FFF2-40B4-BE49-F238E27FC236}">
                <a16:creationId xmlns:a16="http://schemas.microsoft.com/office/drawing/2014/main" id="{26E40ED5-AA03-447A-8316-CFEA02C7AF83}"/>
              </a:ext>
            </a:extLst>
          </p:cNvPr>
          <p:cNvSpPr>
            <a:spLocks xmlns:a="http://schemas.openxmlformats.org/drawingml/2006/main" noGrp="1"/>
          </p:cNvSpPr>
          <p:nvPr/>
        </p:nvSpPr>
        <p:spPr>
          <a:xfrm xmlns:a="http://schemas.openxmlformats.org/drawingml/2006/main">
            <a:off x="685800" y="26193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E77"/>
                </a:solidFill>
                <a:latin typeface="Helvetica Neue"/>
                <a:ea typeface="Helvetica Neue"/>
                <a:cs typeface="Helvetica Neue"/>
              </a:defRPr>
            </a:pPr>
            <a:r>
              <a:rPr sz="2100" b="1">
                <a:solidFill>
                  <a:srgbClr val="147E77"/>
                </a:solidFill>
                <a:latin typeface="Helvetica Neue"/>
                <a:ea typeface="Helvetica Neue"/>
                <a:cs typeface="Helvetica Neue"/>
              </a:rPr>
              <a:t>COMP2501</a:t>
            </a:r>
          </a:p>
        </p:txBody>
      </p:sp>
      <p:sp>
        <p:nvSpPr>
          <p:cNvPr id="3" name="">
            <a:extLst xmlns:a="http://schemas.openxmlformats.org/drawingml/2006/main">
              <a:ext uri="{FF2B5EF4-FFF2-40B4-BE49-F238E27FC236}">
                <a16:creationId xmlns:a16="http://schemas.microsoft.com/office/drawing/2014/main" id="{8750DD13-86A0-46BA-980D-E10956673E4F}"/>
              </a:ext>
            </a:extLst>
          </p:cNvPr>
          <p:cNvSpPr>
            <a:spLocks xmlns:a="http://schemas.openxmlformats.org/drawingml/2006/main" noGrp="1"/>
          </p:cNvSpPr>
          <p:nvPr/>
        </p:nvSpPr>
        <p:spPr>
          <a:xfrm xmlns:a="http://schemas.openxmlformats.org/drawingml/2006/main">
            <a:off x="685800" y="328612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42C40"/>
                </a:solidFill>
                <a:latin typeface="Helvetica Neue"/>
                <a:ea typeface="Helvetica Neue"/>
                <a:cs typeface="Helvetica Neue"/>
              </a:defRPr>
            </a:pPr>
            <a:r>
              <a:rPr sz="2550" b="1">
                <a:solidFill>
                  <a:srgbClr val="142C40"/>
                </a:solidFill>
                <a:latin typeface="Helvetica Neue"/>
                <a:ea typeface="Helvetica Neue"/>
                <a:cs typeface="Helvetica Neue"/>
              </a:rPr>
              <a:t>LINYUNIAN  /  PAN ZHENGYU</a:t>
            </a:r>
          </a:p>
        </p:txBody>
      </p:sp>
      <p:sp>
        <p:nvSpPr>
          <p:cNvPr id="4" name="">
            <a:extLst xmlns:a="http://schemas.openxmlformats.org/drawingml/2006/main">
              <a:ext uri="{FF2B5EF4-FFF2-40B4-BE49-F238E27FC236}">
                <a16:creationId xmlns:a16="http://schemas.microsoft.com/office/drawing/2014/main" id="{B788CF80-B321-4593-8555-62751113B8FB}"/>
              </a:ext>
            </a:extLst>
          </p:cNvPr>
          <p:cNvSpPr>
            <a:spLocks xmlns:a="http://schemas.openxmlformats.org/drawingml/2006/main" noGrp="1"/>
          </p:cNvSpPr>
          <p:nvPr/>
        </p:nvSpPr>
        <p:spPr>
          <a:xfrm xmlns:a="http://schemas.openxmlformats.org/drawingml/2006/main">
            <a:off x="685800" y="4286250"/>
            <a:ext cx="1038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Natural cross-checking, misleading advice and structured verification</a:t>
            </a:r>
          </a:p>
        </p:txBody>
      </p:sp>
      <p:sp>
        <p:nvSpPr>
          <p:cNvPr id="5" name="">
            <a:extLst xmlns:a="http://schemas.openxmlformats.org/drawingml/2006/main">
              <a:ext uri="{FF2B5EF4-FFF2-40B4-BE49-F238E27FC236}">
                <a16:creationId xmlns:a16="http://schemas.microsoft.com/office/drawing/2014/main" id="{CC858C8F-FF3F-4442-9A73-AAE3A4DD176D}"/>
              </a:ext>
            </a:extLst>
          </p:cNvPr>
          <p:cNvSpPr>
            <a:spLocks xmlns:a="http://schemas.openxmlformats.org/drawingml/2006/main" noGrp="1"/>
          </p:cNvSpPr>
          <p:nvPr/>
        </p:nvSpPr>
        <p:spPr>
          <a:xfrm xmlns:a="http://schemas.openxmlformats.org/drawingml/2006/main">
            <a:off x="685800" y="54483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Factual questions and mathematical reasoning  /  R analysis</a:t>
            </a:r>
          </a:p>
        </p:txBody>
      </p:sp>
      <p:sp>
        <p:nvSpPr>
          <p:cNvPr id="6" name="">
            <a:extLst xmlns:a="http://schemas.openxmlformats.org/drawingml/2006/main">
              <a:ext uri="{FF2B5EF4-FFF2-40B4-BE49-F238E27FC236}">
                <a16:creationId xmlns:a16="http://schemas.microsoft.com/office/drawing/2014/main" id="{2BAF2539-0603-4BD6-96FB-82C70814F116}"/>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a:t>
            </a:r>
          </a:p>
        </p:txBody>
      </p:sp>
    </p:spTree>
    <p:extLst>
      <p:ext uri="{BB962C8B-B14F-4D97-AF65-F5344CB8AC3E}">
        <p14:creationId xmlns:p14="http://schemas.microsoft.com/office/powerpoint/2010/main" val="626006611"/>
      </p:ext>
    </p:extLst>
  </p:cSld>
</p:sld>
</file>

<file path=ppt/slides/slide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FB233A1-536B-4342-8848-9845694E48B9}"/>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The classroom question</a:t>
            </a:r>
          </a:p>
        </p:txBody>
      </p:sp>
      <p:sp>
        <p:nvSpPr>
          <p:cNvPr id="2" name="">
            <a:extLst xmlns:a="http://schemas.openxmlformats.org/drawingml/2006/main">
              <a:ext uri="{FF2B5EF4-FFF2-40B4-BE49-F238E27FC236}">
                <a16:creationId xmlns:a16="http://schemas.microsoft.com/office/drawing/2014/main" id="{CB6428E0-9954-479B-A9E2-8A96C55FCF27}"/>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Professor LUO RUIBANG asked who would completely trust AI.</a:t>
            </a:r>
          </a:p>
        </p:txBody>
      </p:sp>
      <p:sp>
        <p:nvSpPr>
          <p:cNvPr id="3" name="">
            <a:extLst xmlns:a="http://schemas.openxmlformats.org/drawingml/2006/main">
              <a:ext uri="{FF2B5EF4-FFF2-40B4-BE49-F238E27FC236}">
                <a16:creationId xmlns:a16="http://schemas.microsoft.com/office/drawing/2014/main" id="{D256DE66-69B1-4121-B283-030BF67BBCD4}"/>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I raised my hand: I use multiple agents to cross-check answers.</a:t>
            </a:r>
          </a:p>
        </p:txBody>
      </p:sp>
      <p:sp>
        <p:nvSpPr>
          <p:cNvPr id="4" name="">
            <a:extLst xmlns:a="http://schemas.openxmlformats.org/drawingml/2006/main">
              <a:ext uri="{FF2B5EF4-FFF2-40B4-BE49-F238E27FC236}">
                <a16:creationId xmlns:a16="http://schemas.microsoft.com/office/drawing/2014/main" id="{A6D866AB-0BF7-4A76-892E-9E9E9A0E7EA0}"/>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That confidence led to a question: does the extra check actually help?</a:t>
            </a:r>
          </a:p>
        </p:txBody>
      </p:sp>
      <p:sp>
        <p:nvSpPr>
          <p:cNvPr id="5" name="">
            <a:extLst xmlns:a="http://schemas.openxmlformats.org/drawingml/2006/main">
              <a:ext uri="{FF2B5EF4-FFF2-40B4-BE49-F238E27FC236}">
                <a16:creationId xmlns:a16="http://schemas.microsoft.com/office/drawing/2014/main" id="{34D975B9-FA97-44B1-A4FD-DA561AC325FD}"/>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And what happens when the other model, or my own premise, is wrong?</a:t>
            </a:r>
          </a:p>
        </p:txBody>
      </p:sp>
      <p:sp>
        <p:nvSpPr>
          <p:cNvPr id="6" name="">
            <a:extLst xmlns:a="http://schemas.openxmlformats.org/drawingml/2006/main">
              <a:ext uri="{FF2B5EF4-FFF2-40B4-BE49-F238E27FC236}">
                <a16:creationId xmlns:a16="http://schemas.microsoft.com/office/drawing/2014/main" id="{6D69F52B-E9E3-4282-81DC-8828DE32BEDC}"/>
              </a:ext>
            </a:extLst>
          </p:cNvPr>
          <p:cNvSpPr>
            <a:spLocks xmlns:a="http://schemas.openxmlformats.org/drawingml/2006/main" noGrp="1"/>
          </p:cNvSpPr>
          <p:nvPr/>
        </p:nvSpPr>
        <p:spPr>
          <a:xfrm xmlns:a="http://schemas.openxmlformats.org/drawingml/2006/main">
            <a:off x="685800" y="58864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57586"/>
                </a:solidFill>
                <a:latin typeface="Helvetica Neue"/>
                <a:ea typeface="Helvetica Neue"/>
                <a:cs typeface="Helvetica Neue"/>
              </a:defRPr>
            </a:pPr>
            <a:r>
              <a:rPr sz="1650" b="0">
                <a:solidFill>
                  <a:srgbClr val="657586"/>
                </a:solidFill>
                <a:latin typeface="Helvetica Neue"/>
                <a:ea typeface="Helvetica Neue"/>
                <a:cs typeface="Helvetica Neue"/>
              </a:rPr>
              <a:t>Paraphrased from LINYUNIAN’s recollection of the class</a:t>
            </a:r>
          </a:p>
        </p:txBody>
      </p:sp>
      <p:sp>
        <p:nvSpPr>
          <p:cNvPr id="7" name="">
            <a:extLst xmlns:a="http://schemas.openxmlformats.org/drawingml/2006/main">
              <a:ext uri="{FF2B5EF4-FFF2-40B4-BE49-F238E27FC236}">
                <a16:creationId xmlns:a16="http://schemas.microsoft.com/office/drawing/2014/main" id="{34763C27-3F80-45C4-A892-5AAADDE3AB4F}"/>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2</a:t>
            </a:r>
          </a:p>
        </p:txBody>
      </p:sp>
    </p:spTree>
    <p:extLst>
      <p:ext uri="{BB962C8B-B14F-4D97-AF65-F5344CB8AC3E}">
        <p14:creationId xmlns:p14="http://schemas.microsoft.com/office/powerpoint/2010/main" val="833830208"/>
      </p:ext>
    </p:extLst>
  </p:cSld>
</p:sld>
</file>

<file path=ppt/slides/slide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A64BB14-9602-403D-9061-00AA90777BC8}"/>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Three parts of one reliability question</a:t>
            </a:r>
          </a:p>
        </p:txBody>
      </p:sp>
      <p:graphicFrame>
        <p:nvGraphicFramePr>
          <p:cNvPr id="7" name=""/>
          <p:cNvGraphicFramePr/>
          <p:nvPr/>
        </p:nvGraphicFramePr>
        <p:xfrm>
          <a:off xmlns:a="http://schemas.openxmlformats.org/drawingml/2006/main" x="685800" y="1571625"/>
          <a:ext xmlns:a="http://schemas.openxmlformats.org/drawingml/2006/main" cx="10820400" cy="3095625"/>
        </p:xfrm>
        <a:graphic xmlns:a="http://schemas.openxmlformats.org/drawingml/2006/main">
          <a:graphicData uri="http://schemas.openxmlformats.org/drawingml/2006/table">
            <a:tbl>
              <a:tblPr/>
              <a:tblGrid>
                <a:gridCol w="2667000"/>
                <a:gridCol w="4857750"/>
                <a:gridCol w="3295650"/>
              </a:tblGrid>
              <a:tr h="773906">
                <a:tc>
                  <a:txBody>
                    <a:bodyPr/>
                    <a:lstStyle/>
                    <a:p>
                      <a:r>
                        <a:rPr sz="1875" b="1">
                          <a:solidFill>
                            <a:srgbClr val="FFFFFF"/>
                          </a:solidFill>
                          <a:latin typeface="Helvetica Neue"/>
                          <a:ea typeface="Helvetica Neue"/>
                          <a:cs typeface="Helvetica Neue"/>
                        </a:rPr>
                        <a:t>Module</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Question</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Evidence</a:t>
                      </a:r>
                    </a:p>
                  </a:txBody>
                  <a:tcPr marL="91440" marR="91440" marT="45720" marB="45720">
                    <a:solidFill>
                      <a:srgbClr val="142C40"/>
                    </a:solidFill>
                  </a:tcPr>
                </a:tc>
              </a:tr>
              <a:tr h="773906">
                <a:tc>
                  <a:txBody>
                    <a:bodyPr/>
                    <a:lstStyle/>
                    <a:p>
                      <a:r>
                        <a:rPr sz="1875" b="0">
                          <a:solidFill>
                            <a:srgbClr val="142C40"/>
                          </a:solidFill>
                          <a:latin typeface="Helvetica Neue"/>
                          <a:ea typeface="Helvetica Neue"/>
                          <a:cs typeface="Helvetica Neue"/>
                        </a:rPr>
                        <a:t>A  Natural checking</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Does another model add value?</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49 questions / new follow-up</a:t>
                      </a:r>
                    </a:p>
                  </a:txBody>
                  <a:tcPr marL="91440" marR="91440" marT="45720" marB="45720">
                    <a:solidFill>
                      <a:srgbClr val="F0F4F7"/>
                    </a:solidFill>
                  </a:tcPr>
                </a:tc>
              </a:tr>
              <a:tr h="773906">
                <a:tc>
                  <a:txBody>
                    <a:bodyPr/>
                    <a:lstStyle/>
                    <a:p>
                      <a:r>
                        <a:rPr sz="1875" b="0">
                          <a:solidFill>
                            <a:srgbClr val="142C40"/>
                          </a:solidFill>
                          <a:latin typeface="Helvetica Neue"/>
                          <a:ea typeface="Helvetica Neue"/>
                          <a:cs typeface="Helvetica Neue"/>
                        </a:rPr>
                        <a:t>B  Misleading advice</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Can a wrong suggestion spread?</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120 factual questions</a:t>
                      </a:r>
                    </a:p>
                  </a:txBody>
                  <a:tcPr marL="91440" marR="91440" marT="45720" marB="45720">
                    <a:solidFill>
                      <a:srgbClr val="FFFFFF"/>
                    </a:solidFill>
                  </a:tcPr>
                </a:tc>
              </a:tr>
              <a:tr h="773906">
                <a:tc>
                  <a:txBody>
                    <a:bodyPr/>
                    <a:lstStyle/>
                    <a:p>
                      <a:r>
                        <a:rPr sz="1875" b="0">
                          <a:solidFill>
                            <a:srgbClr val="142C40"/>
                          </a:solidFill>
                          <a:latin typeface="Helvetica Neue"/>
                          <a:ea typeface="Helvetica Neue"/>
                          <a:cs typeface="Helvetica Neue"/>
                        </a:rPr>
                        <a:t>C  Structured checking</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Can explicit checking reduce harm?</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Matched advice comparisons</a:t>
                      </a:r>
                    </a:p>
                  </a:txBody>
                  <a:tcPr marL="91440" marR="91440" marT="45720" marB="45720">
                    <a:solidFill>
                      <a:srgbClr val="F0F4F7"/>
                    </a:solidFill>
                  </a:tcPr>
                </a:tc>
              </a:tr>
            </a:tbl>
          </a:graphicData>
        </a:graphic>
      </p:graphicFrame>
      <p:sp>
        <p:nvSpPr>
          <p:cNvPr id="3" name="">
            <a:extLst xmlns:a="http://schemas.openxmlformats.org/drawingml/2006/main">
              <a:ext uri="{FF2B5EF4-FFF2-40B4-BE49-F238E27FC236}">
                <a16:creationId xmlns:a16="http://schemas.microsoft.com/office/drawing/2014/main" id="{25861751-6CF9-4E26-A22F-B20FDF74129C}"/>
              </a:ext>
            </a:extLst>
          </p:cNvPr>
          <p:cNvSpPr>
            <a:spLocks xmlns:a="http://schemas.openxmlformats.org/drawingml/2006/main" noGrp="1"/>
          </p:cNvSpPr>
          <p:nvPr/>
        </p:nvSpPr>
        <p:spPr>
          <a:xfrm xmlns:a="http://schemas.openxmlformats.org/drawingml/2006/main">
            <a:off x="685800" y="50958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7E77"/>
                </a:solidFill>
                <a:latin typeface="Helvetica Neue"/>
                <a:ea typeface="Helvetica Neue"/>
                <a:cs typeface="Helvetica Neue"/>
              </a:defRPr>
            </a:pPr>
            <a:r>
              <a:rPr sz="2250" b="1">
                <a:solidFill>
                  <a:srgbClr val="147E77"/>
                </a:solidFill>
                <a:latin typeface="Helvetica Neue"/>
                <a:ea typeface="Helvetica Neue"/>
                <a:cs typeface="Helvetica Neue"/>
              </a:rPr>
              <a:t>Facts and mathematics are analysed separately.</a:t>
            </a:r>
          </a:p>
        </p:txBody>
      </p:sp>
      <p:sp>
        <p:nvSpPr>
          <p:cNvPr id="4" name="">
            <a:extLst xmlns:a="http://schemas.openxmlformats.org/drawingml/2006/main">
              <a:ext uri="{FF2B5EF4-FFF2-40B4-BE49-F238E27FC236}">
                <a16:creationId xmlns:a16="http://schemas.microsoft.com/office/drawing/2014/main" id="{870CC830-E9D7-48B4-93C6-770838415C38}"/>
              </a:ext>
            </a:extLst>
          </p:cNvPr>
          <p:cNvSpPr>
            <a:spLocks xmlns:a="http://schemas.openxmlformats.org/drawingml/2006/main" noGrp="1"/>
          </p:cNvSpPr>
          <p:nvPr/>
        </p:nvSpPr>
        <p:spPr>
          <a:xfrm xmlns:a="http://schemas.openxmlformats.org/drawingml/2006/main">
            <a:off x="685800" y="57340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A is post hoc on previously studied questions. Original B/C endpoints are retained.</a:t>
            </a:r>
          </a:p>
        </p:txBody>
      </p:sp>
      <p:sp>
        <p:nvSpPr>
          <p:cNvPr id="5" name="">
            <a:extLst xmlns:a="http://schemas.openxmlformats.org/drawingml/2006/main">
              <a:ext uri="{FF2B5EF4-FFF2-40B4-BE49-F238E27FC236}">
                <a16:creationId xmlns:a16="http://schemas.microsoft.com/office/drawing/2014/main" id="{1F700077-9D89-4F2B-8D1D-90523AB3361D}"/>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3</a:t>
            </a:r>
          </a:p>
        </p:txBody>
      </p:sp>
    </p:spTree>
    <p:extLst>
      <p:ext uri="{BB962C8B-B14F-4D97-AF65-F5344CB8AC3E}">
        <p14:creationId xmlns:p14="http://schemas.microsoft.com/office/powerpoint/2010/main" val="616967776"/>
      </p:ext>
    </p:extLst>
  </p:cSld>
</p:sld>
</file>

<file path=ppt/slides/slide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7AFA919-DC55-430D-96E3-4CFA7C53B397}"/>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  Natural cross-checking design</a:t>
            </a:r>
          </a:p>
        </p:txBody>
      </p:sp>
      <p:graphicFrame>
        <p:nvGraphicFramePr>
          <p:cNvPr id="7" name=""/>
          <p:cNvGraphicFramePr/>
          <p:nvPr/>
        </p:nvGraphicFramePr>
        <p:xfrm>
          <a:off xmlns:a="http://schemas.openxmlformats.org/drawingml/2006/main" x="685800" y="1571625"/>
          <a:ext xmlns:a="http://schemas.openxmlformats.org/drawingml/2006/main" cx="10820400" cy="3333750"/>
        </p:xfrm>
        <a:graphic xmlns:a="http://schemas.openxmlformats.org/drawingml/2006/main">
          <a:graphicData uri="http://schemas.openxmlformats.org/drawingml/2006/table">
            <a:tbl>
              <a:tblPr/>
              <a:tblGrid>
                <a:gridCol w="1428750"/>
                <a:gridCol w="5619750"/>
                <a:gridCol w="3771900"/>
              </a:tblGrid>
              <a:tr h="666750">
                <a:tc>
                  <a:txBody>
                    <a:bodyPr/>
                    <a:lstStyle/>
                    <a:p>
                      <a:r>
                        <a:rPr sz="1875" b="1">
                          <a:solidFill>
                            <a:srgbClr val="FFFFFF"/>
                          </a:solidFill>
                          <a:latin typeface="Helvetica Neue"/>
                          <a:ea typeface="Helvetica Neue"/>
                          <a:cs typeface="Helvetica Neue"/>
                        </a:rPr>
                        <a:t>Group</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Information</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Action</a:t>
                      </a:r>
                    </a:p>
                  </a:txBody>
                  <a:tcPr marL="91440" marR="91440" marT="45720" marB="45720">
                    <a:solidFill>
                      <a:srgbClr val="142C40"/>
                    </a:solidFill>
                  </a:tcPr>
                </a:tc>
              </a:tr>
              <a:tr h="666750">
                <a:tc>
                  <a:txBody>
                    <a:bodyPr/>
                    <a:lstStyle/>
                    <a:p>
                      <a:r>
                        <a:rPr sz="1875" b="0">
                          <a:solidFill>
                            <a:srgbClr val="142C40"/>
                          </a:solidFill>
                          <a:latin typeface="Helvetica Neue"/>
                          <a:ea typeface="Helvetica Neue"/>
                          <a:cs typeface="Helvetica Neue"/>
                        </a:rPr>
                        <a:t>N0</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Original question</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Independent initial answer</a:t>
                      </a:r>
                    </a:p>
                  </a:txBody>
                  <a:tcPr marL="91440" marR="91440" marT="45720" marB="45720">
                    <a:solidFill>
                      <a:srgbClr val="F0F4F7"/>
                    </a:solidFill>
                  </a:tcPr>
                </a:tc>
              </a:tr>
              <a:tr h="666750">
                <a:tc>
                  <a:txBody>
                    <a:bodyPr/>
                    <a:lstStyle/>
                    <a:p>
                      <a:r>
                        <a:rPr sz="1875" b="0">
                          <a:solidFill>
                            <a:srgbClr val="142C40"/>
                          </a:solidFill>
                          <a:latin typeface="Helvetica Neue"/>
                          <a:ea typeface="Helvetica Neue"/>
                          <a:cs typeface="Helvetica Neue"/>
                        </a:rPr>
                        <a:t>N1</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Question + own N0</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Self-check</a:t>
                      </a:r>
                    </a:p>
                  </a:txBody>
                  <a:tcPr marL="91440" marR="91440" marT="45720" marB="45720">
                    <a:solidFill>
                      <a:srgbClr val="FFFFFF"/>
                    </a:solidFill>
                  </a:tcPr>
                </a:tc>
              </a:tr>
              <a:tr h="666750">
                <a:tc>
                  <a:txBody>
                    <a:bodyPr/>
                    <a:lstStyle/>
                    <a:p>
                      <a:r>
                        <a:rPr sz="1875" b="0">
                          <a:solidFill>
                            <a:srgbClr val="142C40"/>
                          </a:solidFill>
                          <a:latin typeface="Helvetica Neue"/>
                          <a:ea typeface="Helvetica Neue"/>
                          <a:cs typeface="Helvetica Neue"/>
                        </a:rPr>
                        <a:t>N2</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Same N0 + another model’s natural answer</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Peer-check</a:t>
                      </a:r>
                    </a:p>
                  </a:txBody>
                  <a:tcPr marL="91440" marR="91440" marT="45720" marB="45720">
                    <a:solidFill>
                      <a:srgbClr val="F0F4F7"/>
                    </a:solidFill>
                  </a:tcPr>
                </a:tc>
              </a:tr>
              <a:tr h="666750">
                <a:tc>
                  <a:txBody>
                    <a:bodyPr/>
                    <a:lstStyle/>
                    <a:p>
                      <a:r>
                        <a:rPr sz="1875" b="0">
                          <a:solidFill>
                            <a:srgbClr val="142C40"/>
                          </a:solidFill>
                          <a:latin typeface="Helvetica Neue"/>
                          <a:ea typeface="Helvetica Neue"/>
                          <a:cs typeface="Helvetica Neue"/>
                        </a:rPr>
                        <a:t>N3</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Identical N2 peer material</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Structured peer-check</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0C429F77-B5B5-438A-87B4-647895EA58B6}"/>
              </a:ext>
            </a:extLst>
          </p:cNvPr>
          <p:cNvSpPr>
            <a:spLocks xmlns:a="http://schemas.openxmlformats.org/drawingml/2006/main" noGrp="1"/>
          </p:cNvSpPr>
          <p:nvPr/>
        </p:nvSpPr>
        <p:spPr>
          <a:xfrm xmlns:a="http://schemas.openxmlformats.org/drawingml/2006/main">
            <a:off x="685800" y="51720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47E77"/>
                </a:solidFill>
                <a:latin typeface="Helvetica Neue"/>
                <a:ea typeface="Helvetica Neue"/>
                <a:cs typeface="Helvetica Neue"/>
              </a:defRPr>
            </a:pPr>
            <a:r>
              <a:rPr sz="2325" b="1">
                <a:solidFill>
                  <a:srgbClr val="147E77"/>
                </a:solidFill>
                <a:latin typeface="Helvetica Neue"/>
                <a:ea typeface="Helvetica Neue"/>
                <a:cs typeface="Helvetica Neue"/>
              </a:rPr>
              <a:t>Primary comparison: N2 versus N1</a:t>
            </a:r>
          </a:p>
        </p:txBody>
      </p:sp>
      <p:sp>
        <p:nvSpPr>
          <p:cNvPr id="4" name="">
            <a:extLst xmlns:a="http://schemas.openxmlformats.org/drawingml/2006/main">
              <a:ext uri="{FF2B5EF4-FFF2-40B4-BE49-F238E27FC236}">
                <a16:creationId xmlns:a16="http://schemas.microsoft.com/office/drawing/2014/main" id="{58E11FE6-B052-407D-98D4-1E86B376B5C9}"/>
              </a:ext>
            </a:extLst>
          </p:cNvPr>
          <p:cNvSpPr>
            <a:spLocks xmlns:a="http://schemas.openxmlformats.org/drawingml/2006/main" noGrp="1"/>
          </p:cNvSpPr>
          <p:nvPr/>
        </p:nvSpPr>
        <p:spPr>
          <a:xfrm xmlns:a="http://schemas.openxmlformats.org/drawingml/2006/main">
            <a:off x="685800" y="58102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One receiving-model revision per branch. No assigned truth targets or search tools.</a:t>
            </a:r>
          </a:p>
        </p:txBody>
      </p:sp>
      <p:sp>
        <p:nvSpPr>
          <p:cNvPr id="5" name="">
            <a:extLst xmlns:a="http://schemas.openxmlformats.org/drawingml/2006/main">
              <a:ext uri="{FF2B5EF4-FFF2-40B4-BE49-F238E27FC236}">
                <a16:creationId xmlns:a16="http://schemas.microsoft.com/office/drawing/2014/main" id="{F6406AE2-828A-424D-BF66-B97E61CEA58F}"/>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4</a:t>
            </a:r>
          </a:p>
        </p:txBody>
      </p:sp>
    </p:spTree>
    <p:extLst>
      <p:ext uri="{BB962C8B-B14F-4D97-AF65-F5344CB8AC3E}">
        <p14:creationId xmlns:p14="http://schemas.microsoft.com/office/powerpoint/2010/main" val="1291016882"/>
      </p:ext>
    </p:extLst>
  </p:cSld>
</p:sld>
</file>

<file path=ppt/slides/slide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23E54C-7204-44D1-8B3C-9BDDEB80B942}"/>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  Natural checking: factual error</a:t>
            </a:r>
          </a:p>
        </p:txBody>
      </p:sp>
      <p:graphicFrame>
        <p:nvGraphicFramePr>
          <p:cNvPr id="7" name="Chart"/>
          <p:cNvGraphicFramePr/>
          <p:nvPr/>
        </p:nvGraphicFramePr>
        <p:xfrm>
          <a:off xmlns:a="http://schemas.openxmlformats.org/drawingml/2006/main" x="838200" y="1714500"/>
          <a:ext xmlns:a="http://schemas.openxmlformats.org/drawingml/2006/main" cx="10477500" cy="3333750"/>
        </p:xfrm>
        <a:graphic xmlns:a="http://schemas.openxmlformats.org/drawingml/2006/main">
          <a:graphicData uri="http://schemas.openxmlformats.org/drawingml/2006/chart">
            <c:chart xmlns:r="http://schemas.openxmlformats.org/officeDocument/2006/relationships" xmlns:c="http://schemas.openxmlformats.org/drawingml/2006/chart" r:id="R706b401b592648e8"/>
          </a:graphicData>
        </a:graphic>
      </p:graphicFrame>
      <p:sp>
        <p:nvSpPr>
          <p:cNvPr id="3" name="">
            <a:extLst xmlns:a="http://schemas.openxmlformats.org/drawingml/2006/main">
              <a:ext uri="{FF2B5EF4-FFF2-40B4-BE49-F238E27FC236}">
                <a16:creationId xmlns:a16="http://schemas.microsoft.com/office/drawing/2014/main" id="{12D8A9B4-3D15-4C69-9B4C-9616E4B5DE38}"/>
              </a:ext>
            </a:extLst>
          </p:cNvPr>
          <p:cNvSpPr>
            <a:spLocks xmlns:a="http://schemas.openxmlformats.org/drawingml/2006/main" noGrp="1"/>
          </p:cNvSpPr>
          <p:nvPr/>
        </p:nvSpPr>
        <p:spPr>
          <a:xfrm xmlns:a="http://schemas.openxmlformats.org/drawingml/2006/main">
            <a:off x="685800" y="5257800"/>
            <a:ext cx="10810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7E77"/>
                </a:solidFill>
                <a:latin typeface="Helvetica Neue"/>
                <a:ea typeface="Helvetica Neue"/>
                <a:cs typeface="Helvetica Neue"/>
              </a:defRPr>
            </a:pPr>
            <a:r>
              <a:rPr sz="2025" b="1">
                <a:solidFill>
                  <a:srgbClr val="147E77"/>
                </a:solidFill>
                <a:latin typeface="Helvetica Neue"/>
                <a:ea typeface="Helvetica Neue"/>
                <a:cs typeface="Helvetica Neue"/>
              </a:rPr>
              <a:t>Primary pairs: -4.90 pp; 95% interval [-16.19, 5.94]</a:t>
            </a:r>
          </a:p>
        </p:txBody>
      </p:sp>
      <p:sp>
        <p:nvSpPr>
          <p:cNvPr id="4" name="">
            <a:extLst xmlns:a="http://schemas.openxmlformats.org/drawingml/2006/main">
              <a:ext uri="{FF2B5EF4-FFF2-40B4-BE49-F238E27FC236}">
                <a16:creationId xmlns:a16="http://schemas.microsoft.com/office/drawing/2014/main" id="{EB139A33-92C5-43C1-937B-9DED4490D119}"/>
              </a:ext>
            </a:extLst>
          </p:cNvPr>
          <p:cNvSpPr>
            <a:spLocks xmlns:a="http://schemas.openxmlformats.org/drawingml/2006/main" noGrp="1"/>
          </p:cNvSpPr>
          <p:nvPr/>
        </p:nvSpPr>
        <p:spPr>
          <a:xfrm xmlns:a="http://schemas.openxmlformats.org/drawingml/2006/main">
            <a:off x="685800" y="5838825"/>
            <a:ext cx="1081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586"/>
                </a:solidFill>
                <a:latin typeface="Helvetica Neue"/>
                <a:ea typeface="Helvetica Neue"/>
                <a:cs typeface="Helvetica Neue"/>
              </a:defRPr>
            </a:pPr>
            <a:r>
              <a:rPr sz="1725" b="0">
                <a:solidFill>
                  <a:srgbClr val="657586"/>
                </a:solidFill>
                <a:latin typeface="Helvetica Neue"/>
                <a:ea typeface="Helvetica Neue"/>
                <a:cs typeface="Helvetica Neue"/>
              </a:rPr>
              <a:t>Bars: 101 common units, peer − self = −3.96 pp. Primary pairs: n=102.</a:t>
            </a:r>
          </a:p>
        </p:txBody>
      </p:sp>
      <p:sp>
        <p:nvSpPr>
          <p:cNvPr id="5" name="">
            <a:extLst xmlns:a="http://schemas.openxmlformats.org/drawingml/2006/main">
              <a:ext uri="{FF2B5EF4-FFF2-40B4-BE49-F238E27FC236}">
                <a16:creationId xmlns:a16="http://schemas.microsoft.com/office/drawing/2014/main" id="{337527C2-F612-41DC-93C8-B228635F4AAE}"/>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5</a:t>
            </a:r>
          </a:p>
        </p:txBody>
      </p:sp>
    </p:spTree>
    <p:extLst>
      <p:ext uri="{BB962C8B-B14F-4D97-AF65-F5344CB8AC3E}">
        <p14:creationId xmlns:p14="http://schemas.microsoft.com/office/powerpoint/2010/main" val="1652210963"/>
      </p:ext>
    </p:extLst>
  </p:cSld>
</p:sld>
</file>

<file path=ppt/slides/slide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E192760-2F6B-407D-B421-D6E16D0A597F}"/>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  Natural checking: mathematical error</a:t>
            </a:r>
          </a:p>
        </p:txBody>
      </p:sp>
      <p:graphicFrame>
        <p:nvGraphicFramePr>
          <p:cNvPr id="7" name="Chart"/>
          <p:cNvGraphicFramePr/>
          <p:nvPr/>
        </p:nvGraphicFramePr>
        <p:xfrm>
          <a:off xmlns:a="http://schemas.openxmlformats.org/drawingml/2006/main" x="838200" y="1714500"/>
          <a:ext xmlns:a="http://schemas.openxmlformats.org/drawingml/2006/main" cx="10477500" cy="3333750"/>
        </p:xfrm>
        <a:graphic xmlns:a="http://schemas.openxmlformats.org/drawingml/2006/main">
          <a:graphicData uri="http://schemas.openxmlformats.org/drawingml/2006/chart">
            <c:chart xmlns:r="http://schemas.openxmlformats.org/officeDocument/2006/relationships" xmlns:c="http://schemas.openxmlformats.org/drawingml/2006/chart" r:id="R3c4586d542b54df1"/>
          </a:graphicData>
        </a:graphic>
      </p:graphicFrame>
      <p:sp>
        <p:nvSpPr>
          <p:cNvPr id="3" name="">
            <a:extLst xmlns:a="http://schemas.openxmlformats.org/drawingml/2006/main">
              <a:ext uri="{FF2B5EF4-FFF2-40B4-BE49-F238E27FC236}">
                <a16:creationId xmlns:a16="http://schemas.microsoft.com/office/drawing/2014/main" id="{640250EF-42CD-45C1-B129-3AF28FA2F92F}"/>
              </a:ext>
            </a:extLst>
          </p:cNvPr>
          <p:cNvSpPr>
            <a:spLocks xmlns:a="http://schemas.openxmlformats.org/drawingml/2006/main" noGrp="1"/>
          </p:cNvSpPr>
          <p:nvPr/>
        </p:nvSpPr>
        <p:spPr>
          <a:xfrm xmlns:a="http://schemas.openxmlformats.org/drawingml/2006/main">
            <a:off x="685800" y="5257800"/>
            <a:ext cx="10810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7E77"/>
                </a:solidFill>
                <a:latin typeface="Helvetica Neue"/>
                <a:ea typeface="Helvetica Neue"/>
                <a:cs typeface="Helvetica Neue"/>
              </a:defRPr>
            </a:pPr>
            <a:r>
              <a:rPr sz="2025" b="1">
                <a:solidFill>
                  <a:srgbClr val="147E77"/>
                </a:solidFill>
                <a:latin typeface="Helvetica Neue"/>
                <a:ea typeface="Helvetica Neue"/>
                <a:cs typeface="Helvetica Neue"/>
              </a:rPr>
              <a:t>Peer minus self: -5.41 pp; descriptive comparison</a:t>
            </a:r>
          </a:p>
        </p:txBody>
      </p:sp>
      <p:sp>
        <p:nvSpPr>
          <p:cNvPr id="4" name="">
            <a:extLst xmlns:a="http://schemas.openxmlformats.org/drawingml/2006/main">
              <a:ext uri="{FF2B5EF4-FFF2-40B4-BE49-F238E27FC236}">
                <a16:creationId xmlns:a16="http://schemas.microsoft.com/office/drawing/2014/main" id="{0B2BEF88-C745-47CF-B613-3BE4CC64E710}"/>
              </a:ext>
            </a:extLst>
          </p:cNvPr>
          <p:cNvSpPr>
            <a:spLocks xmlns:a="http://schemas.openxmlformats.org/drawingml/2006/main" noGrp="1"/>
          </p:cNvSpPr>
          <p:nvPr/>
        </p:nvSpPr>
        <p:spPr>
          <a:xfrm xmlns:a="http://schemas.openxmlformats.org/drawingml/2006/main">
            <a:off x="685800" y="5819775"/>
            <a:ext cx="10810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586"/>
                </a:solidFill>
                <a:latin typeface="Helvetica Neue"/>
                <a:ea typeface="Helvetica Neue"/>
                <a:cs typeface="Helvetica Neue"/>
              </a:defRPr>
            </a:pPr>
            <a:r>
              <a:rPr sz="1725" b="0">
                <a:solidFill>
                  <a:srgbClr val="657586"/>
                </a:solidFill>
                <a:latin typeface="Helvetica Neue"/>
                <a:ea typeface="Helvetica Neue"/>
                <a:cs typeface="Helvetica Neue"/>
              </a:rPr>
              <a:t>13 items, n=37. Eight of ten N0 errors had correct reasoning endpoints.</a:t>
            </a:r>
          </a:p>
        </p:txBody>
      </p:sp>
      <p:sp>
        <p:nvSpPr>
          <p:cNvPr id="5" name="">
            <a:extLst xmlns:a="http://schemas.openxmlformats.org/drawingml/2006/main">
              <a:ext uri="{FF2B5EF4-FFF2-40B4-BE49-F238E27FC236}">
                <a16:creationId xmlns:a16="http://schemas.microsoft.com/office/drawing/2014/main" id="{254B0B3B-E222-419C-8E96-27BE6F56EC02}"/>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6</a:t>
            </a:r>
          </a:p>
        </p:txBody>
      </p:sp>
    </p:spTree>
    <p:extLst>
      <p:ext uri="{BB962C8B-B14F-4D97-AF65-F5344CB8AC3E}">
        <p14:creationId xmlns:p14="http://schemas.microsoft.com/office/powerpoint/2010/main" val="194111306"/>
      </p:ext>
    </p:extLst>
  </p:cSld>
</p:sld>
</file>

<file path=ppt/slides/slide7.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2ACC01-3F2A-4106-B854-718237F26779}"/>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  Which factual answers changed?</a:t>
            </a:r>
          </a:p>
        </p:txBody>
      </p:sp>
      <p:graphicFrame>
        <p:nvGraphicFramePr>
          <p:cNvPr id="8" name=""/>
          <p:cNvGraphicFramePr/>
          <p:nvPr/>
        </p:nvGraphicFramePr>
        <p:xfrm>
          <a:off xmlns:a="http://schemas.openxmlformats.org/drawingml/2006/main" x="685800" y="1857375"/>
          <a:ext xmlns:a="http://schemas.openxmlformats.org/drawingml/2006/main" cx="10820400" cy="2762250"/>
        </p:xfrm>
        <a:graphic xmlns:a="http://schemas.openxmlformats.org/drawingml/2006/main">
          <a:graphicData uri="http://schemas.openxmlformats.org/drawingml/2006/table">
            <a:tbl>
              <a:tblPr/>
              <a:tblGrid>
                <a:gridCol w="2619375"/>
                <a:gridCol w="2733675"/>
                <a:gridCol w="2733675"/>
                <a:gridCol w="2733675"/>
              </a:tblGrid>
              <a:tr h="690563">
                <a:tc>
                  <a:txBody>
                    <a:bodyPr/>
                    <a:lstStyle/>
                    <a:p>
                      <a:r>
                        <a:rPr sz="2175" b="1">
                          <a:solidFill>
                            <a:srgbClr val="FFFFFF"/>
                          </a:solidFill>
                          <a:latin typeface="Helvetica Neue"/>
                          <a:ea typeface="Helvetica Neue"/>
                          <a:cs typeface="Helvetica Neue"/>
                        </a:rPr>
                        <a:t>Self-check</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Peer correct</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Peer wrong</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Peer abstain</a:t>
                      </a:r>
                    </a:p>
                  </a:txBody>
                  <a:tcPr marL="91440" marR="91440" marT="45720" marB="45720">
                    <a:solidFill>
                      <a:srgbClr val="142C40"/>
                    </a:solidFill>
                  </a:tcPr>
                </a:tc>
              </a:tr>
              <a:tr h="690563">
                <a:tc>
                  <a:txBody>
                    <a:bodyPr/>
                    <a:lstStyle/>
                    <a:p>
                      <a:r>
                        <a:rPr sz="2175" b="0">
                          <a:solidFill>
                            <a:srgbClr val="142C40"/>
                          </a:solidFill>
                          <a:latin typeface="Helvetica Neue"/>
                          <a:ea typeface="Helvetica Neue"/>
                          <a:cs typeface="Helvetica Neue"/>
                        </a:rPr>
                        <a:t>Correct</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15</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0</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3</a:t>
                      </a:r>
                    </a:p>
                  </a:txBody>
                  <a:tcPr marL="91440" marR="91440" marT="45720" marB="45720">
                    <a:solidFill>
                      <a:srgbClr val="F0F4F7"/>
                    </a:solidFill>
                  </a:tcPr>
                </a:tc>
              </a:tr>
              <a:tr h="690563">
                <a:tc>
                  <a:txBody>
                    <a:bodyPr/>
                    <a:lstStyle/>
                    <a:p>
                      <a:r>
                        <a:rPr sz="2175" b="0">
                          <a:solidFill>
                            <a:srgbClr val="142C40"/>
                          </a:solidFill>
                          <a:latin typeface="Helvetica Neue"/>
                          <a:ea typeface="Helvetica Neue"/>
                          <a:cs typeface="Helvetica Neue"/>
                        </a:rPr>
                        <a:t>Wrong</a:t>
                      </a:r>
                    </a:p>
                  </a:txBody>
                  <a:tcPr marL="91440" marR="91440" marT="45720" marB="45720">
                    <a:solidFill>
                      <a:srgbClr val="FFFFFF"/>
                    </a:solidFill>
                  </a:tcPr>
                </a:tc>
                <a:tc>
                  <a:txBody>
                    <a:bodyPr/>
                    <a:lstStyle/>
                    <a:p>
                      <a:r>
                        <a:rPr sz="2175" b="0">
                          <a:solidFill>
                            <a:srgbClr val="142C40"/>
                          </a:solidFill>
                          <a:latin typeface="Helvetica Neue"/>
                          <a:ea typeface="Helvetica Neue"/>
                          <a:cs typeface="Helvetica Neue"/>
                        </a:rPr>
                        <a:t>6</a:t>
                      </a:r>
                    </a:p>
                  </a:txBody>
                  <a:tcPr marL="91440" marR="91440" marT="45720" marB="45720">
                    <a:solidFill>
                      <a:srgbClr val="FFFFFF"/>
                    </a:solidFill>
                  </a:tcPr>
                </a:tc>
                <a:tc>
                  <a:txBody>
                    <a:bodyPr/>
                    <a:lstStyle/>
                    <a:p>
                      <a:r>
                        <a:rPr sz="2175" b="0">
                          <a:solidFill>
                            <a:srgbClr val="142C40"/>
                          </a:solidFill>
                          <a:latin typeface="Helvetica Neue"/>
                          <a:ea typeface="Helvetica Neue"/>
                          <a:cs typeface="Helvetica Neue"/>
                        </a:rPr>
                        <a:t>24</a:t>
                      </a:r>
                    </a:p>
                  </a:txBody>
                  <a:tcPr marL="91440" marR="91440" marT="45720" marB="45720">
                    <a:solidFill>
                      <a:srgbClr val="FFFFFF"/>
                    </a:solidFill>
                  </a:tcPr>
                </a:tc>
                <a:tc>
                  <a:txBody>
                    <a:bodyPr/>
                    <a:lstStyle/>
                    <a:p>
                      <a:r>
                        <a:rPr sz="2175" b="0">
                          <a:solidFill>
                            <a:srgbClr val="142C40"/>
                          </a:solidFill>
                          <a:latin typeface="Helvetica Neue"/>
                          <a:ea typeface="Helvetica Neue"/>
                          <a:cs typeface="Helvetica Neue"/>
                        </a:rPr>
                        <a:t>10</a:t>
                      </a:r>
                    </a:p>
                  </a:txBody>
                  <a:tcPr marL="91440" marR="91440" marT="45720" marB="45720">
                    <a:solidFill>
                      <a:srgbClr val="FFFFFF"/>
                    </a:solidFill>
                  </a:tcPr>
                </a:tc>
              </a:tr>
              <a:tr h="690563">
                <a:tc>
                  <a:txBody>
                    <a:bodyPr/>
                    <a:lstStyle/>
                    <a:p>
                      <a:r>
                        <a:rPr sz="2175" b="0">
                          <a:solidFill>
                            <a:srgbClr val="142C40"/>
                          </a:solidFill>
                          <a:latin typeface="Helvetica Neue"/>
                          <a:ea typeface="Helvetica Neue"/>
                          <a:cs typeface="Helvetica Neue"/>
                        </a:rPr>
                        <a:t>Abstain</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9</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11</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24</a:t>
                      </a:r>
                    </a:p>
                  </a:txBody>
                  <a:tcPr marL="91440" marR="91440" marT="45720" marB="45720">
                    <a:solidFill>
                      <a:srgbClr val="F0F4F7"/>
                    </a:solidFill>
                  </a:tcPr>
                </a:tc>
              </a:tr>
            </a:tbl>
          </a:graphicData>
        </a:graphic>
      </p:graphicFrame>
      <p:sp>
        <p:nvSpPr>
          <p:cNvPr id="3" name="">
            <a:extLst xmlns:a="http://schemas.openxmlformats.org/drawingml/2006/main">
              <a:ext uri="{FF2B5EF4-FFF2-40B4-BE49-F238E27FC236}">
                <a16:creationId xmlns:a16="http://schemas.microsoft.com/office/drawing/2014/main" id="{7A471D80-AD4F-4622-9C8E-C493EB18CB94}"/>
              </a:ext>
            </a:extLst>
          </p:cNvPr>
          <p:cNvSpPr>
            <a:spLocks xmlns:a="http://schemas.openxmlformats.org/drawingml/2006/main" noGrp="1"/>
          </p:cNvSpPr>
          <p:nvPr/>
        </p:nvSpPr>
        <p:spPr>
          <a:xfrm xmlns:a="http://schemas.openxmlformats.org/drawingml/2006/main">
            <a:off x="685800" y="13716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Rows: self-check N1  /  Columns: natural peer-check N2</a:t>
            </a:r>
          </a:p>
        </p:txBody>
      </p:sp>
      <p:sp>
        <p:nvSpPr>
          <p:cNvPr id="4" name="">
            <a:extLst xmlns:a="http://schemas.openxmlformats.org/drawingml/2006/main">
              <a:ext uri="{FF2B5EF4-FFF2-40B4-BE49-F238E27FC236}">
                <a16:creationId xmlns:a16="http://schemas.microsoft.com/office/drawing/2014/main" id="{EFD69B6A-8FE8-4020-A720-D2BD68574755}"/>
              </a:ext>
            </a:extLst>
          </p:cNvPr>
          <p:cNvSpPr>
            <a:spLocks xmlns:a="http://schemas.openxmlformats.org/drawingml/2006/main" noGrp="1"/>
          </p:cNvSpPr>
          <p:nvPr/>
        </p:nvSpPr>
        <p:spPr>
          <a:xfrm xmlns:a="http://schemas.openxmlformats.org/drawingml/2006/main">
            <a:off x="685800" y="50768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7E77"/>
                </a:solidFill>
                <a:latin typeface="Helvetica Neue"/>
                <a:ea typeface="Helvetica Neue"/>
                <a:cs typeface="Helvetica Neue"/>
              </a:defRPr>
            </a:pPr>
            <a:r>
              <a:rPr sz="2250" b="1">
                <a:solidFill>
                  <a:srgbClr val="147E77"/>
                </a:solidFill>
                <a:latin typeface="Helvetica Neue"/>
                <a:ea typeface="Helvetica Neue"/>
                <a:cs typeface="Helvetica Neue"/>
              </a:rPr>
              <a:t>Both helpful and harmful changes count.</a:t>
            </a:r>
          </a:p>
        </p:txBody>
      </p:sp>
      <p:sp>
        <p:nvSpPr>
          <p:cNvPr id="5" name="">
            <a:extLst xmlns:a="http://schemas.openxmlformats.org/drawingml/2006/main">
              <a:ext uri="{FF2B5EF4-FFF2-40B4-BE49-F238E27FC236}">
                <a16:creationId xmlns:a16="http://schemas.microsoft.com/office/drawing/2014/main" id="{39297C25-B294-4869-8E05-570C32F007C8}"/>
              </a:ext>
            </a:extLst>
          </p:cNvPr>
          <p:cNvSpPr>
            <a:spLocks xmlns:a="http://schemas.openxmlformats.org/drawingml/2006/main" noGrp="1"/>
          </p:cNvSpPr>
          <p:nvPr/>
        </p:nvSpPr>
        <p:spPr>
          <a:xfrm xmlns:a="http://schemas.openxmlformats.org/drawingml/2006/main">
            <a:off x="685800" y="57340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These are paired parallel branches. An uncertain model can also be led into error.</a:t>
            </a:r>
          </a:p>
        </p:txBody>
      </p:sp>
      <p:sp>
        <p:nvSpPr>
          <p:cNvPr id="6" name="">
            <a:extLst xmlns:a="http://schemas.openxmlformats.org/drawingml/2006/main">
              <a:ext uri="{FF2B5EF4-FFF2-40B4-BE49-F238E27FC236}">
                <a16:creationId xmlns:a16="http://schemas.microsoft.com/office/drawing/2014/main" id="{CF1F4408-AB94-4325-AD84-F7630EA53080}"/>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7</a:t>
            </a:r>
          </a:p>
        </p:txBody>
      </p:sp>
    </p:spTree>
    <p:extLst>
      <p:ext uri="{BB962C8B-B14F-4D97-AF65-F5344CB8AC3E}">
        <p14:creationId xmlns:p14="http://schemas.microsoft.com/office/powerpoint/2010/main" val="1240011327"/>
      </p:ext>
    </p:extLst>
  </p:cSld>
</p:sld>
</file>

<file path=ppt/slides/slide8.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4F01364-E0DD-41B4-B86D-D307E62FD339}"/>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B/C  Controlled advice and checking</a:t>
            </a:r>
          </a:p>
        </p:txBody>
      </p:sp>
      <p:graphicFrame>
        <p:nvGraphicFramePr>
          <p:cNvPr id="6" name=""/>
          <p:cNvGraphicFramePr/>
          <p:nvPr/>
        </p:nvGraphicFramePr>
        <p:xfrm>
          <a:off xmlns:a="http://schemas.openxmlformats.org/drawingml/2006/main" x="685800" y="1485900"/>
          <a:ext xmlns:a="http://schemas.openxmlformats.org/drawingml/2006/main" cx="10820400" cy="3905250"/>
        </p:xfrm>
        <a:graphic xmlns:a="http://schemas.openxmlformats.org/drawingml/2006/main">
          <a:graphicData uri="http://schemas.openxmlformats.org/drawingml/2006/table">
            <a:tbl>
              <a:tblPr/>
              <a:tblGrid>
                <a:gridCol w="1619250"/>
                <a:gridCol w="5619750"/>
                <a:gridCol w="3581400"/>
              </a:tblGrid>
              <a:tr h="557893">
                <a:tc>
                  <a:txBody>
                    <a:bodyPr/>
                    <a:lstStyle/>
                    <a:p>
                      <a:r>
                        <a:rPr sz="1875" b="1">
                          <a:solidFill>
                            <a:srgbClr val="FFFFFF"/>
                          </a:solidFill>
                          <a:latin typeface="Helvetica Neue"/>
                          <a:ea typeface="Helvetica Neue"/>
                          <a:cs typeface="Helvetica Neue"/>
                        </a:rPr>
                        <a:t>Group</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Peer material</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Follow-up</a:t>
                      </a:r>
                    </a:p>
                  </a:txBody>
                  <a:tcPr marL="91440" marR="91440" marT="45720" marB="45720">
                    <a:solidFill>
                      <a:srgbClr val="142C40"/>
                    </a:solidFill>
                  </a:tcPr>
                </a:tc>
              </a:tr>
              <a:tr h="557893">
                <a:tc>
                  <a:txBody>
                    <a:bodyPr/>
                    <a:lstStyle/>
                    <a:p>
                      <a:r>
                        <a:rPr sz="1875" b="0">
                          <a:solidFill>
                            <a:srgbClr val="142C40"/>
                          </a:solidFill>
                          <a:latin typeface="Helvetica Neue"/>
                          <a:ea typeface="Helvetica Neue"/>
                          <a:cs typeface="Helvetica Neue"/>
                        </a:rPr>
                        <a:t>C0</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None</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Ordinary recheck</a:t>
                      </a:r>
                    </a:p>
                  </a:txBody>
                  <a:tcPr marL="91440" marR="91440" marT="45720" marB="45720">
                    <a:solidFill>
                      <a:srgbClr val="F0F4F7"/>
                    </a:solidFill>
                  </a:tcPr>
                </a:tc>
              </a:tr>
              <a:tr h="557893">
                <a:tc>
                  <a:txBody>
                    <a:bodyPr/>
                    <a:lstStyle/>
                    <a:p>
                      <a:r>
                        <a:rPr sz="1875" b="0">
                          <a:solidFill>
                            <a:srgbClr val="142C40"/>
                          </a:solidFill>
                          <a:latin typeface="Helvetica Neue"/>
                          <a:ea typeface="Helvetica Neue"/>
                          <a:cs typeface="Helvetica Neue"/>
                        </a:rPr>
                        <a:t>C1</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Assigned wrong answer</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Ordinary recheck</a:t>
                      </a:r>
                    </a:p>
                  </a:txBody>
                  <a:tcPr marL="91440" marR="91440" marT="45720" marB="45720">
                    <a:solidFill>
                      <a:srgbClr val="FFFFFF"/>
                    </a:solidFill>
                  </a:tcPr>
                </a:tc>
              </a:tr>
              <a:tr h="557893">
                <a:tc>
                  <a:txBody>
                    <a:bodyPr/>
                    <a:lstStyle/>
                    <a:p>
                      <a:r>
                        <a:rPr sz="1875" b="0">
                          <a:solidFill>
                            <a:srgbClr val="142C40"/>
                          </a:solidFill>
                          <a:latin typeface="Helvetica Neue"/>
                          <a:ea typeface="Helvetica Neue"/>
                          <a:cs typeface="Helvetica Neue"/>
                        </a:rPr>
                        <a:t>C2</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Wrong answer + reason</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Ordinary recheck</a:t>
                      </a:r>
                    </a:p>
                  </a:txBody>
                  <a:tcPr marL="91440" marR="91440" marT="45720" marB="45720">
                    <a:solidFill>
                      <a:srgbClr val="F0F4F7"/>
                    </a:solidFill>
                  </a:tcPr>
                </a:tc>
              </a:tr>
              <a:tr h="557893">
                <a:tc>
                  <a:txBody>
                    <a:bodyPr/>
                    <a:lstStyle/>
                    <a:p>
                      <a:r>
                        <a:rPr sz="1875" b="0">
                          <a:solidFill>
                            <a:srgbClr val="142C40"/>
                          </a:solidFill>
                          <a:latin typeface="Helvetica Neue"/>
                          <a:ea typeface="Helvetica Neue"/>
                          <a:cs typeface="Helvetica Neue"/>
                        </a:rPr>
                        <a:t>C3</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Identical C2 material</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Structured check</a:t>
                      </a:r>
                    </a:p>
                  </a:txBody>
                  <a:tcPr marL="91440" marR="91440" marT="45720" marB="45720">
                    <a:solidFill>
                      <a:srgbClr val="FFFFFF"/>
                    </a:solidFill>
                  </a:tcPr>
                </a:tc>
              </a:tr>
              <a:tr h="557893">
                <a:tc>
                  <a:txBody>
                    <a:bodyPr/>
                    <a:lstStyle/>
                    <a:p>
                      <a:r>
                        <a:rPr sz="1875" b="0">
                          <a:solidFill>
                            <a:srgbClr val="142C40"/>
                          </a:solidFill>
                          <a:latin typeface="Helvetica Neue"/>
                          <a:ea typeface="Helvetica Neue"/>
                          <a:cs typeface="Helvetica Neue"/>
                        </a:rPr>
                        <a:t>C4</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Correct answer + reason</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Ordinary recheck</a:t>
                      </a:r>
                    </a:p>
                  </a:txBody>
                  <a:tcPr marL="91440" marR="91440" marT="45720" marB="45720">
                    <a:solidFill>
                      <a:srgbClr val="F0F4F7"/>
                    </a:solidFill>
                  </a:tcPr>
                </a:tc>
              </a:tr>
              <a:tr h="557893">
                <a:tc>
                  <a:txBody>
                    <a:bodyPr/>
                    <a:lstStyle/>
                    <a:p>
                      <a:r>
                        <a:rPr sz="1875" b="0">
                          <a:solidFill>
                            <a:srgbClr val="142C40"/>
                          </a:solidFill>
                          <a:latin typeface="Helvetica Neue"/>
                          <a:ea typeface="Helvetica Neue"/>
                          <a:cs typeface="Helvetica Neue"/>
                        </a:rPr>
                        <a:t>C5</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Identical C4 material</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Structured check</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256222D9-C8CD-4710-A629-9A2272B7E0BD}"/>
              </a:ext>
            </a:extLst>
          </p:cNvPr>
          <p:cNvSpPr>
            <a:spLocks xmlns:a="http://schemas.openxmlformats.org/drawingml/2006/main" noGrp="1"/>
          </p:cNvSpPr>
          <p:nvPr/>
        </p:nvSpPr>
        <p:spPr>
          <a:xfrm xmlns:a="http://schemas.openxmlformats.org/drawingml/2006/main">
            <a:off x="685800" y="574357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120 factual questions; 719 complete units. Each branch shares the same initial answer.</a:t>
            </a:r>
          </a:p>
        </p:txBody>
      </p:sp>
      <p:sp>
        <p:nvSpPr>
          <p:cNvPr id="4" name="">
            <a:extLst xmlns:a="http://schemas.openxmlformats.org/drawingml/2006/main">
              <a:ext uri="{FF2B5EF4-FFF2-40B4-BE49-F238E27FC236}">
                <a16:creationId xmlns:a16="http://schemas.microsoft.com/office/drawing/2014/main" id="{BAAA2ACA-391D-4403-98B6-240CC9E58F1C}"/>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8</a:t>
            </a:r>
          </a:p>
        </p:txBody>
      </p:sp>
    </p:spTree>
    <p:extLst>
      <p:ext uri="{BB962C8B-B14F-4D97-AF65-F5344CB8AC3E}">
        <p14:creationId xmlns:p14="http://schemas.microsoft.com/office/powerpoint/2010/main" val="1558451260"/>
      </p:ext>
    </p:extLst>
  </p:cSld>
</p:sld>
</file>

<file path=ppt/slides/slide9.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77FDD1-2CA2-48D3-88EE-6415F1B20E2D}"/>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B/C  Wrong input and structured checking</a:t>
            </a:r>
          </a:p>
        </p:txBody>
      </p:sp>
      <p:sp>
        <p:nvSpPr>
          <p:cNvPr id="2" name="">
            <a:extLst xmlns:a="http://schemas.openxmlformats.org/drawingml/2006/main">
              <a:ext uri="{FF2B5EF4-FFF2-40B4-BE49-F238E27FC236}">
                <a16:creationId xmlns:a16="http://schemas.microsoft.com/office/drawing/2014/main" id="{68F931E1-7C6F-4A66-8788-7E5AC0431A26}"/>
              </a:ext>
            </a:extLst>
          </p:cNvPr>
          <p:cNvSpPr>
            <a:spLocks xmlns:a="http://schemas.openxmlformats.org/drawingml/2006/main" noGrp="1"/>
          </p:cNvSpPr>
          <p:nvPr/>
        </p:nvSpPr>
        <p:spPr>
          <a:xfrm xmlns:a="http://schemas.openxmlformats.org/drawingml/2006/main">
            <a:off x="685800" y="13335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C40"/>
                </a:solidFill>
                <a:latin typeface="Helvetica Neue"/>
                <a:ea typeface="Helvetica Neue"/>
                <a:cs typeface="Helvetica Neue"/>
              </a:defRPr>
            </a:pPr>
            <a:r>
              <a:rPr sz="2250" b="1">
                <a:solidFill>
                  <a:srgbClr val="142C40"/>
                </a:solidFill>
                <a:latin typeface="Helvetica Neue"/>
                <a:ea typeface="Helvetica Neue"/>
                <a:cs typeface="Helvetica Neue"/>
              </a:rPr>
              <a:t>Misleading input</a:t>
            </a:r>
          </a:p>
        </p:txBody>
      </p:sp>
      <p:sp>
        <p:nvSpPr>
          <p:cNvPr id="3" name="">
            <a:extLst xmlns:a="http://schemas.openxmlformats.org/drawingml/2006/main">
              <a:ext uri="{FF2B5EF4-FFF2-40B4-BE49-F238E27FC236}">
                <a16:creationId xmlns:a16="http://schemas.microsoft.com/office/drawing/2014/main" id="{544DABB0-05E2-4528-A6C5-C0FB7CE1AF72}"/>
              </a:ext>
            </a:extLst>
          </p:cNvPr>
          <p:cNvSpPr>
            <a:spLocks xmlns:a="http://schemas.openxmlformats.org/drawingml/2006/main" noGrp="1"/>
          </p:cNvSpPr>
          <p:nvPr/>
        </p:nvSpPr>
        <p:spPr>
          <a:xfrm xmlns:a="http://schemas.openxmlformats.org/drawingml/2006/main">
            <a:off x="6362700" y="1333500"/>
            <a:ext cx="5191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C40"/>
                </a:solidFill>
                <a:latin typeface="Helvetica Neue"/>
                <a:ea typeface="Helvetica Neue"/>
                <a:cs typeface="Helvetica Neue"/>
              </a:defRPr>
            </a:pPr>
            <a:r>
              <a:rPr sz="2250" b="1">
                <a:solidFill>
                  <a:srgbClr val="142C40"/>
                </a:solidFill>
                <a:latin typeface="Helvetica Neue"/>
                <a:ea typeface="Helvetica Neue"/>
                <a:cs typeface="Helvetica Neue"/>
              </a:rPr>
              <a:t>Structured double-check</a:t>
            </a:r>
          </a:p>
        </p:txBody>
      </p:sp>
      <p:graphicFrame>
        <p:nvGraphicFramePr>
          <p:cNvPr id="14" name="Chart"/>
          <p:cNvGraphicFramePr/>
          <p:nvPr/>
        </p:nvGraphicFramePr>
        <p:xfrm>
          <a:off xmlns:a="http://schemas.openxmlformats.org/drawingml/2006/main" x="552450" y="2047875"/>
          <a:ext xmlns:a="http://schemas.openxmlformats.org/drawingml/2006/main" cx="5353050" cy="3143250"/>
        </p:xfrm>
        <a:graphic xmlns:a="http://schemas.openxmlformats.org/drawingml/2006/main">
          <a:graphicData uri="http://schemas.openxmlformats.org/drawingml/2006/chart">
            <c:chart xmlns:r="http://schemas.openxmlformats.org/officeDocument/2006/relationships" xmlns:c="http://schemas.openxmlformats.org/drawingml/2006/chart" r:id="Rd7448f4f29dc480a"/>
          </a:graphicData>
        </a:graphic>
      </p:graphicFrame>
      <p:graphicFrame>
        <p:nvGraphicFramePr>
          <p:cNvPr id="15" name="Chart"/>
          <p:cNvGraphicFramePr/>
          <p:nvPr/>
        </p:nvGraphicFramePr>
        <p:xfrm>
          <a:off xmlns:a="http://schemas.openxmlformats.org/drawingml/2006/main" x="6248400" y="2047875"/>
          <a:ext xmlns:a="http://schemas.openxmlformats.org/drawingml/2006/main" cx="5257800" cy="3143250"/>
        </p:xfrm>
        <a:graphic xmlns:a="http://schemas.openxmlformats.org/drawingml/2006/main">
          <a:graphicData uri="http://schemas.openxmlformats.org/drawingml/2006/chart">
            <c:chart xmlns:r="http://schemas.openxmlformats.org/officeDocument/2006/relationships" xmlns:c="http://schemas.openxmlformats.org/drawingml/2006/chart" r:id="Re50cfc19fcd14019"/>
          </a:graphicData>
        </a:graphic>
      </p:graphicFrame>
      <p:sp>
        <p:nvSpPr>
          <p:cNvPr id="6" name="">
            <a:extLst xmlns:a="http://schemas.openxmlformats.org/drawingml/2006/main">
              <a:ext uri="{FF2B5EF4-FFF2-40B4-BE49-F238E27FC236}">
                <a16:creationId xmlns:a16="http://schemas.microsoft.com/office/drawing/2014/main" id="{3DA8F641-5941-4255-AB75-B1D6DCB1A22B}"/>
              </a:ext>
            </a:extLst>
          </p:cNvPr>
          <p:cNvSpPr>
            <a:spLocks xmlns:a="http://schemas.openxmlformats.org/drawingml/2006/main" noGrp="1"/>
          </p:cNvSpPr>
          <p:nvPr/>
        </p:nvSpPr>
        <p:spPr>
          <a:xfrm xmlns:a="http://schemas.openxmlformats.org/drawingml/2006/main">
            <a:off x="685800" y="525780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C45F48"/>
                </a:solidFill>
                <a:latin typeface="Helvetica Neue"/>
                <a:ea typeface="Helvetica Neue"/>
                <a:cs typeface="Helvetica Neue"/>
              </a:defRPr>
            </a:pPr>
            <a:r>
              <a:rPr sz="1725" b="1">
                <a:solidFill>
                  <a:srgbClr val="C45F48"/>
                </a:solidFill>
                <a:latin typeface="Helvetica Neue"/>
                <a:ea typeface="Helvetica Neue"/>
                <a:cs typeface="Helvetica Neue"/>
              </a:rPr>
              <a:t>+18.78 / +6.40 percentage points vs C0</a:t>
            </a:r>
          </a:p>
        </p:txBody>
      </p:sp>
      <p:sp>
        <p:nvSpPr>
          <p:cNvPr id="7" name="">
            <a:extLst xmlns:a="http://schemas.openxmlformats.org/drawingml/2006/main">
              <a:ext uri="{FF2B5EF4-FFF2-40B4-BE49-F238E27FC236}">
                <a16:creationId xmlns:a16="http://schemas.microsoft.com/office/drawing/2014/main" id="{37590196-CC34-43EF-99E8-367D929AF21F}"/>
              </a:ext>
            </a:extLst>
          </p:cNvPr>
          <p:cNvSpPr>
            <a:spLocks xmlns:a="http://schemas.openxmlformats.org/drawingml/2006/main" noGrp="1"/>
          </p:cNvSpPr>
          <p:nvPr/>
        </p:nvSpPr>
        <p:spPr>
          <a:xfrm xmlns:a="http://schemas.openxmlformats.org/drawingml/2006/main">
            <a:off x="6438900" y="525780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47E77"/>
                </a:solidFill>
                <a:latin typeface="Helvetica Neue"/>
                <a:ea typeface="Helvetica Neue"/>
                <a:cs typeface="Helvetica Neue"/>
              </a:defRPr>
            </a:pPr>
            <a:r>
              <a:rPr sz="1725" b="1">
                <a:solidFill>
                  <a:srgbClr val="147E77"/>
                </a:solidFill>
                <a:latin typeface="Helvetica Neue"/>
                <a:ea typeface="Helvetica Neue"/>
                <a:cs typeface="Helvetica Neue"/>
              </a:rPr>
              <a:t>16.55 percentage points less error</a:t>
            </a:r>
          </a:p>
        </p:txBody>
      </p:sp>
      <p:sp>
        <p:nvSpPr>
          <p:cNvPr id="8" name="">
            <a:extLst xmlns:a="http://schemas.openxmlformats.org/drawingml/2006/main">
              <a:ext uri="{FF2B5EF4-FFF2-40B4-BE49-F238E27FC236}">
                <a16:creationId xmlns:a16="http://schemas.microsoft.com/office/drawing/2014/main" id="{47FF9594-9CF5-4F67-AA99-832BF8821272}"/>
              </a:ext>
            </a:extLst>
          </p:cNvPr>
          <p:cNvSpPr>
            <a:spLocks xmlns:a="http://schemas.openxmlformats.org/drawingml/2006/main" noGrp="1"/>
          </p:cNvSpPr>
          <p:nvPr/>
        </p:nvSpPr>
        <p:spPr>
          <a:xfrm xmlns:a="http://schemas.openxmlformats.org/drawingml/2006/main">
            <a:off x="685800" y="579120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C40"/>
                </a:solidFill>
                <a:latin typeface="Helvetica Neue"/>
                <a:ea typeface="Helvetica Neue"/>
                <a:cs typeface="Helvetica Neue"/>
              </a:defRPr>
            </a:pPr>
            <a:r>
              <a:rPr sz="1800" b="1">
                <a:solidFill>
                  <a:srgbClr val="142C40"/>
                </a:solidFill>
                <a:latin typeface="Helvetica Neue"/>
                <a:ea typeface="Helvetica Neue"/>
                <a:cs typeface="Helvetica Neue"/>
              </a:rPr>
              <a:t>Error = wrong / (correct + wrong + abstain). Each group: 719.</a:t>
            </a:r>
          </a:p>
        </p:txBody>
      </p:sp>
      <p:sp>
        <p:nvSpPr>
          <p:cNvPr id="9" name="">
            <a:extLst xmlns:a="http://schemas.openxmlformats.org/drawingml/2006/main">
              <a:ext uri="{FF2B5EF4-FFF2-40B4-BE49-F238E27FC236}">
                <a16:creationId xmlns:a16="http://schemas.microsoft.com/office/drawing/2014/main" id="{FF8E5FDC-E501-4219-9B93-B9D2023CB883}"/>
              </a:ext>
            </a:extLst>
          </p:cNvPr>
          <p:cNvSpPr>
            <a:spLocks xmlns:a="http://schemas.openxmlformats.org/drawingml/2006/main" noGrp="1"/>
          </p:cNvSpPr>
          <p:nvPr/>
        </p:nvSpPr>
        <p:spPr>
          <a:xfrm xmlns:a="http://schemas.openxmlformats.org/drawingml/2006/main">
            <a:off x="685800" y="62293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57586"/>
                </a:solidFill>
                <a:latin typeface="Helvetica Neue"/>
                <a:ea typeface="Helvetica Neue"/>
                <a:cs typeface="Helvetica Neue"/>
              </a:defRPr>
            </a:pPr>
            <a:r>
              <a:rPr sz="1575" b="0">
                <a:solidFill>
                  <a:srgbClr val="657586"/>
                </a:solidFill>
                <a:latin typeface="Helvetica Neue"/>
                <a:ea typeface="Helvetica Neue"/>
                <a:cs typeface="Helvetica Neue"/>
              </a:rPr>
              <a:t>Abstentions stay in the denominator. These all-unit comparisons are post hoc.</a:t>
            </a:r>
          </a:p>
        </p:txBody>
      </p:sp>
      <p:sp>
        <p:nvSpPr>
          <p:cNvPr id="10" name="">
            <a:extLst xmlns:a="http://schemas.openxmlformats.org/drawingml/2006/main">
              <a:ext uri="{FF2B5EF4-FFF2-40B4-BE49-F238E27FC236}">
                <a16:creationId xmlns:a16="http://schemas.microsoft.com/office/drawing/2014/main" id="{6F1AD8F4-4587-423C-87CB-A126E8C6FC4B}"/>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9</a:t>
            </a:r>
          </a:p>
        </p:txBody>
      </p:sp>
    </p:spTree>
    <p:extLst>
      <p:ext uri="{BB962C8B-B14F-4D97-AF65-F5344CB8AC3E}">
        <p14:creationId xmlns:p14="http://schemas.microsoft.com/office/powerpoint/2010/main" val="1219250618"/>
      </p:ext>
    </p:extLst>
  </p:cSld>
</p:sld>
</file>

<file path=ppt/slides/slide10.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40A3A4-1C88-4EC4-A1B6-A214E342286F}"/>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  Most avoided errors became abstentions</a:t>
            </a:r>
          </a:p>
        </p:txBody>
      </p:sp>
      <p:graphicFrame>
        <p:nvGraphicFramePr>
          <p:cNvPr id="8" name=""/>
          <p:cNvGraphicFramePr/>
          <p:nvPr/>
        </p:nvGraphicFramePr>
        <p:xfrm>
          <a:off xmlns:a="http://schemas.openxmlformats.org/drawingml/2006/main" x="685800" y="1809750"/>
          <a:ext xmlns:a="http://schemas.openxmlformats.org/drawingml/2006/main" cx="10820400" cy="2781300"/>
        </p:xfrm>
        <a:graphic xmlns:a="http://schemas.openxmlformats.org/drawingml/2006/main">
          <a:graphicData uri="http://schemas.openxmlformats.org/drawingml/2006/table">
            <a:tbl>
              <a:tblPr/>
              <a:tblGrid>
                <a:gridCol w="2619375"/>
                <a:gridCol w="2733675"/>
                <a:gridCol w="2733675"/>
                <a:gridCol w="2733675"/>
              </a:tblGrid>
              <a:tr h="695325">
                <a:tc>
                  <a:txBody>
                    <a:bodyPr/>
                    <a:lstStyle/>
                    <a:p>
                      <a:r>
                        <a:rPr sz="2175" b="1">
                          <a:solidFill>
                            <a:srgbClr val="FFFFFF"/>
                          </a:solidFill>
                          <a:latin typeface="Helvetica Neue"/>
                          <a:ea typeface="Helvetica Neue"/>
                          <a:cs typeface="Helvetica Neue"/>
                        </a:rPr>
                        <a:t>C2 outcome</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C3 correct</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C3 wrong</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C3 abstain</a:t>
                      </a:r>
                    </a:p>
                  </a:txBody>
                  <a:tcPr marL="91440" marR="91440" marT="45720" marB="45720">
                    <a:solidFill>
                      <a:srgbClr val="142C40"/>
                    </a:solidFill>
                  </a:tcPr>
                </a:tc>
              </a:tr>
              <a:tr h="695325">
                <a:tc>
                  <a:txBody>
                    <a:bodyPr/>
                    <a:lstStyle/>
                    <a:p>
                      <a:r>
                        <a:rPr sz="2175" b="0">
                          <a:solidFill>
                            <a:srgbClr val="142C40"/>
                          </a:solidFill>
                          <a:latin typeface="Helvetica Neue"/>
                          <a:ea typeface="Helvetica Neue"/>
                          <a:cs typeface="Helvetica Neue"/>
                        </a:rPr>
                        <a:t>Correct</a:t>
                      </a:r>
                    </a:p>
                  </a:txBody>
                  <a:tcPr marL="91440" marR="91440" marT="45720" marB="45720">
                    <a:solidFill>
                      <a:srgbClr val="F0F4F7"/>
                    </a:solidFill>
                  </a:tcPr>
                </a:tc>
                <a:tc>
                  <a:txBody>
                    <a:bodyPr/>
                    <a:lstStyle/>
                    <a:p>
                      <a:r>
                        <a:rPr sz="2175" b="1">
                          <a:solidFill>
                            <a:srgbClr val="142C40"/>
                          </a:solidFill>
                          <a:latin typeface="Helvetica Neue"/>
                          <a:ea typeface="Helvetica Neue"/>
                          <a:cs typeface="Helvetica Neue"/>
                        </a:rPr>
                        <a:t>133</a:t>
                      </a:r>
                    </a:p>
                  </a:txBody>
                  <a:tcPr marL="91440" marR="91440" marT="45720" marB="45720">
                    <a:solidFill>
                      <a:srgbClr val="6FAFAC"/>
                    </a:solidFill>
                  </a:tcPr>
                </a:tc>
                <a:tc>
                  <a:txBody>
                    <a:bodyPr/>
                    <a:lstStyle/>
                    <a:p>
                      <a:r>
                        <a:rPr sz="2175" b="1">
                          <a:solidFill>
                            <a:srgbClr val="142C40"/>
                          </a:solidFill>
                          <a:latin typeface="Helvetica Neue"/>
                          <a:ea typeface="Helvetica Neue"/>
                          <a:cs typeface="Helvetica Neue"/>
                        </a:rPr>
                        <a:t>9</a:t>
                      </a:r>
                    </a:p>
                  </a:txBody>
                  <a:tcPr marL="91440" marR="91440" marT="45720" marB="45720">
                    <a:solidFill>
                      <a:srgbClr val="E7EFF1"/>
                    </a:solidFill>
                  </a:tcPr>
                </a:tc>
                <a:tc>
                  <a:txBody>
                    <a:bodyPr/>
                    <a:lstStyle/>
                    <a:p>
                      <a:r>
                        <a:rPr sz="2175" b="1">
                          <a:solidFill>
                            <a:srgbClr val="142C40"/>
                          </a:solidFill>
                          <a:latin typeface="Helvetica Neue"/>
                          <a:ea typeface="Helvetica Neue"/>
                          <a:cs typeface="Helvetica Neue"/>
                        </a:rPr>
                        <a:t>20</a:t>
                      </a:r>
                    </a:p>
                  </a:txBody>
                  <a:tcPr marL="91440" marR="91440" marT="45720" marB="45720">
                    <a:solidFill>
                      <a:srgbClr val="DCE9EB"/>
                    </a:solidFill>
                  </a:tcPr>
                </a:tc>
              </a:tr>
              <a:tr h="695325">
                <a:tc>
                  <a:txBody>
                    <a:bodyPr/>
                    <a:lstStyle/>
                    <a:p>
                      <a:r>
                        <a:rPr sz="2175" b="0">
                          <a:solidFill>
                            <a:srgbClr val="142C40"/>
                          </a:solidFill>
                          <a:latin typeface="Helvetica Neue"/>
                          <a:ea typeface="Helvetica Neue"/>
                          <a:cs typeface="Helvetica Neue"/>
                        </a:rPr>
                        <a:t>Wrong</a:t>
                      </a:r>
                    </a:p>
                  </a:txBody>
                  <a:tcPr marL="91440" marR="91440" marT="45720" marB="45720">
                    <a:solidFill>
                      <a:srgbClr val="FFFFFF"/>
                    </a:solidFill>
                  </a:tcPr>
                </a:tc>
                <a:tc>
                  <a:txBody>
                    <a:bodyPr/>
                    <a:lstStyle/>
                    <a:p>
                      <a:r>
                        <a:rPr sz="2175" b="1">
                          <a:solidFill>
                            <a:srgbClr val="142C40"/>
                          </a:solidFill>
                          <a:latin typeface="Helvetica Neue"/>
                          <a:ea typeface="Helvetica Neue"/>
                          <a:cs typeface="Helvetica Neue"/>
                        </a:rPr>
                        <a:t>5</a:t>
                      </a:r>
                    </a:p>
                  </a:txBody>
                  <a:tcPr marL="91440" marR="91440" marT="45720" marB="45720">
                    <a:solidFill>
                      <a:srgbClr val="EBF1F4"/>
                    </a:solidFill>
                  </a:tcPr>
                </a:tc>
                <a:tc>
                  <a:txBody>
                    <a:bodyPr/>
                    <a:lstStyle/>
                    <a:p>
                      <a:r>
                        <a:rPr sz="2175" b="1">
                          <a:solidFill>
                            <a:srgbClr val="FFFFFF"/>
                          </a:solidFill>
                          <a:latin typeface="Helvetica Neue"/>
                          <a:ea typeface="Helvetica Neue"/>
                          <a:cs typeface="Helvetica Neue"/>
                        </a:rPr>
                        <a:t>228</a:t>
                      </a:r>
                    </a:p>
                  </a:txBody>
                  <a:tcPr marL="91440" marR="91440" marT="45720" marB="45720">
                    <a:solidFill>
                      <a:srgbClr val="147E77"/>
                    </a:solidFill>
                  </a:tcPr>
                </a:tc>
                <a:tc>
                  <a:txBody>
                    <a:bodyPr/>
                    <a:lstStyle/>
                    <a:p>
                      <a:r>
                        <a:rPr sz="2175" b="1">
                          <a:solidFill>
                            <a:srgbClr val="142C40"/>
                          </a:solidFill>
                          <a:latin typeface="Helvetica Neue"/>
                          <a:ea typeface="Helvetica Neue"/>
                          <a:cs typeface="Helvetica Neue"/>
                        </a:rPr>
                        <a:t>144</a:t>
                      </a:r>
                    </a:p>
                  </a:txBody>
                  <a:tcPr marL="91440" marR="91440" marT="45720" marB="45720">
                    <a:solidFill>
                      <a:srgbClr val="65A9A6"/>
                    </a:solidFill>
                  </a:tcPr>
                </a:tc>
              </a:tr>
              <a:tr h="695325">
                <a:tc>
                  <a:txBody>
                    <a:bodyPr/>
                    <a:lstStyle/>
                    <a:p>
                      <a:r>
                        <a:rPr sz="2175" b="0">
                          <a:solidFill>
                            <a:srgbClr val="142C40"/>
                          </a:solidFill>
                          <a:latin typeface="Helvetica Neue"/>
                          <a:ea typeface="Helvetica Neue"/>
                          <a:cs typeface="Helvetica Neue"/>
                        </a:rPr>
                        <a:t>Abstain</a:t>
                      </a:r>
                    </a:p>
                  </a:txBody>
                  <a:tcPr marL="91440" marR="91440" marT="45720" marB="45720">
                    <a:solidFill>
                      <a:srgbClr val="F0F4F7"/>
                    </a:solidFill>
                  </a:tcPr>
                </a:tc>
                <a:tc>
                  <a:txBody>
                    <a:bodyPr/>
                    <a:lstStyle/>
                    <a:p>
                      <a:r>
                        <a:rPr sz="2175" b="1">
                          <a:solidFill>
                            <a:srgbClr val="142C40"/>
                          </a:solidFill>
                          <a:latin typeface="Helvetica Neue"/>
                          <a:ea typeface="Helvetica Neue"/>
                          <a:cs typeface="Helvetica Neue"/>
                        </a:rPr>
                        <a:t>3</a:t>
                      </a:r>
                    </a:p>
                  </a:txBody>
                  <a:tcPr marL="91440" marR="91440" marT="45720" marB="45720">
                    <a:solidFill>
                      <a:srgbClr val="EDF2F5"/>
                    </a:solidFill>
                  </a:tcPr>
                </a:tc>
                <a:tc>
                  <a:txBody>
                    <a:bodyPr/>
                    <a:lstStyle/>
                    <a:p>
                      <a:r>
                        <a:rPr sz="2175" b="1">
                          <a:solidFill>
                            <a:srgbClr val="142C40"/>
                          </a:solidFill>
                          <a:latin typeface="Helvetica Neue"/>
                          <a:ea typeface="Helvetica Neue"/>
                          <a:cs typeface="Helvetica Neue"/>
                        </a:rPr>
                        <a:t>21</a:t>
                      </a:r>
                    </a:p>
                  </a:txBody>
                  <a:tcPr marL="91440" marR="91440" marT="45720" marB="45720">
                    <a:solidFill>
                      <a:srgbClr val="DBE9EB"/>
                    </a:solidFill>
                  </a:tcPr>
                </a:tc>
                <a:tc>
                  <a:txBody>
                    <a:bodyPr/>
                    <a:lstStyle/>
                    <a:p>
                      <a:r>
                        <a:rPr sz="2175" b="1">
                          <a:solidFill>
                            <a:srgbClr val="142C40"/>
                          </a:solidFill>
                          <a:latin typeface="Helvetica Neue"/>
                          <a:ea typeface="Helvetica Neue"/>
                          <a:cs typeface="Helvetica Neue"/>
                        </a:rPr>
                        <a:t>156</a:t>
                      </a:r>
                    </a:p>
                  </a:txBody>
                  <a:tcPr marL="91440" marR="91440" marT="45720" marB="45720">
                    <a:solidFill>
                      <a:srgbClr val="59A39F"/>
                    </a:solidFill>
                  </a:tcPr>
                </a:tc>
              </a:tr>
            </a:tbl>
          </a:graphicData>
        </a:graphic>
      </p:graphicFrame>
      <p:sp>
        <p:nvSpPr>
          <p:cNvPr id="3" name="">
            <a:extLst xmlns:a="http://schemas.openxmlformats.org/drawingml/2006/main">
              <a:ext uri="{FF2B5EF4-FFF2-40B4-BE49-F238E27FC236}">
                <a16:creationId xmlns:a16="http://schemas.microsoft.com/office/drawing/2014/main" id="{9896D9FE-4083-4442-8115-E1EF2F68878E}"/>
              </a:ext>
            </a:extLst>
          </p:cNvPr>
          <p:cNvSpPr>
            <a:spLocks xmlns:a="http://schemas.openxmlformats.org/drawingml/2006/main" noGrp="1"/>
          </p:cNvSpPr>
          <p:nvPr/>
        </p:nvSpPr>
        <p:spPr>
          <a:xfrm xmlns:a="http://schemas.openxmlformats.org/drawingml/2006/main">
            <a:off x="685800" y="1333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Rows: C2  /  Columns: C3  /  All 719 paired units</a:t>
            </a:r>
          </a:p>
        </p:txBody>
      </p:sp>
      <p:sp>
        <p:nvSpPr>
          <p:cNvPr id="4" name="">
            <a:extLst xmlns:a="http://schemas.openxmlformats.org/drawingml/2006/main">
              <a:ext uri="{FF2B5EF4-FFF2-40B4-BE49-F238E27FC236}">
                <a16:creationId xmlns:a16="http://schemas.microsoft.com/office/drawing/2014/main" id="{1AED20D5-6562-4F15-8AAE-3F3028D07203}"/>
              </a:ext>
            </a:extLst>
          </p:cNvPr>
          <p:cNvSpPr>
            <a:spLocks xmlns:a="http://schemas.openxmlformats.org/drawingml/2006/main" noGrp="1"/>
          </p:cNvSpPr>
          <p:nvPr/>
        </p:nvSpPr>
        <p:spPr>
          <a:xfrm xmlns:a="http://schemas.openxmlformats.org/drawingml/2006/main">
            <a:off x="685800" y="5095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7E77"/>
                </a:solidFill>
                <a:latin typeface="Helvetica Neue"/>
                <a:ea typeface="Helvetica Neue"/>
                <a:cs typeface="Helvetica Neue"/>
              </a:defRPr>
            </a:pPr>
            <a:r>
              <a:rPr sz="2250" b="1">
                <a:solidFill>
                  <a:srgbClr val="147E77"/>
                </a:solidFill>
                <a:latin typeface="Helvetica Neue"/>
                <a:ea typeface="Helvetica Neue"/>
                <a:cs typeface="Helvetica Neue"/>
              </a:rPr>
              <a:t>144 wrong-to-abstain pairs; 5 wrong-to-correct</a:t>
            </a:r>
          </a:p>
        </p:txBody>
      </p:sp>
      <p:sp>
        <p:nvSpPr>
          <p:cNvPr id="5" name="">
            <a:extLst xmlns:a="http://schemas.openxmlformats.org/drawingml/2006/main">
              <a:ext uri="{FF2B5EF4-FFF2-40B4-BE49-F238E27FC236}">
                <a16:creationId xmlns:a16="http://schemas.microsoft.com/office/drawing/2014/main" id="{DE8936D8-FBC1-4205-9F3C-8096D6365482}"/>
              </a:ext>
            </a:extLst>
          </p:cNvPr>
          <p:cNvSpPr>
            <a:spLocks xmlns:a="http://schemas.openxmlformats.org/drawingml/2006/main" noGrp="1"/>
          </p:cNvSpPr>
          <p:nvPr/>
        </p:nvSpPr>
        <p:spPr>
          <a:xfrm xmlns:a="http://schemas.openxmlformats.org/drawingml/2006/main">
            <a:off x="685800" y="57340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Reverse changes remain: 21 abstain-to-wrong and 9 correct-to-wrong.</a:t>
            </a:r>
          </a:p>
        </p:txBody>
      </p:sp>
      <p:sp>
        <p:nvSpPr>
          <p:cNvPr id="6" name="">
            <a:extLst xmlns:a="http://schemas.openxmlformats.org/drawingml/2006/main">
              <a:ext uri="{FF2B5EF4-FFF2-40B4-BE49-F238E27FC236}">
                <a16:creationId xmlns:a16="http://schemas.microsoft.com/office/drawing/2014/main" id="{FC1FA885-DFBF-4CD5-947A-767D069C034E}"/>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10</a:t>
            </a:r>
          </a:p>
        </p:txBody>
      </p:sp>
    </p:spTree>
    <p:extLst>
      <p:ext uri="{BB962C8B-B14F-4D97-AF65-F5344CB8AC3E}">
        <p14:creationId xmlns:p14="http://schemas.microsoft.com/office/powerpoint/2010/main" val="2144819158"/>
      </p:ext>
    </p:extLst>
  </p:cSld>
</p:sld>
</file>

<file path=ppt/slides/slide1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D846CFE-5267-4248-AE95-6AD0B15D7714}"/>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  Fewer useful corrections were accepted</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ada90ee74dcf494c"/>
          </a:graphicData>
        </a:graphic>
      </p:graphicFrame>
      <p:sp>
        <p:nvSpPr>
          <p:cNvPr id="3" name="">
            <a:extLst xmlns:a="http://schemas.openxmlformats.org/drawingml/2006/main">
              <a:ext uri="{FF2B5EF4-FFF2-40B4-BE49-F238E27FC236}">
                <a16:creationId xmlns:a16="http://schemas.microsoft.com/office/drawing/2014/main" id="{80734A0C-FDD2-47EE-811D-DC6113623A35}"/>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7E77"/>
                </a:solidFill>
                <a:latin typeface="Helvetica Neue"/>
                <a:ea typeface="Helvetica Neue"/>
                <a:cs typeface="Helvetica Neue"/>
              </a:defRPr>
            </a:pPr>
            <a:r>
              <a:rPr sz="2025" b="1">
                <a:solidFill>
                  <a:srgbClr val="147E77"/>
                </a:solidFill>
                <a:latin typeface="Helvetica Neue"/>
                <a:ea typeface="Helvetica Neue"/>
                <a:cs typeface="Helvetica Neue"/>
              </a:rPr>
              <a:t>Successful corrections out of 322 initially wrong units</a:t>
            </a:r>
          </a:p>
        </p:txBody>
      </p:sp>
      <p:sp>
        <p:nvSpPr>
          <p:cNvPr id="4" name="">
            <a:extLst xmlns:a="http://schemas.openxmlformats.org/drawingml/2006/main">
              <a:ext uri="{FF2B5EF4-FFF2-40B4-BE49-F238E27FC236}">
                <a16:creationId xmlns:a16="http://schemas.microsoft.com/office/drawing/2014/main" id="{37179BB1-B51D-472A-8DCB-1E56AC83B5A4}"/>
              </a:ext>
            </a:extLst>
          </p:cNvPr>
          <p:cNvSpPr>
            <a:spLocks xmlns:a="http://schemas.openxmlformats.org/drawingml/2006/main" noGrp="1"/>
          </p:cNvSpPr>
          <p:nvPr/>
        </p:nvSpPr>
        <p:spPr>
          <a:xfrm xmlns:a="http://schemas.openxmlformats.org/drawingml/2006/main">
            <a:off x="685800" y="5781675"/>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Difference: -9.63 pp   /   95% cluster interval [-14.38, -5.25]</a:t>
            </a:r>
          </a:p>
        </p:txBody>
      </p:sp>
      <p:sp>
        <p:nvSpPr>
          <p:cNvPr id="5" name="">
            <a:extLst xmlns:a="http://schemas.openxmlformats.org/drawingml/2006/main">
              <a:ext uri="{FF2B5EF4-FFF2-40B4-BE49-F238E27FC236}">
                <a16:creationId xmlns:a16="http://schemas.microsoft.com/office/drawing/2014/main" id="{027F4AE8-04B3-448B-A265-906744B181BE}"/>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11</a:t>
            </a:r>
          </a:p>
        </p:txBody>
      </p:sp>
    </p:spTree>
    <p:extLst>
      <p:ext uri="{BB962C8B-B14F-4D97-AF65-F5344CB8AC3E}">
        <p14:creationId xmlns:p14="http://schemas.microsoft.com/office/powerpoint/2010/main" val="1949866373"/>
      </p:ext>
    </p:extLst>
  </p:cSld>
</p:sld>
</file>

<file path=ppt/slides/slide1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6951DE-2F37-487C-8454-2789EE291164}"/>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Mathematical validity before calculation</a:t>
            </a:r>
          </a:p>
        </p:txBody>
      </p:sp>
      <p:sp>
        <p:nvSpPr>
          <p:cNvPr id="2" name="">
            <a:extLst xmlns:a="http://schemas.openxmlformats.org/drawingml/2006/main">
              <a:ext uri="{FF2B5EF4-FFF2-40B4-BE49-F238E27FC236}">
                <a16:creationId xmlns:a16="http://schemas.microsoft.com/office/drawing/2014/main" id="{49E8A48C-0C65-40E2-B9F8-4F798AEFAFEE}"/>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An equilateral triangle has perimeter 30 cm and height 10 cm.</a:t>
            </a:r>
          </a:p>
        </p:txBody>
      </p:sp>
      <p:sp>
        <p:nvSpPr>
          <p:cNvPr id="3" name="">
            <a:extLst xmlns:a="http://schemas.openxmlformats.org/drawingml/2006/main">
              <a:ext uri="{FF2B5EF4-FFF2-40B4-BE49-F238E27FC236}">
                <a16:creationId xmlns:a16="http://schemas.microsoft.com/office/drawing/2014/main" id="{EF76B930-4DD1-41AE-B5CF-2E2F775BB46A}"/>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Direct substitution gives area = 10 × 10 / 2 = 50.</a:t>
            </a:r>
          </a:p>
        </p:txBody>
      </p:sp>
      <p:sp>
        <p:nvSpPr>
          <p:cNvPr id="4" name="">
            <a:extLst xmlns:a="http://schemas.openxmlformats.org/drawingml/2006/main">
              <a:ext uri="{FF2B5EF4-FFF2-40B4-BE49-F238E27FC236}">
                <a16:creationId xmlns:a16="http://schemas.microsoft.com/office/drawing/2014/main" id="{C622F462-604C-4C48-92AD-DD89C9B95656}"/>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But side 10 forces height 5√3 ≈ 8.66. The conditions contradict.</a:t>
            </a:r>
          </a:p>
        </p:txBody>
      </p:sp>
      <p:sp>
        <p:nvSpPr>
          <p:cNvPr id="5" name="">
            <a:extLst xmlns:a="http://schemas.openxmlformats.org/drawingml/2006/main">
              <a:ext uri="{FF2B5EF4-FFF2-40B4-BE49-F238E27FC236}">
                <a16:creationId xmlns:a16="http://schemas.microsoft.com/office/drawing/2014/main" id="{B0026581-9FF8-4744-AF2E-63B2FFB88555}"/>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“Inconsistent” is a correct conclusion, not an abstention.</a:t>
            </a:r>
          </a:p>
        </p:txBody>
      </p:sp>
      <p:sp>
        <p:nvSpPr>
          <p:cNvPr id="6" name="">
            <a:extLst xmlns:a="http://schemas.openxmlformats.org/drawingml/2006/main">
              <a:ext uri="{FF2B5EF4-FFF2-40B4-BE49-F238E27FC236}">
                <a16:creationId xmlns:a16="http://schemas.microsoft.com/office/drawing/2014/main" id="{B0E7118B-877E-4A9C-B830-C6140083CD66}"/>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12</a:t>
            </a:r>
          </a:p>
        </p:txBody>
      </p:sp>
    </p:spTree>
    <p:extLst>
      <p:ext uri="{BB962C8B-B14F-4D97-AF65-F5344CB8AC3E}">
        <p14:creationId xmlns:p14="http://schemas.microsoft.com/office/powerpoint/2010/main" val="865208944"/>
      </p:ext>
    </p:extLst>
  </p:cSld>
</p:sld>
</file>

<file path=ppt/slides/slide1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BF0561-3C56-469B-BBDA-A5EA819687DF}"/>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What we count as an error</a:t>
            </a:r>
          </a:p>
        </p:txBody>
      </p:sp>
      <p:sp>
        <p:nvSpPr>
          <p:cNvPr id="2" name="">
            <a:extLst xmlns:a="http://schemas.openxmlformats.org/drawingml/2006/main">
              <a:ext uri="{FF2B5EF4-FFF2-40B4-BE49-F238E27FC236}">
                <a16:creationId xmlns:a16="http://schemas.microsoft.com/office/drawing/2014/main" id="{A09AF3AA-DF0F-4097-B52A-E2E1BF17E097}"/>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Error rate = wrong / (correct + wrong + explicit abstention).</a:t>
            </a:r>
          </a:p>
        </p:txBody>
      </p:sp>
      <p:sp>
        <p:nvSpPr>
          <p:cNvPr id="3" name="">
            <a:extLst xmlns:a="http://schemas.openxmlformats.org/drawingml/2006/main">
              <a:ext uri="{FF2B5EF4-FFF2-40B4-BE49-F238E27FC236}">
                <a16:creationId xmlns:a16="http://schemas.microsoft.com/office/drawing/2014/main" id="{3C2BB3FD-0EE8-4023-8ED9-B85635688227}"/>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Correct answers and abstentions remain separate outcomes.</a:t>
            </a:r>
          </a:p>
        </p:txBody>
      </p:sp>
      <p:sp>
        <p:nvSpPr>
          <p:cNvPr id="4" name="">
            <a:extLst xmlns:a="http://schemas.openxmlformats.org/drawingml/2006/main">
              <a:ext uri="{FF2B5EF4-FFF2-40B4-BE49-F238E27FC236}">
                <a16:creationId xmlns:a16="http://schemas.microsoft.com/office/drawing/2014/main" id="{45012EE3-8E26-4D5C-A3B9-8A71F475AFBD}"/>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We score final fields; an explanation can disagree with its answer.</a:t>
            </a:r>
          </a:p>
        </p:txBody>
      </p:sp>
      <p:sp>
        <p:nvSpPr>
          <p:cNvPr id="5" name="">
            <a:extLst xmlns:a="http://schemas.openxmlformats.org/drawingml/2006/main">
              <a:ext uri="{FF2B5EF4-FFF2-40B4-BE49-F238E27FC236}">
                <a16:creationId xmlns:a16="http://schemas.microsoft.com/office/drawing/2014/main" id="{2731A5F3-5F9F-4668-8D97-4A525A263C10}"/>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API failures and invalid formats are reported separately.</a:t>
            </a:r>
          </a:p>
        </p:txBody>
      </p:sp>
      <p:sp>
        <p:nvSpPr>
          <p:cNvPr id="6" name="">
            <a:extLst xmlns:a="http://schemas.openxmlformats.org/drawingml/2006/main">
              <a:ext uri="{FF2B5EF4-FFF2-40B4-BE49-F238E27FC236}">
                <a16:creationId xmlns:a16="http://schemas.microsoft.com/office/drawing/2014/main" id="{627FAFB7-BBB9-4995-98A4-E8819187A310}"/>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13</a:t>
            </a:r>
          </a:p>
        </p:txBody>
      </p:sp>
    </p:spTree>
    <p:extLst>
      <p:ext uri="{BB962C8B-B14F-4D97-AF65-F5344CB8AC3E}">
        <p14:creationId xmlns:p14="http://schemas.microsoft.com/office/powerpoint/2010/main" val="1322395410"/>
      </p:ext>
    </p:extLst>
  </p:cSld>
</p:sld>
</file>

<file path=ppt/slides/slide1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0F8E96-E66D-4148-A615-0D4F15085C11}"/>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 wrong date presented as verified</a:t>
            </a:r>
          </a:p>
        </p:txBody>
      </p:sp>
      <p:sp>
        <p:nvSpPr>
          <p:cNvPr id="2" name="">
            <a:extLst xmlns:a="http://schemas.openxmlformats.org/drawingml/2006/main">
              <a:ext uri="{FF2B5EF4-FFF2-40B4-BE49-F238E27FC236}">
                <a16:creationId xmlns:a16="http://schemas.microsoft.com/office/drawing/2014/main" id="{A960E5BD-1B04-4BB8-B5DF-FC48EEA92E41}"/>
              </a:ext>
            </a:extLst>
          </p:cNvPr>
          <p:cNvSpPr>
            <a:spLocks xmlns:a="http://schemas.openxmlformats.org/drawingml/2006/main" noGrp="1"/>
          </p:cNvSpPr>
          <p:nvPr/>
        </p:nvSpPr>
        <p:spPr>
          <a:xfrm xmlns:a="http://schemas.openxmlformats.org/drawingml/2006/main">
            <a:off x="685800" y="15144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7E77"/>
                </a:solidFill>
                <a:latin typeface="Helvetica Neue"/>
                <a:ea typeface="Helvetica Neue"/>
                <a:cs typeface="Helvetica Neue"/>
              </a:defRPr>
            </a:pPr>
            <a:r>
              <a:rPr sz="2175" b="1">
                <a:solidFill>
                  <a:srgbClr val="147E77"/>
                </a:solidFill>
                <a:latin typeface="Helvetica Neue"/>
                <a:ea typeface="Helvetica Neue"/>
                <a:cs typeface="Helvetica Neue"/>
              </a:rPr>
              <a:t>Notepad++ 7.8.8: official release date 28 June 2020</a:t>
            </a:r>
          </a:p>
        </p:txBody>
      </p:sp>
      <p:graphicFrame>
        <p:nvGraphicFramePr>
          <p:cNvPr id="9" name=""/>
          <p:cNvGraphicFramePr/>
          <p:nvPr/>
        </p:nvGraphicFramePr>
        <p:xfrm>
          <a:off xmlns:a="http://schemas.openxmlformats.org/drawingml/2006/main" x="685800" y="2095500"/>
          <a:ext xmlns:a="http://schemas.openxmlformats.org/drawingml/2006/main" cx="10820400" cy="2428875"/>
        </p:xfrm>
        <a:graphic xmlns:a="http://schemas.openxmlformats.org/drawingml/2006/main">
          <a:graphicData uri="http://schemas.openxmlformats.org/drawingml/2006/table">
            <a:tbl>
              <a:tblPr/>
              <a:tblGrid>
                <a:gridCol w="3143250"/>
                <a:gridCol w="7677150"/>
              </a:tblGrid>
              <a:tr h="607219">
                <a:tc>
                  <a:txBody>
                    <a:bodyPr/>
                    <a:lstStyle/>
                    <a:p>
                      <a:r>
                        <a:rPr sz="2025" b="1">
                          <a:solidFill>
                            <a:srgbClr val="FFFFFF"/>
                          </a:solidFill>
                          <a:latin typeface="Helvetica Neue"/>
                          <a:ea typeface="Helvetica Neue"/>
                          <a:cs typeface="Helvetica Neue"/>
                        </a:rPr>
                        <a:t>Parallel branch</a:t>
                      </a:r>
                    </a:p>
                  </a:txBody>
                  <a:tcPr marL="91440" marR="91440" marT="45720" marB="45720">
                    <a:solidFill>
                      <a:srgbClr val="142C40"/>
                    </a:solidFill>
                  </a:tcPr>
                </a:tc>
                <a:tc>
                  <a:txBody>
                    <a:bodyPr/>
                    <a:lstStyle/>
                    <a:p>
                      <a:r>
                        <a:rPr sz="2025" b="1">
                          <a:solidFill>
                            <a:srgbClr val="FFFFFF"/>
                          </a:solidFill>
                          <a:latin typeface="Helvetica Neue"/>
                          <a:ea typeface="Helvetica Neue"/>
                          <a:cs typeface="Helvetica Neue"/>
                        </a:rPr>
                        <a:t>MiniMax response</a:t>
                      </a:r>
                    </a:p>
                  </a:txBody>
                  <a:tcPr marL="91440" marR="91440" marT="45720" marB="45720">
                    <a:solidFill>
                      <a:srgbClr val="142C40"/>
                    </a:solidFill>
                  </a:tcPr>
                </a:tc>
              </a:tr>
              <a:tr h="607219">
                <a:tc>
                  <a:txBody>
                    <a:bodyPr/>
                    <a:lstStyle/>
                    <a:p>
                      <a:r>
                        <a:rPr sz="2025" b="0">
                          <a:solidFill>
                            <a:srgbClr val="142C40"/>
                          </a:solidFill>
                          <a:latin typeface="Helvetica Neue"/>
                          <a:ea typeface="Helvetica Neue"/>
                          <a:cs typeface="Helvetica Neue"/>
                        </a:rPr>
                        <a:t>C0 Neutral</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Cannot confirm a date</a:t>
                      </a:r>
                    </a:p>
                  </a:txBody>
                  <a:tcPr marL="91440" marR="91440" marT="45720" marB="45720">
                    <a:solidFill>
                      <a:srgbClr val="F0F4F7"/>
                    </a:solidFill>
                  </a:tcPr>
                </a:tc>
              </a:tr>
              <a:tr h="607219">
                <a:tc>
                  <a:txBody>
                    <a:bodyPr/>
                    <a:lstStyle/>
                    <a:p>
                      <a:r>
                        <a:rPr sz="2025" b="0">
                          <a:solidFill>
                            <a:srgbClr val="142C40"/>
                          </a:solidFill>
                          <a:latin typeface="Helvetica Neue"/>
                          <a:ea typeface="Helvetica Neue"/>
                          <a:cs typeface="Helvetica Neue"/>
                        </a:rPr>
                        <a:t>C1 / C2 Wrong advice</a:t>
                      </a:r>
                    </a:p>
                  </a:txBody>
                  <a:tcPr marL="91440" marR="91440" marT="45720" marB="45720">
                    <a:solidFill>
                      <a:srgbClr val="FFFFFF"/>
                    </a:solidFill>
                  </a:tcPr>
                </a:tc>
                <a:tc>
                  <a:txBody>
                    <a:bodyPr/>
                    <a:lstStyle/>
                    <a:p>
                      <a:r>
                        <a:rPr sz="2025" b="0">
                          <a:solidFill>
                            <a:srgbClr val="142C40"/>
                          </a:solidFill>
                          <a:latin typeface="Helvetica Neue"/>
                          <a:ea typeface="Helvetica Neue"/>
                          <a:cs typeface="Helvetica Neue"/>
                        </a:rPr>
                        <a:t>29 June 2020 (wrong)</a:t>
                      </a:r>
                    </a:p>
                  </a:txBody>
                  <a:tcPr marL="91440" marR="91440" marT="45720" marB="45720">
                    <a:solidFill>
                      <a:srgbClr val="FFFFFF"/>
                    </a:solidFill>
                  </a:tcPr>
                </a:tc>
              </a:tr>
              <a:tr h="607219">
                <a:tc>
                  <a:txBody>
                    <a:bodyPr/>
                    <a:lstStyle/>
                    <a:p>
                      <a:r>
                        <a:rPr sz="2025" b="0">
                          <a:solidFill>
                            <a:srgbClr val="142C40"/>
                          </a:solidFill>
                          <a:latin typeface="Helvetica Neue"/>
                          <a:ea typeface="Helvetica Neue"/>
                          <a:cs typeface="Helvetica Neue"/>
                        </a:rPr>
                        <a:t>C3 Structured</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Cannot verify the supplied claim</a:t>
                      </a:r>
                    </a:p>
                  </a:txBody>
                  <a:tcPr marL="91440" marR="91440" marT="45720" marB="45720">
                    <a:solidFill>
                      <a:srgbClr val="F0F4F7"/>
                    </a:solidFill>
                  </a:tcPr>
                </a:tc>
              </a:tr>
            </a:tbl>
          </a:graphicData>
        </a:graphic>
      </p:graphicFrame>
      <p:sp>
        <p:nvSpPr>
          <p:cNvPr id="4" name="">
            <a:extLst xmlns:a="http://schemas.openxmlformats.org/drawingml/2006/main">
              <a:ext uri="{FF2B5EF4-FFF2-40B4-BE49-F238E27FC236}">
                <a16:creationId xmlns:a16="http://schemas.microsoft.com/office/drawing/2014/main" id="{7CB6673C-B524-4F43-8C87-CED1D6FF0639}"/>
              </a:ext>
            </a:extLst>
          </p:cNvPr>
          <p:cNvSpPr>
            <a:spLocks xmlns:a="http://schemas.openxmlformats.org/drawingml/2006/main" noGrp="1"/>
          </p:cNvSpPr>
          <p:nvPr/>
        </p:nvSpPr>
        <p:spPr>
          <a:xfrm xmlns:a="http://schemas.openxmlformats.org/drawingml/2006/main">
            <a:off x="685800" y="4857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Helvetica Neue"/>
                <a:ea typeface="Helvetica Neue"/>
                <a:cs typeface="Helvetica Neue"/>
              </a:defRPr>
            </a:pPr>
            <a:r>
              <a:rPr sz="2100" b="0">
                <a:solidFill>
                  <a:srgbClr val="142C40"/>
                </a:solidFill>
                <a:latin typeface="Helvetica Neue"/>
                <a:ea typeface="Helvetica Neue"/>
                <a:cs typeface="Helvetica Neue"/>
              </a:rPr>
              <a:t>C1: “as confirmed by the official Notepad++ release notes”</a:t>
            </a:r>
          </a:p>
        </p:txBody>
      </p:sp>
      <p:sp>
        <p:nvSpPr>
          <p:cNvPr id="5" name="">
            <a:extLst xmlns:a="http://schemas.openxmlformats.org/drawingml/2006/main">
              <a:ext uri="{FF2B5EF4-FFF2-40B4-BE49-F238E27FC236}">
                <a16:creationId xmlns:a16="http://schemas.microsoft.com/office/drawing/2014/main" id="{E8BACE80-C54B-41E6-A09B-12A2AEB5F256}"/>
              </a:ext>
            </a:extLst>
          </p:cNvPr>
          <p:cNvSpPr>
            <a:spLocks xmlns:a="http://schemas.openxmlformats.org/drawingml/2006/main" noGrp="1"/>
          </p:cNvSpPr>
          <p:nvPr/>
        </p:nvSpPr>
        <p:spPr>
          <a:xfrm xmlns:a="http://schemas.openxmlformats.org/drawingml/2006/main">
            <a:off x="685800" y="55054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No search tool was available. A verification claim is not a retrieval record.</a:t>
            </a:r>
          </a:p>
        </p:txBody>
      </p:sp>
      <p:sp>
        <p:nvSpPr>
          <p:cNvPr id="6" name="">
            <a:extLst xmlns:a="http://schemas.openxmlformats.org/drawingml/2006/main">
              <a:ext uri="{FF2B5EF4-FFF2-40B4-BE49-F238E27FC236}">
                <a16:creationId xmlns:a16="http://schemas.microsoft.com/office/drawing/2014/main" id="{40BABB2F-9C07-43AA-95BF-C054C7BD6CA4}"/>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14</a:t>
            </a:r>
          </a:p>
        </p:txBody>
      </p:sp>
    </p:spTree>
    <p:extLst>
      <p:ext uri="{BB962C8B-B14F-4D97-AF65-F5344CB8AC3E}">
        <p14:creationId xmlns:p14="http://schemas.microsoft.com/office/powerpoint/2010/main" val="687953320"/>
      </p:ext>
    </p:extLst>
  </p:cSld>
</p:sld>
</file>

<file path=ppt/slides/slide1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FD4715-658A-42AB-9F67-EBB55455A930}"/>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Evidence and limits</a:t>
            </a:r>
          </a:p>
        </p:txBody>
      </p:sp>
      <p:sp>
        <p:nvSpPr>
          <p:cNvPr id="2" name="">
            <a:extLst xmlns:a="http://schemas.openxmlformats.org/drawingml/2006/main">
              <a:ext uri="{FF2B5EF4-FFF2-40B4-BE49-F238E27FC236}">
                <a16:creationId xmlns:a16="http://schemas.microsoft.com/office/drawing/2014/main" id="{5F8EE202-EFAA-4C75-86F7-C7E8A9FCC8D2}"/>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Selected date questions and four mathematical reasoning families.</a:t>
            </a:r>
          </a:p>
        </p:txBody>
      </p:sp>
      <p:sp>
        <p:nvSpPr>
          <p:cNvPr id="3" name="">
            <a:extLst xmlns:a="http://schemas.openxmlformats.org/drawingml/2006/main">
              <a:ext uri="{FF2B5EF4-FFF2-40B4-BE49-F238E27FC236}">
                <a16:creationId xmlns:a16="http://schemas.microsoft.com/office/drawing/2014/main" id="{4DD65111-C9B9-4DF7-9C61-4EB9B823A438}"/>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Natural checking increased Kimi’s factual error, while other models improved.</a:t>
            </a:r>
          </a:p>
        </p:txBody>
      </p:sp>
      <p:sp>
        <p:nvSpPr>
          <p:cNvPr id="4" name="">
            <a:extLst xmlns:a="http://schemas.openxmlformats.org/drawingml/2006/main">
              <a:ext uri="{FF2B5EF4-FFF2-40B4-BE49-F238E27FC236}">
                <a16:creationId xmlns:a16="http://schemas.microsoft.com/office/drawing/2014/main" id="{2E021F5B-C010-49BD-8D7A-3BF0E786C767}"/>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 processing and targeted AI review; no independent human audit.</a:t>
            </a:r>
          </a:p>
        </p:txBody>
      </p:sp>
      <p:sp>
        <p:nvSpPr>
          <p:cNvPr id="5" name="">
            <a:extLst xmlns:a="http://schemas.openxmlformats.org/drawingml/2006/main">
              <a:ext uri="{FF2B5EF4-FFF2-40B4-BE49-F238E27FC236}">
                <a16:creationId xmlns:a16="http://schemas.microsoft.com/office/drawing/2014/main" id="{B27EDAF2-24BC-41F4-BB0F-E32A4E7218D1}"/>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Advice was labelled AI. Human trust and decisions were not measured.</a:t>
            </a:r>
          </a:p>
        </p:txBody>
      </p:sp>
      <p:sp>
        <p:nvSpPr>
          <p:cNvPr id="6" name="">
            <a:extLst xmlns:a="http://schemas.openxmlformats.org/drawingml/2006/main">
              <a:ext uri="{FF2B5EF4-FFF2-40B4-BE49-F238E27FC236}">
                <a16:creationId xmlns:a16="http://schemas.microsoft.com/office/drawing/2014/main" id="{E36E1618-7FAE-4C76-A1C0-017971436EC3}"/>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15</a:t>
            </a:r>
          </a:p>
        </p:txBody>
      </p:sp>
    </p:spTree>
    <p:extLst>
      <p:ext uri="{BB962C8B-B14F-4D97-AF65-F5344CB8AC3E}">
        <p14:creationId xmlns:p14="http://schemas.microsoft.com/office/powerpoint/2010/main" val="33262796"/>
      </p:ext>
    </p:extLst>
  </p:cSld>
</p:sld>
</file>

<file path=ppt/slides/slide1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62C963-D0CB-4933-A60E-BD9C07095CE3}"/>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Can we trust AI more after checking?</a:t>
            </a:r>
          </a:p>
        </p:txBody>
      </p:sp>
      <p:sp>
        <p:nvSpPr>
          <p:cNvPr id="2" name="">
            <a:extLst xmlns:a="http://schemas.openxmlformats.org/drawingml/2006/main">
              <a:ext uri="{FF2B5EF4-FFF2-40B4-BE49-F238E27FC236}">
                <a16:creationId xmlns:a16="http://schemas.microsoft.com/office/drawing/2014/main" id="{657E7BAF-2BCB-4B1F-B343-5C1CF8044AAF}"/>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Natural factual error benefit remains uncertain. Two arithmetic errors were repaired.</a:t>
            </a:r>
          </a:p>
        </p:txBody>
      </p:sp>
      <p:sp>
        <p:nvSpPr>
          <p:cNvPr id="3" name="">
            <a:extLst xmlns:a="http://schemas.openxmlformats.org/drawingml/2006/main">
              <a:ext uri="{FF2B5EF4-FFF2-40B4-BE49-F238E27FC236}">
                <a16:creationId xmlns:a16="http://schemas.microsoft.com/office/drawing/2014/main" id="{4EDBA9EE-2BD3-43E5-9F37-4BAFBA80B14C}"/>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Controlled wrong advice can raise the probability of a wrong answer.</a:t>
            </a:r>
          </a:p>
        </p:txBody>
      </p:sp>
      <p:sp>
        <p:nvSpPr>
          <p:cNvPr id="4" name="">
            <a:extLst xmlns:a="http://schemas.openxmlformats.org/drawingml/2006/main">
              <a:ext uri="{FF2B5EF4-FFF2-40B4-BE49-F238E27FC236}">
                <a16:creationId xmlns:a16="http://schemas.microsoft.com/office/drawing/2014/main" id="{0BCD209F-04CE-4E6F-B7EC-E879196FD8D7}"/>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Structured checking can reduce wrong output by admitting uncertainty.</a:t>
            </a:r>
          </a:p>
        </p:txBody>
      </p:sp>
      <p:sp>
        <p:nvSpPr>
          <p:cNvPr id="5" name="">
            <a:extLst xmlns:a="http://schemas.openxmlformats.org/drawingml/2006/main">
              <a:ext uri="{FF2B5EF4-FFF2-40B4-BE49-F238E27FC236}">
                <a16:creationId xmlns:a16="http://schemas.microsoft.com/office/drawing/2014/main" id="{AAEFE0B8-B739-4E00-B105-5D7F08A821F5}"/>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Cross-checking provides no guarantee that the final answer is true.</a:t>
            </a:r>
          </a:p>
        </p:txBody>
      </p:sp>
      <p:sp>
        <p:nvSpPr>
          <p:cNvPr id="6" name="">
            <a:extLst xmlns:a="http://schemas.openxmlformats.org/drawingml/2006/main">
              <a:ext uri="{FF2B5EF4-FFF2-40B4-BE49-F238E27FC236}">
                <a16:creationId xmlns:a16="http://schemas.microsoft.com/office/drawing/2014/main" id="{EAC4A2D2-651C-4114-8A3B-894AE9561A0E}"/>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16</a:t>
            </a:r>
          </a:p>
        </p:txBody>
      </p:sp>
    </p:spTree>
    <p:extLst>
      <p:ext uri="{BB962C8B-B14F-4D97-AF65-F5344CB8AC3E}">
        <p14:creationId xmlns:p14="http://schemas.microsoft.com/office/powerpoint/2010/main" val="1621035662"/>
      </p:ext>
    </p:extLst>
  </p:cSld>
</p:sld>
</file>

<file path=ppt/slides/slide17.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21EA80-C643-460D-A93F-936E67A5A55B}"/>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 proposed workflow for users</a:t>
            </a:r>
          </a:p>
        </p:txBody>
      </p:sp>
      <p:sp>
        <p:nvSpPr>
          <p:cNvPr id="2" name="">
            <a:extLst xmlns:a="http://schemas.openxmlformats.org/drawingml/2006/main">
              <a:ext uri="{FF2B5EF4-FFF2-40B4-BE49-F238E27FC236}">
                <a16:creationId xmlns:a16="http://schemas.microsoft.com/office/drawing/2014/main" id="{5B2DE6D5-5EF0-4324-B427-D943D5CC2E36}"/>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State which parts of your prompt are assumptions or unverified guesses.</a:t>
            </a:r>
          </a:p>
        </p:txBody>
      </p:sp>
      <p:sp>
        <p:nvSpPr>
          <p:cNvPr id="3" name="">
            <a:extLst xmlns:a="http://schemas.openxmlformats.org/drawingml/2006/main">
              <a:ext uri="{FF2B5EF4-FFF2-40B4-BE49-F238E27FC236}">
                <a16:creationId xmlns:a16="http://schemas.microsoft.com/office/drawing/2014/main" id="{E8397FEE-C08A-4C6F-91E7-D8012445FDE3}"/>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Let models answer independently before showing your preferred answer.</a:t>
            </a:r>
          </a:p>
        </p:txBody>
      </p:sp>
      <p:sp>
        <p:nvSpPr>
          <p:cNvPr id="4" name="">
            <a:extLst xmlns:a="http://schemas.openxmlformats.org/drawingml/2006/main">
              <a:ext uri="{FF2B5EF4-FFF2-40B4-BE49-F238E27FC236}">
                <a16:creationId xmlns:a16="http://schemas.microsoft.com/office/drawing/2014/main" id="{535A16FE-19A8-4ED5-9E93-1C7B57964654}"/>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Check conflicting claims against evidence; retain unresolved uncertainty.</a:t>
            </a:r>
          </a:p>
        </p:txBody>
      </p:sp>
      <p:sp>
        <p:nvSpPr>
          <p:cNvPr id="5" name="">
            <a:extLst xmlns:a="http://schemas.openxmlformats.org/drawingml/2006/main">
              <a:ext uri="{FF2B5EF4-FFF2-40B4-BE49-F238E27FC236}">
                <a16:creationId xmlns:a16="http://schemas.microsoft.com/office/drawing/2014/main" id="{EE9224FA-22D3-4E66-ACFA-5E1888D3A038}"/>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Use reliable sources or executable checks for consequential claims.</a:t>
            </a:r>
          </a:p>
        </p:txBody>
      </p:sp>
      <p:sp>
        <p:nvSpPr>
          <p:cNvPr id="6" name="">
            <a:extLst xmlns:a="http://schemas.openxmlformats.org/drawingml/2006/main">
              <a:ext uri="{FF2B5EF4-FFF2-40B4-BE49-F238E27FC236}">
                <a16:creationId xmlns:a16="http://schemas.microsoft.com/office/drawing/2014/main" id="{075D40A3-387C-45D0-8DDD-FF3B4D7F8357}"/>
              </a:ext>
            </a:extLst>
          </p:cNvPr>
          <p:cNvSpPr>
            <a:spLocks xmlns:a="http://schemas.openxmlformats.org/drawingml/2006/main" noGrp="1"/>
          </p:cNvSpPr>
          <p:nvPr/>
        </p:nvSpPr>
        <p:spPr>
          <a:xfrm xmlns:a="http://schemas.openxmlformats.org/drawingml/2006/main">
            <a:off x="685800" y="59245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57586"/>
                </a:solidFill>
                <a:latin typeface="Helvetica Neue"/>
                <a:ea typeface="Helvetica Neue"/>
                <a:cs typeface="Helvetica Neue"/>
              </a:defRPr>
            </a:pPr>
            <a:r>
              <a:rPr sz="1650" b="0">
                <a:solidFill>
                  <a:srgbClr val="657586"/>
                </a:solidFill>
                <a:latin typeface="Helvetica Neue"/>
                <a:ea typeface="Helvetica Neue"/>
                <a:cs typeface="Helvetica Neue"/>
              </a:rPr>
              <a:t>External retrieval and calculators were not tested in this project.</a:t>
            </a:r>
          </a:p>
        </p:txBody>
      </p:sp>
      <p:sp>
        <p:nvSpPr>
          <p:cNvPr id="7" name="">
            <a:extLst xmlns:a="http://schemas.openxmlformats.org/drawingml/2006/main">
              <a:ext uri="{FF2B5EF4-FFF2-40B4-BE49-F238E27FC236}">
                <a16:creationId xmlns:a16="http://schemas.microsoft.com/office/drawing/2014/main" id="{17672620-6C9F-4A6B-A9B2-CCF0A7C8DD28}"/>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17</a:t>
            </a:r>
          </a:p>
        </p:txBody>
      </p:sp>
    </p:spTree>
    <p:extLst>
      <p:ext uri="{BB962C8B-B14F-4D97-AF65-F5344CB8AC3E}">
        <p14:creationId xmlns:p14="http://schemas.microsoft.com/office/powerpoint/2010/main" val="2076498470"/>
      </p:ext>
    </p:extLst>
  </p:cSld>
</p:sld>
</file>

<file path=ppt/slides/slide18.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069349-4E70-42A4-8EFB-280235E049CA}"/>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References and contributions</a:t>
            </a:r>
          </a:p>
        </p:txBody>
      </p:sp>
      <p:sp>
        <p:nvSpPr>
          <p:cNvPr id="2" name="">
            <a:extLst xmlns:a="http://schemas.openxmlformats.org/drawingml/2006/main">
              <a:ext uri="{FF2B5EF4-FFF2-40B4-BE49-F238E27FC236}">
                <a16:creationId xmlns:a16="http://schemas.microsoft.com/office/drawing/2014/main" id="{022C28A9-D11A-470E-AFF3-51BA2A738DDA}"/>
              </a:ext>
            </a:extLst>
          </p:cNvPr>
          <p:cNvSpPr>
            <a:spLocks xmlns:a="http://schemas.openxmlformats.org/drawingml/2006/main" noGrp="1"/>
          </p:cNvSpPr>
          <p:nvPr/>
        </p:nvSpPr>
        <p:spPr>
          <a:xfrm xmlns:a="http://schemas.openxmlformats.org/drawingml/2006/main">
            <a:off x="685800" y="16002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Google SimpleQA Verified: factual question source</a:t>
            </a:r>
          </a:p>
        </p:txBody>
      </p:sp>
      <p:sp>
        <p:nvSpPr>
          <p:cNvPr id="3" name="">
            <a:extLst xmlns:a="http://schemas.openxmlformats.org/drawingml/2006/main">
              <a:ext uri="{FF2B5EF4-FFF2-40B4-BE49-F238E27FC236}">
                <a16:creationId xmlns:a16="http://schemas.microsoft.com/office/drawing/2014/main" id="{5EC31261-2F00-46C1-884B-25151C6A298B}"/>
              </a:ext>
            </a:extLst>
          </p:cNvPr>
          <p:cNvSpPr>
            <a:spLocks xmlns:a="http://schemas.openxmlformats.org/drawingml/2006/main" noGrp="1"/>
          </p:cNvSpPr>
          <p:nvPr/>
        </p:nvSpPr>
        <p:spPr>
          <a:xfrm xmlns:a="http://schemas.openxmlformats.org/drawingml/2006/main">
            <a:off x="685800" y="22002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Huang et al. (ICLR 2024): limits of intrinsic self-correction</a:t>
            </a:r>
          </a:p>
        </p:txBody>
      </p:sp>
      <p:sp>
        <p:nvSpPr>
          <p:cNvPr id="4" name="">
            <a:extLst xmlns:a="http://schemas.openxmlformats.org/drawingml/2006/main">
              <a:ext uri="{FF2B5EF4-FFF2-40B4-BE49-F238E27FC236}">
                <a16:creationId xmlns:a16="http://schemas.microsoft.com/office/drawing/2014/main" id="{4AD2F64E-FB78-4F7C-93BC-801B500F342C}"/>
              </a:ext>
            </a:extLst>
          </p:cNvPr>
          <p:cNvSpPr>
            <a:spLocks xmlns:a="http://schemas.openxmlformats.org/drawingml/2006/main" noGrp="1"/>
          </p:cNvSpPr>
          <p:nvPr/>
        </p:nvSpPr>
        <p:spPr>
          <a:xfrm xmlns:a="http://schemas.openxmlformats.org/drawingml/2006/main">
            <a:off x="685800" y="28003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Dhuliawala et al. (ACL Findings 2024): Chain-of-Verification</a:t>
            </a:r>
          </a:p>
        </p:txBody>
      </p:sp>
      <p:sp>
        <p:nvSpPr>
          <p:cNvPr id="5" name="">
            <a:extLst xmlns:a="http://schemas.openxmlformats.org/drawingml/2006/main">
              <a:ext uri="{FF2B5EF4-FFF2-40B4-BE49-F238E27FC236}">
                <a16:creationId xmlns:a16="http://schemas.microsoft.com/office/drawing/2014/main" id="{E29C8F75-559B-4206-A057-4CE14ADCBEEB}"/>
              </a:ext>
            </a:extLst>
          </p:cNvPr>
          <p:cNvSpPr>
            <a:spLocks xmlns:a="http://schemas.openxmlformats.org/drawingml/2006/main" noGrp="1"/>
          </p:cNvSpPr>
          <p:nvPr/>
        </p:nvSpPr>
        <p:spPr>
          <a:xfrm xmlns:a="http://schemas.openxmlformats.org/drawingml/2006/main">
            <a:off x="685800" y="340042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Zhao et al. (EMNLP 2024): MathTrap</a:t>
            </a:r>
          </a:p>
        </p:txBody>
      </p:sp>
      <p:sp>
        <p:nvSpPr>
          <p:cNvPr id="6" name="">
            <a:extLst xmlns:a="http://schemas.openxmlformats.org/drawingml/2006/main">
              <a:ext uri="{FF2B5EF4-FFF2-40B4-BE49-F238E27FC236}">
                <a16:creationId xmlns:a16="http://schemas.microsoft.com/office/drawing/2014/main" id="{ACCD2AE1-7B39-4FB1-9A04-E32BDBF31568}"/>
              </a:ext>
            </a:extLst>
          </p:cNvPr>
          <p:cNvSpPr>
            <a:spLocks xmlns:a="http://schemas.openxmlformats.org/drawingml/2006/main" noGrp="1"/>
          </p:cNvSpPr>
          <p:nvPr/>
        </p:nvSpPr>
        <p:spPr>
          <a:xfrm xmlns:a="http://schemas.openxmlformats.org/drawingml/2006/main">
            <a:off x="685800" y="4000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Mirzadeh et al. (ICLR 2025): GSM-Symbolic</a:t>
            </a:r>
          </a:p>
        </p:txBody>
      </p:sp>
      <p:sp>
        <p:nvSpPr>
          <p:cNvPr id="7" name="">
            <a:extLst xmlns:a="http://schemas.openxmlformats.org/drawingml/2006/main">
              <a:ext uri="{FF2B5EF4-FFF2-40B4-BE49-F238E27FC236}">
                <a16:creationId xmlns:a16="http://schemas.microsoft.com/office/drawing/2014/main" id="{7AFEAB87-A71F-4F33-8241-99C4AFF91FA3}"/>
              </a:ext>
            </a:extLst>
          </p:cNvPr>
          <p:cNvSpPr>
            <a:spLocks xmlns:a="http://schemas.openxmlformats.org/drawingml/2006/main" noGrp="1"/>
          </p:cNvSpPr>
          <p:nvPr/>
        </p:nvSpPr>
        <p:spPr>
          <a:xfrm xmlns:a="http://schemas.openxmlformats.org/drawingml/2006/main">
            <a:off x="685800" y="50958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LINYUNIAN and PAN ZHENGYU</a:t>
            </a:r>
          </a:p>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R processing and Codex assistance. Earlier Claude Code review used Kimi.</a:t>
            </a:r>
          </a:p>
        </p:txBody>
      </p:sp>
      <p:sp>
        <p:nvSpPr>
          <p:cNvPr id="8" name="">
            <a:extLst xmlns:a="http://schemas.openxmlformats.org/drawingml/2006/main">
              <a:ext uri="{FF2B5EF4-FFF2-40B4-BE49-F238E27FC236}">
                <a16:creationId xmlns:a16="http://schemas.microsoft.com/office/drawing/2014/main" id="{A63CA2BF-8F61-4547-9366-AD1987F65107}"/>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18</a:t>
            </a:r>
          </a:p>
        </p:txBody>
      </p:sp>
    </p:spTree>
    <p:extLst>
      <p:ext uri="{BB962C8B-B14F-4D97-AF65-F5344CB8AC3E}">
        <p14:creationId xmlns:p14="http://schemas.microsoft.com/office/powerpoint/2010/main" val="2339269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2026-10-03T13:59:34.1440000Z</dcterms:created>
  <dcterms:modified xsi:type="dcterms:W3CDTF">2026-10-03T13:59:34.1440000Z</dcterms:modified>
</coreProperties>
</file>