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6.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7d81dc016144028" /><Relationship Type="http://schemas.openxmlformats.org/officeDocument/2006/relationships/extended-properties" Target="/docProps/app.xml" Id="R190befa29ee9490b" /><Relationship Type="http://schemas.openxmlformats.org/officeDocument/2006/relationships/officeDocument" Target="/ppt/presentation.xml" Id="R3364a68089804399" /></Relationships>
</file>

<file path=ppt/presentation.xml><?xml version="1.0" encoding="utf-8"?>
<p:presentation xmlns:p="http://schemas.openxmlformats.org/presentationml/2006/main">
  <p:sldMasterIdLst>
    <p:sldMasterId xmlns:r="http://schemas.openxmlformats.org/officeDocument/2006/relationships" id="2147483648" r:id="R1cebeb1b34524514"/>
  </p:sldMasterIdLst>
  <p:notesMasterIdLst>
    <p:notesMasterId xmlns:r="http://schemas.openxmlformats.org/officeDocument/2006/relationships" r:id="R875776c6fe3a4b28"/>
  </p:notesMasterIdLst>
  <p:sldIdLst>
    <p:sldId xmlns:r="http://schemas.openxmlformats.org/officeDocument/2006/relationships" id="256" r:id="R8dc19e59becf4692"/>
    <p:sldId xmlns:r="http://schemas.openxmlformats.org/officeDocument/2006/relationships" id="257" r:id="R2df6b90cf886430e"/>
    <p:sldId xmlns:r="http://schemas.openxmlformats.org/officeDocument/2006/relationships" id="258" r:id="R49f9837c795e4656"/>
    <p:sldId xmlns:r="http://schemas.openxmlformats.org/officeDocument/2006/relationships" id="259" r:id="Ra37b237bdf354f85"/>
    <p:sldId xmlns:r="http://schemas.openxmlformats.org/officeDocument/2006/relationships" id="260" r:id="R39c84e5acc8a46d9"/>
    <p:sldId xmlns:r="http://schemas.openxmlformats.org/officeDocument/2006/relationships" id="261" r:id="Rc50ad27dee0e467a"/>
    <p:sldId xmlns:r="http://schemas.openxmlformats.org/officeDocument/2006/relationships" id="262" r:id="Ref46506e5bc34b36"/>
    <p:sldId xmlns:r="http://schemas.openxmlformats.org/officeDocument/2006/relationships" id="263" r:id="R2c4399f4f7484fd0"/>
    <p:sldId xmlns:r="http://schemas.openxmlformats.org/officeDocument/2006/relationships" id="264" r:id="R78c9938c0bfa4239"/>
    <p:sldId xmlns:r="http://schemas.openxmlformats.org/officeDocument/2006/relationships" id="265" r:id="R0d65cc650d2d4aa6"/>
    <p:sldId xmlns:r="http://schemas.openxmlformats.org/officeDocument/2006/relationships" id="266" r:id="R8515a7c6164048a9"/>
    <p:sldId xmlns:r="http://schemas.openxmlformats.org/officeDocument/2006/relationships" id="267" r:id="Re5babb91c73c4f11"/>
    <p:sldId xmlns:r="http://schemas.openxmlformats.org/officeDocument/2006/relationships" id="268" r:id="Rf0be3d44bb7645a2"/>
    <p:sldId xmlns:r="http://schemas.openxmlformats.org/officeDocument/2006/relationships" id="269" r:id="R1b42dcbd0adc44ca"/>
    <p:sldId xmlns:r="http://schemas.openxmlformats.org/officeDocument/2006/relationships" id="270" r:id="R99577ee61c6f4721"/>
    <p:sldId xmlns:r="http://schemas.openxmlformats.org/officeDocument/2006/relationships" id="271" r:id="Ra26f0da3544a44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4f92fc3cab45e8" /><Relationship Type="http://schemas.openxmlformats.org/officeDocument/2006/relationships/slideMaster" Target="/ppt/slideMasters/slideMaster1.xml" Id="R1cebeb1b34524514" /><Relationship Type="http://schemas.openxmlformats.org/officeDocument/2006/relationships/notesMaster" Target="/ppt/notesMasters/notesMaster1.xml" Id="R875776c6fe3a4b28" /><Relationship Type="http://schemas.openxmlformats.org/officeDocument/2006/relationships/presProps" Target="/ppt/presProps.xml" Id="R19cc4201162e4062" /><Relationship Type="http://schemas.openxmlformats.org/officeDocument/2006/relationships/tableStyles" Target="/ppt/tableStyles.xml" Id="R0b10999619244969" /><Relationship Type="http://schemas.openxmlformats.org/officeDocument/2006/relationships/slide" Target="/ppt/slides/slide1.xml" Id="R8dc19e59becf4692" /><Relationship Type="http://schemas.openxmlformats.org/officeDocument/2006/relationships/slide" Target="/ppt/slides/slide2.xml" Id="R2df6b90cf886430e" /><Relationship Type="http://schemas.openxmlformats.org/officeDocument/2006/relationships/slide" Target="/ppt/slides/slide3.xml" Id="R49f9837c795e4656" /><Relationship Type="http://schemas.openxmlformats.org/officeDocument/2006/relationships/slide" Target="/ppt/slides/slide4.xml" Id="Ra37b237bdf354f85" /><Relationship Type="http://schemas.openxmlformats.org/officeDocument/2006/relationships/slide" Target="/ppt/slides/slide5.xml" Id="R39c84e5acc8a46d9" /><Relationship Type="http://schemas.openxmlformats.org/officeDocument/2006/relationships/slide" Target="/ppt/slides/slide6.xml" Id="Rc50ad27dee0e467a" /><Relationship Type="http://schemas.openxmlformats.org/officeDocument/2006/relationships/slide" Target="/ppt/slides/slide7.xml" Id="Ref46506e5bc34b36" /><Relationship Type="http://schemas.openxmlformats.org/officeDocument/2006/relationships/slide" Target="/ppt/slides/slide8.xml" Id="R2c4399f4f7484fd0" /><Relationship Type="http://schemas.openxmlformats.org/officeDocument/2006/relationships/slide" Target="/ppt/slides/slide9.xml" Id="R78c9938c0bfa4239" /><Relationship Type="http://schemas.openxmlformats.org/officeDocument/2006/relationships/slide" Target="/ppt/slides/slide10.xml" Id="R0d65cc650d2d4aa6" /><Relationship Type="http://schemas.openxmlformats.org/officeDocument/2006/relationships/slide" Target="/ppt/slides/slide11.xml" Id="R8515a7c6164048a9" /><Relationship Type="http://schemas.openxmlformats.org/officeDocument/2006/relationships/slide" Target="/ppt/slides/slide12.xml" Id="Re5babb91c73c4f11" /><Relationship Type="http://schemas.openxmlformats.org/officeDocument/2006/relationships/slide" Target="/ppt/slides/slide13.xml" Id="Rf0be3d44bb7645a2" /><Relationship Type="http://schemas.openxmlformats.org/officeDocument/2006/relationships/slide" Target="/ppt/slides/slide14.xml" Id="R1b42dcbd0adc44ca" /><Relationship Type="http://schemas.openxmlformats.org/officeDocument/2006/relationships/slide" Target="/ppt/slides/slide15.xml" Id="R99577ee61c6f4721" /><Relationship Type="http://schemas.openxmlformats.org/officeDocument/2006/relationships/slide" Target="/ppt/slides/slide16.xml" Id="Ra26f0da3544a44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fa5bce932a4d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eb7ea969934350" /><Relationship Type="http://schemas.openxmlformats.org/officeDocument/2006/relationships/notesMaster" Target="/ppt/notesMasters/notesMaster1.xml" Id="Rc54e56e483a548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8fd8031ddf4b76" /><Relationship Type="http://schemas.openxmlformats.org/officeDocument/2006/relationships/notesMaster" Target="/ppt/notesMasters/notesMaster1.xml" Id="R46f31274a99b4c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c0c01e37084996" /><Relationship Type="http://schemas.openxmlformats.org/officeDocument/2006/relationships/notesMaster" Target="/ppt/notesMasters/notesMaster1.xml" Id="R7c1cd54fb5e54c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08a0ae74954ac8" /><Relationship Type="http://schemas.openxmlformats.org/officeDocument/2006/relationships/notesMaster" Target="/ppt/notesMasters/notesMaster1.xml" Id="R520bb802ab6446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8a9c3b9ec840f1" /><Relationship Type="http://schemas.openxmlformats.org/officeDocument/2006/relationships/notesMaster" Target="/ppt/notesMasters/notesMaster1.xml" Id="Re2d298105cbc4e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f36415abe3d4ee3" /><Relationship Type="http://schemas.openxmlformats.org/officeDocument/2006/relationships/notesMaster" Target="/ppt/notesMasters/notesMaster1.xml" Id="R820c33fca3a242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49882dedd84008" /><Relationship Type="http://schemas.openxmlformats.org/officeDocument/2006/relationships/notesMaster" Target="/ppt/notesMasters/notesMaster1.xml" Id="R30962c980ac84f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261d38d1b144b7" /><Relationship Type="http://schemas.openxmlformats.org/officeDocument/2006/relationships/notesMaster" Target="/ppt/notesMasters/notesMaster1.xml" Id="R6e88e6284d954f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fba2f224204290" /><Relationship Type="http://schemas.openxmlformats.org/officeDocument/2006/relationships/notesMaster" Target="/ppt/notesMasters/notesMaster1.xml" Id="Ra7a896dcfd5146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596df976c247dd" /><Relationship Type="http://schemas.openxmlformats.org/officeDocument/2006/relationships/notesMaster" Target="/ppt/notesMasters/notesMaster1.xml" Id="R4f3e3c6cd5134b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dcac9dfd6544d8" /><Relationship Type="http://schemas.openxmlformats.org/officeDocument/2006/relationships/notesMaster" Target="/ppt/notesMasters/notesMaster1.xml" Id="Rd90a29cdafbd44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f4b93d6f2fe4948" /><Relationship Type="http://schemas.openxmlformats.org/officeDocument/2006/relationships/notesMaster" Target="/ppt/notesMasters/notesMaster1.xml" Id="Rec24205a1bc749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44b94e48c34b5f" /><Relationship Type="http://schemas.openxmlformats.org/officeDocument/2006/relationships/notesMaster" Target="/ppt/notesMasters/notesMaster1.xml" Id="Rc4a27f7a7e7541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cb5eabd3f84623" /><Relationship Type="http://schemas.openxmlformats.org/officeDocument/2006/relationships/notesMaster" Target="/ppt/notesMasters/notesMaster1.xml" Id="R3ddae6fd44d045d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ea4ac9fefd493c" /><Relationship Type="http://schemas.openxmlformats.org/officeDocument/2006/relationships/notesMaster" Target="/ppt/notesMasters/notesMaster1.xml" Id="Rf0cf86ccb32b44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065c654c8e4053" /><Relationship Type="http://schemas.openxmlformats.org/officeDocument/2006/relationships/notesMaster" Target="/ppt/notesMasters/notesMaster1.xml" Id="R35b7b4485adb45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Introduce LINYUNIAN and PAN ZHENGYU. The project asks whether structured checking helps resist misleading input. AI-generated suggestions simulate a person bringing an assumption or explanation into an AI conversation. The actual source label says another AI. We measured no human behavior. </a:t>
            </a:r>
          </a:p>
          <a:p xmlns:a="http://schemas.openxmlformats.org/drawingml/2006/main">
            <a:r>
              <a:t>Sources: https://github.com/ThomasLin070217/comp2501-ai-reliability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Present original RQ1 and RQ2, then identify the new all-unit comparisons explicitly as post-hoc additions. The original harmful-flip and repair outcomes remain unchanged. The supplement looks at uncertainty becoming a wrong answer, not just initially correct answers becoming wrong. </a:t>
            </a:r>
          </a:p>
          <a:p xmlns:a="http://schemas.openxmlformats.org/drawingml/2006/main">
            <a:r>
              <a:t>Sources: https://openreview.net/forum?id=IkmD3fKBPQ</a:t>
            </a:r>
          </a:p>
          <a:p xmlns:a="http://schemas.openxmlformats.org/drawingml/2006/main">
            <a:r>
              <a:t>https://aclanthology.org/2024.findings-acl.212/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Each baseline creates six separate conversations. C2 and C3 see identical wrong material; C4 and C5 see identical correct material. The arrows people may imagine are comparisons, not a chain of edits. Another model generated the material for an assigned target. Explain C0 as spontaneous rechecking control. </a:t>
            </a:r>
          </a:p>
          <a:p xmlns:a="http://schemas.openxmlformats.org/drawingml/2006/main">
            <a:r>
              <a:t>Sources: https://github.com/ThomasLin070217/comp2501-ai-reliability/blob/main/docs/experiment-plan-v1.md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Distinguish questions, responses and paired units. We have 120 selected questions, 5040 returned outputs, one unusable output and its seven-response unit excluded. Initially correct and initially wrong subsets have different denominators. All current processing is R. Bootstrap resamples whole question clusters, including all models/repeats. </a:t>
            </a:r>
          </a:p>
          <a:p xmlns:a="http://schemas.openxmlformats.org/drawingml/2006/main">
            <a:r>
              <a:t>Sources: https://huggingface.co/datasets/google/simpleqa-verified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Read counts: five, three, zero out of 154 initially correct units. Adding a wrong explanation did not show increased harm. C2 minus C1 is -1.30 percentage points with interval [-5.17,2.31]. Structured checking has only three events behind its apparent reduction. Zero is not a safety guarantee. </a:t>
            </a:r>
          </a:p>
          <a:p xmlns:a="http://schemas.openxmlformats.org/drawingml/2006/main">
            <a:r>
              <a:t>Sources: https://github.com/ThomasLin070217/comp2501-ai-reliability/blob/main/Peer_Misleading_Study/reports/main_r/effects.csv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Read the forest plot: points show error-rate differences, horizontal segments show 95% question-cluster intervals, and zero means no difference. Negative values mean less error, not necessarily more correct answers. The exact values are printed on the right. Post-hoc analysis of all 719 paired units. Error rates are 46.04% for C0, 64.81% C1, 52.43% C2 and 35.88% C3. C1-C0 is +18.78 points [14.35,23.09], C2-C0 +6.40 [1.94,10.99], and C3-C2 -16.55 [-20.70,-12.38]. Pointwise exploratory intervals use 5000 question-cluster draws, seed 25011003. C0 minus initial error is +1.25 [-3.06,5.56]. The wrong-target counts are 11,251,147,58. C0 matching is spontaneous. These results do not support explanations being more harmful than wrong answers alone. </a:t>
            </a:r>
          </a:p>
          <a:p xmlns:a="http://schemas.openxmlformats.org/drawingml/2006/main">
            <a:r>
              <a:t>Sources: https://github.com/ThomasLin070217/comp2501-ai-reliability/blob/main/Submission_Pack/补充分析_2026-10-03.md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Read the C2-by-C3 heatmap. Rows are C2, columns are C3. Each cell shows a paired count; darker cells mean more pairs on a shared 0-228 scale. Most prevented errors become abstentions: 144 wrong-to-abstain and 5 wrong-to-correct, offset by 21 abstain-to-wrong and 9 correct-to-wrong. Net wrong outputs fall by 119, but correct outputs also fall by 21. Comparisons use parallel branches, not sequential follow-ups. Relative to C0, C1/C2 include 158/114 abstain-to-wrong pairs and 25/67 reverse pairs, showing how misleading input can fill a knowledge gap. </a:t>
            </a:r>
          </a:p>
          <a:p xmlns:a="http://schemas.openxmlformats.org/drawingml/2006/main">
            <a:r>
              <a:t>Sources: https://github.com/ThomasLin070217/comp2501-ai-reliability/blob/main/Submission_Pack/补充分析_2026-10-03.md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Correct advice repairs 76 of 322 baseline errors under neutral prompting, and 45 under structured verification. Paired difference is -9.63 percentage points with question-cluster interval [-14.38,-5.25]. There are 48 adverse discordant units and 17 reverse units. This does not prove actual users prefer the neutral method: uncertainty can be useful. </a:t>
            </a:r>
          </a:p>
          <a:p xmlns:a="http://schemas.openxmlformats.org/drawingml/2006/main">
            <a:r>
              <a:t>Sources: https://github.com/ThomasLin070217/comp2501-ai-reliability/blob/main/Peer_Misleading_Study/reports/main_r/effects.csv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 100% stacked bars show the proportions correct, wrong and abstaining; all use 719 complete units. Structured prompts shift many outputs into abstention. Date accuracy does not validate the explanation or prove evidence was consulted. Mention the correct 1975 candidate with explicit uncertainty as a case of mixed dimensions. </a:t>
            </a:r>
          </a:p>
          <a:p xmlns:a="http://schemas.openxmlformats.org/drawingml/2006/main">
            <a:r>
              <a:t>Sources: https://github.com/ThomasLin070217/comp2501-ai-reliability/blob/main/docs/review-discussion-2026-10-02.md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seconds. Notepad++ version 7.8.8 has official release date June 28 2020. The same MiniMax repeat in parallel branches cannot confirm under C0, answers June 29 under C1 and C2, and abstains under C3 because the explanation gives no verifiable evidence. The exact C1 phrase is as confirmed by the official Notepad++ release notes. The receiver had no search tool. A correct date or confident verification phrase does not prove a lookup occurred. Preserve the counterexample: DeepSeek repeat 0 C4 is correct and C5 gives June 4. </a:t>
            </a:r>
          </a:p>
          <a:p xmlns:a="http://schemas.openxmlformats.org/drawingml/2006/main">
            <a:r>
              <a:t>Sources: https://github.com/notepad-plus-plus/notepad-plus-plus/wiki/Changes-v7#788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Codex read 240 pairs containing 451 distinct responses, including all 144 C2-wrong/C3-abstain pairs. Among the 144, 114 withhold a date, 25 offer only unconfirmed candidates, 3 challenge the premise and 2 retain date assertions. Remaining background claims were not exhaustively checked. Telegram C3 still claims premium animated emoji in December 2021, conflicting with its official August 2022 introduction. No additional manual labeling is required for this delivery, and no independent human validation is claimed. </a:t>
            </a:r>
          </a:p>
          <a:p xmlns:a="http://schemas.openxmlformats.org/drawingml/2006/main">
            <a:r>
              <a:t>Sources: https://github.com/ThomasLin070217/comp2501-ai-reliability/blob/main/Peer_Misleading_Study/reports/interaction_posthoc/ai_case_review.csv</a:t>
            </a:r>
          </a:p>
          <a:p xmlns:a="http://schemas.openxmlformats.org/drawingml/2006/main">
            <a:r>
              <a:t>https://telegram.org/blog/custom-emoji?setln=en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Ask the audience whether area is 50. Side length 10 forces height about 8.66, so conditions are inconsistent. Correct rejection of a contradictory premise is a mathematical conclusion, not the model refusing from uncertainty. This is MathTrap Table 13, a historical GPT-4-0125-preview failure; no claim every current model fails this exact item. </a:t>
            </a:r>
          </a:p>
          <a:p xmlns:a="http://schemas.openxmlformats.org/drawingml/2006/main">
            <a:r>
              <a:t>Sources: https://aclanthology.org/2024.emnlp-main.915/ (Table 13)</a:t>
            </a:r>
          </a:p>
          <a:p xmlns:a="http://schemas.openxmlformats.org/drawingml/2006/main">
            <a:r>
              <a:t>https://machinelearning.apple.com/research/gsm-symbolic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Read the current math counts from the slide, keeping the supplement separate from factual results. None of 55 initially correct units flipped. C0 alone reaches 68/71. Thirteen of 16 initial field errors already have a correct endpoint in the reason, so do not describe all gains as logical repairs. State 13 of 16 planned items passed peer-material quality; only three families have complete trap/control coverage. Numbers and repeated outputs are dependent. This is descriptive evidence and not a benchmark or universal method ranking. </a:t>
            </a:r>
          </a:p>
          <a:p xmlns:a="http://schemas.openxmlformats.org/drawingml/2006/main">
            <a:r>
              <a:t>Sources: https://github.com/ThomasLin070217/comp2501-ai-reliability/tree/main/Math_Supplement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Explain selected difficult date questions, model differences and source concerns. MiniMax C2 versus C0 error change is -1.67 points with interval [-8.40,5.42], unlike the pooled increase. Both source-exclusion variants preserve pooled directions. The AI semantic review is targeted and unblinded. Human thinking was not measured. Mathematical material eligibility failed the original balanced design and remains a partial supplement. </a:t>
            </a:r>
          </a:p>
          <a:p xmlns:a="http://schemas.openxmlformats.org/drawingml/2006/main">
            <a:r>
              <a:t>Sources: https://github.com/ThomasLin070217/comp2501-ai-reliability/blob/main/Math_Supplement/protocol/deviations.md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seconds. Connect the results to use: avoid supplying guesses as settled facts, ask for the evidence supporting the exact claim, and preserve uncertainty. A trusted source or executable test is a proposed application design, not a tested intervention here. Ordinary rechecking did not show the structured prompt benefit. Abstention may protect users from misinformation, but its effect on human thinking was not measured. </a:t>
            </a:r>
          </a:p>
          <a:p xmlns:a="http://schemas.openxmlformats.org/drawingml/2006/main">
            <a:r>
              <a:t>Sources: https://arxiv.org/abs/2005.11401</a:t>
            </a:r>
          </a:p>
          <a:p xmlns:a="http://schemas.openxmlformats.org/drawingml/2006/main">
            <a:r>
              <a:t>https://aclanthology.org/2024.findings-acl.212/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Name the project team: LINYUNIAN and PAN ZHENGYU. Cite the dataset and papers. Disclose Codex implementation, R analysis and targeted AI review. Earlier Claude Code review used the configured Kimi backend. Do not invent individual student responsibilities or describe AI review as independent human validation. </a:t>
            </a:r>
          </a:p>
          <a:p xmlns:a="http://schemas.openxmlformats.org/drawingml/2006/main">
            <a:r>
              <a:t>Sources: https://huggingface.co/datasets/google/simpleqa-verified</a:t>
            </a:r>
          </a:p>
          <a:p xmlns:a="http://schemas.openxmlformats.org/drawingml/2006/main">
            <a:r>
              <a:t>https://openreview.net/forum?id=IkmD3fKBPQ</a:t>
            </a:r>
          </a:p>
          <a:p xmlns:a="http://schemas.openxmlformats.org/drawingml/2006/main">
            <a:r>
              <a:t>https://aclanthology.org/2024.findings-acl.212/</a:t>
            </a:r>
          </a:p>
          <a:p xmlns:a="http://schemas.openxmlformats.org/drawingml/2006/main">
            <a:r>
              <a:t>https://aclanthology.org/2024.emnlp-main.915/</a:t>
            </a:r>
          </a:p>
          <a:p xmlns:a="http://schemas.openxmlformats.org/drawingml/2006/main">
            <a:r>
              <a:t>https://machinelearning.apple.com/research/gsm-symbolic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8151dee30c4c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1c71c52e684299" /><Relationship Type="http://schemas.openxmlformats.org/officeDocument/2006/relationships/slideLayout" Target="/ppt/slideLayouts/slideLayout1.xml" Id="R017ef42e8f994f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7ef42e8f994f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dfbf13379a4f75" /><Relationship Type="http://schemas.openxmlformats.org/officeDocument/2006/relationships/notesSlide" Target="/ppt/notesSlides/notesSlide1.xml" Id="Rb934253b18f84a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fcab61c4c2431d" /><Relationship Type="http://schemas.openxmlformats.org/officeDocument/2006/relationships/notesSlide" Target="/ppt/notesSlides/notesSlide2.xml" Id="R469defade0a24c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ee5d97dea6447b8" /><Relationship Type="http://schemas.openxmlformats.org/officeDocument/2006/relationships/notesSlide" Target="/ppt/notesSlides/notesSlide3.xml" Id="R08678ad26bde4c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e61f2b95c84d4c" /><Relationship Type="http://schemas.openxmlformats.org/officeDocument/2006/relationships/notesSlide" Target="/ppt/notesSlides/notesSlide4.xml" Id="Rfc2935a72a7a46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05b412781d4785" /><Relationship Type="http://schemas.openxmlformats.org/officeDocument/2006/relationships/chart" Target="/ppt/slides/charts/chart1.xml" Id="R4a32360394994e8f" /><Relationship Type="http://schemas.openxmlformats.org/officeDocument/2006/relationships/notesSlide" Target="/ppt/notesSlides/notesSlide5.xml" Id="R98567412f4a44a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de75bd64cc45de" /><Relationship Type="http://schemas.openxmlformats.org/officeDocument/2006/relationships/chart" Target="/ppt/slides/charts/chart2.xml" Id="R7b2139576f284651" /><Relationship Type="http://schemas.openxmlformats.org/officeDocument/2006/relationships/notesSlide" Target="/ppt/notesSlides/notesSlide6.xml" Id="R759d915a510248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ab1be634c264404" /><Relationship Type="http://schemas.openxmlformats.org/officeDocument/2006/relationships/notesSlide" Target="/ppt/notesSlides/notesSlide7.xml" Id="R0881117704b147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f1510aa44d434a" /><Relationship Type="http://schemas.openxmlformats.org/officeDocument/2006/relationships/chart" Target="/ppt/slides/charts/chart3.xml" Id="Ra01c87e7dc3a4f14" /><Relationship Type="http://schemas.openxmlformats.org/officeDocument/2006/relationships/notesSlide" Target="/ppt/notesSlides/notesSlide8.xml" Id="R7392cf93b87548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6abbe8f0c6448d" /><Relationship Type="http://schemas.openxmlformats.org/officeDocument/2006/relationships/chart" Target="/ppt/slides/charts/chart4.xml" Id="R4bbc1c64c8264d10" /><Relationship Type="http://schemas.openxmlformats.org/officeDocument/2006/relationships/notesSlide" Target="/ppt/notesSlides/notesSlide9.xml" Id="Rb19c0b637c8e40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a78b2c0c91484a" /><Relationship Type="http://schemas.openxmlformats.org/officeDocument/2006/relationships/notesSlide" Target="/ppt/notesSlides/notesSlide10.xml" Id="Rebd627c8b7a643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e083807ada4094" /><Relationship Type="http://schemas.openxmlformats.org/officeDocument/2006/relationships/chart" Target="/ppt/slides/charts/chart5.xml" Id="R79f9165169384598" /><Relationship Type="http://schemas.openxmlformats.org/officeDocument/2006/relationships/notesSlide" Target="/ppt/notesSlides/notesSlide11.xml" Id="Re59c236b4a194d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c741ec599d4996" /><Relationship Type="http://schemas.openxmlformats.org/officeDocument/2006/relationships/notesSlide" Target="/ppt/notesSlides/notesSlide12.xml" Id="Rf879110b9ded4ef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569d43e82441c8" /><Relationship Type="http://schemas.openxmlformats.org/officeDocument/2006/relationships/chart" Target="/ppt/slides/charts/chart6.xml" Id="R420c8460588c46b4" /><Relationship Type="http://schemas.openxmlformats.org/officeDocument/2006/relationships/notesSlide" Target="/ppt/notesSlides/notesSlide13.xml" Id="Rc871fd7d951a4e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22ba6449474d74" /><Relationship Type="http://schemas.openxmlformats.org/officeDocument/2006/relationships/notesSlide" Target="/ppt/notesSlides/notesSlide14.xml" Id="R784c7980f4784ee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b0fda59e4be408a" /><Relationship Type="http://schemas.openxmlformats.org/officeDocument/2006/relationships/notesSlide" Target="/ppt/notesSlides/notesSlide15.xml" Id="R5563703cfccf406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b3614ff7bfd4132" /><Relationship Type="http://schemas.openxmlformats.org/officeDocument/2006/relationships/notesSlide" Target="/ppt/notesSlides/notesSlide16.xml" Id="R29b5aed35f59405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correct_to_incorrect</c:v>
          </c:tx>
          <c:spPr>
            <a:solidFill xmlns:a="http://schemas.openxmlformats.org/drawingml/2006/main">
              <a:srgbClr val="C45F48"/>
            </a:solidFill>
          </c:spPr>
          <c:cat>
            <c:strRef>
              <c:f>'Chart Data'!$A$2:$A$4</c:f>
              <c:strCache>
                <c:ptCount val="3"/>
                <c:pt idx="0">
                  <c:v>C1 Wrong only</c:v>
                </c:pt>
                <c:pt idx="1">
                  <c:v>C2 Wrong + reason</c:v>
                </c:pt>
                <c:pt idx="2">
                  <c:v>C3 Structured</c:v>
                </c:pt>
              </c:strCache>
            </c:strRef>
          </c:cat>
          <c:val>
            <c:numRef>
              <c:f>'Chart Data'!$B$2:$B$4</c:f>
              <c:numCache>
                <c:formatCode>0</c:formatCode>
                <c:ptCount val="3"/>
                <c:pt idx="0">
                  <c:v>5</c:v>
                </c:pt>
                <c:pt idx="1">
                  <c:v>3</c:v>
                </c:pt>
                <c:pt idx="2">
                  <c:v>0</c:v>
                </c:pt>
              </c:numCache>
            </c:numRef>
          </c:val>
        </c:ser>
        <c:dLbls>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No difference</c:v>
          </c:tx>
          <c:spPr>
            <a:ln xmlns:a="http://schemas.openxmlformats.org/drawingml/2006/main" w="9525">
              <a:solidFill>
                <a:srgbClr val="657586"/>
              </a:solidFill>
            </a:ln>
          </c:spPr>
          <c:marker>
            <c:symbol val="none"/>
          </c:marker>
          <c:xVal>
            <c:numRef>
              <c:f>'Chart Data'!$A$2:$A$3</c:f>
              <c:numCache>
                <c:formatCode>General</c:formatCode>
                <c:ptCount val="2"/>
                <c:pt idx="0">
                  <c:v>0</c:v>
                </c:pt>
                <c:pt idx="1">
                  <c:v>0</c:v>
                </c:pt>
              </c:numCache>
            </c:numRef>
          </c:xVal>
          <c:yVal>
            <c:numRef>
              <c:f>'Chart Data'!$B$2:$B$3</c:f>
              <c:numCache>
                <c:formatCode>General</c:formatCode>
                <c:ptCount val="2"/>
                <c:pt idx="0">
                  <c:v>0</c:v>
                </c:pt>
                <c:pt idx="1">
                  <c:v>6</c:v>
                </c:pt>
              </c:numCache>
            </c:numRef>
          </c:yVal>
        </c:ser>
        <c:ser>
          <c:idx val="1"/>
          <c:order val="1"/>
          <c:tx>
            <c:v>C0_vs_baseline interval</c:v>
          </c:tx>
          <c:spPr>
            <a:ln xmlns:a="http://schemas.openxmlformats.org/drawingml/2006/main" w="28575">
              <a:solidFill>
                <a:srgbClr val="142C40"/>
              </a:solidFill>
            </a:ln>
          </c:spPr>
          <c:marker>
            <c:symbol val="none"/>
          </c:marker>
          <c:xVal>
            <c:numRef>
              <c:f>'Chart Data'!$C$2:$C$3</c:f>
              <c:numCache>
                <c:formatCode>General</c:formatCode>
                <c:ptCount val="2"/>
                <c:pt idx="0">
                  <c:v>-3.06406685236769</c:v>
                </c:pt>
                <c:pt idx="1">
                  <c:v>5.56328233657858</c:v>
                </c:pt>
              </c:numCache>
            </c:numRef>
          </c:xVal>
          <c:yVal>
            <c:numRef>
              <c:f>'Chart Data'!$D$2:$D$3</c:f>
              <c:numCache>
                <c:formatCode>General</c:formatCode>
                <c:ptCount val="2"/>
                <c:pt idx="0">
                  <c:v>5</c:v>
                </c:pt>
                <c:pt idx="1">
                  <c:v>5</c:v>
                </c:pt>
              </c:numCache>
            </c:numRef>
          </c:yVal>
        </c:ser>
        <c:ser>
          <c:idx val="2"/>
          <c:order val="2"/>
          <c:tx>
            <c:v>C0_vs_baseline</c:v>
          </c:tx>
          <c:spPr>
            <a:solidFill xmlns:a="http://schemas.openxmlformats.org/drawingml/2006/main">
              <a:srgbClr val="147E77"/>
            </a:solidFill>
            <a:ln xmlns:a="http://schemas.openxmlformats.org/drawingml/2006/main">
              <a:noFill/>
            </a:ln>
          </c:spPr>
          <c:marker>
            <c:symbol val="circle"/>
            <c:size val="9"/>
            <c:spPr>
              <a:noFill xmlns:a="http://schemas.openxmlformats.org/drawingml/2006/main"/>
            </c:spPr>
          </c:marker>
          <c:xVal>
            <c:numRef>
              <c:f>'Chart Data'!$E$2:$E$2</c:f>
              <c:numCache>
                <c:formatCode>General</c:formatCode>
                <c:ptCount val="1"/>
                <c:pt idx="0">
                  <c:v>1.25173852573018</c:v>
                </c:pt>
              </c:numCache>
            </c:numRef>
          </c:xVal>
          <c:yVal>
            <c:numRef>
              <c:f>'Chart Data'!$F$2:$F$2</c:f>
              <c:numCache>
                <c:formatCode>General</c:formatCode>
                <c:ptCount val="1"/>
                <c:pt idx="0">
                  <c:v>5</c:v>
                </c:pt>
              </c:numCache>
            </c:numRef>
          </c:yVal>
        </c:ser>
        <c:ser>
          <c:idx val="3"/>
          <c:order val="3"/>
          <c:tx>
            <c:v>C1_vs_C0 interval</c:v>
          </c:tx>
          <c:spPr>
            <a:ln xmlns:a="http://schemas.openxmlformats.org/drawingml/2006/main" w="28575">
              <a:solidFill>
                <a:srgbClr val="142C40"/>
              </a:solidFill>
            </a:ln>
          </c:spPr>
          <c:marker>
            <c:symbol val="none"/>
          </c:marker>
          <c:xVal>
            <c:numRef>
              <c:f>'Chart Data'!$G$2:$G$3</c:f>
              <c:numCache>
                <c:formatCode>General</c:formatCode>
                <c:ptCount val="2"/>
                <c:pt idx="0">
                  <c:v>14.3454038997214</c:v>
                </c:pt>
                <c:pt idx="1">
                  <c:v>23.0876216968011</c:v>
                </c:pt>
              </c:numCache>
            </c:numRef>
          </c:xVal>
          <c:yVal>
            <c:numRef>
              <c:f>'Chart Data'!$H$2:$H$3</c:f>
              <c:numCache>
                <c:formatCode>General</c:formatCode>
                <c:ptCount val="2"/>
                <c:pt idx="0">
                  <c:v>4</c:v>
                </c:pt>
                <c:pt idx="1">
                  <c:v>4</c:v>
                </c:pt>
              </c:numCache>
            </c:numRef>
          </c:yVal>
        </c:ser>
        <c:ser>
          <c:idx val="4"/>
          <c:order val="4"/>
          <c:tx>
            <c:v>C1_vs_C0</c:v>
          </c:tx>
          <c:spPr>
            <a:solidFill xmlns:a="http://schemas.openxmlformats.org/drawingml/2006/main">
              <a:srgbClr val="147E77"/>
            </a:solidFill>
            <a:ln xmlns:a="http://schemas.openxmlformats.org/drawingml/2006/main">
              <a:noFill/>
            </a:ln>
          </c:spPr>
          <c:marker>
            <c:symbol val="circle"/>
            <c:size val="9"/>
            <c:spPr>
              <a:noFill xmlns:a="http://schemas.openxmlformats.org/drawingml/2006/main"/>
            </c:spPr>
          </c:marker>
          <c:xVal>
            <c:numRef>
              <c:f>'Chart Data'!$I$2:$I$2</c:f>
              <c:numCache>
                <c:formatCode>General</c:formatCode>
                <c:ptCount val="1"/>
                <c:pt idx="0">
                  <c:v>18.7760778859527</c:v>
                </c:pt>
              </c:numCache>
            </c:numRef>
          </c:xVal>
          <c:yVal>
            <c:numRef>
              <c:f>'Chart Data'!$J$2:$J$2</c:f>
              <c:numCache>
                <c:formatCode>General</c:formatCode>
                <c:ptCount val="1"/>
                <c:pt idx="0">
                  <c:v>4</c:v>
                </c:pt>
              </c:numCache>
            </c:numRef>
          </c:yVal>
        </c:ser>
        <c:ser>
          <c:idx val="5"/>
          <c:order val="5"/>
          <c:tx>
            <c:v>C2_vs_C0 interval</c:v>
          </c:tx>
          <c:spPr>
            <a:ln xmlns:a="http://schemas.openxmlformats.org/drawingml/2006/main" w="28575">
              <a:solidFill>
                <a:srgbClr val="142C40"/>
              </a:solidFill>
            </a:ln>
          </c:spPr>
          <c:marker>
            <c:symbol val="none"/>
          </c:marker>
          <c:xVal>
            <c:numRef>
              <c:f>'Chart Data'!$K$2:$K$3</c:f>
              <c:numCache>
                <c:formatCode>General</c:formatCode>
                <c:ptCount val="2"/>
                <c:pt idx="0">
                  <c:v>1.94444444444445</c:v>
                </c:pt>
                <c:pt idx="1">
                  <c:v>10.9874826147427</c:v>
                </c:pt>
              </c:numCache>
            </c:numRef>
          </c:xVal>
          <c:yVal>
            <c:numRef>
              <c:f>'Chart Data'!$L$2:$L$3</c:f>
              <c:numCache>
                <c:formatCode>General</c:formatCode>
                <c:ptCount val="2"/>
                <c:pt idx="0">
                  <c:v>3</c:v>
                </c:pt>
                <c:pt idx="1">
                  <c:v>3</c:v>
                </c:pt>
              </c:numCache>
            </c:numRef>
          </c:yVal>
        </c:ser>
        <c:ser>
          <c:idx val="6"/>
          <c:order val="6"/>
          <c:tx>
            <c:v>C2_vs_C0</c:v>
          </c:tx>
          <c:spPr>
            <a:solidFill xmlns:a="http://schemas.openxmlformats.org/drawingml/2006/main">
              <a:srgbClr val="147E77"/>
            </a:solidFill>
            <a:ln xmlns:a="http://schemas.openxmlformats.org/drawingml/2006/main">
              <a:noFill/>
            </a:ln>
          </c:spPr>
          <c:marker>
            <c:symbol val="circle"/>
            <c:size val="9"/>
            <c:spPr>
              <a:noFill xmlns:a="http://schemas.openxmlformats.org/drawingml/2006/main"/>
            </c:spPr>
          </c:marker>
          <c:xVal>
            <c:numRef>
              <c:f>'Chart Data'!$M$2:$M$2</c:f>
              <c:numCache>
                <c:formatCode>General</c:formatCode>
                <c:ptCount val="1"/>
                <c:pt idx="0">
                  <c:v>6.39777468706536</c:v>
                </c:pt>
              </c:numCache>
            </c:numRef>
          </c:xVal>
          <c:yVal>
            <c:numRef>
              <c:f>'Chart Data'!$N$2:$N$2</c:f>
              <c:numCache>
                <c:formatCode>General</c:formatCode>
                <c:ptCount val="1"/>
                <c:pt idx="0">
                  <c:v>3</c:v>
                </c:pt>
              </c:numCache>
            </c:numRef>
          </c:yVal>
        </c:ser>
        <c:ser>
          <c:idx val="7"/>
          <c:order val="7"/>
          <c:tx>
            <c:v>C3_vs_C2 interval</c:v>
          </c:tx>
          <c:spPr>
            <a:ln xmlns:a="http://schemas.openxmlformats.org/drawingml/2006/main" w="28575">
              <a:solidFill>
                <a:srgbClr val="142C40"/>
              </a:solidFill>
            </a:ln>
          </c:spPr>
          <c:marker>
            <c:symbol val="none"/>
          </c:marker>
          <c:xVal>
            <c:numRef>
              <c:f>'Chart Data'!$O$2:$O$3</c:f>
              <c:numCache>
                <c:formatCode>General</c:formatCode>
                <c:ptCount val="2"/>
                <c:pt idx="0">
                  <c:v>-20.6951640009272</c:v>
                </c:pt>
                <c:pt idx="1">
                  <c:v>-12.3783031988873</c:v>
                </c:pt>
              </c:numCache>
            </c:numRef>
          </c:xVal>
          <c:yVal>
            <c:numRef>
              <c:f>'Chart Data'!$P$2:$P$3</c:f>
              <c:numCache>
                <c:formatCode>General</c:formatCode>
                <c:ptCount val="2"/>
                <c:pt idx="0">
                  <c:v>2</c:v>
                </c:pt>
                <c:pt idx="1">
                  <c:v>2</c:v>
                </c:pt>
              </c:numCache>
            </c:numRef>
          </c:yVal>
        </c:ser>
        <c:ser>
          <c:idx val="8"/>
          <c:order val="8"/>
          <c:tx>
            <c:v>C3_vs_C2</c:v>
          </c:tx>
          <c:spPr>
            <a:solidFill xmlns:a="http://schemas.openxmlformats.org/drawingml/2006/main">
              <a:srgbClr val="147E77"/>
            </a:solidFill>
            <a:ln xmlns:a="http://schemas.openxmlformats.org/drawingml/2006/main">
              <a:noFill/>
            </a:ln>
          </c:spPr>
          <c:marker>
            <c:symbol val="circle"/>
            <c:size val="9"/>
            <c:spPr>
              <a:noFill xmlns:a="http://schemas.openxmlformats.org/drawingml/2006/main"/>
            </c:spPr>
          </c:marker>
          <c:xVal>
            <c:numRef>
              <c:f>'Chart Data'!$Q$2:$Q$2</c:f>
              <c:numCache>
                <c:formatCode>General</c:formatCode>
                <c:ptCount val="1"/>
                <c:pt idx="0">
                  <c:v>-16.5507649513213</c:v>
                </c:pt>
              </c:numCache>
            </c:numRef>
          </c:xVal>
          <c:yVal>
            <c:numRef>
              <c:f>'Chart Data'!$R$2:$R$2</c:f>
              <c:numCache>
                <c:formatCode>General</c:formatCode>
                <c:ptCount val="1"/>
                <c:pt idx="0">
                  <c:v>2</c:v>
                </c:pt>
              </c:numCache>
            </c:numRef>
          </c:yVal>
        </c:ser>
        <c:ser>
          <c:idx val="9"/>
          <c:order val="9"/>
          <c:tx>
            <c:v>C5_vs_C4 interval</c:v>
          </c:tx>
          <c:spPr>
            <a:ln xmlns:a="http://schemas.openxmlformats.org/drawingml/2006/main" w="28575">
              <a:solidFill>
                <a:srgbClr val="142C40"/>
              </a:solidFill>
            </a:ln>
          </c:spPr>
          <c:marker>
            <c:symbol val="none"/>
          </c:marker>
          <c:xVal>
            <c:numRef>
              <c:f>'Chart Data'!$S$2:$S$3</c:f>
              <c:numCache>
                <c:formatCode>General</c:formatCode>
                <c:ptCount val="2"/>
                <c:pt idx="0">
                  <c:v>-7.37134909596662</c:v>
                </c:pt>
                <c:pt idx="1">
                  <c:v>-2.22222222222222</c:v>
                </c:pt>
              </c:numCache>
            </c:numRef>
          </c:xVal>
          <c:yVal>
            <c:numRef>
              <c:f>'Chart Data'!$T$2:$T$3</c:f>
              <c:numCache>
                <c:formatCode>General</c:formatCode>
                <c:ptCount val="2"/>
                <c:pt idx="0">
                  <c:v>1</c:v>
                </c:pt>
                <c:pt idx="1">
                  <c:v>1</c:v>
                </c:pt>
              </c:numCache>
            </c:numRef>
          </c:yVal>
        </c:ser>
        <c:ser>
          <c:idx val="10"/>
          <c:order val="10"/>
          <c:tx>
            <c:v>C5_vs_C4</c:v>
          </c:tx>
          <c:spPr>
            <a:solidFill xmlns:a="http://schemas.openxmlformats.org/drawingml/2006/main">
              <a:srgbClr val="147E77"/>
            </a:solidFill>
            <a:ln xmlns:a="http://schemas.openxmlformats.org/drawingml/2006/main">
              <a:noFill/>
            </a:ln>
          </c:spPr>
          <c:marker>
            <c:symbol val="circle"/>
            <c:size val="9"/>
            <c:spPr>
              <a:noFill xmlns:a="http://schemas.openxmlformats.org/drawingml/2006/main"/>
            </c:spPr>
          </c:marker>
          <c:xVal>
            <c:numRef>
              <c:f>'Chart Data'!$U$2:$U$2</c:f>
              <c:numCache>
                <c:formatCode>General</c:formatCode>
                <c:ptCount val="1"/>
                <c:pt idx="0">
                  <c:v>-4.72878998609179</c:v>
                </c:pt>
              </c:numCache>
            </c:numRef>
          </c:xVal>
          <c:yVal>
            <c:numRef>
              <c:f>'Chart Data'!$V$2:$V$2</c:f>
              <c:numCache>
                <c:formatCode>General</c:formatCode>
                <c:ptCount val="1"/>
                <c:pt idx="0">
                  <c:v>1</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numFmt formatCode="General"/>
        <c:majorTickMark val="none"/>
        <c:minorTickMark val="none"/>
        <c:tickLblPos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valAx>
      <c:valAx>
        <c:axId val="48650112"/>
        <c:scaling>
          <c:orientation val="minMax"/>
          <c:max val="25"/>
          <c:min val="-25"/>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majorUnit val="5"/>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incorrect_to_correct</c:v>
          </c:tx>
          <c:spPr>
            <a:solidFill xmlns:a="http://schemas.openxmlformats.org/drawingml/2006/main">
              <a:srgbClr val="147E77"/>
            </a:solidFill>
          </c:spPr>
          <c:cat>
            <c:strRef>
              <c:f>'Chart Data'!$A$2:$A$3</c:f>
              <c:strCache>
                <c:ptCount val="2"/>
                <c:pt idx="0">
                  <c:v>C4 Correct advice</c:v>
                </c:pt>
                <c:pt idx="1">
                  <c:v>C5 Structured</c:v>
                </c:pt>
              </c:strCache>
            </c:strRef>
          </c:cat>
          <c:val>
            <c:numRef>
              <c:f>'Chart Data'!$B$2:$B$3</c:f>
              <c:numCache>
                <c:formatCode>0</c:formatCode>
                <c:ptCount val="2"/>
                <c:pt idx="0">
                  <c:v>76</c:v>
                </c:pt>
                <c:pt idx="1">
                  <c:v>45</c:v>
                </c:pt>
              </c:numCache>
            </c:numRef>
          </c:val>
        </c:ser>
        <c:dLbls>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Correct</c:v>
          </c:tx>
          <c:spPr>
            <a:solidFill xmlns:a="http://schemas.openxmlformats.org/drawingml/2006/main">
              <a:srgbClr val="147E77"/>
            </a:solidFill>
          </c:spPr>
          <c:cat>
            <c:strRef>
              <c:f>'Chart Data'!$A$2:$A$5</c:f>
              <c:strCache>
                <c:ptCount val="4"/>
                <c:pt idx="0">
                  <c:v>C2 Wrong advice</c:v>
                </c:pt>
                <c:pt idx="1">
                  <c:v>C3 Structured</c:v>
                </c:pt>
                <c:pt idx="2">
                  <c:v>C4 Correct advice</c:v>
                </c:pt>
                <c:pt idx="3">
                  <c:v>C5 Structured</c:v>
                </c:pt>
              </c:strCache>
            </c:strRef>
          </c:cat>
          <c:val>
            <c:numRef>
              <c:f>'Chart Data'!$B$2:$B$5</c:f>
              <c:numCache>
                <c:formatCode>0.0</c:formatCode>
                <c:ptCount val="4"/>
                <c:pt idx="0">
                  <c:v>22.5312934631433</c:v>
                </c:pt>
                <c:pt idx="1">
                  <c:v>19.6105702364395</c:v>
                </c:pt>
                <c:pt idx="2">
                  <c:v>49.095966620306</c:v>
                </c:pt>
                <c:pt idx="3">
                  <c:v>26.8428372739917</c:v>
                </c:pt>
              </c:numCache>
            </c:numRef>
          </c:val>
        </c:ser>
        <c:ser>
          <c:idx val="1"/>
          <c:order val="1"/>
          <c:tx>
            <c:v>Wrong</c:v>
          </c:tx>
          <c:spPr>
            <a:solidFill xmlns:a="http://schemas.openxmlformats.org/drawingml/2006/main">
              <a:srgbClr val="C45F48"/>
            </a:solidFill>
          </c:spPr>
          <c:cat>
            <c:strRef>
              <c:f>'Chart Data'!$C$2:$C$5</c:f>
              <c:strCache>
                <c:ptCount val="4"/>
                <c:pt idx="0">
                  <c:v>C2 Wrong advice</c:v>
                </c:pt>
                <c:pt idx="1">
                  <c:v>C3 Structured</c:v>
                </c:pt>
                <c:pt idx="2">
                  <c:v>C4 Correct advice</c:v>
                </c:pt>
                <c:pt idx="3">
                  <c:v>C5 Structured</c:v>
                </c:pt>
              </c:strCache>
            </c:strRef>
          </c:cat>
          <c:val>
            <c:numRef>
              <c:f>'Chart Data'!$D$2:$D$5</c:f>
              <c:numCache>
                <c:formatCode>0.0</c:formatCode>
                <c:ptCount val="4"/>
                <c:pt idx="0">
                  <c:v>52.4339360222531</c:v>
                </c:pt>
                <c:pt idx="1">
                  <c:v>35.8831710709319</c:v>
                </c:pt>
                <c:pt idx="2">
                  <c:v>30.1808066759388</c:v>
                </c:pt>
                <c:pt idx="3">
                  <c:v>25.452016689847</c:v>
                </c:pt>
              </c:numCache>
            </c:numRef>
          </c:val>
        </c:ser>
        <c:ser>
          <c:idx val="2"/>
          <c:order val="2"/>
          <c:tx>
            <c:v>Abstain</c:v>
          </c:tx>
          <c:spPr>
            <a:solidFill xmlns:a="http://schemas.openxmlformats.org/drawingml/2006/main">
              <a:srgbClr val="8B9BAE"/>
            </a:solidFill>
          </c:spPr>
          <c:cat>
            <c:strRef>
              <c:f>'Chart Data'!$E$2:$E$5</c:f>
              <c:strCache>
                <c:ptCount val="4"/>
                <c:pt idx="0">
                  <c:v>C2 Wrong advice</c:v>
                </c:pt>
                <c:pt idx="1">
                  <c:v>C3 Structured</c:v>
                </c:pt>
                <c:pt idx="2">
                  <c:v>C4 Correct advice</c:v>
                </c:pt>
                <c:pt idx="3">
                  <c:v>C5 Structured</c:v>
                </c:pt>
              </c:strCache>
            </c:strRef>
          </c:cat>
          <c:val>
            <c:numRef>
              <c:f>'Chart Data'!$F$2:$F$5</c:f>
              <c:numCache>
                <c:formatCode>0.0</c:formatCode>
                <c:ptCount val="4"/>
                <c:pt idx="0">
                  <c:v>25.0347705146036</c:v>
                </c:pt>
                <c:pt idx="1">
                  <c:v>44.5062586926286</c:v>
                </c:pt>
                <c:pt idx="2">
                  <c:v>20.7232267037552</c:v>
                </c:pt>
                <c:pt idx="3">
                  <c:v>47.7051460361613</c:v>
                </c:pt>
              </c:numCache>
            </c:numRef>
          </c:val>
        </c:ser>
        <c:dLbls>
          <c:txPr>
            <a:bodyPr xmlns:a="http://schemas.openxmlformats.org/drawingml/2006/main" anchorCtr="1"/>
            <a:lstStyle xmlns:a="http://schemas.openxmlformats.org/drawingml/2006/main"/>
            <a:p xmlns:a="http://schemas.openxmlformats.org/drawingml/2006/main">
              <a:pPr>
                <a:defRPr sz="1800">
                  <a:solidFill>
                    <a:srgbClr val="FFFFFF"/>
                  </a:solidFill>
                  <a:latin typeface="Helvetica Neue"/>
                  <a:ea typeface="Helvetica Neue"/>
                  <a:cs typeface="Helvetica Neue"/>
                </a:defRPr>
              </a:pPr>
            </a:p>
          </c:txPr>
          <c:dLblPos val="ctr"/>
          <c:showLegendKey val="0"/>
          <c:showVal val="1"/>
          <c:showCatName val="0"/>
          <c:showSerName val="0"/>
          <c:showPercent val="0"/>
          <c:showBubbleSize val="0"/>
          <c:showLeaderLines val="0"/>
        </c:dLbls>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10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majorUnit val="25"/>
      </c:valAx>
    </c:plotArea>
    <c:legend>
      <c:legendPos val="b"/>
      <c:overlay val="0"/>
      <c:txPr>
        <a:bodyPr xmlns:a="http://schemas.openxmlformats.org/drawingml/2006/main" anchorCtr="1"/>
        <a:lstStyle xmlns:a="http://schemas.openxmlformats.org/drawingml/2006/main"/>
        <a:p xmlns:a="http://schemas.openxmlformats.org/drawingml/2006/main">
          <a:pPr>
            <a:defRPr sz="1725">
              <a:latin typeface="Helvetica Neue"/>
              <a:ea typeface="Helvetica Neue"/>
              <a:cs typeface="Helvetica Neue"/>
            </a:defRPr>
          </a:pPr>
        </a:p>
      </c:txPr>
    </c:legend>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Pairs</c:v>
          </c:tx>
          <c:spPr>
            <a:solidFill xmlns:a="http://schemas.openxmlformats.org/drawingml/2006/main">
              <a:srgbClr val="147E77"/>
            </a:solidFill>
          </c:spPr>
          <c:cat>
            <c:strRef>
              <c:f>'Chart Data'!$A$2:$A$5</c:f>
              <c:strCache>
                <c:ptCount val="4"/>
                <c:pt idx="0">
                  <c:v>Retains a date assertion</c:v>
                </c:pt>
                <c:pt idx="1">
                  <c:v>Challenges the premise</c:v>
                </c:pt>
                <c:pt idx="2">
                  <c:v>Unconfirmed candidate only</c:v>
                </c:pt>
                <c:pt idx="3">
                  <c:v>Clearly withholds a date</c:v>
                </c:pt>
              </c:strCache>
            </c:strRef>
          </c:cat>
          <c:val>
            <c:numRef>
              <c:f>'Chart Data'!$B$2:$B$5</c:f>
              <c:numCache>
                <c:formatCode>0</c:formatCode>
                <c:ptCount val="4"/>
                <c:pt idx="0">
                  <c:v>2</c:v>
                </c:pt>
                <c:pt idx="1">
                  <c:v>3</c:v>
                </c:pt>
                <c:pt idx="2">
                  <c:v>25</c:v>
                </c:pt>
                <c:pt idx="3">
                  <c:v>114</c:v>
                </c:pt>
              </c:numCache>
            </c:numRef>
          </c:val>
        </c:ser>
        <c:dLbls>
          <c:txPr>
            <a:bodyPr xmlns:a="http://schemas.openxmlformats.org/drawingml/2006/main" anchorCtr="1"/>
            <a:lstStyle xmlns:a="http://schemas.openxmlformats.org/drawingml/2006/main"/>
            <a:p xmlns:a="http://schemas.openxmlformats.org/drawingml/2006/main">
              <a:pPr>
                <a:defRPr sz="1875">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72768"/>
      </c:catAx>
      <c:valAx>
        <c:axId val="48672768"/>
        <c:scaling>
          <c:orientation val="minMax"/>
          <c:max val="125"/>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c:v>
          </c:tx>
          <c:spPr>
            <a:solidFill xmlns:a="http://schemas.openxmlformats.org/drawingml/2006/main">
              <a:srgbClr val="147E77"/>
            </a:solidFill>
          </c:spPr>
          <c:cat>
            <c:strRef>
              <c:f>'Chart Data'!$A$2:$A$8</c:f>
              <c:strCache>
                <c:ptCount val="7"/>
                <c:pt idx="0">
                  <c:v>Initial</c:v>
                </c:pt>
                <c:pt idx="1">
                  <c:v>C0</c:v>
                </c:pt>
                <c:pt idx="2">
                  <c:v>C1</c:v>
                </c:pt>
                <c:pt idx="3">
                  <c:v>C2</c:v>
                </c:pt>
                <c:pt idx="4">
                  <c:v>C3</c:v>
                </c:pt>
                <c:pt idx="5">
                  <c:v>C4</c:v>
                </c:pt>
                <c:pt idx="6">
                  <c:v>C5</c:v>
                </c:pt>
              </c:strCache>
            </c:strRef>
          </c:cat>
          <c:val>
            <c:numRef>
              <c:f>'Chart Data'!$B$2:$B$8</c:f>
              <c:numCache>
                <c:formatCode>0</c:formatCode>
                <c:ptCount val="7"/>
                <c:pt idx="0">
                  <c:v>55</c:v>
                </c:pt>
                <c:pt idx="1">
                  <c:v>68</c:v>
                </c:pt>
                <c:pt idx="2">
                  <c:v>66</c:v>
                </c:pt>
                <c:pt idx="3">
                  <c:v>65</c:v>
                </c:pt>
                <c:pt idx="4">
                  <c:v>67</c:v>
                </c:pt>
                <c:pt idx="5">
                  <c:v>71</c:v>
                </c:pt>
                <c:pt idx="6">
                  <c:v>70</c:v>
                </c:pt>
              </c:numCache>
            </c:numRef>
          </c:val>
        </c:ser>
        <c:dLbls>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5668D9D-8665-4E6E-8A98-7ED9C3689C75}"/>
              </a:ext>
            </a:extLst>
          </p:cNvPr>
          <p:cNvSpPr>
            <a:spLocks xmlns:a="http://schemas.openxmlformats.org/drawingml/2006/main" noGrp="1"/>
          </p:cNvSpPr>
          <p:nvPr/>
        </p:nvSpPr>
        <p:spPr>
          <a:xfrm xmlns:a="http://schemas.openxmlformats.org/drawingml/2006/main">
            <a:off x="628650" y="400050"/>
            <a:ext cx="109347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Can structured double-checking</a:t>
            </a:r>
          </a:p>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resist misleading AI peers?</a:t>
            </a:r>
          </a:p>
        </p:txBody>
      </p:sp>
      <p:sp>
        <p:nvSpPr>
          <p:cNvPr id="2" name="">
            <a:extLst xmlns:a="http://schemas.openxmlformats.org/drawingml/2006/main">
              <a:ext uri="{FF2B5EF4-FFF2-40B4-BE49-F238E27FC236}">
                <a16:creationId xmlns:a16="http://schemas.microsoft.com/office/drawing/2014/main" id="{F5F5FA30-7127-441F-8B40-8D532F8893FB}"/>
              </a:ext>
            </a:extLst>
          </p:cNvPr>
          <p:cNvSpPr>
            <a:spLocks xmlns:a="http://schemas.openxmlformats.org/drawingml/2006/main" noGrp="1"/>
          </p:cNvSpPr>
          <p:nvPr/>
        </p:nvSpPr>
        <p:spPr>
          <a:xfrm xmlns:a="http://schemas.openxmlformats.org/drawingml/2006/main">
            <a:off x="685800" y="26479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7E77"/>
                </a:solidFill>
                <a:latin typeface="Helvetica Neue"/>
                <a:ea typeface="Helvetica Neue"/>
                <a:cs typeface="Helvetica Neue"/>
              </a:defRPr>
            </a:pPr>
            <a:r>
              <a:rPr sz="2100" b="1">
                <a:solidFill>
                  <a:srgbClr val="147E77"/>
                </a:solidFill>
                <a:latin typeface="Helvetica Neue"/>
                <a:ea typeface="Helvetica Neue"/>
                <a:cs typeface="Helvetica Neue"/>
              </a:rPr>
              <a:t>COMP2501</a:t>
            </a:r>
          </a:p>
        </p:txBody>
      </p:sp>
      <p:sp>
        <p:nvSpPr>
          <p:cNvPr id="3" name="">
            <a:extLst xmlns:a="http://schemas.openxmlformats.org/drawingml/2006/main">
              <a:ext uri="{FF2B5EF4-FFF2-40B4-BE49-F238E27FC236}">
                <a16:creationId xmlns:a16="http://schemas.microsoft.com/office/drawing/2014/main" id="{2A7D91DC-3CF6-491D-9D2E-564041E2C4A3}"/>
              </a:ext>
            </a:extLst>
          </p:cNvPr>
          <p:cNvSpPr>
            <a:spLocks xmlns:a="http://schemas.openxmlformats.org/drawingml/2006/main" noGrp="1"/>
          </p:cNvSpPr>
          <p:nvPr/>
        </p:nvSpPr>
        <p:spPr>
          <a:xfrm xmlns:a="http://schemas.openxmlformats.org/drawingml/2006/main">
            <a:off x="685800" y="33337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C40"/>
                </a:solidFill>
                <a:latin typeface="Helvetica Neue"/>
                <a:ea typeface="Helvetica Neue"/>
                <a:cs typeface="Helvetica Neue"/>
              </a:defRPr>
            </a:pPr>
            <a:r>
              <a:rPr sz="2550" b="1">
                <a:solidFill>
                  <a:srgbClr val="142C40"/>
                </a:solidFill>
                <a:latin typeface="Helvetica Neue"/>
                <a:ea typeface="Helvetica Neue"/>
                <a:cs typeface="Helvetica Neue"/>
              </a:rPr>
              <a:t>LINYUNIAN  /  PAN ZHENGYU</a:t>
            </a:r>
          </a:p>
        </p:txBody>
      </p:sp>
      <p:sp>
        <p:nvSpPr>
          <p:cNvPr id="4" name="">
            <a:extLst xmlns:a="http://schemas.openxmlformats.org/drawingml/2006/main">
              <a:ext uri="{FF2B5EF4-FFF2-40B4-BE49-F238E27FC236}">
                <a16:creationId xmlns:a16="http://schemas.microsoft.com/office/drawing/2014/main" id="{AEA2E4EB-B600-43AD-906C-113E84EA3C02}"/>
              </a:ext>
            </a:extLst>
          </p:cNvPr>
          <p:cNvSpPr>
            <a:spLocks xmlns:a="http://schemas.openxmlformats.org/drawingml/2006/main" noGrp="1"/>
          </p:cNvSpPr>
          <p:nvPr/>
        </p:nvSpPr>
        <p:spPr>
          <a:xfrm xmlns:a="http://schemas.openxmlformats.org/drawingml/2006/main">
            <a:off x="685800" y="4286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Factual questions and a mathematics supplement</a:t>
            </a:r>
          </a:p>
        </p:txBody>
      </p:sp>
      <p:sp>
        <p:nvSpPr>
          <p:cNvPr id="5" name="">
            <a:extLst xmlns:a="http://schemas.openxmlformats.org/drawingml/2006/main">
              <a:ext uri="{FF2B5EF4-FFF2-40B4-BE49-F238E27FC236}">
                <a16:creationId xmlns:a16="http://schemas.microsoft.com/office/drawing/2014/main" id="{5D3A9123-2AEB-4E7E-AE4A-F8018CD199E0}"/>
              </a:ext>
            </a:extLst>
          </p:cNvPr>
          <p:cNvSpPr>
            <a:spLocks xmlns:a="http://schemas.openxmlformats.org/drawingml/2006/main" noGrp="1"/>
          </p:cNvSpPr>
          <p:nvPr/>
        </p:nvSpPr>
        <p:spPr>
          <a:xfrm xmlns:a="http://schemas.openxmlformats.org/drawingml/2006/main">
            <a:off x="685800" y="53054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120 factual questions  /  Three model APIs  /  R analysis</a:t>
            </a:r>
          </a:p>
        </p:txBody>
      </p:sp>
      <p:sp>
        <p:nvSpPr>
          <p:cNvPr id="6" name="">
            <a:extLst xmlns:a="http://schemas.openxmlformats.org/drawingml/2006/main">
              <a:ext uri="{FF2B5EF4-FFF2-40B4-BE49-F238E27FC236}">
                <a16:creationId xmlns:a16="http://schemas.microsoft.com/office/drawing/2014/main" id="{6DF54561-BF9D-4D00-81F4-3B0266A67A84}"/>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1</a:t>
            </a:r>
          </a:p>
        </p:txBody>
      </p:sp>
    </p:spTree>
    <p:extLst>
      <p:ext uri="{BB962C8B-B14F-4D97-AF65-F5344CB8AC3E}">
        <p14:creationId xmlns:p14="http://schemas.microsoft.com/office/powerpoint/2010/main" val="511649868"/>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44123B-E559-4CB9-AEE5-4568F3A090CD}"/>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Research questions</a:t>
            </a:r>
          </a:p>
        </p:txBody>
      </p:sp>
      <p:sp>
        <p:nvSpPr>
          <p:cNvPr id="2" name="">
            <a:extLst xmlns:a="http://schemas.openxmlformats.org/drawingml/2006/main">
              <a:ext uri="{FF2B5EF4-FFF2-40B4-BE49-F238E27FC236}">
                <a16:creationId xmlns:a16="http://schemas.microsoft.com/office/drawing/2014/main" id="{8C68AE0B-F2F9-4C3B-BEAA-13B32FE4FAD4}"/>
              </a:ext>
            </a:extLst>
          </p:cNvPr>
          <p:cNvSpPr>
            <a:spLocks xmlns:a="http://schemas.openxmlformats.org/drawingml/2006/main" noGrp="1"/>
          </p:cNvSpPr>
          <p:nvPr/>
        </p:nvSpPr>
        <p:spPr>
          <a:xfrm xmlns:a="http://schemas.openxmlformats.org/drawingml/2006/main">
            <a:off x="685800" y="16573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RQ1  Does an explanation make a wrong AI suggestion more misleading?</a:t>
            </a:r>
          </a:p>
        </p:txBody>
      </p:sp>
      <p:sp>
        <p:nvSpPr>
          <p:cNvPr id="3" name="">
            <a:extLst xmlns:a="http://schemas.openxmlformats.org/drawingml/2006/main">
              <a:ext uri="{FF2B5EF4-FFF2-40B4-BE49-F238E27FC236}">
                <a16:creationId xmlns:a16="http://schemas.microsoft.com/office/drawing/2014/main" id="{0AEA7B88-B52D-41D7-906D-E0D1E28C0F8A}"/>
              </a:ext>
            </a:extLst>
          </p:cNvPr>
          <p:cNvSpPr>
            <a:spLocks xmlns:a="http://schemas.openxmlformats.org/drawingml/2006/main" noGrp="1"/>
          </p:cNvSpPr>
          <p:nvPr/>
        </p:nvSpPr>
        <p:spPr>
          <a:xfrm xmlns:a="http://schemas.openxmlformats.org/drawingml/2006/main">
            <a:off x="685800" y="26289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RQ2  Can a structured check resist the same wrong suggestion?</a:t>
            </a:r>
          </a:p>
        </p:txBody>
      </p:sp>
      <p:sp>
        <p:nvSpPr>
          <p:cNvPr id="4" name="">
            <a:extLst xmlns:a="http://schemas.openxmlformats.org/drawingml/2006/main">
              <a:ext uri="{FF2B5EF4-FFF2-40B4-BE49-F238E27FC236}">
                <a16:creationId xmlns:a16="http://schemas.microsoft.com/office/drawing/2014/main" id="{660C0B69-EDD8-42FD-BB9E-D3516212D46B}"/>
              </a:ext>
            </a:extLst>
          </p:cNvPr>
          <p:cNvSpPr>
            <a:spLocks xmlns:a="http://schemas.openxmlformats.org/drawingml/2006/main" noGrp="1"/>
          </p:cNvSpPr>
          <p:nvPr/>
        </p:nvSpPr>
        <p:spPr>
          <a:xfrm xmlns:a="http://schemas.openxmlformats.org/drawingml/2006/main">
            <a:off x="685800" y="36004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Trade-off  Does that check still accept useful corrections?</a:t>
            </a:r>
          </a:p>
        </p:txBody>
      </p:sp>
      <p:sp>
        <p:nvSpPr>
          <p:cNvPr id="5" name="">
            <a:extLst xmlns:a="http://schemas.openxmlformats.org/drawingml/2006/main">
              <a:ext uri="{FF2B5EF4-FFF2-40B4-BE49-F238E27FC236}">
                <a16:creationId xmlns:a16="http://schemas.microsoft.com/office/drawing/2014/main" id="{35FA0E34-12B7-42CE-88D9-7C9509B06B40}"/>
              </a:ext>
            </a:extLst>
          </p:cNvPr>
          <p:cNvSpPr>
            <a:spLocks xmlns:a="http://schemas.openxmlformats.org/drawingml/2006/main" noGrp="1"/>
          </p:cNvSpPr>
          <p:nvPr/>
        </p:nvSpPr>
        <p:spPr>
          <a:xfrm xmlns:a="http://schemas.openxmlformats.org/drawingml/2006/main">
            <a:off x="685800" y="45720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Added post-hoc analysis  Can wrong input turn uncertainty into error?</a:t>
            </a:r>
          </a:p>
        </p:txBody>
      </p:sp>
      <p:sp>
        <p:nvSpPr>
          <p:cNvPr id="6" name="">
            <a:extLst xmlns:a="http://schemas.openxmlformats.org/drawingml/2006/main">
              <a:ext uri="{FF2B5EF4-FFF2-40B4-BE49-F238E27FC236}">
                <a16:creationId xmlns:a16="http://schemas.microsoft.com/office/drawing/2014/main" id="{C21F07A2-72E3-429C-9B46-B582C3C4673B}"/>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2</a:t>
            </a:r>
          </a:p>
        </p:txBody>
      </p:sp>
    </p:spTree>
    <p:extLst>
      <p:ext uri="{BB962C8B-B14F-4D97-AF65-F5344CB8AC3E}">
        <p14:creationId xmlns:p14="http://schemas.microsoft.com/office/powerpoint/2010/main" val="1675870309"/>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0E85B5-CD51-4983-96C4-4530E3D53855}"/>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Six independent branches from one baseline</a:t>
            </a:r>
          </a:p>
        </p:txBody>
      </p:sp>
      <p:graphicFrame>
        <p:nvGraphicFramePr>
          <p:cNvPr id="6" name=""/>
          <p:cNvGraphicFramePr/>
          <p:nvPr/>
        </p:nvGraphicFramePr>
        <p:xfrm>
          <a:off xmlns:a="http://schemas.openxmlformats.org/drawingml/2006/main" x="685800" y="1504950"/>
          <a:ext xmlns:a="http://schemas.openxmlformats.org/drawingml/2006/main" cx="10820400" cy="3810000"/>
        </p:xfrm>
        <a:graphic xmlns:a="http://schemas.openxmlformats.org/drawingml/2006/main">
          <a:graphicData uri="http://schemas.openxmlformats.org/drawingml/2006/table">
            <a:tbl>
              <a:tblPr/>
              <a:tblGrid>
                <a:gridCol w="1619250"/>
                <a:gridCol w="5619750"/>
                <a:gridCol w="3581400"/>
              </a:tblGrid>
              <a:tr h="544286">
                <a:tc>
                  <a:txBody>
                    <a:bodyPr/>
                    <a:lstStyle/>
                    <a:p>
                      <a:r>
                        <a:rPr sz="1950" b="1">
                          <a:solidFill>
                            <a:srgbClr val="FFFFFF"/>
                          </a:solidFill>
                          <a:latin typeface="Helvetica Neue"/>
                          <a:ea typeface="Helvetica Neue"/>
                          <a:cs typeface="Helvetica Neue"/>
                        </a:rPr>
                        <a:t>Condition</a:t>
                      </a:r>
                    </a:p>
                  </a:txBody>
                  <a:tcPr marL="91440" marR="91440" marT="45720" marB="45720">
                    <a:solidFill>
                      <a:srgbClr val="142C40"/>
                    </a:solidFill>
                  </a:tcPr>
                </a:tc>
                <a:tc>
                  <a:txBody>
                    <a:bodyPr/>
                    <a:lstStyle/>
                    <a:p>
                      <a:r>
                        <a:rPr sz="1950" b="1">
                          <a:solidFill>
                            <a:srgbClr val="FFFFFF"/>
                          </a:solidFill>
                          <a:latin typeface="Helvetica Neue"/>
                          <a:ea typeface="Helvetica Neue"/>
                          <a:cs typeface="Helvetica Neue"/>
                        </a:rPr>
                        <a:t>Peer material</a:t>
                      </a:r>
                    </a:p>
                  </a:txBody>
                  <a:tcPr marL="91440" marR="91440" marT="45720" marB="45720">
                    <a:solidFill>
                      <a:srgbClr val="142C40"/>
                    </a:solidFill>
                  </a:tcPr>
                </a:tc>
                <a:tc>
                  <a:txBody>
                    <a:bodyPr/>
                    <a:lstStyle/>
                    <a:p>
                      <a:r>
                        <a:rPr sz="1950" b="1">
                          <a:solidFill>
                            <a:srgbClr val="FFFFFF"/>
                          </a:solidFill>
                          <a:latin typeface="Helvetica Neue"/>
                          <a:ea typeface="Helvetica Neue"/>
                          <a:cs typeface="Helvetica Neue"/>
                        </a:rPr>
                        <a:t>Follow-up</a:t>
                      </a:r>
                    </a:p>
                  </a:txBody>
                  <a:tcPr marL="91440" marR="91440" marT="45720" marB="45720">
                    <a:solidFill>
                      <a:srgbClr val="142C40"/>
                    </a:solidFill>
                  </a:tcPr>
                </a:tc>
              </a:tr>
              <a:tr h="544286">
                <a:tc>
                  <a:txBody>
                    <a:bodyPr/>
                    <a:lstStyle/>
                    <a:p>
                      <a:r>
                        <a:rPr sz="1950" b="0">
                          <a:solidFill>
                            <a:srgbClr val="142C40"/>
                          </a:solidFill>
                          <a:latin typeface="Helvetica Neue"/>
                          <a:ea typeface="Helvetica Neue"/>
                          <a:cs typeface="Helvetica Neue"/>
                        </a:rPr>
                        <a:t>C0</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None</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Neutral recheck</a:t>
                      </a:r>
                    </a:p>
                  </a:txBody>
                  <a:tcPr marL="91440" marR="91440" marT="45720" marB="45720">
                    <a:solidFill>
                      <a:srgbClr val="F0F4F7"/>
                    </a:solidFill>
                  </a:tcPr>
                </a:tc>
              </a:tr>
              <a:tr h="544286">
                <a:tc>
                  <a:txBody>
                    <a:bodyPr/>
                    <a:lstStyle/>
                    <a:p>
                      <a:r>
                        <a:rPr sz="1950" b="0">
                          <a:solidFill>
                            <a:srgbClr val="142C40"/>
                          </a:solidFill>
                          <a:latin typeface="Helvetica Neue"/>
                          <a:ea typeface="Helvetica Neue"/>
                          <a:cs typeface="Helvetica Neue"/>
                        </a:rPr>
                        <a:t>C1</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Wrong answer only</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Neutral recheck</a:t>
                      </a:r>
                    </a:p>
                  </a:txBody>
                  <a:tcPr marL="91440" marR="91440" marT="45720" marB="45720">
                    <a:solidFill>
                      <a:srgbClr val="FFFFFF"/>
                    </a:solidFill>
                  </a:tcPr>
                </a:tc>
              </a:tr>
              <a:tr h="544286">
                <a:tc>
                  <a:txBody>
                    <a:bodyPr/>
                    <a:lstStyle/>
                    <a:p>
                      <a:r>
                        <a:rPr sz="1950" b="0">
                          <a:solidFill>
                            <a:srgbClr val="142C40"/>
                          </a:solidFill>
                          <a:latin typeface="Helvetica Neue"/>
                          <a:ea typeface="Helvetica Neue"/>
                          <a:cs typeface="Helvetica Neue"/>
                        </a:rPr>
                        <a:t>C2</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Wrong answer + explanation</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Neutral recheck</a:t>
                      </a:r>
                    </a:p>
                  </a:txBody>
                  <a:tcPr marL="91440" marR="91440" marT="45720" marB="45720">
                    <a:solidFill>
                      <a:srgbClr val="F0F4F7"/>
                    </a:solidFill>
                  </a:tcPr>
                </a:tc>
              </a:tr>
              <a:tr h="544286">
                <a:tc>
                  <a:txBody>
                    <a:bodyPr/>
                    <a:lstStyle/>
                    <a:p>
                      <a:r>
                        <a:rPr sz="1950" b="0">
                          <a:solidFill>
                            <a:srgbClr val="142C40"/>
                          </a:solidFill>
                          <a:latin typeface="Helvetica Neue"/>
                          <a:ea typeface="Helvetica Neue"/>
                          <a:cs typeface="Helvetica Neue"/>
                        </a:rPr>
                        <a:t>C3</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Identical C2 material</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Structured check</a:t>
                      </a:r>
                    </a:p>
                  </a:txBody>
                  <a:tcPr marL="91440" marR="91440" marT="45720" marB="45720">
                    <a:solidFill>
                      <a:srgbClr val="FFFFFF"/>
                    </a:solidFill>
                  </a:tcPr>
                </a:tc>
              </a:tr>
              <a:tr h="544286">
                <a:tc>
                  <a:txBody>
                    <a:bodyPr/>
                    <a:lstStyle/>
                    <a:p>
                      <a:r>
                        <a:rPr sz="1950" b="0">
                          <a:solidFill>
                            <a:srgbClr val="142C40"/>
                          </a:solidFill>
                          <a:latin typeface="Helvetica Neue"/>
                          <a:ea typeface="Helvetica Neue"/>
                          <a:cs typeface="Helvetica Neue"/>
                        </a:rPr>
                        <a:t>C4</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Correct answer + explanation</a:t>
                      </a:r>
                    </a:p>
                  </a:txBody>
                  <a:tcPr marL="91440" marR="91440" marT="45720" marB="45720">
                    <a:solidFill>
                      <a:srgbClr val="F0F4F7"/>
                    </a:solidFill>
                  </a:tcPr>
                </a:tc>
                <a:tc>
                  <a:txBody>
                    <a:bodyPr/>
                    <a:lstStyle/>
                    <a:p>
                      <a:r>
                        <a:rPr sz="1950" b="0">
                          <a:solidFill>
                            <a:srgbClr val="142C40"/>
                          </a:solidFill>
                          <a:latin typeface="Helvetica Neue"/>
                          <a:ea typeface="Helvetica Neue"/>
                          <a:cs typeface="Helvetica Neue"/>
                        </a:rPr>
                        <a:t>Neutral recheck</a:t>
                      </a:r>
                    </a:p>
                  </a:txBody>
                  <a:tcPr marL="91440" marR="91440" marT="45720" marB="45720">
                    <a:solidFill>
                      <a:srgbClr val="F0F4F7"/>
                    </a:solidFill>
                  </a:tcPr>
                </a:tc>
              </a:tr>
              <a:tr h="544286">
                <a:tc>
                  <a:txBody>
                    <a:bodyPr/>
                    <a:lstStyle/>
                    <a:p>
                      <a:r>
                        <a:rPr sz="1950" b="0">
                          <a:solidFill>
                            <a:srgbClr val="142C40"/>
                          </a:solidFill>
                          <a:latin typeface="Helvetica Neue"/>
                          <a:ea typeface="Helvetica Neue"/>
                          <a:cs typeface="Helvetica Neue"/>
                        </a:rPr>
                        <a:t>C5</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Identical C4 material</a:t>
                      </a:r>
                    </a:p>
                  </a:txBody>
                  <a:tcPr marL="91440" marR="91440" marT="45720" marB="45720">
                    <a:solidFill>
                      <a:srgbClr val="FFFFFF"/>
                    </a:solidFill>
                  </a:tcPr>
                </a:tc>
                <a:tc>
                  <a:txBody>
                    <a:bodyPr/>
                    <a:lstStyle/>
                    <a:p>
                      <a:r>
                        <a:rPr sz="1950" b="0">
                          <a:solidFill>
                            <a:srgbClr val="142C40"/>
                          </a:solidFill>
                          <a:latin typeface="Helvetica Neue"/>
                          <a:ea typeface="Helvetica Neue"/>
                          <a:cs typeface="Helvetica Neue"/>
                        </a:rPr>
                        <a:t>Structured check</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2674BC2-1CF7-4304-BDEE-5D4D3DC3EBC7}"/>
              </a:ext>
            </a:extLst>
          </p:cNvPr>
          <p:cNvSpPr>
            <a:spLocks xmlns:a="http://schemas.openxmlformats.org/drawingml/2006/main" noGrp="1"/>
          </p:cNvSpPr>
          <p:nvPr/>
        </p:nvSpPr>
        <p:spPr>
          <a:xfrm xmlns:a="http://schemas.openxmlformats.org/drawingml/2006/main">
            <a:off x="685800" y="5734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Every branch reuses the exact same initial answer. Advice errors are assigned.</a:t>
            </a:r>
          </a:p>
        </p:txBody>
      </p:sp>
      <p:sp>
        <p:nvSpPr>
          <p:cNvPr id="4" name="">
            <a:extLst xmlns:a="http://schemas.openxmlformats.org/drawingml/2006/main">
              <a:ext uri="{FF2B5EF4-FFF2-40B4-BE49-F238E27FC236}">
                <a16:creationId xmlns:a16="http://schemas.microsoft.com/office/drawing/2014/main" id="{BB147B02-D54C-4774-B94E-6FCBC97AEDC6}"/>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3</a:t>
            </a:r>
          </a:p>
        </p:txBody>
      </p:sp>
    </p:spTree>
    <p:extLst>
      <p:ext uri="{BB962C8B-B14F-4D97-AF65-F5344CB8AC3E}">
        <p14:creationId xmlns:p14="http://schemas.microsoft.com/office/powerpoint/2010/main" val="1878844451"/>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CE5142-87C1-4C87-B19F-CED6B6EE792A}"/>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Data, scoring and repeated responses</a:t>
            </a:r>
          </a:p>
        </p:txBody>
      </p:sp>
      <p:sp>
        <p:nvSpPr>
          <p:cNvPr id="2" name="">
            <a:extLst xmlns:a="http://schemas.openxmlformats.org/drawingml/2006/main">
              <a:ext uri="{FF2B5EF4-FFF2-40B4-BE49-F238E27FC236}">
                <a16:creationId xmlns:a16="http://schemas.microsoft.com/office/drawing/2014/main" id="{25E265E8-07CD-4B26-A4A5-8DC10F0C8A7F}"/>
              </a:ext>
            </a:extLst>
          </p:cNvPr>
          <p:cNvSpPr>
            <a:spLocks xmlns:a="http://schemas.openxmlformats.org/drawingml/2006/main" noGrp="1"/>
          </p:cNvSpPr>
          <p:nvPr/>
        </p:nvSpPr>
        <p:spPr>
          <a:xfrm xmlns:a="http://schemas.openxmlformats.org/drawingml/2006/main">
            <a:off x="685800" y="16573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120 selected date questions from SimpleQA Verified</a:t>
            </a:r>
          </a:p>
        </p:txBody>
      </p:sp>
      <p:sp>
        <p:nvSpPr>
          <p:cNvPr id="3" name="">
            <a:extLst xmlns:a="http://schemas.openxmlformats.org/drawingml/2006/main">
              <a:ext uri="{FF2B5EF4-FFF2-40B4-BE49-F238E27FC236}">
                <a16:creationId xmlns:a16="http://schemas.microsoft.com/office/drawing/2014/main" id="{8A9E4012-949B-41C7-AEBE-30B606FCE842}"/>
              </a:ext>
            </a:extLst>
          </p:cNvPr>
          <p:cNvSpPr>
            <a:spLocks xmlns:a="http://schemas.openxmlformats.org/drawingml/2006/main" noGrp="1"/>
          </p:cNvSpPr>
          <p:nvPr/>
        </p:nvSpPr>
        <p:spPr>
          <a:xfrm xmlns:a="http://schemas.openxmlformats.org/drawingml/2006/main">
            <a:off x="685800" y="26289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5,040 returned responses; 719 complete units after one exclusion</a:t>
            </a:r>
          </a:p>
        </p:txBody>
      </p:sp>
      <p:sp>
        <p:nvSpPr>
          <p:cNvPr id="4" name="">
            <a:extLst xmlns:a="http://schemas.openxmlformats.org/drawingml/2006/main">
              <a:ext uri="{FF2B5EF4-FFF2-40B4-BE49-F238E27FC236}">
                <a16:creationId xmlns:a16="http://schemas.microsoft.com/office/drawing/2014/main" id="{B64E774A-8259-4C6D-9B56-5A1022ACD719}"/>
              </a:ext>
            </a:extLst>
          </p:cNvPr>
          <p:cNvSpPr>
            <a:spLocks xmlns:a="http://schemas.openxmlformats.org/drawingml/2006/main" noGrp="1"/>
          </p:cNvSpPr>
          <p:nvPr/>
        </p:nvSpPr>
        <p:spPr>
          <a:xfrm xmlns:a="http://schemas.openxmlformats.org/drawingml/2006/main">
            <a:off x="685800" y="36004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Baseline: 154 correct, 322 wrong, 243 abstentions</a:t>
            </a:r>
          </a:p>
        </p:txBody>
      </p:sp>
      <p:sp>
        <p:nvSpPr>
          <p:cNvPr id="5" name="">
            <a:extLst xmlns:a="http://schemas.openxmlformats.org/drawingml/2006/main">
              <a:ext uri="{FF2B5EF4-FFF2-40B4-BE49-F238E27FC236}">
                <a16:creationId xmlns:a16="http://schemas.microsoft.com/office/drawing/2014/main" id="{9BA387FB-6929-4449-9949-FC6F3C6FE7BD}"/>
              </a:ext>
            </a:extLst>
          </p:cNvPr>
          <p:cNvSpPr>
            <a:spLocks xmlns:a="http://schemas.openxmlformats.org/drawingml/2006/main" noGrp="1"/>
          </p:cNvSpPr>
          <p:nvPr/>
        </p:nvSpPr>
        <p:spPr>
          <a:xfrm xmlns:a="http://schemas.openxmlformats.org/drawingml/2006/main">
            <a:off x="685800" y="45720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R analysis; 5,000 bootstrap resamples of whole question clusters</a:t>
            </a:r>
          </a:p>
        </p:txBody>
      </p:sp>
      <p:sp>
        <p:nvSpPr>
          <p:cNvPr id="6" name="">
            <a:extLst xmlns:a="http://schemas.openxmlformats.org/drawingml/2006/main">
              <a:ext uri="{FF2B5EF4-FFF2-40B4-BE49-F238E27FC236}">
                <a16:creationId xmlns:a16="http://schemas.microsoft.com/office/drawing/2014/main" id="{1BDD3394-911B-46FD-9726-460E25C95D8F}"/>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4</a:t>
            </a:r>
          </a:p>
        </p:txBody>
      </p:sp>
    </p:spTree>
    <p:extLst>
      <p:ext uri="{BB962C8B-B14F-4D97-AF65-F5344CB8AC3E}">
        <p14:creationId xmlns:p14="http://schemas.microsoft.com/office/powerpoint/2010/main" val="1186850196"/>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49FFED-F24B-4867-A98D-54DE81470774}"/>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Few initially correct answers became wrong</a:t>
            </a:r>
          </a:p>
        </p:txBody>
      </p:sp>
      <p:graphicFrame>
        <p:nvGraphicFramePr>
          <p:cNvPr id="7" name="Chart"/>
          <p:cNvGraphicFramePr/>
          <p:nvPr/>
        </p:nvGraphicFramePr>
        <p:xfrm>
          <a:off xmlns:a="http://schemas.openxmlformats.org/drawingml/2006/main" x="952500" y="1619250"/>
          <a:ext xmlns:a="http://schemas.openxmlformats.org/drawingml/2006/main" cx="10096500" cy="3429000"/>
        </p:xfrm>
        <a:graphic xmlns:a="http://schemas.openxmlformats.org/drawingml/2006/main">
          <a:graphicData uri="http://schemas.openxmlformats.org/drawingml/2006/chart">
            <c:chart xmlns:r="http://schemas.openxmlformats.org/officeDocument/2006/relationships" xmlns:c="http://schemas.openxmlformats.org/drawingml/2006/chart" r:id="R4a32360394994e8f"/>
          </a:graphicData>
        </a:graphic>
      </p:graphicFrame>
      <p:sp>
        <p:nvSpPr>
          <p:cNvPr id="3" name="">
            <a:extLst xmlns:a="http://schemas.openxmlformats.org/drawingml/2006/main">
              <a:ext uri="{FF2B5EF4-FFF2-40B4-BE49-F238E27FC236}">
                <a16:creationId xmlns:a16="http://schemas.microsoft.com/office/drawing/2014/main" id="{F59B928D-63C4-4760-901C-BC5B702A4A2C}"/>
              </a:ext>
            </a:extLst>
          </p:cNvPr>
          <p:cNvSpPr>
            <a:spLocks xmlns:a="http://schemas.openxmlformats.org/drawingml/2006/main" noGrp="1"/>
          </p:cNvSpPr>
          <p:nvPr/>
        </p:nvSpPr>
        <p:spPr>
          <a:xfrm xmlns:a="http://schemas.openxmlformats.org/drawingml/2006/main">
            <a:off x="685800" y="5238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E77"/>
                </a:solidFill>
                <a:latin typeface="Helvetica Neue"/>
                <a:ea typeface="Helvetica Neue"/>
                <a:cs typeface="Helvetica Neue"/>
              </a:defRPr>
            </a:pPr>
            <a:r>
              <a:rPr sz="1950" b="1">
                <a:solidFill>
                  <a:srgbClr val="147E77"/>
                </a:solidFill>
                <a:latin typeface="Helvetica Neue"/>
                <a:ea typeface="Helvetica Neue"/>
                <a:cs typeface="Helvetica Neue"/>
              </a:rPr>
              <a:t>Counts out of 154 initially correct units</a:t>
            </a:r>
          </a:p>
        </p:txBody>
      </p:sp>
      <p:sp>
        <p:nvSpPr>
          <p:cNvPr id="4" name="">
            <a:extLst xmlns:a="http://schemas.openxmlformats.org/drawingml/2006/main">
              <a:ext uri="{FF2B5EF4-FFF2-40B4-BE49-F238E27FC236}">
                <a16:creationId xmlns:a16="http://schemas.microsoft.com/office/drawing/2014/main" id="{CD0EC500-6A42-4FC4-861C-DD2570544F1B}"/>
              </a:ext>
            </a:extLst>
          </p:cNvPr>
          <p:cNvSpPr>
            <a:spLocks xmlns:a="http://schemas.openxmlformats.org/drawingml/2006/main" noGrp="1"/>
          </p:cNvSpPr>
          <p:nvPr/>
        </p:nvSpPr>
        <p:spPr>
          <a:xfrm xmlns:a="http://schemas.openxmlformats.org/drawingml/2006/main">
            <a:off x="685800" y="57150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7586"/>
                </a:solidFill>
                <a:latin typeface="Helvetica Neue"/>
                <a:ea typeface="Helvetica Neue"/>
                <a:cs typeface="Helvetica Neue"/>
              </a:defRPr>
            </a:pPr>
            <a:r>
              <a:rPr sz="1800" b="0">
                <a:solidFill>
                  <a:srgbClr val="657586"/>
                </a:solidFill>
                <a:latin typeface="Helvetica Neue"/>
                <a:ea typeface="Helvetica Neue"/>
                <a:cs typeface="Helvetica Neue"/>
              </a:rPr>
              <a:t>C2 - C1: -1.30 pp [-5.17, 2.31]   /   C3 - C2: -1.95 pp [-4.46, 0.00]</a:t>
            </a:r>
          </a:p>
        </p:txBody>
      </p:sp>
      <p:sp>
        <p:nvSpPr>
          <p:cNvPr id="5" name="">
            <a:extLst xmlns:a="http://schemas.openxmlformats.org/drawingml/2006/main">
              <a:ext uri="{FF2B5EF4-FFF2-40B4-BE49-F238E27FC236}">
                <a16:creationId xmlns:a16="http://schemas.microsoft.com/office/drawing/2014/main" id="{6A6B3AA5-4838-4A18-A6C2-53CE7A15F256}"/>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5</a:t>
            </a:r>
          </a:p>
        </p:txBody>
      </p:sp>
    </p:spTree>
    <p:extLst>
      <p:ext uri="{BB962C8B-B14F-4D97-AF65-F5344CB8AC3E}">
        <p14:creationId xmlns:p14="http://schemas.microsoft.com/office/powerpoint/2010/main" val="1775336576"/>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859D280-D84D-4E0C-8CCD-817918902B3A}"/>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How much does the error rate change?</a:t>
            </a:r>
          </a:p>
        </p:txBody>
      </p:sp>
      <p:graphicFrame>
        <p:nvGraphicFramePr>
          <p:cNvPr id="19" name="Chart"/>
          <p:cNvGraphicFramePr/>
          <p:nvPr/>
        </p:nvGraphicFramePr>
        <p:xfrm>
          <a:off xmlns:a="http://schemas.openxmlformats.org/drawingml/2006/main" x="3067050" y="1524000"/>
          <a:ext xmlns:a="http://schemas.openxmlformats.org/drawingml/2006/main" cx="5905500" cy="3667125"/>
        </p:xfrm>
        <a:graphic xmlns:a="http://schemas.openxmlformats.org/drawingml/2006/main">
          <a:graphicData uri="http://schemas.openxmlformats.org/drawingml/2006/chart">
            <c:chart xmlns:r="http://schemas.openxmlformats.org/officeDocument/2006/relationships" xmlns:c="http://schemas.openxmlformats.org/drawingml/2006/chart" r:id="R7b2139576f284651"/>
          </a:graphicData>
        </a:graphic>
      </p:graphicFrame>
      <p:sp>
        <p:nvSpPr>
          <p:cNvPr id="3" name="">
            <a:extLst xmlns:a="http://schemas.openxmlformats.org/drawingml/2006/main">
              <a:ext uri="{FF2B5EF4-FFF2-40B4-BE49-F238E27FC236}">
                <a16:creationId xmlns:a16="http://schemas.microsoft.com/office/drawing/2014/main" id="{AACEE707-12CD-47E4-BF6D-5B9D8B3AAF6F}"/>
              </a:ext>
            </a:extLst>
          </p:cNvPr>
          <p:cNvSpPr>
            <a:spLocks xmlns:a="http://schemas.openxmlformats.org/drawingml/2006/main" noGrp="1"/>
          </p:cNvSpPr>
          <p:nvPr/>
        </p:nvSpPr>
        <p:spPr>
          <a:xfrm xmlns:a="http://schemas.openxmlformats.org/drawingml/2006/main">
            <a:off x="714375" y="19145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C40"/>
                </a:solidFill>
                <a:latin typeface="Helvetica Neue"/>
                <a:ea typeface="Helvetica Neue"/>
                <a:cs typeface="Helvetica Neue"/>
              </a:defRPr>
            </a:pPr>
            <a:r>
              <a:rPr sz="1950" b="1">
                <a:solidFill>
                  <a:srgbClr val="142C40"/>
                </a:solidFill>
                <a:latin typeface="Helvetica Neue"/>
                <a:ea typeface="Helvetica Neue"/>
                <a:cs typeface="Helvetica Neue"/>
              </a:rPr>
              <a:t>C0 - Initial</a:t>
            </a:r>
          </a:p>
        </p:txBody>
      </p:sp>
      <p:sp>
        <p:nvSpPr>
          <p:cNvPr id="4" name="">
            <a:extLst xmlns:a="http://schemas.openxmlformats.org/drawingml/2006/main">
              <a:ext uri="{FF2B5EF4-FFF2-40B4-BE49-F238E27FC236}">
                <a16:creationId xmlns:a16="http://schemas.microsoft.com/office/drawing/2014/main" id="{D0F681F3-AF05-41C3-A567-ED35E6172562}"/>
              </a:ext>
            </a:extLst>
          </p:cNvPr>
          <p:cNvSpPr>
            <a:spLocks xmlns:a="http://schemas.openxmlformats.org/drawingml/2006/main" noGrp="1"/>
          </p:cNvSpPr>
          <p:nvPr/>
        </p:nvSpPr>
        <p:spPr>
          <a:xfrm xmlns:a="http://schemas.openxmlformats.org/drawingml/2006/main">
            <a:off x="8972550" y="19716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2C40"/>
                </a:solidFill>
                <a:latin typeface="Helvetica Neue"/>
                <a:ea typeface="Helvetica Neue"/>
                <a:cs typeface="Helvetica Neue"/>
              </a:defRPr>
            </a:pPr>
            <a:r>
              <a:rPr sz="1500" b="0">
                <a:solidFill>
                  <a:srgbClr val="142C40"/>
                </a:solidFill>
                <a:latin typeface="Helvetica Neue"/>
                <a:ea typeface="Helvetica Neue"/>
                <a:cs typeface="Helvetica Neue"/>
              </a:rPr>
              <a:t>+1.25 [-3.06, +5.56]</a:t>
            </a:r>
          </a:p>
        </p:txBody>
      </p:sp>
      <p:sp>
        <p:nvSpPr>
          <p:cNvPr id="5" name="">
            <a:extLst xmlns:a="http://schemas.openxmlformats.org/drawingml/2006/main">
              <a:ext uri="{FF2B5EF4-FFF2-40B4-BE49-F238E27FC236}">
                <a16:creationId xmlns:a16="http://schemas.microsoft.com/office/drawing/2014/main" id="{99F1100F-0FD7-42D0-BCB4-9DE8CE29B3F2}"/>
              </a:ext>
            </a:extLst>
          </p:cNvPr>
          <p:cNvSpPr>
            <a:spLocks xmlns:a="http://schemas.openxmlformats.org/drawingml/2006/main" noGrp="1"/>
          </p:cNvSpPr>
          <p:nvPr/>
        </p:nvSpPr>
        <p:spPr>
          <a:xfrm xmlns:a="http://schemas.openxmlformats.org/drawingml/2006/main">
            <a:off x="714375" y="245745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C40"/>
                </a:solidFill>
                <a:latin typeface="Helvetica Neue"/>
                <a:ea typeface="Helvetica Neue"/>
                <a:cs typeface="Helvetica Neue"/>
              </a:defRPr>
            </a:pPr>
            <a:r>
              <a:rPr sz="1950" b="1">
                <a:solidFill>
                  <a:srgbClr val="142C40"/>
                </a:solidFill>
                <a:latin typeface="Helvetica Neue"/>
                <a:ea typeface="Helvetica Neue"/>
                <a:cs typeface="Helvetica Neue"/>
              </a:rPr>
              <a:t>C1 - C0</a:t>
            </a:r>
          </a:p>
        </p:txBody>
      </p:sp>
      <p:sp>
        <p:nvSpPr>
          <p:cNvPr id="6" name="">
            <a:extLst xmlns:a="http://schemas.openxmlformats.org/drawingml/2006/main">
              <a:ext uri="{FF2B5EF4-FFF2-40B4-BE49-F238E27FC236}">
                <a16:creationId xmlns:a16="http://schemas.microsoft.com/office/drawing/2014/main" id="{964EF77A-E3C3-4C77-A6E4-5195EF42F5C5}"/>
              </a:ext>
            </a:extLst>
          </p:cNvPr>
          <p:cNvSpPr>
            <a:spLocks xmlns:a="http://schemas.openxmlformats.org/drawingml/2006/main" noGrp="1"/>
          </p:cNvSpPr>
          <p:nvPr/>
        </p:nvSpPr>
        <p:spPr>
          <a:xfrm xmlns:a="http://schemas.openxmlformats.org/drawingml/2006/main">
            <a:off x="8972550" y="25146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2C40"/>
                </a:solidFill>
                <a:latin typeface="Helvetica Neue"/>
                <a:ea typeface="Helvetica Neue"/>
                <a:cs typeface="Helvetica Neue"/>
              </a:defRPr>
            </a:pPr>
            <a:r>
              <a:rPr sz="1500" b="0">
                <a:solidFill>
                  <a:srgbClr val="142C40"/>
                </a:solidFill>
                <a:latin typeface="Helvetica Neue"/>
                <a:ea typeface="Helvetica Neue"/>
                <a:cs typeface="Helvetica Neue"/>
              </a:rPr>
              <a:t>+18.78 [+14.35, +23.09]</a:t>
            </a:r>
          </a:p>
        </p:txBody>
      </p:sp>
      <p:sp>
        <p:nvSpPr>
          <p:cNvPr id="7" name="">
            <a:extLst xmlns:a="http://schemas.openxmlformats.org/drawingml/2006/main">
              <a:ext uri="{FF2B5EF4-FFF2-40B4-BE49-F238E27FC236}">
                <a16:creationId xmlns:a16="http://schemas.microsoft.com/office/drawing/2014/main" id="{D1EB48F4-D360-464A-BA05-288E2A7069CA}"/>
              </a:ext>
            </a:extLst>
          </p:cNvPr>
          <p:cNvSpPr>
            <a:spLocks xmlns:a="http://schemas.openxmlformats.org/drawingml/2006/main" noGrp="1"/>
          </p:cNvSpPr>
          <p:nvPr/>
        </p:nvSpPr>
        <p:spPr>
          <a:xfrm xmlns:a="http://schemas.openxmlformats.org/drawingml/2006/main">
            <a:off x="714375" y="300037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C40"/>
                </a:solidFill>
                <a:latin typeface="Helvetica Neue"/>
                <a:ea typeface="Helvetica Neue"/>
                <a:cs typeface="Helvetica Neue"/>
              </a:defRPr>
            </a:pPr>
            <a:r>
              <a:rPr sz="1950" b="1">
                <a:solidFill>
                  <a:srgbClr val="142C40"/>
                </a:solidFill>
                <a:latin typeface="Helvetica Neue"/>
                <a:ea typeface="Helvetica Neue"/>
                <a:cs typeface="Helvetica Neue"/>
              </a:rPr>
              <a:t>C2 - C0</a:t>
            </a:r>
          </a:p>
        </p:txBody>
      </p:sp>
      <p:sp>
        <p:nvSpPr>
          <p:cNvPr id="8" name="">
            <a:extLst xmlns:a="http://schemas.openxmlformats.org/drawingml/2006/main">
              <a:ext uri="{FF2B5EF4-FFF2-40B4-BE49-F238E27FC236}">
                <a16:creationId xmlns:a16="http://schemas.microsoft.com/office/drawing/2014/main" id="{C003B562-FF31-4E04-9713-C6689881ADF3}"/>
              </a:ext>
            </a:extLst>
          </p:cNvPr>
          <p:cNvSpPr>
            <a:spLocks xmlns:a="http://schemas.openxmlformats.org/drawingml/2006/main" noGrp="1"/>
          </p:cNvSpPr>
          <p:nvPr/>
        </p:nvSpPr>
        <p:spPr>
          <a:xfrm xmlns:a="http://schemas.openxmlformats.org/drawingml/2006/main">
            <a:off x="8972550" y="30575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2C40"/>
                </a:solidFill>
                <a:latin typeface="Helvetica Neue"/>
                <a:ea typeface="Helvetica Neue"/>
                <a:cs typeface="Helvetica Neue"/>
              </a:defRPr>
            </a:pPr>
            <a:r>
              <a:rPr sz="1500" b="0">
                <a:solidFill>
                  <a:srgbClr val="142C40"/>
                </a:solidFill>
                <a:latin typeface="Helvetica Neue"/>
                <a:ea typeface="Helvetica Neue"/>
                <a:cs typeface="Helvetica Neue"/>
              </a:rPr>
              <a:t>+6.40 [+1.94, +10.99]</a:t>
            </a:r>
          </a:p>
        </p:txBody>
      </p:sp>
      <p:sp>
        <p:nvSpPr>
          <p:cNvPr id="9" name="">
            <a:extLst xmlns:a="http://schemas.openxmlformats.org/drawingml/2006/main">
              <a:ext uri="{FF2B5EF4-FFF2-40B4-BE49-F238E27FC236}">
                <a16:creationId xmlns:a16="http://schemas.microsoft.com/office/drawing/2014/main" id="{D2DC9DE5-AF6F-48DB-9546-821E8BA48192}"/>
              </a:ext>
            </a:extLst>
          </p:cNvPr>
          <p:cNvSpPr>
            <a:spLocks xmlns:a="http://schemas.openxmlformats.org/drawingml/2006/main" noGrp="1"/>
          </p:cNvSpPr>
          <p:nvPr/>
        </p:nvSpPr>
        <p:spPr>
          <a:xfrm xmlns:a="http://schemas.openxmlformats.org/drawingml/2006/main">
            <a:off x="714375" y="3543300"/>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C40"/>
                </a:solidFill>
                <a:latin typeface="Helvetica Neue"/>
                <a:ea typeface="Helvetica Neue"/>
                <a:cs typeface="Helvetica Neue"/>
              </a:defRPr>
            </a:pPr>
            <a:r>
              <a:rPr sz="1950" b="1">
                <a:solidFill>
                  <a:srgbClr val="142C40"/>
                </a:solidFill>
                <a:latin typeface="Helvetica Neue"/>
                <a:ea typeface="Helvetica Neue"/>
                <a:cs typeface="Helvetica Neue"/>
              </a:rPr>
              <a:t>C3 - C2</a:t>
            </a:r>
          </a:p>
        </p:txBody>
      </p:sp>
      <p:sp>
        <p:nvSpPr>
          <p:cNvPr id="10" name="">
            <a:extLst xmlns:a="http://schemas.openxmlformats.org/drawingml/2006/main">
              <a:ext uri="{FF2B5EF4-FFF2-40B4-BE49-F238E27FC236}">
                <a16:creationId xmlns:a16="http://schemas.microsoft.com/office/drawing/2014/main" id="{FABC6299-DD18-47CF-9468-0ED67B11AA23}"/>
              </a:ext>
            </a:extLst>
          </p:cNvPr>
          <p:cNvSpPr>
            <a:spLocks xmlns:a="http://schemas.openxmlformats.org/drawingml/2006/main" noGrp="1"/>
          </p:cNvSpPr>
          <p:nvPr/>
        </p:nvSpPr>
        <p:spPr>
          <a:xfrm xmlns:a="http://schemas.openxmlformats.org/drawingml/2006/main">
            <a:off x="8972550" y="36004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2C40"/>
                </a:solidFill>
                <a:latin typeface="Helvetica Neue"/>
                <a:ea typeface="Helvetica Neue"/>
                <a:cs typeface="Helvetica Neue"/>
              </a:defRPr>
            </a:pPr>
            <a:r>
              <a:rPr sz="1500" b="0">
                <a:solidFill>
                  <a:srgbClr val="142C40"/>
                </a:solidFill>
                <a:latin typeface="Helvetica Neue"/>
                <a:ea typeface="Helvetica Neue"/>
                <a:cs typeface="Helvetica Neue"/>
              </a:rPr>
              <a:t>-16.55 [-20.70, -12.38]</a:t>
            </a:r>
          </a:p>
        </p:txBody>
      </p:sp>
      <p:sp>
        <p:nvSpPr>
          <p:cNvPr id="11" name="">
            <a:extLst xmlns:a="http://schemas.openxmlformats.org/drawingml/2006/main">
              <a:ext uri="{FF2B5EF4-FFF2-40B4-BE49-F238E27FC236}">
                <a16:creationId xmlns:a16="http://schemas.microsoft.com/office/drawing/2014/main" id="{A2C3789F-1A66-4A45-A418-D17FB747662F}"/>
              </a:ext>
            </a:extLst>
          </p:cNvPr>
          <p:cNvSpPr>
            <a:spLocks xmlns:a="http://schemas.openxmlformats.org/drawingml/2006/main" noGrp="1"/>
          </p:cNvSpPr>
          <p:nvPr/>
        </p:nvSpPr>
        <p:spPr>
          <a:xfrm xmlns:a="http://schemas.openxmlformats.org/drawingml/2006/main">
            <a:off x="714375" y="40862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C40"/>
                </a:solidFill>
                <a:latin typeface="Helvetica Neue"/>
                <a:ea typeface="Helvetica Neue"/>
                <a:cs typeface="Helvetica Neue"/>
              </a:defRPr>
            </a:pPr>
            <a:r>
              <a:rPr sz="1950" b="1">
                <a:solidFill>
                  <a:srgbClr val="142C40"/>
                </a:solidFill>
                <a:latin typeface="Helvetica Neue"/>
                <a:ea typeface="Helvetica Neue"/>
                <a:cs typeface="Helvetica Neue"/>
              </a:rPr>
              <a:t>C5 - C4</a:t>
            </a:r>
          </a:p>
        </p:txBody>
      </p:sp>
      <p:sp>
        <p:nvSpPr>
          <p:cNvPr id="12" name="">
            <a:extLst xmlns:a="http://schemas.openxmlformats.org/drawingml/2006/main">
              <a:ext uri="{FF2B5EF4-FFF2-40B4-BE49-F238E27FC236}">
                <a16:creationId xmlns:a16="http://schemas.microsoft.com/office/drawing/2014/main" id="{203A9852-BBD0-4DFA-8D9B-7F4A3EBF49AD}"/>
              </a:ext>
            </a:extLst>
          </p:cNvPr>
          <p:cNvSpPr>
            <a:spLocks xmlns:a="http://schemas.openxmlformats.org/drawingml/2006/main" noGrp="1"/>
          </p:cNvSpPr>
          <p:nvPr/>
        </p:nvSpPr>
        <p:spPr>
          <a:xfrm xmlns:a="http://schemas.openxmlformats.org/drawingml/2006/main">
            <a:off x="8972550" y="41433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2C40"/>
                </a:solidFill>
                <a:latin typeface="Helvetica Neue"/>
                <a:ea typeface="Helvetica Neue"/>
                <a:cs typeface="Helvetica Neue"/>
              </a:defRPr>
            </a:pPr>
            <a:r>
              <a:rPr sz="1500" b="0">
                <a:solidFill>
                  <a:srgbClr val="142C40"/>
                </a:solidFill>
                <a:latin typeface="Helvetica Neue"/>
                <a:ea typeface="Helvetica Neue"/>
                <a:cs typeface="Helvetica Neue"/>
              </a:rPr>
              <a:t>-4.73 [-7.37, -2.22]</a:t>
            </a:r>
          </a:p>
        </p:txBody>
      </p:sp>
      <p:sp>
        <p:nvSpPr>
          <p:cNvPr id="13" name="">
            <a:extLst xmlns:a="http://schemas.openxmlformats.org/drawingml/2006/main">
              <a:ext uri="{FF2B5EF4-FFF2-40B4-BE49-F238E27FC236}">
                <a16:creationId xmlns:a16="http://schemas.microsoft.com/office/drawing/2014/main" id="{2C459DAF-9B93-40A5-8E09-5D665346CCE0}"/>
              </a:ext>
            </a:extLst>
          </p:cNvPr>
          <p:cNvSpPr>
            <a:spLocks xmlns:a="http://schemas.openxmlformats.org/drawingml/2006/main" noGrp="1"/>
          </p:cNvSpPr>
          <p:nvPr/>
        </p:nvSpPr>
        <p:spPr>
          <a:xfrm xmlns:a="http://schemas.openxmlformats.org/drawingml/2006/main">
            <a:off x="8934450" y="1495425"/>
            <a:ext cx="280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57586"/>
                </a:solidFill>
                <a:latin typeface="Helvetica Neue"/>
                <a:ea typeface="Helvetica Neue"/>
                <a:cs typeface="Helvetica Neue"/>
              </a:defRPr>
            </a:pPr>
            <a:r>
              <a:rPr sz="1500" b="0">
                <a:solidFill>
                  <a:srgbClr val="657586"/>
                </a:solidFill>
                <a:latin typeface="Helvetica Neue"/>
                <a:ea typeface="Helvetica Neue"/>
                <a:cs typeface="Helvetica Neue"/>
              </a:rPr>
              <a:t>Difference [95% interval]</a:t>
            </a:r>
          </a:p>
        </p:txBody>
      </p:sp>
      <p:sp>
        <p:nvSpPr>
          <p:cNvPr id="14" name="">
            <a:extLst xmlns:a="http://schemas.openxmlformats.org/drawingml/2006/main">
              <a:ext uri="{FF2B5EF4-FFF2-40B4-BE49-F238E27FC236}">
                <a16:creationId xmlns:a16="http://schemas.microsoft.com/office/drawing/2014/main" id="{F39F55C9-C65A-47CE-BACB-8EE7BA40F9D2}"/>
              </a:ext>
            </a:extLst>
          </p:cNvPr>
          <p:cNvSpPr>
            <a:spLocks xmlns:a="http://schemas.openxmlformats.org/drawingml/2006/main" noGrp="1"/>
          </p:cNvSpPr>
          <p:nvPr/>
        </p:nvSpPr>
        <p:spPr>
          <a:xfrm xmlns:a="http://schemas.openxmlformats.org/drawingml/2006/main">
            <a:off x="3067050" y="5124450"/>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7E77"/>
                </a:solidFill>
                <a:latin typeface="Helvetica Neue"/>
                <a:ea typeface="Helvetica Neue"/>
                <a:cs typeface="Helvetica Neue"/>
              </a:defRPr>
            </a:pPr>
            <a:r>
              <a:rPr sz="1875" b="1">
                <a:solidFill>
                  <a:srgbClr val="147E77"/>
                </a:solidFill>
                <a:latin typeface="Helvetica Neue"/>
                <a:ea typeface="Helvetica Neue"/>
                <a:cs typeface="Helvetica Neue"/>
              </a:rPr>
              <a:t>Change in error rate (percentage points)</a:t>
            </a:r>
          </a:p>
        </p:txBody>
      </p:sp>
      <p:sp>
        <p:nvSpPr>
          <p:cNvPr id="15" name="">
            <a:extLst xmlns:a="http://schemas.openxmlformats.org/drawingml/2006/main">
              <a:ext uri="{FF2B5EF4-FFF2-40B4-BE49-F238E27FC236}">
                <a16:creationId xmlns:a16="http://schemas.microsoft.com/office/drawing/2014/main" id="{879E0052-5ED8-4C5B-884E-FF835CE1A234}"/>
              </a:ext>
            </a:extLst>
          </p:cNvPr>
          <p:cNvSpPr>
            <a:spLocks xmlns:a="http://schemas.openxmlformats.org/drawingml/2006/main" noGrp="1"/>
          </p:cNvSpPr>
          <p:nvPr/>
        </p:nvSpPr>
        <p:spPr>
          <a:xfrm xmlns:a="http://schemas.openxmlformats.org/drawingml/2006/main">
            <a:off x="685800" y="55816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40"/>
                </a:solidFill>
                <a:latin typeface="Helvetica Neue"/>
                <a:ea typeface="Helvetica Neue"/>
                <a:cs typeface="Helvetica Neue"/>
              </a:defRPr>
            </a:pPr>
            <a:r>
              <a:rPr sz="1950" b="0">
                <a:solidFill>
                  <a:srgbClr val="142C40"/>
                </a:solidFill>
                <a:latin typeface="Helvetica Neue"/>
                <a:ea typeface="Helvetica Neue"/>
                <a:cs typeface="Helvetica Neue"/>
              </a:rPr>
              <a:t>Left: fewer wrong answers. Right: more wrong answers.</a:t>
            </a:r>
          </a:p>
        </p:txBody>
      </p:sp>
      <p:sp>
        <p:nvSpPr>
          <p:cNvPr id="16" name="">
            <a:extLst xmlns:a="http://schemas.openxmlformats.org/drawingml/2006/main">
              <a:ext uri="{FF2B5EF4-FFF2-40B4-BE49-F238E27FC236}">
                <a16:creationId xmlns:a16="http://schemas.microsoft.com/office/drawing/2014/main" id="{77ECDDA7-6909-40DC-93A7-7AF5FBFF80D4}"/>
              </a:ext>
            </a:extLst>
          </p:cNvPr>
          <p:cNvSpPr>
            <a:spLocks xmlns:a="http://schemas.openxmlformats.org/drawingml/2006/main" noGrp="1"/>
          </p:cNvSpPr>
          <p:nvPr/>
        </p:nvSpPr>
        <p:spPr>
          <a:xfrm xmlns:a="http://schemas.openxmlformats.org/drawingml/2006/main">
            <a:off x="685800" y="6057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57586"/>
                </a:solidFill>
                <a:latin typeface="Helvetica Neue"/>
                <a:ea typeface="Helvetica Neue"/>
                <a:cs typeface="Helvetica Neue"/>
              </a:defRPr>
            </a:pPr>
            <a:r>
              <a:rPr sz="1575" b="0">
                <a:solidFill>
                  <a:srgbClr val="657586"/>
                </a:solidFill>
                <a:latin typeface="Helvetica Neue"/>
                <a:ea typeface="Helvetica Neue"/>
                <a:cs typeface="Helvetica Neue"/>
              </a:rPr>
              <a:t>Post hoc; 719 paired units; 120 question clusters. Pointwise bootstrap intervals.</a:t>
            </a:r>
          </a:p>
        </p:txBody>
      </p:sp>
      <p:sp>
        <p:nvSpPr>
          <p:cNvPr id="17" name="">
            <a:extLst xmlns:a="http://schemas.openxmlformats.org/drawingml/2006/main">
              <a:ext uri="{FF2B5EF4-FFF2-40B4-BE49-F238E27FC236}">
                <a16:creationId xmlns:a16="http://schemas.microsoft.com/office/drawing/2014/main" id="{D0127590-F340-4C04-8467-A82DA626E4D3}"/>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6</a:t>
            </a:r>
          </a:p>
        </p:txBody>
      </p:sp>
    </p:spTree>
    <p:extLst>
      <p:ext uri="{BB962C8B-B14F-4D97-AF65-F5344CB8AC3E}">
        <p14:creationId xmlns:p14="http://schemas.microsoft.com/office/powerpoint/2010/main" val="277823871"/>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34A877-A8C4-4930-9197-34259DD8DA68}"/>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Most avoided errors became abstentions</a:t>
            </a:r>
          </a:p>
        </p:txBody>
      </p:sp>
      <p:graphicFrame>
        <p:nvGraphicFramePr>
          <p:cNvPr id="9" name=""/>
          <p:cNvGraphicFramePr/>
          <p:nvPr/>
        </p:nvGraphicFramePr>
        <p:xfrm>
          <a:off xmlns:a="http://schemas.openxmlformats.org/drawingml/2006/main" x="685800" y="1809750"/>
          <a:ext xmlns:a="http://schemas.openxmlformats.org/drawingml/2006/main" cx="10820400" cy="2781300"/>
        </p:xfrm>
        <a:graphic xmlns:a="http://schemas.openxmlformats.org/drawingml/2006/main">
          <a:graphicData uri="http://schemas.openxmlformats.org/drawingml/2006/table">
            <a:tbl>
              <a:tblPr/>
              <a:tblGrid>
                <a:gridCol w="2619375"/>
                <a:gridCol w="2733675"/>
                <a:gridCol w="2733675"/>
                <a:gridCol w="2733675"/>
              </a:tblGrid>
              <a:tr h="695325">
                <a:tc>
                  <a:txBody>
                    <a:bodyPr/>
                    <a:lstStyle/>
                    <a:p>
                      <a:r>
                        <a:rPr sz="2175" b="1">
                          <a:solidFill>
                            <a:srgbClr val="FFFFFF"/>
                          </a:solidFill>
                          <a:latin typeface="Helvetica Neue"/>
                          <a:ea typeface="Helvetica Neue"/>
                          <a:cs typeface="Helvetica Neue"/>
                        </a:rPr>
                        <a:t>C2 outcome</a:t>
                      </a:r>
                    </a:p>
                  </a:txBody>
                  <a:tcPr marL="91440" marR="91440" marT="45720" marB="45720">
                    <a:solidFill>
                      <a:srgbClr val="142C40"/>
                    </a:solidFill>
                  </a:tcPr>
                </a:tc>
                <a:tc>
                  <a:txBody>
                    <a:bodyPr/>
                    <a:lstStyle/>
                    <a:p>
                      <a:r>
                        <a:rPr sz="2175" b="1">
                          <a:solidFill>
                            <a:srgbClr val="FFFFFF"/>
                          </a:solidFill>
                          <a:latin typeface="Helvetica Neue"/>
                          <a:ea typeface="Helvetica Neue"/>
                          <a:cs typeface="Helvetica Neue"/>
                        </a:rPr>
                        <a:t>C3 correct</a:t>
                      </a:r>
                    </a:p>
                  </a:txBody>
                  <a:tcPr marL="91440" marR="91440" marT="45720" marB="45720">
                    <a:solidFill>
                      <a:srgbClr val="142C40"/>
                    </a:solidFill>
                  </a:tcPr>
                </a:tc>
                <a:tc>
                  <a:txBody>
                    <a:bodyPr/>
                    <a:lstStyle/>
                    <a:p>
                      <a:r>
                        <a:rPr sz="2175" b="1">
                          <a:solidFill>
                            <a:srgbClr val="FFFFFF"/>
                          </a:solidFill>
                          <a:latin typeface="Helvetica Neue"/>
                          <a:ea typeface="Helvetica Neue"/>
                          <a:cs typeface="Helvetica Neue"/>
                        </a:rPr>
                        <a:t>C3 wrong</a:t>
                      </a:r>
                    </a:p>
                  </a:txBody>
                  <a:tcPr marL="91440" marR="91440" marT="45720" marB="45720">
                    <a:solidFill>
                      <a:srgbClr val="142C40"/>
                    </a:solidFill>
                  </a:tcPr>
                </a:tc>
                <a:tc>
                  <a:txBody>
                    <a:bodyPr/>
                    <a:lstStyle/>
                    <a:p>
                      <a:r>
                        <a:rPr sz="2175" b="1">
                          <a:solidFill>
                            <a:srgbClr val="FFFFFF"/>
                          </a:solidFill>
                          <a:latin typeface="Helvetica Neue"/>
                          <a:ea typeface="Helvetica Neue"/>
                          <a:cs typeface="Helvetica Neue"/>
                        </a:rPr>
                        <a:t>C3 abstain</a:t>
                      </a:r>
                    </a:p>
                  </a:txBody>
                  <a:tcPr marL="91440" marR="91440" marT="45720" marB="45720">
                    <a:solidFill>
                      <a:srgbClr val="142C40"/>
                    </a:solidFill>
                  </a:tcPr>
                </a:tc>
              </a:tr>
              <a:tr h="695325">
                <a:tc>
                  <a:txBody>
                    <a:bodyPr/>
                    <a:lstStyle/>
                    <a:p>
                      <a:r>
                        <a:rPr sz="2175" b="0">
                          <a:solidFill>
                            <a:srgbClr val="142C40"/>
                          </a:solidFill>
                          <a:latin typeface="Helvetica Neue"/>
                          <a:ea typeface="Helvetica Neue"/>
                          <a:cs typeface="Helvetica Neue"/>
                        </a:rPr>
                        <a:t>Correct</a:t>
                      </a:r>
                    </a:p>
                  </a:txBody>
                  <a:tcPr marL="91440" marR="91440" marT="45720" marB="45720">
                    <a:solidFill>
                      <a:srgbClr val="F0F4F7"/>
                    </a:solidFill>
                  </a:tcPr>
                </a:tc>
                <a:tc>
                  <a:txBody>
                    <a:bodyPr/>
                    <a:lstStyle/>
                    <a:p>
                      <a:r>
                        <a:rPr sz="2175" b="1">
                          <a:solidFill>
                            <a:srgbClr val="142C40"/>
                          </a:solidFill>
                          <a:latin typeface="Helvetica Neue"/>
                          <a:ea typeface="Helvetica Neue"/>
                          <a:cs typeface="Helvetica Neue"/>
                        </a:rPr>
                        <a:t>133</a:t>
                      </a:r>
                    </a:p>
                  </a:txBody>
                  <a:tcPr marL="91440" marR="91440" marT="45720" marB="45720">
                    <a:solidFill>
                      <a:srgbClr val="6FAFAC"/>
                    </a:solidFill>
                  </a:tcPr>
                </a:tc>
                <a:tc>
                  <a:txBody>
                    <a:bodyPr/>
                    <a:lstStyle/>
                    <a:p>
                      <a:r>
                        <a:rPr sz="2175" b="1">
                          <a:solidFill>
                            <a:srgbClr val="142C40"/>
                          </a:solidFill>
                          <a:latin typeface="Helvetica Neue"/>
                          <a:ea typeface="Helvetica Neue"/>
                          <a:cs typeface="Helvetica Neue"/>
                        </a:rPr>
                        <a:t>9</a:t>
                      </a:r>
                    </a:p>
                  </a:txBody>
                  <a:tcPr marL="91440" marR="91440" marT="45720" marB="45720">
                    <a:solidFill>
                      <a:srgbClr val="E7EFF1"/>
                    </a:solidFill>
                  </a:tcPr>
                </a:tc>
                <a:tc>
                  <a:txBody>
                    <a:bodyPr/>
                    <a:lstStyle/>
                    <a:p>
                      <a:r>
                        <a:rPr sz="2175" b="1">
                          <a:solidFill>
                            <a:srgbClr val="142C40"/>
                          </a:solidFill>
                          <a:latin typeface="Helvetica Neue"/>
                          <a:ea typeface="Helvetica Neue"/>
                          <a:cs typeface="Helvetica Neue"/>
                        </a:rPr>
                        <a:t>20</a:t>
                      </a:r>
                    </a:p>
                  </a:txBody>
                  <a:tcPr marL="91440" marR="91440" marT="45720" marB="45720">
                    <a:solidFill>
                      <a:srgbClr val="DCE9EB"/>
                    </a:solidFill>
                  </a:tcPr>
                </a:tc>
              </a:tr>
              <a:tr h="695325">
                <a:tc>
                  <a:txBody>
                    <a:bodyPr/>
                    <a:lstStyle/>
                    <a:p>
                      <a:r>
                        <a:rPr sz="2175" b="0">
                          <a:solidFill>
                            <a:srgbClr val="142C40"/>
                          </a:solidFill>
                          <a:latin typeface="Helvetica Neue"/>
                          <a:ea typeface="Helvetica Neue"/>
                          <a:cs typeface="Helvetica Neue"/>
                        </a:rPr>
                        <a:t>Wrong</a:t>
                      </a:r>
                    </a:p>
                  </a:txBody>
                  <a:tcPr marL="91440" marR="91440" marT="45720" marB="45720">
                    <a:solidFill>
                      <a:srgbClr val="FFFFFF"/>
                    </a:solidFill>
                  </a:tcPr>
                </a:tc>
                <a:tc>
                  <a:txBody>
                    <a:bodyPr/>
                    <a:lstStyle/>
                    <a:p>
                      <a:r>
                        <a:rPr sz="2175" b="1">
                          <a:solidFill>
                            <a:srgbClr val="142C40"/>
                          </a:solidFill>
                          <a:latin typeface="Helvetica Neue"/>
                          <a:ea typeface="Helvetica Neue"/>
                          <a:cs typeface="Helvetica Neue"/>
                        </a:rPr>
                        <a:t>5</a:t>
                      </a:r>
                    </a:p>
                  </a:txBody>
                  <a:tcPr marL="91440" marR="91440" marT="45720" marB="45720">
                    <a:solidFill>
                      <a:srgbClr val="EBF1F4"/>
                    </a:solidFill>
                  </a:tcPr>
                </a:tc>
                <a:tc>
                  <a:txBody>
                    <a:bodyPr/>
                    <a:lstStyle/>
                    <a:p>
                      <a:r>
                        <a:rPr sz="2175" b="1">
                          <a:solidFill>
                            <a:srgbClr val="FFFFFF"/>
                          </a:solidFill>
                          <a:latin typeface="Helvetica Neue"/>
                          <a:ea typeface="Helvetica Neue"/>
                          <a:cs typeface="Helvetica Neue"/>
                        </a:rPr>
                        <a:t>228</a:t>
                      </a:r>
                    </a:p>
                  </a:txBody>
                  <a:tcPr marL="91440" marR="91440" marT="45720" marB="45720">
                    <a:solidFill>
                      <a:srgbClr val="147E77"/>
                    </a:solidFill>
                  </a:tcPr>
                </a:tc>
                <a:tc>
                  <a:txBody>
                    <a:bodyPr/>
                    <a:lstStyle/>
                    <a:p>
                      <a:r>
                        <a:rPr sz="2175" b="1">
                          <a:solidFill>
                            <a:srgbClr val="142C40"/>
                          </a:solidFill>
                          <a:latin typeface="Helvetica Neue"/>
                          <a:ea typeface="Helvetica Neue"/>
                          <a:cs typeface="Helvetica Neue"/>
                        </a:rPr>
                        <a:t>144</a:t>
                      </a:r>
                    </a:p>
                  </a:txBody>
                  <a:tcPr marL="91440" marR="91440" marT="45720" marB="45720">
                    <a:solidFill>
                      <a:srgbClr val="65A9A6"/>
                    </a:solidFill>
                  </a:tcPr>
                </a:tc>
              </a:tr>
              <a:tr h="695325">
                <a:tc>
                  <a:txBody>
                    <a:bodyPr/>
                    <a:lstStyle/>
                    <a:p>
                      <a:r>
                        <a:rPr sz="2175" b="0">
                          <a:solidFill>
                            <a:srgbClr val="142C40"/>
                          </a:solidFill>
                          <a:latin typeface="Helvetica Neue"/>
                          <a:ea typeface="Helvetica Neue"/>
                          <a:cs typeface="Helvetica Neue"/>
                        </a:rPr>
                        <a:t>Abstain</a:t>
                      </a:r>
                    </a:p>
                  </a:txBody>
                  <a:tcPr marL="91440" marR="91440" marT="45720" marB="45720">
                    <a:solidFill>
                      <a:srgbClr val="F0F4F7"/>
                    </a:solidFill>
                  </a:tcPr>
                </a:tc>
                <a:tc>
                  <a:txBody>
                    <a:bodyPr/>
                    <a:lstStyle/>
                    <a:p>
                      <a:r>
                        <a:rPr sz="2175" b="1">
                          <a:solidFill>
                            <a:srgbClr val="142C40"/>
                          </a:solidFill>
                          <a:latin typeface="Helvetica Neue"/>
                          <a:ea typeface="Helvetica Neue"/>
                          <a:cs typeface="Helvetica Neue"/>
                        </a:rPr>
                        <a:t>3</a:t>
                      </a:r>
                    </a:p>
                  </a:txBody>
                  <a:tcPr marL="91440" marR="91440" marT="45720" marB="45720">
                    <a:solidFill>
                      <a:srgbClr val="EDF2F5"/>
                    </a:solidFill>
                  </a:tcPr>
                </a:tc>
                <a:tc>
                  <a:txBody>
                    <a:bodyPr/>
                    <a:lstStyle/>
                    <a:p>
                      <a:r>
                        <a:rPr sz="2175" b="1">
                          <a:solidFill>
                            <a:srgbClr val="142C40"/>
                          </a:solidFill>
                          <a:latin typeface="Helvetica Neue"/>
                          <a:ea typeface="Helvetica Neue"/>
                          <a:cs typeface="Helvetica Neue"/>
                        </a:rPr>
                        <a:t>21</a:t>
                      </a:r>
                    </a:p>
                  </a:txBody>
                  <a:tcPr marL="91440" marR="91440" marT="45720" marB="45720">
                    <a:solidFill>
                      <a:srgbClr val="DBE9EB"/>
                    </a:solidFill>
                  </a:tcPr>
                </a:tc>
                <a:tc>
                  <a:txBody>
                    <a:bodyPr/>
                    <a:lstStyle/>
                    <a:p>
                      <a:r>
                        <a:rPr sz="2175" b="1">
                          <a:solidFill>
                            <a:srgbClr val="142C40"/>
                          </a:solidFill>
                          <a:latin typeface="Helvetica Neue"/>
                          <a:ea typeface="Helvetica Neue"/>
                          <a:cs typeface="Helvetica Neue"/>
                        </a:rPr>
                        <a:t>156</a:t>
                      </a:r>
                    </a:p>
                  </a:txBody>
                  <a:tcPr marL="91440" marR="91440" marT="45720" marB="45720">
                    <a:solidFill>
                      <a:srgbClr val="59A39F"/>
                    </a:solidFill>
                  </a:tcPr>
                </a:tc>
              </a:tr>
            </a:tbl>
          </a:graphicData>
        </a:graphic>
      </p:graphicFrame>
      <p:sp>
        <p:nvSpPr>
          <p:cNvPr id="3" name="">
            <a:extLst xmlns:a="http://schemas.openxmlformats.org/drawingml/2006/main">
              <a:ext uri="{FF2B5EF4-FFF2-40B4-BE49-F238E27FC236}">
                <a16:creationId xmlns:a16="http://schemas.microsoft.com/office/drawing/2014/main" id="{F9B768A9-03CB-415F-8FC3-F1316CB1FAB6}"/>
              </a:ext>
            </a:extLst>
          </p:cNvPr>
          <p:cNvSpPr>
            <a:spLocks xmlns:a="http://schemas.openxmlformats.org/drawingml/2006/main" noGrp="1"/>
          </p:cNvSpPr>
          <p:nvPr/>
        </p:nvSpPr>
        <p:spPr>
          <a:xfrm xmlns:a="http://schemas.openxmlformats.org/drawingml/2006/main">
            <a:off x="685800" y="1352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Rows: C2 outcome  /  Columns: C3 outcome  /  All 719 paired units</a:t>
            </a:r>
          </a:p>
        </p:txBody>
      </p:sp>
      <p:sp>
        <p:nvSpPr>
          <p:cNvPr id="4" name="">
            <a:extLst xmlns:a="http://schemas.openxmlformats.org/drawingml/2006/main">
              <a:ext uri="{FF2B5EF4-FFF2-40B4-BE49-F238E27FC236}">
                <a16:creationId xmlns:a16="http://schemas.microsoft.com/office/drawing/2014/main" id="{7EE4FB6B-C34F-41AE-8B20-C0A4FFDFC341}"/>
              </a:ext>
            </a:extLst>
          </p:cNvPr>
          <p:cNvSpPr>
            <a:spLocks xmlns:a="http://schemas.openxmlformats.org/drawingml/2006/main" noGrp="1"/>
          </p:cNvSpPr>
          <p:nvPr/>
        </p:nvSpPr>
        <p:spPr>
          <a:xfrm xmlns:a="http://schemas.openxmlformats.org/drawingml/2006/main">
            <a:off x="685800" y="4676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7586"/>
                </a:solidFill>
                <a:latin typeface="Helvetica Neue"/>
                <a:ea typeface="Helvetica Neue"/>
                <a:cs typeface="Helvetica Neue"/>
              </a:defRPr>
            </a:pPr>
            <a:r>
              <a:rPr sz="1725" b="0">
                <a:solidFill>
                  <a:srgbClr val="657586"/>
                </a:solidFill>
                <a:latin typeface="Helvetica Neue"/>
                <a:ea typeface="Helvetica Neue"/>
                <a:cs typeface="Helvetica Neue"/>
              </a:rPr>
              <a:t>Darker cells = more pairs (0-228); one shared count scale.</a:t>
            </a:r>
          </a:p>
        </p:txBody>
      </p:sp>
      <p:sp>
        <p:nvSpPr>
          <p:cNvPr id="5" name="">
            <a:extLst xmlns:a="http://schemas.openxmlformats.org/drawingml/2006/main">
              <a:ext uri="{FF2B5EF4-FFF2-40B4-BE49-F238E27FC236}">
                <a16:creationId xmlns:a16="http://schemas.microsoft.com/office/drawing/2014/main" id="{8434E4F7-C0F2-4C5C-87EA-65172D1689BB}"/>
              </a:ext>
            </a:extLst>
          </p:cNvPr>
          <p:cNvSpPr>
            <a:spLocks xmlns:a="http://schemas.openxmlformats.org/drawingml/2006/main" noGrp="1"/>
          </p:cNvSpPr>
          <p:nvPr/>
        </p:nvSpPr>
        <p:spPr>
          <a:xfrm xmlns:a="http://schemas.openxmlformats.org/drawingml/2006/main">
            <a:off x="685800" y="51625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144 wrong-to-abstain pairs; only 5 wrong-to-correct</a:t>
            </a:r>
          </a:p>
        </p:txBody>
      </p:sp>
      <p:sp>
        <p:nvSpPr>
          <p:cNvPr id="6" name="">
            <a:extLst xmlns:a="http://schemas.openxmlformats.org/drawingml/2006/main">
              <a:ext uri="{FF2B5EF4-FFF2-40B4-BE49-F238E27FC236}">
                <a16:creationId xmlns:a16="http://schemas.microsoft.com/office/drawing/2014/main" id="{CBD83F11-761F-4ACB-A0F5-3DB50E59B847}"/>
              </a:ext>
            </a:extLst>
          </p:cNvPr>
          <p:cNvSpPr>
            <a:spLocks xmlns:a="http://schemas.openxmlformats.org/drawingml/2006/main" noGrp="1"/>
          </p:cNvSpPr>
          <p:nvPr/>
        </p:nvSpPr>
        <p:spPr>
          <a:xfrm xmlns:a="http://schemas.openxmlformats.org/drawingml/2006/main">
            <a:off x="685800" y="5762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7586"/>
                </a:solidFill>
                <a:latin typeface="Helvetica Neue"/>
                <a:ea typeface="Helvetica Neue"/>
                <a:cs typeface="Helvetica Neue"/>
              </a:defRPr>
            </a:pPr>
            <a:r>
              <a:rPr sz="1800" b="0">
                <a:solidFill>
                  <a:srgbClr val="657586"/>
                </a:solidFill>
                <a:latin typeface="Helvetica Neue"/>
                <a:ea typeface="Helvetica Neue"/>
                <a:cs typeface="Helvetica Neue"/>
              </a:rPr>
              <a:t>All reverse changes retained. Parallel branches, not successive edits.</a:t>
            </a:r>
          </a:p>
        </p:txBody>
      </p:sp>
      <p:sp>
        <p:nvSpPr>
          <p:cNvPr id="7" name="">
            <a:extLst xmlns:a="http://schemas.openxmlformats.org/drawingml/2006/main">
              <a:ext uri="{FF2B5EF4-FFF2-40B4-BE49-F238E27FC236}">
                <a16:creationId xmlns:a16="http://schemas.microsoft.com/office/drawing/2014/main" id="{C5DE491E-9B33-4B34-B29A-7231F80FA93D}"/>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7</a:t>
            </a:r>
          </a:p>
        </p:txBody>
      </p:sp>
    </p:spTree>
    <p:extLst>
      <p:ext uri="{BB962C8B-B14F-4D97-AF65-F5344CB8AC3E}">
        <p14:creationId xmlns:p14="http://schemas.microsoft.com/office/powerpoint/2010/main" val="1607350860"/>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5FB349-0F41-4EC6-89AB-0DDB0F45D196}"/>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Structured checking accepted fewer useful corrections</a:t>
            </a:r>
          </a:p>
        </p:txBody>
      </p:sp>
      <p:graphicFrame>
        <p:nvGraphicFramePr>
          <p:cNvPr id="7" name="Chart"/>
          <p:cNvGraphicFramePr/>
          <p:nvPr/>
        </p:nvGraphicFramePr>
        <p:xfrm>
          <a:off xmlns:a="http://schemas.openxmlformats.org/drawingml/2006/main" x="952500" y="1619250"/>
          <a:ext xmlns:a="http://schemas.openxmlformats.org/drawingml/2006/main" cx="10096500" cy="3429000"/>
        </p:xfrm>
        <a:graphic xmlns:a="http://schemas.openxmlformats.org/drawingml/2006/main">
          <a:graphicData uri="http://schemas.openxmlformats.org/drawingml/2006/chart">
            <c:chart xmlns:r="http://schemas.openxmlformats.org/officeDocument/2006/relationships" xmlns:c="http://schemas.openxmlformats.org/drawingml/2006/chart" r:id="Ra01c87e7dc3a4f14"/>
          </a:graphicData>
        </a:graphic>
      </p:graphicFrame>
      <p:sp>
        <p:nvSpPr>
          <p:cNvPr id="3" name="">
            <a:extLst xmlns:a="http://schemas.openxmlformats.org/drawingml/2006/main">
              <a:ext uri="{FF2B5EF4-FFF2-40B4-BE49-F238E27FC236}">
                <a16:creationId xmlns:a16="http://schemas.microsoft.com/office/drawing/2014/main" id="{98BC372B-71AC-4433-A523-D4A923A2B94C}"/>
              </a:ext>
            </a:extLst>
          </p:cNvPr>
          <p:cNvSpPr>
            <a:spLocks xmlns:a="http://schemas.openxmlformats.org/drawingml/2006/main" noGrp="1"/>
          </p:cNvSpPr>
          <p:nvPr/>
        </p:nvSpPr>
        <p:spPr>
          <a:xfrm xmlns:a="http://schemas.openxmlformats.org/drawingml/2006/main">
            <a:off x="685800" y="5238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E77"/>
                </a:solidFill>
                <a:latin typeface="Helvetica Neue"/>
                <a:ea typeface="Helvetica Neue"/>
                <a:cs typeface="Helvetica Neue"/>
              </a:defRPr>
            </a:pPr>
            <a:r>
              <a:rPr sz="1950" b="1">
                <a:solidFill>
                  <a:srgbClr val="147E77"/>
                </a:solidFill>
                <a:latin typeface="Helvetica Neue"/>
                <a:ea typeface="Helvetica Neue"/>
                <a:cs typeface="Helvetica Neue"/>
              </a:rPr>
              <a:t>Successful corrections out of 322 initially wrong units</a:t>
            </a:r>
          </a:p>
        </p:txBody>
      </p:sp>
      <p:sp>
        <p:nvSpPr>
          <p:cNvPr id="4" name="">
            <a:extLst xmlns:a="http://schemas.openxmlformats.org/drawingml/2006/main">
              <a:ext uri="{FF2B5EF4-FFF2-40B4-BE49-F238E27FC236}">
                <a16:creationId xmlns:a16="http://schemas.microsoft.com/office/drawing/2014/main" id="{40989377-1949-4B82-83DB-38C79EE13960}"/>
              </a:ext>
            </a:extLst>
          </p:cNvPr>
          <p:cNvSpPr>
            <a:spLocks xmlns:a="http://schemas.openxmlformats.org/drawingml/2006/main" noGrp="1"/>
          </p:cNvSpPr>
          <p:nvPr/>
        </p:nvSpPr>
        <p:spPr>
          <a:xfrm xmlns:a="http://schemas.openxmlformats.org/drawingml/2006/main">
            <a:off x="685800" y="571500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7586"/>
                </a:solidFill>
                <a:latin typeface="Helvetica Neue"/>
                <a:ea typeface="Helvetica Neue"/>
                <a:cs typeface="Helvetica Neue"/>
              </a:defRPr>
            </a:pPr>
            <a:r>
              <a:rPr sz="1800" b="0">
                <a:solidFill>
                  <a:srgbClr val="657586"/>
                </a:solidFill>
                <a:latin typeface="Helvetica Neue"/>
                <a:ea typeface="Helvetica Neue"/>
                <a:cs typeface="Helvetica Neue"/>
              </a:rPr>
              <a:t>C5 - C4: -9.63 percentage points   /   95% cluster interval [-14.38, -5.25]</a:t>
            </a:r>
          </a:p>
        </p:txBody>
      </p:sp>
      <p:sp>
        <p:nvSpPr>
          <p:cNvPr id="5" name="">
            <a:extLst xmlns:a="http://schemas.openxmlformats.org/drawingml/2006/main">
              <a:ext uri="{FF2B5EF4-FFF2-40B4-BE49-F238E27FC236}">
                <a16:creationId xmlns:a16="http://schemas.microsoft.com/office/drawing/2014/main" id="{0EA44874-A855-49B7-9870-7A9BB0F1717A}"/>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8</a:t>
            </a:r>
          </a:p>
        </p:txBody>
      </p:sp>
    </p:spTree>
    <p:extLst>
      <p:ext uri="{BB962C8B-B14F-4D97-AF65-F5344CB8AC3E}">
        <p14:creationId xmlns:p14="http://schemas.microsoft.com/office/powerpoint/2010/main" val="1907371644"/>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38305E-7F4F-469E-B019-E01F0F6F9187}"/>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Checking also changes the willingness to answer</a:t>
            </a:r>
          </a:p>
        </p:txBody>
      </p:sp>
      <p:graphicFrame>
        <p:nvGraphicFramePr>
          <p:cNvPr id="7" name="Chart"/>
          <p:cNvGraphicFramePr/>
          <p:nvPr/>
        </p:nvGraphicFramePr>
        <p:xfrm>
          <a:off xmlns:a="http://schemas.openxmlformats.org/drawingml/2006/main" x="857250" y="1571625"/>
          <a:ext xmlns:a="http://schemas.openxmlformats.org/drawingml/2006/main" cx="10287000" cy="3571875"/>
        </p:xfrm>
        <a:graphic xmlns:a="http://schemas.openxmlformats.org/drawingml/2006/main">
          <a:graphicData uri="http://schemas.openxmlformats.org/drawingml/2006/chart">
            <c:chart xmlns:r="http://schemas.openxmlformats.org/officeDocument/2006/relationships" xmlns:c="http://schemas.openxmlformats.org/drawingml/2006/chart" r:id="R4bbc1c64c8264d10"/>
          </a:graphicData>
        </a:graphic>
      </p:graphicFrame>
      <p:sp>
        <p:nvSpPr>
          <p:cNvPr id="3" name="">
            <a:extLst xmlns:a="http://schemas.openxmlformats.org/drawingml/2006/main">
              <a:ext uri="{FF2B5EF4-FFF2-40B4-BE49-F238E27FC236}">
                <a16:creationId xmlns:a16="http://schemas.microsoft.com/office/drawing/2014/main" id="{EFA6CB74-2F77-48A5-906E-0D41D2B0A12B}"/>
              </a:ext>
            </a:extLst>
          </p:cNvPr>
          <p:cNvSpPr>
            <a:spLocks xmlns:a="http://schemas.openxmlformats.org/drawingml/2006/main" noGrp="1"/>
          </p:cNvSpPr>
          <p:nvPr/>
        </p:nvSpPr>
        <p:spPr>
          <a:xfrm xmlns:a="http://schemas.openxmlformats.org/drawingml/2006/main">
            <a:off x="685800" y="5381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7E77"/>
                </a:solidFill>
                <a:latin typeface="Helvetica Neue"/>
                <a:ea typeface="Helvetica Neue"/>
                <a:cs typeface="Helvetica Neue"/>
              </a:defRPr>
            </a:pPr>
            <a:r>
              <a:rPr sz="2025" b="1">
                <a:solidFill>
                  <a:srgbClr val="147E77"/>
                </a:solidFill>
                <a:latin typeface="Helvetica Neue"/>
                <a:ea typeface="Helvetica Neue"/>
                <a:cs typeface="Helvetica Neue"/>
              </a:rPr>
              <a:t>100% stacked bars: percentage of 719 units per condition</a:t>
            </a:r>
          </a:p>
        </p:txBody>
      </p:sp>
      <p:sp>
        <p:nvSpPr>
          <p:cNvPr id="4" name="">
            <a:extLst xmlns:a="http://schemas.openxmlformats.org/drawingml/2006/main">
              <a:ext uri="{FF2B5EF4-FFF2-40B4-BE49-F238E27FC236}">
                <a16:creationId xmlns:a16="http://schemas.microsoft.com/office/drawing/2014/main" id="{690E1C1F-D2D8-48B7-A046-68A5620D6F7A}"/>
              </a:ext>
            </a:extLst>
          </p:cNvPr>
          <p:cNvSpPr>
            <a:spLocks xmlns:a="http://schemas.openxmlformats.org/drawingml/2006/main" noGrp="1"/>
          </p:cNvSpPr>
          <p:nvPr/>
        </p:nvSpPr>
        <p:spPr>
          <a:xfrm xmlns:a="http://schemas.openxmlformats.org/drawingml/2006/main">
            <a:off x="685800" y="5886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7586"/>
                </a:solidFill>
                <a:latin typeface="Helvetica Neue"/>
                <a:ea typeface="Helvetica Neue"/>
                <a:cs typeface="Helvetica Neue"/>
              </a:defRPr>
            </a:pPr>
            <a:r>
              <a:rPr sz="1800" b="0">
                <a:solidFill>
                  <a:srgbClr val="657586"/>
                </a:solidFill>
                <a:latin typeface="Helvetica Neue"/>
                <a:ea typeface="Helvetica Neue"/>
                <a:cs typeface="Helvetica Neue"/>
              </a:rPr>
              <a:t>Correct, wrong and abstaining outputs remain separate outcomes.</a:t>
            </a:r>
          </a:p>
        </p:txBody>
      </p:sp>
      <p:sp>
        <p:nvSpPr>
          <p:cNvPr id="5" name="">
            <a:extLst xmlns:a="http://schemas.openxmlformats.org/drawingml/2006/main">
              <a:ext uri="{FF2B5EF4-FFF2-40B4-BE49-F238E27FC236}">
                <a16:creationId xmlns:a16="http://schemas.microsoft.com/office/drawing/2014/main" id="{7E3AC62B-F822-4B56-AD9A-CC2A890362D8}"/>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9</a:t>
            </a:r>
          </a:p>
        </p:txBody>
      </p:sp>
    </p:spTree>
    <p:extLst>
      <p:ext uri="{BB962C8B-B14F-4D97-AF65-F5344CB8AC3E}">
        <p14:creationId xmlns:p14="http://schemas.microsoft.com/office/powerpoint/2010/main" val="1170983894"/>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94E23E-0511-4676-A87F-EADB8671DD41}"/>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A wrong date presented as officially confirmed</a:t>
            </a:r>
          </a:p>
        </p:txBody>
      </p:sp>
      <p:sp>
        <p:nvSpPr>
          <p:cNvPr id="2" name="">
            <a:extLst xmlns:a="http://schemas.openxmlformats.org/drawingml/2006/main">
              <a:ext uri="{FF2B5EF4-FFF2-40B4-BE49-F238E27FC236}">
                <a16:creationId xmlns:a16="http://schemas.microsoft.com/office/drawing/2014/main" id="{25FC1BCB-8522-4F50-A78A-0AC5CE42841A}"/>
              </a:ext>
            </a:extLst>
          </p:cNvPr>
          <p:cNvSpPr>
            <a:spLocks xmlns:a="http://schemas.openxmlformats.org/drawingml/2006/main" noGrp="1"/>
          </p:cNvSpPr>
          <p:nvPr/>
        </p:nvSpPr>
        <p:spPr>
          <a:xfrm xmlns:a="http://schemas.openxmlformats.org/drawingml/2006/main">
            <a:off x="685800" y="15144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7E77"/>
                </a:solidFill>
                <a:latin typeface="Helvetica Neue"/>
                <a:ea typeface="Helvetica Neue"/>
                <a:cs typeface="Helvetica Neue"/>
              </a:defRPr>
            </a:pPr>
            <a:r>
              <a:rPr sz="2175" b="1">
                <a:solidFill>
                  <a:srgbClr val="147E77"/>
                </a:solidFill>
                <a:latin typeface="Helvetica Neue"/>
                <a:ea typeface="Helvetica Neue"/>
                <a:cs typeface="Helvetica Neue"/>
              </a:rPr>
              <a:t>Notepad++ 7.8.8 release date: 28 June 2020</a:t>
            </a:r>
          </a:p>
        </p:txBody>
      </p:sp>
      <p:graphicFrame>
        <p:nvGraphicFramePr>
          <p:cNvPr id="9" name=""/>
          <p:cNvGraphicFramePr/>
          <p:nvPr/>
        </p:nvGraphicFramePr>
        <p:xfrm>
          <a:off xmlns:a="http://schemas.openxmlformats.org/drawingml/2006/main" x="685800" y="2095500"/>
          <a:ext xmlns:a="http://schemas.openxmlformats.org/drawingml/2006/main" cx="10820400" cy="2428875"/>
        </p:xfrm>
        <a:graphic xmlns:a="http://schemas.openxmlformats.org/drawingml/2006/main">
          <a:graphicData uri="http://schemas.openxmlformats.org/drawingml/2006/table">
            <a:tbl>
              <a:tblPr/>
              <a:tblGrid>
                <a:gridCol w="3143250"/>
                <a:gridCol w="7677150"/>
              </a:tblGrid>
              <a:tr h="607219">
                <a:tc>
                  <a:txBody>
                    <a:bodyPr/>
                    <a:lstStyle/>
                    <a:p>
                      <a:r>
                        <a:rPr sz="2025" b="1">
                          <a:solidFill>
                            <a:srgbClr val="FFFFFF"/>
                          </a:solidFill>
                          <a:latin typeface="Helvetica Neue"/>
                          <a:ea typeface="Helvetica Neue"/>
                          <a:cs typeface="Helvetica Neue"/>
                        </a:rPr>
                        <a:t>Parallel branch</a:t>
                      </a:r>
                    </a:p>
                  </a:txBody>
                  <a:tcPr marL="91440" marR="91440" marT="45720" marB="45720">
                    <a:solidFill>
                      <a:srgbClr val="142C40"/>
                    </a:solidFill>
                  </a:tcPr>
                </a:tc>
                <a:tc>
                  <a:txBody>
                    <a:bodyPr/>
                    <a:lstStyle/>
                    <a:p>
                      <a:r>
                        <a:rPr sz="2025" b="1">
                          <a:solidFill>
                            <a:srgbClr val="FFFFFF"/>
                          </a:solidFill>
                          <a:latin typeface="Helvetica Neue"/>
                          <a:ea typeface="Helvetica Neue"/>
                          <a:cs typeface="Helvetica Neue"/>
                        </a:rPr>
                        <a:t>MiniMax response</a:t>
                      </a:r>
                    </a:p>
                  </a:txBody>
                  <a:tcPr marL="91440" marR="91440" marT="45720" marB="45720">
                    <a:solidFill>
                      <a:srgbClr val="142C40"/>
                    </a:solidFill>
                  </a:tcPr>
                </a:tc>
              </a:tr>
              <a:tr h="607219">
                <a:tc>
                  <a:txBody>
                    <a:bodyPr/>
                    <a:lstStyle/>
                    <a:p>
                      <a:r>
                        <a:rPr sz="2025" b="0">
                          <a:solidFill>
                            <a:srgbClr val="142C40"/>
                          </a:solidFill>
                          <a:latin typeface="Helvetica Neue"/>
                          <a:ea typeface="Helvetica Neue"/>
                          <a:cs typeface="Helvetica Neue"/>
                        </a:rPr>
                        <a:t>C0 Neutral</a:t>
                      </a:r>
                    </a:p>
                  </a:txBody>
                  <a:tcPr marL="91440" marR="91440" marT="45720" marB="45720">
                    <a:solidFill>
                      <a:srgbClr val="F0F4F7"/>
                    </a:solidFill>
                  </a:tcPr>
                </a:tc>
                <a:tc>
                  <a:txBody>
                    <a:bodyPr/>
                    <a:lstStyle/>
                    <a:p>
                      <a:r>
                        <a:rPr sz="2025" b="0">
                          <a:solidFill>
                            <a:srgbClr val="142C40"/>
                          </a:solidFill>
                          <a:latin typeface="Helvetica Neue"/>
                          <a:ea typeface="Helvetica Neue"/>
                          <a:cs typeface="Helvetica Neue"/>
                        </a:rPr>
                        <a:t>Cannot confirm a date</a:t>
                      </a:r>
                    </a:p>
                  </a:txBody>
                  <a:tcPr marL="91440" marR="91440" marT="45720" marB="45720">
                    <a:solidFill>
                      <a:srgbClr val="F0F4F7"/>
                    </a:solidFill>
                  </a:tcPr>
                </a:tc>
              </a:tr>
              <a:tr h="607219">
                <a:tc>
                  <a:txBody>
                    <a:bodyPr/>
                    <a:lstStyle/>
                    <a:p>
                      <a:r>
                        <a:rPr sz="2025" b="0">
                          <a:solidFill>
                            <a:srgbClr val="142C40"/>
                          </a:solidFill>
                          <a:latin typeface="Helvetica Neue"/>
                          <a:ea typeface="Helvetica Neue"/>
                          <a:cs typeface="Helvetica Neue"/>
                        </a:rPr>
                        <a:t>C1 / C2 Wrong advice</a:t>
                      </a:r>
                    </a:p>
                  </a:txBody>
                  <a:tcPr marL="91440" marR="91440" marT="45720" marB="45720">
                    <a:solidFill>
                      <a:srgbClr val="FFFFFF"/>
                    </a:solidFill>
                  </a:tcPr>
                </a:tc>
                <a:tc>
                  <a:txBody>
                    <a:bodyPr/>
                    <a:lstStyle/>
                    <a:p>
                      <a:r>
                        <a:rPr sz="2025" b="0">
                          <a:solidFill>
                            <a:srgbClr val="142C40"/>
                          </a:solidFill>
                          <a:latin typeface="Helvetica Neue"/>
                          <a:ea typeface="Helvetica Neue"/>
                          <a:cs typeface="Helvetica Neue"/>
                        </a:rPr>
                        <a:t>29 June 2020 (wrong)</a:t>
                      </a:r>
                    </a:p>
                  </a:txBody>
                  <a:tcPr marL="91440" marR="91440" marT="45720" marB="45720">
                    <a:solidFill>
                      <a:srgbClr val="FFFFFF"/>
                    </a:solidFill>
                  </a:tcPr>
                </a:tc>
              </a:tr>
              <a:tr h="607219">
                <a:tc>
                  <a:txBody>
                    <a:bodyPr/>
                    <a:lstStyle/>
                    <a:p>
                      <a:r>
                        <a:rPr sz="2025" b="0">
                          <a:solidFill>
                            <a:srgbClr val="142C40"/>
                          </a:solidFill>
                          <a:latin typeface="Helvetica Neue"/>
                          <a:ea typeface="Helvetica Neue"/>
                          <a:cs typeface="Helvetica Neue"/>
                        </a:rPr>
                        <a:t>C3 Structured</a:t>
                      </a:r>
                    </a:p>
                  </a:txBody>
                  <a:tcPr marL="91440" marR="91440" marT="45720" marB="45720">
                    <a:solidFill>
                      <a:srgbClr val="F0F4F7"/>
                    </a:solidFill>
                  </a:tcPr>
                </a:tc>
                <a:tc>
                  <a:txBody>
                    <a:bodyPr/>
                    <a:lstStyle/>
                    <a:p>
                      <a:r>
                        <a:rPr sz="2025" b="0">
                          <a:solidFill>
                            <a:srgbClr val="142C40"/>
                          </a:solidFill>
                          <a:latin typeface="Helvetica Neue"/>
                          <a:ea typeface="Helvetica Neue"/>
                          <a:cs typeface="Helvetica Neue"/>
                        </a:rPr>
                        <a:t>Cannot verify the supplied claim</a:t>
                      </a:r>
                    </a:p>
                  </a:txBody>
                  <a:tcPr marL="91440" marR="91440" marT="45720" marB="45720">
                    <a:solidFill>
                      <a:srgbClr val="F0F4F7"/>
                    </a:solidFill>
                  </a:tcPr>
                </a:tc>
              </a:tr>
            </a:tbl>
          </a:graphicData>
        </a:graphic>
      </p:graphicFrame>
      <p:sp>
        <p:nvSpPr>
          <p:cNvPr id="4" name="">
            <a:extLst xmlns:a="http://schemas.openxmlformats.org/drawingml/2006/main">
              <a:ext uri="{FF2B5EF4-FFF2-40B4-BE49-F238E27FC236}">
                <a16:creationId xmlns:a16="http://schemas.microsoft.com/office/drawing/2014/main" id="{84237B6D-CC1B-405D-AD42-52B23FE32663}"/>
              </a:ext>
            </a:extLst>
          </p:cNvPr>
          <p:cNvSpPr>
            <a:spLocks xmlns:a="http://schemas.openxmlformats.org/drawingml/2006/main" noGrp="1"/>
          </p:cNvSpPr>
          <p:nvPr/>
        </p:nvSpPr>
        <p:spPr>
          <a:xfrm xmlns:a="http://schemas.openxmlformats.org/drawingml/2006/main">
            <a:off x="685800" y="4857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40"/>
                </a:solidFill>
                <a:latin typeface="Helvetica Neue"/>
                <a:ea typeface="Helvetica Neue"/>
                <a:cs typeface="Helvetica Neue"/>
              </a:defRPr>
            </a:pPr>
            <a:r>
              <a:rPr sz="2100" b="0">
                <a:solidFill>
                  <a:srgbClr val="142C40"/>
                </a:solidFill>
                <a:latin typeface="Helvetica Neue"/>
                <a:ea typeface="Helvetica Neue"/>
                <a:cs typeface="Helvetica Neue"/>
              </a:rPr>
              <a:t>C1: “as confirmed by the official Notepad++ release notes”</a:t>
            </a:r>
          </a:p>
        </p:txBody>
      </p:sp>
      <p:sp>
        <p:nvSpPr>
          <p:cNvPr id="5" name="">
            <a:extLst xmlns:a="http://schemas.openxmlformats.org/drawingml/2006/main">
              <a:ext uri="{FF2B5EF4-FFF2-40B4-BE49-F238E27FC236}">
                <a16:creationId xmlns:a16="http://schemas.microsoft.com/office/drawing/2014/main" id="{BFC0568E-06D8-4714-AD10-78681BB7B867}"/>
              </a:ext>
            </a:extLst>
          </p:cNvPr>
          <p:cNvSpPr>
            <a:spLocks xmlns:a="http://schemas.openxmlformats.org/drawingml/2006/main" noGrp="1"/>
          </p:cNvSpPr>
          <p:nvPr/>
        </p:nvSpPr>
        <p:spPr>
          <a:xfrm xmlns:a="http://schemas.openxmlformats.org/drawingml/2006/main">
            <a:off x="685800" y="55054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No search tool was available. A verification claim is not a retrieval record.</a:t>
            </a:r>
          </a:p>
        </p:txBody>
      </p:sp>
      <p:sp>
        <p:nvSpPr>
          <p:cNvPr id="6" name="">
            <a:extLst xmlns:a="http://schemas.openxmlformats.org/drawingml/2006/main">
              <a:ext uri="{FF2B5EF4-FFF2-40B4-BE49-F238E27FC236}">
                <a16:creationId xmlns:a16="http://schemas.microsoft.com/office/drawing/2014/main" id="{DCFF83F8-E7E5-4CDE-8CBF-76FF16D600B5}"/>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10</a:t>
            </a:r>
          </a:p>
        </p:txBody>
      </p:sp>
    </p:spTree>
    <p:extLst>
      <p:ext uri="{BB962C8B-B14F-4D97-AF65-F5344CB8AC3E}">
        <p14:creationId xmlns:p14="http://schemas.microsoft.com/office/powerpoint/2010/main" val="348781889"/>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A083DF-847A-4C1E-9BDE-53E8F204C3AC}"/>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AI review of the withdrawal cases</a:t>
            </a:r>
          </a:p>
        </p:txBody>
      </p:sp>
      <p:sp>
        <p:nvSpPr>
          <p:cNvPr id="2" name="">
            <a:extLst xmlns:a="http://schemas.openxmlformats.org/drawingml/2006/main">
              <a:ext uri="{FF2B5EF4-FFF2-40B4-BE49-F238E27FC236}">
                <a16:creationId xmlns:a16="http://schemas.microsoft.com/office/drawing/2014/main" id="{793F6AB6-24F5-4DBA-B7B6-6D464A8083A6}"/>
              </a:ext>
            </a:extLst>
          </p:cNvPr>
          <p:cNvSpPr>
            <a:spLocks xmlns:a="http://schemas.openxmlformats.org/drawingml/2006/main" noGrp="1"/>
          </p:cNvSpPr>
          <p:nvPr/>
        </p:nvSpPr>
        <p:spPr>
          <a:xfrm xmlns:a="http://schemas.openxmlformats.org/drawingml/2006/main">
            <a:off x="685800" y="1476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7E77"/>
                </a:solidFill>
                <a:latin typeface="Helvetica Neue"/>
                <a:ea typeface="Helvetica Neue"/>
                <a:cs typeface="Helvetica Neue"/>
              </a:defRPr>
            </a:pPr>
            <a:r>
              <a:rPr sz="2250" b="1">
                <a:solidFill>
                  <a:srgbClr val="147E77"/>
                </a:solidFill>
                <a:latin typeface="Helvetica Neue"/>
                <a:ea typeface="Helvetica Neue"/>
                <a:cs typeface="Helvetica Neue"/>
              </a:rPr>
              <a:t>240 paired cases, covering 451 distinct responses</a:t>
            </a:r>
          </a:p>
        </p:txBody>
      </p:sp>
      <p:graphicFrame>
        <p:nvGraphicFramePr>
          <p:cNvPr id="9" name="Chart"/>
          <p:cNvGraphicFramePr/>
          <p:nvPr/>
        </p:nvGraphicFramePr>
        <p:xfrm>
          <a:off xmlns:a="http://schemas.openxmlformats.org/drawingml/2006/main" x="666750" y="2114550"/>
          <a:ext xmlns:a="http://schemas.openxmlformats.org/drawingml/2006/main" cx="10668000" cy="3095625"/>
        </p:xfrm>
        <a:graphic xmlns:a="http://schemas.openxmlformats.org/drawingml/2006/main">
          <a:graphicData uri="http://schemas.openxmlformats.org/drawingml/2006/chart">
            <c:chart xmlns:r="http://schemas.openxmlformats.org/officeDocument/2006/relationships" xmlns:c="http://schemas.openxmlformats.org/drawingml/2006/chart" r:id="R79f9165169384598"/>
          </a:graphicData>
        </a:graphic>
      </p:graphicFrame>
      <p:sp>
        <p:nvSpPr>
          <p:cNvPr id="4" name="">
            <a:extLst xmlns:a="http://schemas.openxmlformats.org/drawingml/2006/main">
              <a:ext uri="{FF2B5EF4-FFF2-40B4-BE49-F238E27FC236}">
                <a16:creationId xmlns:a16="http://schemas.microsoft.com/office/drawing/2014/main" id="{55633E05-97EC-4764-87D4-EA7DD7BD2104}"/>
              </a:ext>
            </a:extLst>
          </p:cNvPr>
          <p:cNvSpPr>
            <a:spLocks xmlns:a="http://schemas.openxmlformats.org/drawingml/2006/main" noGrp="1"/>
          </p:cNvSpPr>
          <p:nvPr/>
        </p:nvSpPr>
        <p:spPr>
          <a:xfrm xmlns:a="http://schemas.openxmlformats.org/drawingml/2006/main">
            <a:off x="685800" y="52863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7E77"/>
                </a:solidFill>
                <a:latin typeface="Helvetica Neue"/>
                <a:ea typeface="Helvetica Neue"/>
                <a:cs typeface="Helvetica Neue"/>
              </a:defRPr>
            </a:pPr>
            <a:r>
              <a:rPr sz="1875" b="1">
                <a:solidFill>
                  <a:srgbClr val="147E77"/>
                </a:solidFill>
                <a:latin typeface="Helvetica Neue"/>
                <a:ea typeface="Helvetica Neue"/>
                <a:cs typeface="Helvetica Neue"/>
              </a:rPr>
              <a:t>Counts among all 144 C2-wrong / C3-abstain pairs</a:t>
            </a:r>
          </a:p>
        </p:txBody>
      </p:sp>
      <p:sp>
        <p:nvSpPr>
          <p:cNvPr id="5" name="">
            <a:extLst xmlns:a="http://schemas.openxmlformats.org/drawingml/2006/main">
              <a:ext uri="{FF2B5EF4-FFF2-40B4-BE49-F238E27FC236}">
                <a16:creationId xmlns:a16="http://schemas.microsoft.com/office/drawing/2014/main" id="{1B6A32CC-2900-424B-9134-AE1D246239BC}"/>
              </a:ext>
            </a:extLst>
          </p:cNvPr>
          <p:cNvSpPr>
            <a:spLocks xmlns:a="http://schemas.openxmlformats.org/drawingml/2006/main" noGrp="1"/>
          </p:cNvSpPr>
          <p:nvPr/>
        </p:nvSpPr>
        <p:spPr>
          <a:xfrm xmlns:a="http://schemas.openxmlformats.org/drawingml/2006/main">
            <a:off x="685800" y="5762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7586"/>
                </a:solidFill>
                <a:latin typeface="Helvetica Neue"/>
                <a:ea typeface="Helvetica Neue"/>
                <a:cs typeface="Helvetica Neue"/>
              </a:defRPr>
            </a:pPr>
            <a:r>
              <a:rPr sz="1800" b="0">
                <a:solidFill>
                  <a:srgbClr val="657586"/>
                </a:solidFill>
                <a:latin typeface="Helvetica Neue"/>
                <a:ea typeface="Helvetica Neue"/>
                <a:cs typeface="Helvetica Neue"/>
              </a:rPr>
              <a:t>Targeted, unblinded AI review. Other background claims may remain unchecked.</a:t>
            </a:r>
          </a:p>
        </p:txBody>
      </p:sp>
      <p:sp>
        <p:nvSpPr>
          <p:cNvPr id="6" name="">
            <a:extLst xmlns:a="http://schemas.openxmlformats.org/drawingml/2006/main">
              <a:ext uri="{FF2B5EF4-FFF2-40B4-BE49-F238E27FC236}">
                <a16:creationId xmlns:a16="http://schemas.microsoft.com/office/drawing/2014/main" id="{2A6293E9-AE41-4B5B-BBAF-B45A86B37670}"/>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11</a:t>
            </a:r>
          </a:p>
        </p:txBody>
      </p:sp>
    </p:spTree>
    <p:extLst>
      <p:ext uri="{BB962C8B-B14F-4D97-AF65-F5344CB8AC3E}">
        <p14:creationId xmlns:p14="http://schemas.microsoft.com/office/powerpoint/2010/main" val="1266880308"/>
      </p:ext>
    </p:extLst>
  </p:cSld>
</p:sld>
</file>

<file path=ppt/slides/slide1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E4F57A-7168-4252-B1EF-61DA84207666}"/>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Mathematical validity before calculation</a:t>
            </a:r>
          </a:p>
        </p:txBody>
      </p:sp>
      <p:sp>
        <p:nvSpPr>
          <p:cNvPr id="2" name="">
            <a:extLst xmlns:a="http://schemas.openxmlformats.org/drawingml/2006/main">
              <a:ext uri="{FF2B5EF4-FFF2-40B4-BE49-F238E27FC236}">
                <a16:creationId xmlns:a16="http://schemas.microsoft.com/office/drawing/2014/main" id="{BDDBB526-487B-4F3B-A84D-37DF689F48D8}"/>
              </a:ext>
            </a:extLst>
          </p:cNvPr>
          <p:cNvSpPr>
            <a:spLocks xmlns:a="http://schemas.openxmlformats.org/drawingml/2006/main" noGrp="1"/>
          </p:cNvSpPr>
          <p:nvPr/>
        </p:nvSpPr>
        <p:spPr>
          <a:xfrm xmlns:a="http://schemas.openxmlformats.org/drawingml/2006/main">
            <a:off x="685800" y="16573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An equilateral triangle has perimeter 30 cm and height 10 cm.</a:t>
            </a:r>
          </a:p>
        </p:txBody>
      </p:sp>
      <p:sp>
        <p:nvSpPr>
          <p:cNvPr id="3" name="">
            <a:extLst xmlns:a="http://schemas.openxmlformats.org/drawingml/2006/main">
              <a:ext uri="{FF2B5EF4-FFF2-40B4-BE49-F238E27FC236}">
                <a16:creationId xmlns:a16="http://schemas.microsoft.com/office/drawing/2014/main" id="{CE96665A-39B1-4566-A3CF-E7733B5FDB8D}"/>
              </a:ext>
            </a:extLst>
          </p:cNvPr>
          <p:cNvSpPr>
            <a:spLocks xmlns:a="http://schemas.openxmlformats.org/drawingml/2006/main" noGrp="1"/>
          </p:cNvSpPr>
          <p:nvPr/>
        </p:nvSpPr>
        <p:spPr>
          <a:xfrm xmlns:a="http://schemas.openxmlformats.org/drawingml/2006/main">
            <a:off x="685800" y="26289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Direct substitution gives area = 10 × 10 / 2 = 50.</a:t>
            </a:r>
          </a:p>
        </p:txBody>
      </p:sp>
      <p:sp>
        <p:nvSpPr>
          <p:cNvPr id="4" name="">
            <a:extLst xmlns:a="http://schemas.openxmlformats.org/drawingml/2006/main">
              <a:ext uri="{FF2B5EF4-FFF2-40B4-BE49-F238E27FC236}">
                <a16:creationId xmlns:a16="http://schemas.microsoft.com/office/drawing/2014/main" id="{D839B95A-D342-405B-AE99-A862D0C5D657}"/>
              </a:ext>
            </a:extLst>
          </p:cNvPr>
          <p:cNvSpPr>
            <a:spLocks xmlns:a="http://schemas.openxmlformats.org/drawingml/2006/main" noGrp="1"/>
          </p:cNvSpPr>
          <p:nvPr/>
        </p:nvSpPr>
        <p:spPr>
          <a:xfrm xmlns:a="http://schemas.openxmlformats.org/drawingml/2006/main">
            <a:off x="685800" y="36004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But side 10 forces height 5√3 ≈ 8.66. The conditions contradict.</a:t>
            </a:r>
          </a:p>
        </p:txBody>
      </p:sp>
      <p:sp>
        <p:nvSpPr>
          <p:cNvPr id="5" name="">
            <a:extLst xmlns:a="http://schemas.openxmlformats.org/drawingml/2006/main">
              <a:ext uri="{FF2B5EF4-FFF2-40B4-BE49-F238E27FC236}">
                <a16:creationId xmlns:a16="http://schemas.microsoft.com/office/drawing/2014/main" id="{ED3DC8E6-91DE-44A7-B68D-860A360C1229}"/>
              </a:ext>
            </a:extLst>
          </p:cNvPr>
          <p:cNvSpPr>
            <a:spLocks xmlns:a="http://schemas.openxmlformats.org/drawingml/2006/main" noGrp="1"/>
          </p:cNvSpPr>
          <p:nvPr/>
        </p:nvSpPr>
        <p:spPr>
          <a:xfrm xmlns:a="http://schemas.openxmlformats.org/drawingml/2006/main">
            <a:off x="685800" y="45720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“Inconsistent” is a correct conclusion, not a refusal</a:t>
            </a:r>
          </a:p>
        </p:txBody>
      </p:sp>
      <p:sp>
        <p:nvSpPr>
          <p:cNvPr id="6" name="">
            <a:extLst xmlns:a="http://schemas.openxmlformats.org/drawingml/2006/main">
              <a:ext uri="{FF2B5EF4-FFF2-40B4-BE49-F238E27FC236}">
                <a16:creationId xmlns:a16="http://schemas.microsoft.com/office/drawing/2014/main" id="{A4478B9E-2469-44E1-AB1D-58FC4A0DA7A6}"/>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12</a:t>
            </a:r>
          </a:p>
        </p:txBody>
      </p:sp>
    </p:spTree>
    <p:extLst>
      <p:ext uri="{BB962C8B-B14F-4D97-AF65-F5344CB8AC3E}">
        <p14:creationId xmlns:p14="http://schemas.microsoft.com/office/powerpoint/2010/main" val="1086725950"/>
      </p:ext>
    </p:extLst>
  </p:cSld>
</p:sld>
</file>

<file path=ppt/slides/slide1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414D74-DD99-4F24-9014-7638EEC99990}"/>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Mathematics: a partial descriptive supplement</a:t>
            </a:r>
          </a:p>
        </p:txBody>
      </p:sp>
      <p:graphicFrame>
        <p:nvGraphicFramePr>
          <p:cNvPr id="7" name="Chart"/>
          <p:cNvGraphicFramePr/>
          <p:nvPr/>
        </p:nvGraphicFramePr>
        <p:xfrm>
          <a:off xmlns:a="http://schemas.openxmlformats.org/drawingml/2006/main" x="952500" y="1619250"/>
          <a:ext xmlns:a="http://schemas.openxmlformats.org/drawingml/2006/main" cx="10096500" cy="3429000"/>
        </p:xfrm>
        <a:graphic xmlns:a="http://schemas.openxmlformats.org/drawingml/2006/main">
          <a:graphicData uri="http://schemas.openxmlformats.org/drawingml/2006/chart">
            <c:chart xmlns:r="http://schemas.openxmlformats.org/officeDocument/2006/relationships" xmlns:c="http://schemas.openxmlformats.org/drawingml/2006/chart" r:id="R420c8460588c46b4"/>
          </a:graphicData>
        </a:graphic>
      </p:graphicFrame>
      <p:sp>
        <p:nvSpPr>
          <p:cNvPr id="3" name="">
            <a:extLst xmlns:a="http://schemas.openxmlformats.org/drawingml/2006/main">
              <a:ext uri="{FF2B5EF4-FFF2-40B4-BE49-F238E27FC236}">
                <a16:creationId xmlns:a16="http://schemas.microsoft.com/office/drawing/2014/main" id="{D2EF7B9A-E456-4E1F-A300-3EF041349E88}"/>
              </a:ext>
            </a:extLst>
          </p:cNvPr>
          <p:cNvSpPr>
            <a:spLocks xmlns:a="http://schemas.openxmlformats.org/drawingml/2006/main" noGrp="1"/>
          </p:cNvSpPr>
          <p:nvPr/>
        </p:nvSpPr>
        <p:spPr>
          <a:xfrm xmlns:a="http://schemas.openxmlformats.org/drawingml/2006/main">
            <a:off x="685800" y="5238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7E77"/>
                </a:solidFill>
                <a:latin typeface="Helvetica Neue"/>
                <a:ea typeface="Helvetica Neue"/>
                <a:cs typeface="Helvetica Neue"/>
              </a:defRPr>
            </a:pPr>
            <a:r>
              <a:rPr sz="1950" b="1">
                <a:solidFill>
                  <a:srgbClr val="147E77"/>
                </a:solidFill>
                <a:latin typeface="Helvetica Neue"/>
                <a:ea typeface="Helvetica Neue"/>
                <a:cs typeface="Helvetica Neue"/>
              </a:rPr>
              <a:t>13 retained items; 71 complete units; correct final conclusions shown</a:t>
            </a:r>
          </a:p>
        </p:txBody>
      </p:sp>
      <p:sp>
        <p:nvSpPr>
          <p:cNvPr id="4" name="">
            <a:extLst xmlns:a="http://schemas.openxmlformats.org/drawingml/2006/main">
              <a:ext uri="{FF2B5EF4-FFF2-40B4-BE49-F238E27FC236}">
                <a16:creationId xmlns:a16="http://schemas.microsoft.com/office/drawing/2014/main" id="{D764B480-1CD7-4350-9094-E5EC84AEC167}"/>
              </a:ext>
            </a:extLst>
          </p:cNvPr>
          <p:cNvSpPr>
            <a:spLocks xmlns:a="http://schemas.openxmlformats.org/drawingml/2006/main" noGrp="1"/>
          </p:cNvSpPr>
          <p:nvPr/>
        </p:nvSpPr>
        <p:spPr>
          <a:xfrm xmlns:a="http://schemas.openxmlformats.org/drawingml/2006/main">
            <a:off x="685800" y="57721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13/16 initial errors have correct reason endpoints, but wrong final fields.</a:t>
            </a:r>
          </a:p>
        </p:txBody>
      </p:sp>
      <p:sp>
        <p:nvSpPr>
          <p:cNvPr id="5" name="">
            <a:extLst xmlns:a="http://schemas.openxmlformats.org/drawingml/2006/main">
              <a:ext uri="{FF2B5EF4-FFF2-40B4-BE49-F238E27FC236}">
                <a16:creationId xmlns:a16="http://schemas.microsoft.com/office/drawing/2014/main" id="{9C8F9D57-A099-46D3-84D1-B135EA7DBF73}"/>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13</a:t>
            </a:r>
          </a:p>
        </p:txBody>
      </p:sp>
    </p:spTree>
    <p:extLst>
      <p:ext uri="{BB962C8B-B14F-4D97-AF65-F5344CB8AC3E}">
        <p14:creationId xmlns:p14="http://schemas.microsoft.com/office/powerpoint/2010/main" val="1562102700"/>
      </p:ext>
    </p:extLst>
  </p:cSld>
</p:sld>
</file>

<file path=ppt/slides/slide1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BB5F8C-80D0-473C-BF31-BB51924874B5}"/>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What these results can establish</a:t>
            </a:r>
          </a:p>
        </p:txBody>
      </p:sp>
      <p:sp>
        <p:nvSpPr>
          <p:cNvPr id="2" name="">
            <a:extLst xmlns:a="http://schemas.openxmlformats.org/drawingml/2006/main">
              <a:ext uri="{FF2B5EF4-FFF2-40B4-BE49-F238E27FC236}">
                <a16:creationId xmlns:a16="http://schemas.microsoft.com/office/drawing/2014/main" id="{A0F80704-CC01-4579-BD40-477D4612E3E0}"/>
              </a:ext>
            </a:extLst>
          </p:cNvPr>
          <p:cNvSpPr>
            <a:spLocks xmlns:a="http://schemas.openxmlformats.org/drawingml/2006/main" noGrp="1"/>
          </p:cNvSpPr>
          <p:nvPr/>
        </p:nvSpPr>
        <p:spPr>
          <a:xfrm xmlns:a="http://schemas.openxmlformats.org/drawingml/2006/main">
            <a:off x="685800" y="16573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Wrong input raises pooled error in these selected factual questions.</a:t>
            </a:r>
          </a:p>
        </p:txBody>
      </p:sp>
      <p:sp>
        <p:nvSpPr>
          <p:cNvPr id="3" name="">
            <a:extLst xmlns:a="http://schemas.openxmlformats.org/drawingml/2006/main">
              <a:ext uri="{FF2B5EF4-FFF2-40B4-BE49-F238E27FC236}">
                <a16:creationId xmlns:a16="http://schemas.microsoft.com/office/drawing/2014/main" id="{25B750A0-BD4A-450D-8FE8-FEC72E4B670B}"/>
              </a:ext>
            </a:extLst>
          </p:cNvPr>
          <p:cNvSpPr>
            <a:spLocks xmlns:a="http://schemas.openxmlformats.org/drawingml/2006/main" noGrp="1"/>
          </p:cNvSpPr>
          <p:nvPr/>
        </p:nvSpPr>
        <p:spPr>
          <a:xfrm xmlns:a="http://schemas.openxmlformats.org/drawingml/2006/main">
            <a:off x="685800" y="26289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Structured checking reduces wrong output, often through abstention.</a:t>
            </a:r>
          </a:p>
        </p:txBody>
      </p:sp>
      <p:sp>
        <p:nvSpPr>
          <p:cNvPr id="4" name="">
            <a:extLst xmlns:a="http://schemas.openxmlformats.org/drawingml/2006/main">
              <a:ext uri="{FF2B5EF4-FFF2-40B4-BE49-F238E27FC236}">
                <a16:creationId xmlns:a16="http://schemas.microsoft.com/office/drawing/2014/main" id="{E418EDEE-753A-4F88-A489-CEA685D55DE1}"/>
              </a:ext>
            </a:extLst>
          </p:cNvPr>
          <p:cNvSpPr>
            <a:spLocks xmlns:a="http://schemas.openxmlformats.org/drawingml/2006/main" noGrp="1"/>
          </p:cNvSpPr>
          <p:nvPr/>
        </p:nvSpPr>
        <p:spPr>
          <a:xfrm xmlns:a="http://schemas.openxmlformats.org/drawingml/2006/main">
            <a:off x="685800" y="36004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Model differences and disputed references limit generalisation.</a:t>
            </a:r>
          </a:p>
        </p:txBody>
      </p:sp>
      <p:sp>
        <p:nvSpPr>
          <p:cNvPr id="5" name="">
            <a:extLst xmlns:a="http://schemas.openxmlformats.org/drawingml/2006/main">
              <a:ext uri="{FF2B5EF4-FFF2-40B4-BE49-F238E27FC236}">
                <a16:creationId xmlns:a16="http://schemas.microsoft.com/office/drawing/2014/main" id="{DD566318-E4E0-403F-835C-D78DDE1C9EA7}"/>
              </a:ext>
            </a:extLst>
          </p:cNvPr>
          <p:cNvSpPr>
            <a:spLocks xmlns:a="http://schemas.openxmlformats.org/drawingml/2006/main" noGrp="1"/>
          </p:cNvSpPr>
          <p:nvPr/>
        </p:nvSpPr>
        <p:spPr>
          <a:xfrm xmlns:a="http://schemas.openxmlformats.org/drawingml/2006/main">
            <a:off x="685800" y="45720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Human interaction is simulated. Effects on human thinking are unmeasured.</a:t>
            </a:r>
          </a:p>
        </p:txBody>
      </p:sp>
      <p:sp>
        <p:nvSpPr>
          <p:cNvPr id="6" name="">
            <a:extLst xmlns:a="http://schemas.openxmlformats.org/drawingml/2006/main">
              <a:ext uri="{FF2B5EF4-FFF2-40B4-BE49-F238E27FC236}">
                <a16:creationId xmlns:a16="http://schemas.microsoft.com/office/drawing/2014/main" id="{78B960F3-5A7F-4040-A6A4-F1B5D9AFDA58}"/>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14</a:t>
            </a:r>
          </a:p>
        </p:txBody>
      </p:sp>
    </p:spTree>
    <p:extLst>
      <p:ext uri="{BB962C8B-B14F-4D97-AF65-F5344CB8AC3E}">
        <p14:creationId xmlns:p14="http://schemas.microsoft.com/office/powerpoint/2010/main" val="664290676"/>
      </p:ext>
    </p:extLst>
  </p:cSld>
</p:sld>
</file>

<file path=ppt/slides/slide1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15C2BE-D77A-4046-AE09-A84CBE42D897}"/>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Proposed next solution</a:t>
            </a:r>
          </a:p>
        </p:txBody>
      </p:sp>
      <p:sp>
        <p:nvSpPr>
          <p:cNvPr id="2" name="">
            <a:extLst xmlns:a="http://schemas.openxmlformats.org/drawingml/2006/main">
              <a:ext uri="{FF2B5EF4-FFF2-40B4-BE49-F238E27FC236}">
                <a16:creationId xmlns:a16="http://schemas.microsoft.com/office/drawing/2014/main" id="{7478C829-A697-4FD6-8AA4-C602963784F5}"/>
              </a:ext>
            </a:extLst>
          </p:cNvPr>
          <p:cNvSpPr>
            <a:spLocks xmlns:a="http://schemas.openxmlformats.org/drawingml/2006/main" noGrp="1"/>
          </p:cNvSpPr>
          <p:nvPr/>
        </p:nvSpPr>
        <p:spPr>
          <a:xfrm xmlns:a="http://schemas.openxmlformats.org/drawingml/2006/main">
            <a:off x="685800" y="16573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Label your own assumptions before asking AI to build on them.</a:t>
            </a:r>
          </a:p>
        </p:txBody>
      </p:sp>
      <p:sp>
        <p:nvSpPr>
          <p:cNvPr id="3" name="">
            <a:extLst xmlns:a="http://schemas.openxmlformats.org/drawingml/2006/main">
              <a:ext uri="{FF2B5EF4-FFF2-40B4-BE49-F238E27FC236}">
                <a16:creationId xmlns:a16="http://schemas.microsoft.com/office/drawing/2014/main" id="{0F3ED641-2CB6-4725-B4E9-64942D5ADF11}"/>
              </a:ext>
            </a:extLst>
          </p:cNvPr>
          <p:cNvSpPr>
            <a:spLocks xmlns:a="http://schemas.openxmlformats.org/drawingml/2006/main" noGrp="1"/>
          </p:cNvSpPr>
          <p:nvPr/>
        </p:nvSpPr>
        <p:spPr>
          <a:xfrm xmlns:a="http://schemas.openxmlformats.org/drawingml/2006/main">
            <a:off x="685800" y="26289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Ask for evidence supporting the exact claim. Verify the source.</a:t>
            </a:r>
          </a:p>
        </p:txBody>
      </p:sp>
      <p:sp>
        <p:nvSpPr>
          <p:cNvPr id="4" name="">
            <a:extLst xmlns:a="http://schemas.openxmlformats.org/drawingml/2006/main">
              <a:ext uri="{FF2B5EF4-FFF2-40B4-BE49-F238E27FC236}">
                <a16:creationId xmlns:a16="http://schemas.microsoft.com/office/drawing/2014/main" id="{0122C58E-B503-466F-95B5-415071A0BFEB}"/>
              </a:ext>
            </a:extLst>
          </p:cNvPr>
          <p:cNvSpPr>
            <a:spLocks xmlns:a="http://schemas.openxmlformats.org/drawingml/2006/main" noGrp="1"/>
          </p:cNvSpPr>
          <p:nvPr/>
        </p:nvSpPr>
        <p:spPr>
          <a:xfrm xmlns:a="http://schemas.openxmlformats.org/drawingml/2006/main">
            <a:off x="685800" y="360045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Keep uncertainty visible when evidence is insufficient.</a:t>
            </a:r>
          </a:p>
        </p:txBody>
      </p:sp>
      <p:sp>
        <p:nvSpPr>
          <p:cNvPr id="5" name="">
            <a:extLst xmlns:a="http://schemas.openxmlformats.org/drawingml/2006/main">
              <a:ext uri="{FF2B5EF4-FFF2-40B4-BE49-F238E27FC236}">
                <a16:creationId xmlns:a16="http://schemas.microsoft.com/office/drawing/2014/main" id="{8C8CA8A7-B7BE-4BA7-B2DC-5ABC6008C9BD}"/>
              </a:ext>
            </a:extLst>
          </p:cNvPr>
          <p:cNvSpPr>
            <a:spLocks xmlns:a="http://schemas.openxmlformats.org/drawingml/2006/main" noGrp="1"/>
          </p:cNvSpPr>
          <p:nvPr/>
        </p:nvSpPr>
        <p:spPr>
          <a:xfrm xmlns:a="http://schemas.openxmlformats.org/drawingml/2006/main">
            <a:off x="685800" y="45720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Helvetica Neue"/>
                <a:ea typeface="Helvetica Neue"/>
                <a:cs typeface="Helvetica Neue"/>
              </a:defRPr>
            </a:pPr>
            <a:r>
              <a:rPr sz="2250" b="0">
                <a:solidFill>
                  <a:srgbClr val="142C40"/>
                </a:solidFill>
                <a:latin typeface="Helvetica Neue"/>
                <a:ea typeface="Helvetica Neue"/>
                <a:cs typeface="Helvetica Neue"/>
              </a:rPr>
              <a:t>External search and executable checks remain an untested next step.</a:t>
            </a:r>
          </a:p>
        </p:txBody>
      </p:sp>
      <p:sp>
        <p:nvSpPr>
          <p:cNvPr id="6" name="">
            <a:extLst xmlns:a="http://schemas.openxmlformats.org/drawingml/2006/main">
              <a:ext uri="{FF2B5EF4-FFF2-40B4-BE49-F238E27FC236}">
                <a16:creationId xmlns:a16="http://schemas.microsoft.com/office/drawing/2014/main" id="{406470D5-9BF9-413B-B96C-42CF965A4DB9}"/>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15</a:t>
            </a:r>
          </a:p>
        </p:txBody>
      </p:sp>
    </p:spTree>
    <p:extLst>
      <p:ext uri="{BB962C8B-B14F-4D97-AF65-F5344CB8AC3E}">
        <p14:creationId xmlns:p14="http://schemas.microsoft.com/office/powerpoint/2010/main" val="1638407733"/>
      </p:ext>
    </p:extLst>
  </p:cSld>
</p:sld>
</file>

<file path=ppt/slides/slide1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E34EA1-8280-47F5-8EAB-8D4A8C290010}"/>
              </a:ext>
            </a:extLst>
          </p:cNvPr>
          <p:cNvSpPr>
            <a:spLocks xmlns:a="http://schemas.openxmlformats.org/drawingml/2006/main" noGrp="1"/>
          </p:cNvSpPr>
          <p:nvPr/>
        </p:nvSpPr>
        <p:spPr>
          <a:xfrm xmlns:a="http://schemas.openxmlformats.org/drawingml/2006/main">
            <a:off x="628650" y="400050"/>
            <a:ext cx="109347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Helvetica Neue"/>
                <a:ea typeface="Helvetica Neue"/>
                <a:cs typeface="Helvetica Neue"/>
              </a:defRPr>
            </a:pPr>
            <a:r>
              <a:rPr sz="3300" b="1">
                <a:solidFill>
                  <a:srgbClr val="142C40"/>
                </a:solidFill>
                <a:latin typeface="Helvetica Neue"/>
                <a:ea typeface="Helvetica Neue"/>
                <a:cs typeface="Helvetica Neue"/>
              </a:rPr>
              <a:t>References and contributions</a:t>
            </a:r>
          </a:p>
        </p:txBody>
      </p:sp>
      <p:sp>
        <p:nvSpPr>
          <p:cNvPr id="2" name="">
            <a:extLst xmlns:a="http://schemas.openxmlformats.org/drawingml/2006/main">
              <a:ext uri="{FF2B5EF4-FFF2-40B4-BE49-F238E27FC236}">
                <a16:creationId xmlns:a16="http://schemas.microsoft.com/office/drawing/2014/main" id="{4FD23858-C5A0-449B-B66F-507E25EB59D9}"/>
              </a:ext>
            </a:extLst>
          </p:cNvPr>
          <p:cNvSpPr>
            <a:spLocks xmlns:a="http://schemas.openxmlformats.org/drawingml/2006/main" noGrp="1"/>
          </p:cNvSpPr>
          <p:nvPr/>
        </p:nvSpPr>
        <p:spPr>
          <a:xfrm xmlns:a="http://schemas.openxmlformats.org/drawingml/2006/main">
            <a:off x="685800" y="16002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Google SimpleQA Verified: factual question source</a:t>
            </a:r>
          </a:p>
        </p:txBody>
      </p:sp>
      <p:sp>
        <p:nvSpPr>
          <p:cNvPr id="3" name="">
            <a:extLst xmlns:a="http://schemas.openxmlformats.org/drawingml/2006/main">
              <a:ext uri="{FF2B5EF4-FFF2-40B4-BE49-F238E27FC236}">
                <a16:creationId xmlns:a16="http://schemas.microsoft.com/office/drawing/2014/main" id="{C9CEF16C-8AB2-461B-A4EC-CED100D789BB}"/>
              </a:ext>
            </a:extLst>
          </p:cNvPr>
          <p:cNvSpPr>
            <a:spLocks xmlns:a="http://schemas.openxmlformats.org/drawingml/2006/main" noGrp="1"/>
          </p:cNvSpPr>
          <p:nvPr/>
        </p:nvSpPr>
        <p:spPr>
          <a:xfrm xmlns:a="http://schemas.openxmlformats.org/drawingml/2006/main">
            <a:off x="685800" y="22002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Huang et al. (ICLR 2024): limits of intrinsic self-correction</a:t>
            </a:r>
          </a:p>
        </p:txBody>
      </p:sp>
      <p:sp>
        <p:nvSpPr>
          <p:cNvPr id="4" name="">
            <a:extLst xmlns:a="http://schemas.openxmlformats.org/drawingml/2006/main">
              <a:ext uri="{FF2B5EF4-FFF2-40B4-BE49-F238E27FC236}">
                <a16:creationId xmlns:a16="http://schemas.microsoft.com/office/drawing/2014/main" id="{C7601778-876A-4380-AA2E-46E218E827E7}"/>
              </a:ext>
            </a:extLst>
          </p:cNvPr>
          <p:cNvSpPr>
            <a:spLocks xmlns:a="http://schemas.openxmlformats.org/drawingml/2006/main" noGrp="1"/>
          </p:cNvSpPr>
          <p:nvPr/>
        </p:nvSpPr>
        <p:spPr>
          <a:xfrm xmlns:a="http://schemas.openxmlformats.org/drawingml/2006/main">
            <a:off x="685800" y="28003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Dhuliawala et al. (ACL Findings 2024): Chain-of-Verification</a:t>
            </a:r>
          </a:p>
        </p:txBody>
      </p:sp>
      <p:sp>
        <p:nvSpPr>
          <p:cNvPr id="5" name="">
            <a:extLst xmlns:a="http://schemas.openxmlformats.org/drawingml/2006/main">
              <a:ext uri="{FF2B5EF4-FFF2-40B4-BE49-F238E27FC236}">
                <a16:creationId xmlns:a16="http://schemas.microsoft.com/office/drawing/2014/main" id="{7FADEBB7-7FDE-4F73-A592-D3B01C2E0CB9}"/>
              </a:ext>
            </a:extLst>
          </p:cNvPr>
          <p:cNvSpPr>
            <a:spLocks xmlns:a="http://schemas.openxmlformats.org/drawingml/2006/main" noGrp="1"/>
          </p:cNvSpPr>
          <p:nvPr/>
        </p:nvSpPr>
        <p:spPr>
          <a:xfrm xmlns:a="http://schemas.openxmlformats.org/drawingml/2006/main">
            <a:off x="685800" y="34004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Zhao et al. (EMNLP 2024): MathTrap</a:t>
            </a:r>
          </a:p>
        </p:txBody>
      </p:sp>
      <p:sp>
        <p:nvSpPr>
          <p:cNvPr id="6" name="">
            <a:extLst xmlns:a="http://schemas.openxmlformats.org/drawingml/2006/main">
              <a:ext uri="{FF2B5EF4-FFF2-40B4-BE49-F238E27FC236}">
                <a16:creationId xmlns:a16="http://schemas.microsoft.com/office/drawing/2014/main" id="{4ACD083A-D0FD-4F47-978B-8D84E41A0BA1}"/>
              </a:ext>
            </a:extLst>
          </p:cNvPr>
          <p:cNvSpPr>
            <a:spLocks xmlns:a="http://schemas.openxmlformats.org/drawingml/2006/main" noGrp="1"/>
          </p:cNvSpPr>
          <p:nvPr/>
        </p:nvSpPr>
        <p:spPr>
          <a:xfrm xmlns:a="http://schemas.openxmlformats.org/drawingml/2006/main">
            <a:off x="685800" y="400050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40"/>
                </a:solidFill>
                <a:latin typeface="Helvetica Neue"/>
                <a:ea typeface="Helvetica Neue"/>
                <a:cs typeface="Helvetica Neue"/>
              </a:defRPr>
            </a:pPr>
            <a:r>
              <a:rPr sz="2025" b="0">
                <a:solidFill>
                  <a:srgbClr val="142C40"/>
                </a:solidFill>
                <a:latin typeface="Helvetica Neue"/>
                <a:ea typeface="Helvetica Neue"/>
                <a:cs typeface="Helvetica Neue"/>
              </a:rPr>
              <a:t>Mirzadeh et al. (ICLR 2025): GSM-Symbolic</a:t>
            </a:r>
          </a:p>
        </p:txBody>
      </p:sp>
      <p:sp>
        <p:nvSpPr>
          <p:cNvPr id="7" name="">
            <a:extLst xmlns:a="http://schemas.openxmlformats.org/drawingml/2006/main">
              <a:ext uri="{FF2B5EF4-FFF2-40B4-BE49-F238E27FC236}">
                <a16:creationId xmlns:a16="http://schemas.microsoft.com/office/drawing/2014/main" id="{103618C5-2527-4AC7-8C34-2A7C1814FB5C}"/>
              </a:ext>
            </a:extLst>
          </p:cNvPr>
          <p:cNvSpPr>
            <a:spLocks xmlns:a="http://schemas.openxmlformats.org/drawingml/2006/main" noGrp="1"/>
          </p:cNvSpPr>
          <p:nvPr/>
        </p:nvSpPr>
        <p:spPr>
          <a:xfrm xmlns:a="http://schemas.openxmlformats.org/drawingml/2006/main">
            <a:off x="685800" y="50958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LINYUNIAN and PAN ZHENGYU</a:t>
            </a:r>
          </a:p>
          <a:p xmlns:a="http://schemas.openxmlformats.org/drawingml/2006/main">
            <a:pPr>
              <a:defRPr sz="1875" b="0">
                <a:solidFill>
                  <a:srgbClr val="657586"/>
                </a:solidFill>
                <a:latin typeface="Helvetica Neue"/>
                <a:ea typeface="Helvetica Neue"/>
                <a:cs typeface="Helvetica Neue"/>
              </a:defRPr>
            </a:pPr>
            <a:r>
              <a:rPr sz="1875" b="0">
                <a:solidFill>
                  <a:srgbClr val="657586"/>
                </a:solidFill>
                <a:latin typeface="Helvetica Neue"/>
                <a:ea typeface="Helvetica Neue"/>
                <a:cs typeface="Helvetica Neue"/>
              </a:rPr>
              <a:t>R processing and Codex assistance. Earlier Claude Code review used Kimi.</a:t>
            </a:r>
          </a:p>
        </p:txBody>
      </p:sp>
      <p:sp>
        <p:nvSpPr>
          <p:cNvPr id="8" name="">
            <a:extLst xmlns:a="http://schemas.openxmlformats.org/drawingml/2006/main">
              <a:ext uri="{FF2B5EF4-FFF2-40B4-BE49-F238E27FC236}">
                <a16:creationId xmlns:a16="http://schemas.microsoft.com/office/drawing/2014/main" id="{5A4CA1C4-7DDB-4471-8A50-67200BE17CEF}"/>
              </a:ext>
            </a:extLst>
          </p:cNvPr>
          <p:cNvSpPr>
            <a:spLocks xmlns:a="http://schemas.openxmlformats.org/drawingml/2006/main" noGrp="1"/>
          </p:cNvSpPr>
          <p:nvPr/>
        </p:nvSpPr>
        <p:spPr>
          <a:xfrm xmlns:a="http://schemas.openxmlformats.org/drawingml/2006/main">
            <a:off x="11049000" y="6334125"/>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57586"/>
                </a:solidFill>
                <a:latin typeface="Helvetica Neue"/>
                <a:ea typeface="Helvetica Neue"/>
                <a:cs typeface="Helvetica Neue"/>
              </a:defRPr>
            </a:pPr>
            <a:r>
              <a:rPr sz="1350" b="0">
                <a:solidFill>
                  <a:srgbClr val="657586"/>
                </a:solidFill>
                <a:latin typeface="Helvetica Neue"/>
                <a:ea typeface="Helvetica Neue"/>
                <a:cs typeface="Helvetica Neue"/>
              </a:rPr>
              <a:t>16</a:t>
            </a:r>
          </a:p>
        </p:txBody>
      </p:sp>
    </p:spTree>
    <p:extLst>
      <p:ext uri="{BB962C8B-B14F-4D97-AF65-F5344CB8AC3E}">
        <p14:creationId xmlns:p14="http://schemas.microsoft.com/office/powerpoint/2010/main" val="7109763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2026-10-03T06:53:56.8780000Z</dcterms:created>
  <dcterms:modified xsi:type="dcterms:W3CDTF">2026-10-03T06:53:56.8780000Z</dcterms:modified>
</coreProperties>
</file>