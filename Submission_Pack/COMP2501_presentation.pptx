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3.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5.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d3977510e044ff6" /><Relationship Type="http://schemas.openxmlformats.org/officeDocument/2006/relationships/extended-properties" Target="/docProps/app.xml" Id="R0face81d92be4b62" /><Relationship Type="http://schemas.openxmlformats.org/officeDocument/2006/relationships/officeDocument" Target="/ppt/presentation.xml" Id="R2d21f93cd3184462" /></Relationships>
</file>

<file path=ppt/presentation.xml><?xml version="1.0" encoding="utf-8"?>
<p:presentation xmlns:p="http://schemas.openxmlformats.org/presentationml/2006/main">
  <p:sldMasterIdLst>
    <p:sldMasterId xmlns:r="http://schemas.openxmlformats.org/officeDocument/2006/relationships" id="2147483648" r:id="Rf2ab1699ded648f7"/>
  </p:sldMasterIdLst>
  <p:notesMasterIdLst>
    <p:notesMasterId xmlns:r="http://schemas.openxmlformats.org/officeDocument/2006/relationships" r:id="Rc54e08fb6ebd49e4"/>
  </p:notesMasterIdLst>
  <p:sldIdLst>
    <p:sldId xmlns:r="http://schemas.openxmlformats.org/officeDocument/2006/relationships" id="256" r:id="R7d60a5b9bd684d6f"/>
    <p:sldId xmlns:r="http://schemas.openxmlformats.org/officeDocument/2006/relationships" id="257" r:id="Rd469eab02f024d39"/>
    <p:sldId xmlns:r="http://schemas.openxmlformats.org/officeDocument/2006/relationships" id="258" r:id="R240ce197f20e4dfe"/>
    <p:sldId xmlns:r="http://schemas.openxmlformats.org/officeDocument/2006/relationships" id="259" r:id="Rc610e782446549f7"/>
    <p:sldId xmlns:r="http://schemas.openxmlformats.org/officeDocument/2006/relationships" id="260" r:id="R09e95b842b8c4168"/>
    <p:sldId xmlns:r="http://schemas.openxmlformats.org/officeDocument/2006/relationships" id="261" r:id="R0bcc7e10b4784cd3"/>
    <p:sldId xmlns:r="http://schemas.openxmlformats.org/officeDocument/2006/relationships" id="262" r:id="Rffdf54a74d2043c1"/>
    <p:sldId xmlns:r="http://schemas.openxmlformats.org/officeDocument/2006/relationships" id="263" r:id="R7a41d0d888a446e7"/>
    <p:sldId xmlns:r="http://schemas.openxmlformats.org/officeDocument/2006/relationships" id="264" r:id="Ra854aa884d4b45f7"/>
    <p:sldId xmlns:r="http://schemas.openxmlformats.org/officeDocument/2006/relationships" id="265" r:id="Ra37a48cc789944df"/>
    <p:sldId xmlns:r="http://schemas.openxmlformats.org/officeDocument/2006/relationships" id="266" r:id="R54eaaabd5b034443"/>
    <p:sldId xmlns:r="http://schemas.openxmlformats.org/officeDocument/2006/relationships" id="267" r:id="R0e7526e69ce84ba3"/>
    <p:sldId xmlns:r="http://schemas.openxmlformats.org/officeDocument/2006/relationships" id="268" r:id="R2154cc8b9cb74aeb"/>
    <p:sldId xmlns:r="http://schemas.openxmlformats.org/officeDocument/2006/relationships" id="269" r:id="Rc98151f106404a30"/>
    <p:sldId xmlns:r="http://schemas.openxmlformats.org/officeDocument/2006/relationships" id="270" r:id="Rb9a14b02a4cb4b39"/>
    <p:sldId xmlns:r="http://schemas.openxmlformats.org/officeDocument/2006/relationships" id="271" r:id="R3b05790a61564637"/>
    <p:sldId xmlns:r="http://schemas.openxmlformats.org/officeDocument/2006/relationships" id="272" r:id="Rcb1b080ad4604a70"/>
    <p:sldId xmlns:r="http://schemas.openxmlformats.org/officeDocument/2006/relationships" id="273" r:id="Rbab70bea9826477e"/>
    <p:sldId xmlns:r="http://schemas.openxmlformats.org/officeDocument/2006/relationships" id="274" r:id="R5ea3212c5b024c7f"/>
    <p:sldId xmlns:r="http://schemas.openxmlformats.org/officeDocument/2006/relationships" id="275" r:id="R65eeea60b8194f0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9663ccfd6274190" /><Relationship Type="http://schemas.openxmlformats.org/officeDocument/2006/relationships/slideMaster" Target="/ppt/slideMasters/slideMaster1.xml" Id="Rf2ab1699ded648f7" /><Relationship Type="http://schemas.openxmlformats.org/officeDocument/2006/relationships/notesMaster" Target="/ppt/notesMasters/notesMaster1.xml" Id="Rc54e08fb6ebd49e4" /><Relationship Type="http://schemas.openxmlformats.org/officeDocument/2006/relationships/presProps" Target="/ppt/presProps.xml" Id="Rdada1263bec5460b" /><Relationship Type="http://schemas.openxmlformats.org/officeDocument/2006/relationships/tableStyles" Target="/ppt/tableStyles.xml" Id="Rf1b1d7db9a804f2d" /><Relationship Type="http://schemas.openxmlformats.org/officeDocument/2006/relationships/slide" Target="/ppt/slides/slide1.xml" Id="R7d60a5b9bd684d6f" /><Relationship Type="http://schemas.openxmlformats.org/officeDocument/2006/relationships/slide" Target="/ppt/slides/slide2.xml" Id="Rd469eab02f024d39" /><Relationship Type="http://schemas.openxmlformats.org/officeDocument/2006/relationships/slide" Target="/ppt/slides/slide3.xml" Id="R240ce197f20e4dfe" /><Relationship Type="http://schemas.openxmlformats.org/officeDocument/2006/relationships/slide" Target="/ppt/slides/slide4.xml" Id="Rc610e782446549f7" /><Relationship Type="http://schemas.openxmlformats.org/officeDocument/2006/relationships/slide" Target="/ppt/slides/slide5.xml" Id="R09e95b842b8c4168" /><Relationship Type="http://schemas.openxmlformats.org/officeDocument/2006/relationships/slide" Target="/ppt/slides/slide6.xml" Id="R0bcc7e10b4784cd3" /><Relationship Type="http://schemas.openxmlformats.org/officeDocument/2006/relationships/slide" Target="/ppt/slides/slide7.xml" Id="Rffdf54a74d2043c1" /><Relationship Type="http://schemas.openxmlformats.org/officeDocument/2006/relationships/slide" Target="/ppt/slides/slide8.xml" Id="R7a41d0d888a446e7" /><Relationship Type="http://schemas.openxmlformats.org/officeDocument/2006/relationships/slide" Target="/ppt/slides/slide9.xml" Id="Ra854aa884d4b45f7" /><Relationship Type="http://schemas.openxmlformats.org/officeDocument/2006/relationships/slide" Target="/ppt/slides/slide10.xml" Id="Ra37a48cc789944df" /><Relationship Type="http://schemas.openxmlformats.org/officeDocument/2006/relationships/slide" Target="/ppt/slides/slide11.xml" Id="R54eaaabd5b034443" /><Relationship Type="http://schemas.openxmlformats.org/officeDocument/2006/relationships/slide" Target="/ppt/slides/slide12.xml" Id="R0e7526e69ce84ba3" /><Relationship Type="http://schemas.openxmlformats.org/officeDocument/2006/relationships/slide" Target="/ppt/slides/slide13.xml" Id="R2154cc8b9cb74aeb" /><Relationship Type="http://schemas.openxmlformats.org/officeDocument/2006/relationships/slide" Target="/ppt/slides/slide14.xml" Id="Rc98151f106404a30" /><Relationship Type="http://schemas.openxmlformats.org/officeDocument/2006/relationships/slide" Target="/ppt/slides/slide15.xml" Id="Rb9a14b02a4cb4b39" /><Relationship Type="http://schemas.openxmlformats.org/officeDocument/2006/relationships/slide" Target="/ppt/slides/slide16.xml" Id="R3b05790a61564637" /><Relationship Type="http://schemas.openxmlformats.org/officeDocument/2006/relationships/slide" Target="/ppt/slides/slide17.xml" Id="Rcb1b080ad4604a70" /><Relationship Type="http://schemas.openxmlformats.org/officeDocument/2006/relationships/slide" Target="/ppt/slides/slide18.xml" Id="Rbab70bea9826477e" /><Relationship Type="http://schemas.openxmlformats.org/officeDocument/2006/relationships/slide" Target="/ppt/slides/slide19.xml" Id="R5ea3212c5b024c7f" /><Relationship Type="http://schemas.openxmlformats.org/officeDocument/2006/relationships/slide" Target="/ppt/slides/slide20.xml" Id="R65eeea60b8194f0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dcf038468e49c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22b3efdb7d4a31" /><Relationship Type="http://schemas.openxmlformats.org/officeDocument/2006/relationships/notesMaster" Target="/ppt/notesMasters/notesMaster1.xml" Id="Rda6789215fe24dcb"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0c20add0814579" /><Relationship Type="http://schemas.openxmlformats.org/officeDocument/2006/relationships/notesMaster" Target="/ppt/notesMasters/notesMaster1.xml" Id="R9ab0115b9d584a6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8264f4b9804e03" /><Relationship Type="http://schemas.openxmlformats.org/officeDocument/2006/relationships/notesMaster" Target="/ppt/notesMasters/notesMaster1.xml" Id="Rc076cf51819343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092ea33d504102" /><Relationship Type="http://schemas.openxmlformats.org/officeDocument/2006/relationships/notesMaster" Target="/ppt/notesMasters/notesMaster1.xml" Id="Re5414a75eb624a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14300461837140ad" /><Relationship Type="http://schemas.openxmlformats.org/officeDocument/2006/relationships/notesMaster" Target="/ppt/notesMasters/notesMaster1.xml" Id="R2fcfb59f27e54398" /></Relationships>
</file>

<file path=ppt/notesSlides/_rels/notesSlide6.xml.rels>&#65279;<?xml version="1.0" encoding="utf-8"?><Relationships xmlns="http://schemas.openxmlformats.org/package/2006/relationships"><Relationship Type="http://schemas.openxmlformats.org/officeDocument/2006/relationships/slide" Target="/ppt/slides/slide6.xml" Id="R0bb2edaa91e144cb" /><Relationship Type="http://schemas.openxmlformats.org/officeDocument/2006/relationships/notesMaster" Target="/ppt/notesMasters/notesMaster1.xml" Id="R446710a0bee241f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066ff7363842dc" /><Relationship Type="http://schemas.openxmlformats.org/officeDocument/2006/relationships/notesMaster" Target="/ppt/notesMasters/notesMaster1.xml" Id="R7ef7f47ffaf948a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439e0377c9f441c" /><Relationship Type="http://schemas.openxmlformats.org/officeDocument/2006/relationships/notesMaster" Target="/ppt/notesMasters/notesMaster1.xml" Id="R70eeaca5f5ce459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fae0735434141b0" /><Relationship Type="http://schemas.openxmlformats.org/officeDocument/2006/relationships/notesMaster" Target="/ppt/notesMasters/notesMaster1.xml" Id="R7544b1cc262d4dd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39936262a224a12" /><Relationship Type="http://schemas.openxmlformats.org/officeDocument/2006/relationships/notesMaster" Target="/ppt/notesMasters/notesMaster1.xml" Id="R6c7d10fdfa3f4e8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e505c5a98f049da" /><Relationship Type="http://schemas.openxmlformats.org/officeDocument/2006/relationships/notesMaster" Target="/ppt/notesMasters/notesMaster1.xml" Id="R130cc0384d8844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fa17930de7441df" /><Relationship Type="http://schemas.openxmlformats.org/officeDocument/2006/relationships/notesMaster" Target="/ppt/notesMasters/notesMaster1.xml" Id="R6d6a263238bd466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f8cc0d331014ca2" /><Relationship Type="http://schemas.openxmlformats.org/officeDocument/2006/relationships/notesMaster" Target="/ppt/notesMasters/notesMaster1.xml" Id="R2e23cbf4476d48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ec6e296aec54f7f" /><Relationship Type="http://schemas.openxmlformats.org/officeDocument/2006/relationships/notesMaster" Target="/ppt/notesMasters/notesMaster1.xml" Id="Ra21c4d22c38441e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4304e740256445a" /><Relationship Type="http://schemas.openxmlformats.org/officeDocument/2006/relationships/notesMaster" Target="/ppt/notesMasters/notesMaster1.xml" Id="R8187772c15e64dd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70a2f9a4208446f" /><Relationship Type="http://schemas.openxmlformats.org/officeDocument/2006/relationships/notesMaster" Target="/ppt/notesMasters/notesMaster1.xml" Id="Rc18274510cf649b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10706589fed4d17" /><Relationship Type="http://schemas.openxmlformats.org/officeDocument/2006/relationships/notesMaster" Target="/ppt/notesMasters/notesMaster1.xml" Id="Rfbb6dc77ff35411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7666a4b6e444de" /><Relationship Type="http://schemas.openxmlformats.org/officeDocument/2006/relationships/notesMaster" Target="/ppt/notesMasters/notesMaster1.xml" Id="Rd977bff76aa744d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168800b89fc4b4e" /><Relationship Type="http://schemas.openxmlformats.org/officeDocument/2006/relationships/notesMaster" Target="/ppt/notesMasters/notesMaster1.xml" Id="R217e14c8a4264c3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bc5410b8ea24a18" /><Relationship Type="http://schemas.openxmlformats.org/officeDocument/2006/relationships/notesMaster" Target="/ppt/notesMasters/notesMaster1.xml" Id="Red66336287a8404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Introduce the project and both authors. Trust is the motivation; the measured endpoint is wrong final answers. The latest results integrate the expanded follow-up and retain the earlier controlled-advice evidence separately.</a:t>
            </a:r>
          </a:p>
          <a:p xmlns:a="http://schemas.openxmlformats.org/drawingml/2006/main">
            <a:r>
              <a:t>Source: https://github.com/ThomasLin070217/comp2501-ai-reliability/blob/main/CHAT_CONTEXT.md#u37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Tell this as LINYUNIAN’s classroom recollection, not a verbatim professor quotation. I raised my hand because I use different agents to cross-check. Our question tests whether that workflow justifies extra confidence.</a:t>
            </a:r>
          </a:p>
          <a:p xmlns:a="http://schemas.openxmlformats.org/drawingml/2006/main">
            <a:r>
              <a:t>Source: https://github.com/ThomasLin070217/comp2501-ai-reliability/blob/main/CHAT_CONTEXT.md#u31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Keep two questions separate: the net value of natural cross-checking, and susceptibility when advice is deliberately wrong. A wrong-advice experiment alone cannot show that normal cross-checking has a net benefit. The new reminder ablation helps explain an earlier reduction in error.</a:t>
            </a:r>
          </a:p>
          <a:p xmlns:a="http://schemas.openxmlformats.org/drawingml/2006/main">
            <a:r>
              <a:t>Source: https://github.com/ThomasLin070217/comp2501-ai-reliability/blob/main/Followup_Validation/reports/report.md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The three APIs answer independently. In each repeat every receiver gets one of the other models; the second repeat reverses direction. N1 and N2 are separate branches from the same N0. N2 does not receive N1. We test one receiver revision, not a third judge, debate, browsing or calculators. Peer generation adds cost. No same-model independent-donor arm was included.</a:t>
            </a:r>
          </a:p>
          <a:p xmlns:a="http://schemas.openxmlformats.org/drawingml/2006/main">
            <a:r>
              <a:t>Source: https://github.com/ThomasLin070217/comp2501-ai-reliability/blob/main/Followup_Validation/protocol/prompts.json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Facts are 100 previously studied date questions. CHAMP contributes 41 new-to-project numeric questions in five topics, after four pre-call exclusions. Three models answer twice. Repeated replies are dependent. The controlled study is separate and is not pooled. The latest raw totals are 3932 attempts, 3893 complete outputs and 3829 scorable answers, from 4032 planned slots.</a:t>
            </a:r>
          </a:p>
          <a:p xmlns:a="http://schemas.openxmlformats.org/drawingml/2006/main">
            <a:r>
              <a:t>Source: https://github.com/ThomasLin070217/comp2501-ai-reliability/blob/main/Followup_Validation/reports/summary.json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Abstention stays in the error-rate denominator and is not wrong. It also is not a correct answer. Invalid format, missing calls and truncation are separate. A correct final answer may still contain false reasoning. Main statistics resample whole questions 5000 times; two primary domain contrasts use 97.5% marginal intervals. The plotted denominator always matches its reported difference.</a:t>
            </a:r>
          </a:p>
          <a:p xmlns:a="http://schemas.openxmlformats.org/drawingml/2006/main">
            <a:r>
              <a:t>Source: https://github.com/ThomasLin070217/comp2501-ai-reliability/blob/main/Followup_Validation/README.md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Facts: self-check 254/578 wrong, cross-check 258/578. Difference +0.69 percentage points, 97.5% interval -4.98 to +6.17. We cannot establish stable benefit or equivalence. The earlier -4.90-point estimate was much smaller and uncertain; it is historical rather than the latest finding.</a:t>
            </a:r>
          </a:p>
          <a:p xmlns:a="http://schemas.openxmlformats.org/drawingml/2006/main">
            <a:r>
              <a:t>Source: https://github.com/ThomasLin070217/comp2501-ai-reliability/blob/main/Followup_Validation/reports/effects.csv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Mathematics: self-check 8/199 wrong, cross-check 4/199. Difference -2.01 points, 97.5% interval -5.21 to zero. Note the 0-10% axis. Only 199 of 246 planned pairs and 39/41 questions survive. Two difficult questions have no complete pair. Versus direct answer, the exploratory result is 11/202 to 4/202, -3.47 points with a negative 95% interval. Do not replace the primary comparison with this more favourable one.</a:t>
            </a:r>
          </a:p>
          <a:p xmlns:a="http://schemas.openxmlformats.org/drawingml/2006/main">
            <a:r>
              <a:t>Source: https://github.com/ThomasLin070217/comp2501-ai-reliability/blob/main/Followup_Validation/reports/effects.csv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The factual averages hide opposite receiving-model directions. DeepSeek 32.31% to 42.05%, Kimi 25.38% to 31.98%, MiniMax 75.81% to 60.75%. Paired sample sizes are 195,197,186. This is a descriptive sample-specific comparison, not a model leaderboard or evidence about training architecture.</a:t>
            </a:r>
          </a:p>
          <a:p xmlns:a="http://schemas.openxmlformats.org/drawingml/2006/main">
            <a:r>
              <a:t>Source: https://github.com/ThomasLin070217/comp2501-ai-reliability/blob/main/Followup_Validation/reports/effects.csv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This is the earlier controlled study, 719 complete units per condition. Neutral error46.04%, wrong answer64.81%, wrong answer with reason52.43%. The differences are +18.78 and +6.40 points with positive exploratory95% intervals. These all-unit comparisons are post hoc. The original hypothesis that adding an explanation raises harmful flips was not supported:5/154 versus3/154. AI advice simulates suggested judgments, but no human-label experiment was performed.</a:t>
            </a:r>
          </a:p>
          <a:p xmlns:a="http://schemas.openxmlformats.org/drawingml/2006/main">
            <a:r>
              <a:t>Source: https://github.com/ThomasLin070217/comp2501-ai-reliability/blob/main/Peer_Misleading_Study/reports/interaction_posthoc/effects.csv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New ablation on identical wrong advice: ordinary108/210 wrong versus verification106/210, or51.43% and50.48%. Difference-0.95 points with95% interval-6.76 to+5.19. All conditions retain the basic permission to abstain. Removing the extra reminder does not force guessing. There is no reminder-only arm.</a:t>
            </a:r>
          </a:p>
          <a:p xmlns:a="http://schemas.openxmlformats.org/drawingml/2006/main">
            <a:r>
              <a:t>Source: https://github.com/ThomasLin070217/comp2501-ai-reliability/blob/main/Followup_Validation/reports/effects.csv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Add back the extra abstention sentence:106/210 wrong becomes83/210,50.48% to39.52%. Difference-10.95 points,95% interval-17.93 to-4.26. Correct48 becomes38; abstain56 becomes89. This is useful caution, potentially, but not improved fact finding. Do not claim that we measured human thinking benefits. The original correct-advice control also lost useful corrections76/322 to45/322.</a:t>
            </a:r>
          </a:p>
          <a:p xmlns:a="http://schemas.openxmlformats.org/drawingml/2006/main">
            <a:r>
              <a:t>Source: https://github.com/ThomasLin070217/comp2501-ai-reliability/blob/main/Followup_Validation/reports/effects.csv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The number made of1980 twos has remainder0 on division by1982. Kimi self-check gives0. MiniMax independently gives220 after a false CRT step; Kimi cross-check then accepts220. R digitwise remainder independently confirms0. A separate polynomial case changes-120 to120 with correct peer reasoning, so both repair and failure are real. These are selected illustrative cases, not prevalence estimates.</a:t>
            </a:r>
          </a:p>
          <a:p xmlns:a="http://schemas.openxmlformats.org/drawingml/2006/main">
            <a:r>
              <a:t>Source: https://github.com/ThomasLin070217/comp2501-ai-reliability/blob/main/Followup_Validation/reports/case_mathematics_correct_to_wrong_1.md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Missing hard questions and selected public tasks limit generalisation. Reasoning labels also fail: Kimi reviewed432 outputs; Codex checked28 flags and24 seeded-valid controls, finding8 disagreements. The partial-audit206-pair contrast is13 versus8 incorrect reasons,95% interval crosseszero. The remaining380 labels are not independently checked. No stable rigor claim or universally best method follows.</a:t>
            </a:r>
          </a:p>
          <a:p xmlns:a="http://schemas.openxmlformats.org/drawingml/2006/main">
            <a:r>
              <a:t>Source: https://github.com/ThomasLin070217/comp2501-ai-reliability/blob/main/Followup_Validation/review/codex_review_notes.md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Answer the motivating question carefully. Natural cross-model checking has no established stable advantage over self-checking here. Assigned wrong advice can mislead. Lower wrong-output rates can reflect more withholding instead of more knowledge. Cross-checking gives evidence to examine, not100%certainty.</a:t>
            </a:r>
          </a:p>
          <a:p xmlns:a="http://schemas.openxmlformats.org/drawingml/2006/main">
            <a:r>
              <a:t>Source: https://github.com/ThomasLin070217/comp2501-ai-reliability/blob/main/Followup_Validation/reports/report.md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This is a proposed practical workflow, not a tested intervention: keep initial answers independent, mark user assumptions, compare evidence, retain uncertainty, then use reliable sources or executable checks for important claims. Retrieval, calculators, third judges and human outcomes were not tested.</a:t>
            </a:r>
          </a:p>
          <a:p xmlns:a="http://schemas.openxmlformats.org/drawingml/2006/main">
            <a:r>
              <a:t>Source: https://github.com/ThomasLin070217/comp2501-ai-reliability/blob/main/docs/accuracy-methods.md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The relevant original papers motivate self-correction, verification and task selection. Our verification prompt is simpler than full Chain-of-Verification. Public benchmark inclusion does not imply model training independence. Full links and dataset commits are in the report and notes.</a:t>
            </a:r>
          </a:p>
          <a:p xmlns:a="http://schemas.openxmlformats.org/drawingml/2006/main">
            <a:r>
              <a:t>Source: https://github.com/ThomasLin070217/comp2501-ai-reliability/blob/main/references/README.md </a:t>
            </a:r>
          </a:p>
          <a:p xmlns:a="http://schemas.openxmlformats.org/drawingml/2006/main">
            <a:r>
              <a:t>https://openreview.net/forum?id=IkmD3fKBPQ</a:t>
            </a:r>
          </a:p>
          <a:p xmlns:a="http://schemas.openxmlformats.org/drawingml/2006/main">
            <a:r>
              <a:t>https://aclanthology.org/2024.findings-acl.212/</a:t>
            </a:r>
          </a:p>
          <a:p xmlns:a="http://schemas.openxmlformats.org/drawingml/2006/main">
            <a:r>
              <a:t>https://aclanthology.org/2024.findings-acl.785/</a:t>
            </a:r>
          </a:p>
          <a:p xmlns:a="http://schemas.openxmlformats.org/drawingml/2006/main">
            <a:r>
              <a:t>https://huggingface.co/datasets/google/simpleqa-verified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Name both team members. Acknowledge public data, R packages and Codex assistance. Earlier Claude Code review used Kimi; it was not an Anthropic Claude review. Do not invent research contributions or claim completed independent human verification. The report and raw data are public. Invite questions. The following two slides are backup, outside the18-minute plan.</a:t>
            </a:r>
          </a:p>
          <a:p xmlns:a="http://schemas.openxmlformats.org/drawingml/2006/main">
            <a:r>
              <a:t>Source: https://github.com/ThomasLin070217/comp2501-ai-reliability/blob/main/Submission_Pack/report.md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 seconds. Backup: keep original initially-correct harmful-flip and initially-wrong correction endpoints separate from the later all-unit error analysis. Wrong-only versus wrong-with-reason harmful flips5/154 versus3/154. Same wrong advice under verification3/154 versus0/154 is sparse. Correct advice produces76/322 repairs versus45/322 with verification. These findings prevent selective reporting.</a:t>
            </a:r>
          </a:p>
          <a:p xmlns:a="http://schemas.openxmlformats.org/drawingml/2006/main">
            <a:r>
              <a:t>Source: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 seconds. Backup: semantic recovery of complete format failures leaves facts nearzero and the adjusted math interval touchingzero. Missing planned math outcomes permit effect reversal. The partial reasoning-audit interval includeszero and ignores remaining annotation uncertainty. Detailed tables and all original outputs are in the report.</a:t>
            </a:r>
          </a:p>
          <a:p xmlns:a="http://schemas.openxmlformats.org/drawingml/2006/main">
            <a:r>
              <a:t>Source: https://github.com/ThomasLin070217/comp2501-ai-reliability/blob/main/Followup_Validation/reports/report.md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4820fa332ee4fe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87dce4549c14960" /><Relationship Type="http://schemas.openxmlformats.org/officeDocument/2006/relationships/slideLayout" Target="/ppt/slideLayouts/slideLayout1.xml" Id="R455cbb55abcd47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5cbb55abcd47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8bc953a81734dcb" /><Relationship Type="http://schemas.openxmlformats.org/officeDocument/2006/relationships/notesSlide" Target="/ppt/notesSlides/notesSlide1.xml" Id="Rf6f6126e4efd47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b2bee6112a74363" /><Relationship Type="http://schemas.openxmlformats.org/officeDocument/2006/relationships/notesSlide" Target="/ppt/notesSlides/notesSlide2.xml" Id="Rc0817dcc09314a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ad7f72601914da6" /><Relationship Type="http://schemas.openxmlformats.org/officeDocument/2006/relationships/notesSlide" Target="/ppt/notesSlides/notesSlide3.xml" Id="Rbb65d9c7179b4c8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a12d054a0f4455a" /><Relationship Type="http://schemas.openxmlformats.org/officeDocument/2006/relationships/notesSlide" Target="/ppt/notesSlides/notesSlide4.xml" Id="R2d502b0a32d748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522f44489a9489c" /><Relationship Type="http://schemas.openxmlformats.org/officeDocument/2006/relationships/notesSlide" Target="/ppt/notesSlides/notesSlide5.xml" Id="Ra59d390054cb4f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32dc5f3c9394671" /><Relationship Type="http://schemas.openxmlformats.org/officeDocument/2006/relationships/notesSlide" Target="/ppt/notesSlides/notesSlide6.xml" Id="R64b3df3be81d41d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06c09e7160a4ff1" /><Relationship Type="http://schemas.openxmlformats.org/officeDocument/2006/relationships/chart" Target="/ppt/slides/charts/chart1.xml" Id="Ra1f34b51fd2c4ee5" /><Relationship Type="http://schemas.openxmlformats.org/officeDocument/2006/relationships/notesSlide" Target="/ppt/notesSlides/notesSlide7.xml" Id="R8d27febe92af44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50d4f0c30e74ab0" /><Relationship Type="http://schemas.openxmlformats.org/officeDocument/2006/relationships/chart" Target="/ppt/slides/charts/chart2.xml" Id="Re90203944fa7425c" /><Relationship Type="http://schemas.openxmlformats.org/officeDocument/2006/relationships/notesSlide" Target="/ppt/notesSlides/notesSlide8.xml" Id="Rdf912837b343478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a821fb56be14447" /><Relationship Type="http://schemas.openxmlformats.org/officeDocument/2006/relationships/chart" Target="/ppt/slides/charts/chart3.xml" Id="Rb7e9022ed71a4910" /><Relationship Type="http://schemas.openxmlformats.org/officeDocument/2006/relationships/notesSlide" Target="/ppt/notesSlides/notesSlide9.xml" Id="R11362fba5ab2430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e8c5928690a4e99" /><Relationship Type="http://schemas.openxmlformats.org/officeDocument/2006/relationships/chart" Target="/ppt/slides/charts/chart4.xml" Id="R307da7210cc94f98" /><Relationship Type="http://schemas.openxmlformats.org/officeDocument/2006/relationships/notesSlide" Target="/ppt/notesSlides/notesSlide10.xml" Id="R0bc502effe7644b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c4f78a4367346f6" /><Relationship Type="http://schemas.openxmlformats.org/officeDocument/2006/relationships/chart" Target="/ppt/slides/charts/chart5.xml" Id="R15720aa9017944eb" /><Relationship Type="http://schemas.openxmlformats.org/officeDocument/2006/relationships/notesSlide" Target="/ppt/notesSlides/notesSlide11.xml" Id="R3ecd25c03862439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53a155b8b864907" /><Relationship Type="http://schemas.openxmlformats.org/officeDocument/2006/relationships/chart" Target="/ppt/slides/charts/chart6.xml" Id="R1f22700aa95943ad" /><Relationship Type="http://schemas.openxmlformats.org/officeDocument/2006/relationships/notesSlide" Target="/ppt/notesSlides/notesSlide12.xml" Id="Rd79f8e9b48a6474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bf454257a714748" /><Relationship Type="http://schemas.openxmlformats.org/officeDocument/2006/relationships/notesSlide" Target="/ppt/notesSlides/notesSlide13.xml" Id="R46412620015e4f4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04c10d542824110" /><Relationship Type="http://schemas.openxmlformats.org/officeDocument/2006/relationships/notesSlide" Target="/ppt/notesSlides/notesSlide14.xml" Id="R559b3ffe948942d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96065032100469a" /><Relationship Type="http://schemas.openxmlformats.org/officeDocument/2006/relationships/notesSlide" Target="/ppt/notesSlides/notesSlide15.xml" Id="Rf9d11207cdc742b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7c49389eb8548ba" /><Relationship Type="http://schemas.openxmlformats.org/officeDocument/2006/relationships/notesSlide" Target="/ppt/notesSlides/notesSlide16.xml" Id="Rc35042f3287a4c8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485c335286c49ad" /><Relationship Type="http://schemas.openxmlformats.org/officeDocument/2006/relationships/notesSlide" Target="/ppt/notesSlides/notesSlide17.xml" Id="R749e5689cd5d4ad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1046fd4408a4352" /><Relationship Type="http://schemas.openxmlformats.org/officeDocument/2006/relationships/notesSlide" Target="/ppt/notesSlides/notesSlide18.xml" Id="R1e0b9d4157d148c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cd1e171c94d4d57" /><Relationship Type="http://schemas.openxmlformats.org/officeDocument/2006/relationships/notesSlide" Target="/ppt/notesSlides/notesSlide19.xml" Id="R76c6780196bd46a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6e23da54ee24394" /><Relationship Type="http://schemas.openxmlformats.org/officeDocument/2006/relationships/notesSlide" Target="/ppt/notesSlides/notesSlide20.xml" Id="R7e9bec0d8708443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147E77"/>
            </a:solidFill>
          </c:spPr>
          <c:dPt>
            <c:idx val="0"/>
            <c:invertIfNegative val="0"/>
            <c:spPr>
              <a:solidFill xmlns:a="http://schemas.openxmlformats.org/drawingml/2006/main">
                <a:srgbClr val="657586"/>
              </a:solidFill>
            </c:spPr>
          </c:dPt>
          <c:dPt>
            <c:idx val="1"/>
            <c:invertIfNegative val="0"/>
            <c:spPr>
              <a:solidFill xmlns:a="http://schemas.openxmlformats.org/drawingml/2006/main">
                <a:srgbClr val="147E77"/>
              </a:solidFill>
            </c:spPr>
          </c:dPt>
          <c:cat>
            <c:strRef>
              <c:f>'Chart Data'!$A$2:$A$3</c:f>
              <c:strCache>
                <c:ptCount val="2"/>
                <c:pt idx="0">
                  <c:v>Self-check</c:v>
                </c:pt>
                <c:pt idx="1">
                  <c:v>Cross-model check</c:v>
                </c:pt>
              </c:strCache>
            </c:strRef>
          </c:cat>
          <c:val>
            <c:numRef>
              <c:f>'Chart Data'!$B$2:$B$3</c:f>
              <c:numCache>
                <c:formatCode>0.00%</c:formatCode>
                <c:ptCount val="2"/>
                <c:pt idx="0">
                  <c:v>0.439446366782007</c:v>
                </c:pt>
                <c:pt idx="1">
                  <c:v>0.44636678200692</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147E77"/>
            </a:solidFill>
          </c:spPr>
          <c:dPt>
            <c:idx val="0"/>
            <c:invertIfNegative val="0"/>
            <c:spPr>
              <a:solidFill xmlns:a="http://schemas.openxmlformats.org/drawingml/2006/main">
                <a:srgbClr val="657586"/>
              </a:solidFill>
            </c:spPr>
          </c:dPt>
          <c:dPt>
            <c:idx val="1"/>
            <c:invertIfNegative val="0"/>
            <c:spPr>
              <a:solidFill xmlns:a="http://schemas.openxmlformats.org/drawingml/2006/main">
                <a:srgbClr val="147E77"/>
              </a:solidFill>
            </c:spPr>
          </c:dPt>
          <c:cat>
            <c:strRef>
              <c:f>'Chart Data'!$A$2:$A$3</c:f>
              <c:strCache>
                <c:ptCount val="2"/>
                <c:pt idx="0">
                  <c:v>Self-check</c:v>
                </c:pt>
                <c:pt idx="1">
                  <c:v>Cross-model check</c:v>
                </c:pt>
              </c:strCache>
            </c:strRef>
          </c:cat>
          <c:val>
            <c:numRef>
              <c:f>'Chart Data'!$B$2:$B$3</c:f>
              <c:numCache>
                <c:formatCode>0.00%</c:formatCode>
                <c:ptCount val="2"/>
                <c:pt idx="0">
                  <c:v>0.0402010050251256</c:v>
                </c:pt>
                <c:pt idx="1">
                  <c:v>0.0201005025125628</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Helvetica Neue"/>
                <a:ea typeface="Helvetica Neue"/>
                <a:cs typeface="Helvetica Neue"/>
              </a:defRPr>
            </a:pPr>
          </a:p>
        </c:txPr>
        <c:crossAx val="48672768"/>
      </c:catAx>
      <c:valAx>
        <c:axId val="48672768"/>
        <c:scaling>
          <c:orientation val="minMax"/>
          <c:max val="0.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majorUnit val="0.02"/>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Self-check</c:v>
          </c:tx>
          <c:spPr>
            <a:solidFill xmlns:a="http://schemas.openxmlformats.org/drawingml/2006/main">
              <a:srgbClr val="657586"/>
            </a:solidFill>
          </c:spPr>
          <c:cat>
            <c:strRef>
              <c:f>'Chart Data'!$A$2:$A$4</c:f>
              <c:strCache>
                <c:ptCount val="3"/>
                <c:pt idx="0">
                  <c:v>DeepSeek</c:v>
                </c:pt>
                <c:pt idx="1">
                  <c:v>Kimi</c:v>
                </c:pt>
                <c:pt idx="2">
                  <c:v>MiniMax</c:v>
                </c:pt>
              </c:strCache>
            </c:strRef>
          </c:cat>
          <c:val>
            <c:numRef>
              <c:f>'Chart Data'!$B$2:$B$4</c:f>
              <c:numCache>
                <c:formatCode>0.00%</c:formatCode>
                <c:ptCount val="3"/>
                <c:pt idx="0">
                  <c:v>0.323076923076923</c:v>
                </c:pt>
                <c:pt idx="1">
                  <c:v>0.253807106598985</c:v>
                </c:pt>
                <c:pt idx="2">
                  <c:v>0.758064516129032</c:v>
                </c:pt>
              </c:numCache>
            </c:numRef>
          </c:val>
        </c:ser>
        <c:ser>
          <c:idx val="1"/>
          <c:order val="1"/>
          <c:tx>
            <c:v>Cross-model check</c:v>
          </c:tx>
          <c:spPr>
            <a:solidFill xmlns:a="http://schemas.openxmlformats.org/drawingml/2006/main">
              <a:srgbClr val="147E77"/>
            </a:solidFill>
          </c:spPr>
          <c:cat>
            <c:strRef>
              <c:f>'Chart Data'!$C$2:$C$4</c:f>
              <c:strCache>
                <c:ptCount val="3"/>
                <c:pt idx="0">
                  <c:v>DeepSeek</c:v>
                </c:pt>
                <c:pt idx="1">
                  <c:v>Kimi</c:v>
                </c:pt>
                <c:pt idx="2">
                  <c:v>MiniMax</c:v>
                </c:pt>
              </c:strCache>
            </c:strRef>
          </c:cat>
          <c:val>
            <c:numRef>
              <c:f>'Chart Data'!$D$2:$D$4</c:f>
              <c:numCache>
                <c:formatCode>0.00%</c:formatCode>
                <c:ptCount val="3"/>
                <c:pt idx="0">
                  <c:v>0.42051282051282</c:v>
                </c:pt>
                <c:pt idx="1">
                  <c:v>0.319796954314721</c:v>
                </c:pt>
                <c:pt idx="2">
                  <c:v>0.60752688172043</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majorUnit val="0.25"/>
      </c:valAx>
    </c:plotArea>
    <c:legend>
      <c:legendPos val="b"/>
      <c:overlay val="0"/>
      <c:txPr>
        <a:bodyPr xmlns:a="http://schemas.openxmlformats.org/drawingml/2006/main" anchorCtr="1"/>
        <a:lstStyle xmlns:a="http://schemas.openxmlformats.org/drawingml/2006/main"/>
        <a:p xmlns:a="http://schemas.openxmlformats.org/drawingml/2006/main">
          <a:pPr>
            <a:defRPr sz="1650">
              <a:latin typeface="Helvetica Neue"/>
              <a:ea typeface="Helvetica Neue"/>
              <a:cs typeface="Helvetica Neue"/>
            </a:defRPr>
          </a:pPr>
        </a:p>
      </c:txPr>
    </c:legend>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147E77"/>
            </a:solidFill>
          </c:spPr>
          <c:dPt>
            <c:idx val="0"/>
            <c:invertIfNegative val="0"/>
            <c:spPr>
              <a:solidFill xmlns:a="http://schemas.openxmlformats.org/drawingml/2006/main">
                <a:srgbClr val="657586"/>
              </a:solidFill>
            </c:spPr>
          </c:dPt>
          <c:dPt>
            <c:idx val="1"/>
            <c:invertIfNegative val="0"/>
            <c:spPr>
              <a:solidFill xmlns:a="http://schemas.openxmlformats.org/drawingml/2006/main">
                <a:srgbClr val="C45F48"/>
              </a:solidFill>
            </c:spPr>
          </c:dPt>
          <c:dPt>
            <c:idx val="2"/>
            <c:invertIfNegative val="0"/>
            <c:spPr>
              <a:solidFill xmlns:a="http://schemas.openxmlformats.org/drawingml/2006/main">
                <a:srgbClr val="C45F48"/>
              </a:solidFill>
            </c:spPr>
          </c:dPt>
          <c:cat>
            <c:strRef>
              <c:f>'Chart Data'!$A$2:$A$4</c:f>
              <c:strCache>
                <c:ptCount val="3"/>
                <c:pt idx="0">
                  <c:v>Neutral recheck</c:v>
                </c:pt>
                <c:pt idx="1">
                  <c:v>Wrong answer</c:v>
                </c:pt>
                <c:pt idx="2">
                  <c:v>Wrong + reason</c:v>
                </c:pt>
              </c:strCache>
            </c:strRef>
          </c:cat>
          <c:val>
            <c:numRef>
              <c:f>'Chart Data'!$B$2:$B$4</c:f>
              <c:numCache>
                <c:formatCode>0.00%</c:formatCode>
                <c:ptCount val="3"/>
                <c:pt idx="0">
                  <c:v>0.460361613351878</c:v>
                </c:pt>
                <c:pt idx="1">
                  <c:v>0.648122392211405</c:v>
                </c:pt>
                <c:pt idx="2">
                  <c:v>0.524339360222531</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147E77"/>
            </a:solidFill>
          </c:spPr>
          <c:dPt>
            <c:idx val="0"/>
            <c:invertIfNegative val="0"/>
            <c:spPr>
              <a:solidFill xmlns:a="http://schemas.openxmlformats.org/drawingml/2006/main">
                <a:srgbClr val="657586"/>
              </a:solidFill>
            </c:spPr>
          </c:dPt>
          <c:dPt>
            <c:idx val="1"/>
            <c:invertIfNegative val="0"/>
            <c:spPr>
              <a:solidFill xmlns:a="http://schemas.openxmlformats.org/drawingml/2006/main">
                <a:srgbClr val="147E77"/>
              </a:solidFill>
            </c:spPr>
          </c:dPt>
          <c:cat>
            <c:strRef>
              <c:f>'Chart Data'!$A$2:$A$3</c:f>
              <c:strCache>
                <c:ptCount val="2"/>
                <c:pt idx="0">
                  <c:v>Ordinary recheck</c:v>
                </c:pt>
                <c:pt idx="1">
                  <c:v>Verification</c:v>
                </c:pt>
              </c:strCache>
            </c:strRef>
          </c:cat>
          <c:val>
            <c:numRef>
              <c:f>'Chart Data'!$B$2:$B$3</c:f>
              <c:numCache>
                <c:formatCode>0.00%</c:formatCode>
                <c:ptCount val="2"/>
                <c:pt idx="0">
                  <c:v>0.514285714285714</c:v>
                </c:pt>
                <c:pt idx="1">
                  <c:v>0.504761904761905</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rate</c:v>
          </c:tx>
          <c:spPr>
            <a:solidFill xmlns:a="http://schemas.openxmlformats.org/drawingml/2006/main">
              <a:srgbClr val="147E77"/>
            </a:solidFill>
          </c:spPr>
          <c:dPt>
            <c:idx val="0"/>
            <c:invertIfNegative val="0"/>
            <c:spPr>
              <a:solidFill xmlns:a="http://schemas.openxmlformats.org/drawingml/2006/main">
                <a:srgbClr val="657586"/>
              </a:solidFill>
            </c:spPr>
          </c:dPt>
          <c:dPt>
            <c:idx val="1"/>
            <c:invertIfNegative val="0"/>
            <c:spPr>
              <a:solidFill xmlns:a="http://schemas.openxmlformats.org/drawingml/2006/main">
                <a:srgbClr val="147E77"/>
              </a:solidFill>
            </c:spPr>
          </c:dPt>
          <c:cat>
            <c:strRef>
              <c:f>'Chart Data'!$A$2:$A$3</c:f>
              <c:strCache>
                <c:ptCount val="2"/>
                <c:pt idx="0">
                  <c:v>Without reminder</c:v>
                </c:pt>
                <c:pt idx="1">
                  <c:v>With reminder</c:v>
                </c:pt>
              </c:strCache>
            </c:strRef>
          </c:cat>
          <c:val>
            <c:numRef>
              <c:f>'Chart Data'!$B$2:$B$3</c:f>
              <c:numCache>
                <c:formatCode>0.00%</c:formatCode>
                <c:ptCount val="2"/>
                <c:pt idx="0">
                  <c:v>0.504761904761905</c:v>
                </c:pt>
                <c:pt idx="1">
                  <c:v>0.395238095238095</c:v>
                </c:pt>
              </c:numCache>
            </c:numRef>
          </c:val>
        </c:ser>
        <c:dLbls>
          <c:txPr>
            <a:bodyPr xmlns:a="http://schemas.openxmlformats.org/drawingml/2006/main" anchorCtr="1"/>
            <a:lstStyle xmlns:a="http://schemas.openxmlformats.org/drawingml/2006/main"/>
            <a:p xmlns:a="http://schemas.openxmlformats.org/drawingml/2006/main">
              <a:pPr>
                <a:defRPr sz="1875" b="1">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majorUnit val="0.25"/>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02B70E9-BF09-4E8A-AAC4-257BD2836B53}"/>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Can We Trust AI More</a:t>
            </a:r>
          </a:p>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After Cross-Checking?</a:t>
            </a:r>
          </a:p>
        </p:txBody>
      </p:sp>
      <p:sp>
        <p:nvSpPr>
          <p:cNvPr id="2" name="">
            <a:extLst xmlns:a="http://schemas.openxmlformats.org/drawingml/2006/main">
              <a:ext uri="{FF2B5EF4-FFF2-40B4-BE49-F238E27FC236}">
                <a16:creationId xmlns:a16="http://schemas.microsoft.com/office/drawing/2014/main" id="{89C0028E-28B9-4823-B46E-2240AF8D5D9C}"/>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a:t>
            </a:r>
          </a:p>
        </p:txBody>
      </p:sp>
      <p:sp>
        <p:nvSpPr>
          <p:cNvPr id="3" name="">
            <a:extLst xmlns:a="http://schemas.openxmlformats.org/drawingml/2006/main">
              <a:ext uri="{FF2B5EF4-FFF2-40B4-BE49-F238E27FC236}">
                <a16:creationId xmlns:a16="http://schemas.microsoft.com/office/drawing/2014/main" id="{99EBE015-8792-47FE-B490-D35906F68AE5}"/>
              </a:ext>
            </a:extLst>
          </p:cNvPr>
          <p:cNvSpPr>
            <a:spLocks xmlns:a="http://schemas.openxmlformats.org/drawingml/2006/main" noGrp="1"/>
          </p:cNvSpPr>
          <p:nvPr/>
        </p:nvSpPr>
        <p:spPr>
          <a:xfrm xmlns:a="http://schemas.openxmlformats.org/drawingml/2006/main">
            <a:off x="723900" y="25527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7E77"/>
                </a:solidFill>
                <a:latin typeface="Helvetica Neue"/>
                <a:ea typeface="Helvetica Neue"/>
                <a:cs typeface="Helvetica Neue"/>
              </a:defRPr>
            </a:pPr>
            <a:r>
              <a:rPr sz="2175" b="1">
                <a:solidFill>
                  <a:srgbClr val="147E77"/>
                </a:solidFill>
                <a:latin typeface="Helvetica Neue"/>
                <a:ea typeface="Helvetica Neue"/>
                <a:cs typeface="Helvetica Neue"/>
              </a:rPr>
              <a:t>COMP2501</a:t>
            </a:r>
          </a:p>
        </p:txBody>
      </p:sp>
      <p:sp>
        <p:nvSpPr>
          <p:cNvPr id="4" name="">
            <a:extLst xmlns:a="http://schemas.openxmlformats.org/drawingml/2006/main">
              <a:ext uri="{FF2B5EF4-FFF2-40B4-BE49-F238E27FC236}">
                <a16:creationId xmlns:a16="http://schemas.microsoft.com/office/drawing/2014/main" id="{3EE04F1A-EAFA-437B-8ABB-50DB7A7EF253}"/>
              </a:ext>
            </a:extLst>
          </p:cNvPr>
          <p:cNvSpPr>
            <a:spLocks xmlns:a="http://schemas.openxmlformats.org/drawingml/2006/main" noGrp="1"/>
          </p:cNvSpPr>
          <p:nvPr/>
        </p:nvSpPr>
        <p:spPr>
          <a:xfrm xmlns:a="http://schemas.openxmlformats.org/drawingml/2006/main">
            <a:off x="723900" y="3238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42C40"/>
                </a:solidFill>
                <a:latin typeface="Helvetica Neue"/>
                <a:ea typeface="Helvetica Neue"/>
                <a:cs typeface="Helvetica Neue"/>
              </a:defRPr>
            </a:pPr>
            <a:r>
              <a:rPr sz="2700" b="1">
                <a:solidFill>
                  <a:srgbClr val="142C40"/>
                </a:solidFill>
                <a:latin typeface="Helvetica Neue"/>
                <a:ea typeface="Helvetica Neue"/>
                <a:cs typeface="Helvetica Neue"/>
              </a:rPr>
              <a:t>LINYUNIAN  /  PAN ZHENGYU</a:t>
            </a:r>
          </a:p>
        </p:txBody>
      </p:sp>
      <p:sp>
        <p:nvSpPr>
          <p:cNvPr id="5" name="">
            <a:extLst xmlns:a="http://schemas.openxmlformats.org/drawingml/2006/main">
              <a:ext uri="{FF2B5EF4-FFF2-40B4-BE49-F238E27FC236}">
                <a16:creationId xmlns:a16="http://schemas.microsoft.com/office/drawing/2014/main" id="{33031B44-DBD5-4357-BFC8-3ABB3E954D17}"/>
              </a:ext>
            </a:extLst>
          </p:cNvPr>
          <p:cNvSpPr>
            <a:spLocks xmlns:a="http://schemas.openxmlformats.org/drawingml/2006/main" noGrp="1"/>
          </p:cNvSpPr>
          <p:nvPr/>
        </p:nvSpPr>
        <p:spPr>
          <a:xfrm xmlns:a="http://schemas.openxmlformats.org/drawingml/2006/main">
            <a:off x="723900" y="44196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42C40"/>
                </a:solidFill>
                <a:latin typeface="Helvetica Neue"/>
                <a:ea typeface="Helvetica Neue"/>
                <a:cs typeface="Helvetica Neue"/>
              </a:defRPr>
            </a:pPr>
            <a:r>
              <a:rPr sz="2400" b="0">
                <a:solidFill>
                  <a:srgbClr val="142C40"/>
                </a:solidFill>
                <a:latin typeface="Helvetica Neue"/>
                <a:ea typeface="Helvetica Neue"/>
                <a:cs typeface="Helvetica Neue"/>
              </a:rPr>
              <a:t>Natural cross-checking, misleading advice and uncertainty</a:t>
            </a:r>
          </a:p>
        </p:txBody>
      </p:sp>
      <p:sp>
        <p:nvSpPr>
          <p:cNvPr id="6" name="">
            <a:extLst xmlns:a="http://schemas.openxmlformats.org/drawingml/2006/main">
              <a:ext uri="{FF2B5EF4-FFF2-40B4-BE49-F238E27FC236}">
                <a16:creationId xmlns:a16="http://schemas.microsoft.com/office/drawing/2014/main" id="{21AC33B2-D40D-40D9-BC13-58BC083EDD5C}"/>
              </a:ext>
            </a:extLst>
          </p:cNvPr>
          <p:cNvSpPr>
            <a:spLocks xmlns:a="http://schemas.openxmlformats.org/drawingml/2006/main" noGrp="1"/>
          </p:cNvSpPr>
          <p:nvPr/>
        </p:nvSpPr>
        <p:spPr>
          <a:xfrm xmlns:a="http://schemas.openxmlformats.org/drawingml/2006/main">
            <a:off x="723900" y="56197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Integrated results  /  4 October 2026</a:t>
            </a:r>
          </a:p>
        </p:txBody>
      </p:sp>
    </p:spTree>
    <p:extLst>
      <p:ext uri="{BB962C8B-B14F-4D97-AF65-F5344CB8AC3E}">
        <p14:creationId xmlns:p14="http://schemas.microsoft.com/office/powerpoint/2010/main" val="365385292"/>
      </p:ext>
    </p:extLst>
  </p:cSld>
</p:sld>
</file>

<file path=ppt/slides/slide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9E5E2E-1FDE-446E-85F8-B8CF37FB5E7F}"/>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The classroom question</a:t>
            </a:r>
          </a:p>
        </p:txBody>
      </p:sp>
      <p:sp>
        <p:nvSpPr>
          <p:cNvPr id="2" name="">
            <a:extLst xmlns:a="http://schemas.openxmlformats.org/drawingml/2006/main">
              <a:ext uri="{FF2B5EF4-FFF2-40B4-BE49-F238E27FC236}">
                <a16:creationId xmlns:a16="http://schemas.microsoft.com/office/drawing/2014/main" id="{FAE08417-30C1-44D1-B85E-A452925A5324}"/>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2</a:t>
            </a:r>
          </a:p>
        </p:txBody>
      </p:sp>
      <p:sp>
        <p:nvSpPr>
          <p:cNvPr id="3" name="">
            <a:extLst xmlns:a="http://schemas.openxmlformats.org/drawingml/2006/main">
              <a:ext uri="{FF2B5EF4-FFF2-40B4-BE49-F238E27FC236}">
                <a16:creationId xmlns:a16="http://schemas.microsoft.com/office/drawing/2014/main" id="{DF37C8EC-6665-4D07-BFC2-346B5C11ABD7}"/>
              </a:ext>
            </a:extLst>
          </p:cNvPr>
          <p:cNvSpPr>
            <a:spLocks xmlns:a="http://schemas.openxmlformats.org/drawingml/2006/main" noGrp="1"/>
          </p:cNvSpPr>
          <p:nvPr/>
        </p:nvSpPr>
        <p:spPr>
          <a:xfrm xmlns:a="http://schemas.openxmlformats.org/drawingml/2006/main">
            <a:off x="723900" y="17335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Professor LUO RUIBANG asked who would completely trust AI.</a:t>
            </a:r>
          </a:p>
        </p:txBody>
      </p:sp>
      <p:sp>
        <p:nvSpPr>
          <p:cNvPr id="4" name="">
            <a:extLst xmlns:a="http://schemas.openxmlformats.org/drawingml/2006/main">
              <a:ext uri="{FF2B5EF4-FFF2-40B4-BE49-F238E27FC236}">
                <a16:creationId xmlns:a16="http://schemas.microsoft.com/office/drawing/2014/main" id="{2FC4CAAE-3A97-4C3B-9B3C-874BD49874E9}"/>
              </a:ext>
            </a:extLst>
          </p:cNvPr>
          <p:cNvSpPr>
            <a:spLocks xmlns:a="http://schemas.openxmlformats.org/drawingml/2006/main" noGrp="1"/>
          </p:cNvSpPr>
          <p:nvPr/>
        </p:nvSpPr>
        <p:spPr>
          <a:xfrm xmlns:a="http://schemas.openxmlformats.org/drawingml/2006/main">
            <a:off x="723900" y="26479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I raised my hand because I use different agents to cross-check.</a:t>
            </a:r>
          </a:p>
        </p:txBody>
      </p:sp>
      <p:sp>
        <p:nvSpPr>
          <p:cNvPr id="5" name="">
            <a:extLst xmlns:a="http://schemas.openxmlformats.org/drawingml/2006/main">
              <a:ext uri="{FF2B5EF4-FFF2-40B4-BE49-F238E27FC236}">
                <a16:creationId xmlns:a16="http://schemas.microsoft.com/office/drawing/2014/main" id="{F0ACE423-6F13-42E0-BCD7-4F4CB1FCF822}"/>
              </a:ext>
            </a:extLst>
          </p:cNvPr>
          <p:cNvSpPr>
            <a:spLocks xmlns:a="http://schemas.openxmlformats.org/drawingml/2006/main" noGrp="1"/>
          </p:cNvSpPr>
          <p:nvPr/>
        </p:nvSpPr>
        <p:spPr>
          <a:xfrm xmlns:a="http://schemas.openxmlformats.org/drawingml/2006/main">
            <a:off x="723900" y="35623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Does that extra check actually reduce errors?</a:t>
            </a:r>
          </a:p>
        </p:txBody>
      </p:sp>
      <p:sp>
        <p:nvSpPr>
          <p:cNvPr id="6" name="">
            <a:extLst xmlns:a="http://schemas.openxmlformats.org/drawingml/2006/main">
              <a:ext uri="{FF2B5EF4-FFF2-40B4-BE49-F238E27FC236}">
                <a16:creationId xmlns:a16="http://schemas.microsoft.com/office/drawing/2014/main" id="{4E0FFAC9-6BCC-4FEC-8D52-56E20B8611B0}"/>
              </a:ext>
            </a:extLst>
          </p:cNvPr>
          <p:cNvSpPr>
            <a:spLocks xmlns:a="http://schemas.openxmlformats.org/drawingml/2006/main" noGrp="1"/>
          </p:cNvSpPr>
          <p:nvPr/>
        </p:nvSpPr>
        <p:spPr>
          <a:xfrm xmlns:a="http://schemas.openxmlformats.org/drawingml/2006/main">
            <a:off x="723900" y="44767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Can a wrong suggestion change a correct answer?</a:t>
            </a:r>
          </a:p>
        </p:txBody>
      </p:sp>
      <p:sp>
        <p:nvSpPr>
          <p:cNvPr id="7" name="">
            <a:extLst xmlns:a="http://schemas.openxmlformats.org/drawingml/2006/main">
              <a:ext uri="{FF2B5EF4-FFF2-40B4-BE49-F238E27FC236}">
                <a16:creationId xmlns:a16="http://schemas.microsoft.com/office/drawing/2014/main" id="{44B85FCC-3708-4C61-B873-8FA294E1C6E2}"/>
              </a:ext>
            </a:extLst>
          </p:cNvPr>
          <p:cNvSpPr>
            <a:spLocks xmlns:a="http://schemas.openxmlformats.org/drawingml/2006/main" noGrp="1"/>
          </p:cNvSpPr>
          <p:nvPr/>
        </p:nvSpPr>
        <p:spPr>
          <a:xfrm xmlns:a="http://schemas.openxmlformats.org/drawingml/2006/main">
            <a:off x="723900" y="59436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57586"/>
                </a:solidFill>
                <a:latin typeface="Helvetica Neue"/>
                <a:ea typeface="Helvetica Neue"/>
                <a:cs typeface="Helvetica Neue"/>
              </a:defRPr>
            </a:pPr>
            <a:r>
              <a:rPr sz="1650" b="0">
                <a:solidFill>
                  <a:srgbClr val="657586"/>
                </a:solidFill>
                <a:latin typeface="Helvetica Neue"/>
                <a:ea typeface="Helvetica Neue"/>
                <a:cs typeface="Helvetica Neue"/>
              </a:rPr>
              <a:t>Paraphrased from LINYUNIAN’s recollection of the class</a:t>
            </a:r>
          </a:p>
        </p:txBody>
      </p:sp>
    </p:spTree>
    <p:extLst>
      <p:ext uri="{BB962C8B-B14F-4D97-AF65-F5344CB8AC3E}">
        <p14:creationId xmlns:p14="http://schemas.microsoft.com/office/powerpoint/2010/main" val="551897118"/>
      </p:ext>
    </p:extLst>
  </p:cSld>
</p:sld>
</file>

<file path=ppt/slides/slide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9228EB7-4E07-4950-B95F-B79ABD241268}"/>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Research questions and evidence</a:t>
            </a:r>
          </a:p>
        </p:txBody>
      </p:sp>
      <p:sp>
        <p:nvSpPr>
          <p:cNvPr id="2" name="">
            <a:extLst xmlns:a="http://schemas.openxmlformats.org/drawingml/2006/main">
              <a:ext uri="{FF2B5EF4-FFF2-40B4-BE49-F238E27FC236}">
                <a16:creationId xmlns:a16="http://schemas.microsoft.com/office/drawing/2014/main" id="{708B5C98-5EA9-4E4A-BE19-19E3DC7688BB}"/>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3</a:t>
            </a:r>
          </a:p>
        </p:txBody>
      </p:sp>
      <p:graphicFrame>
        <p:nvGraphicFramePr>
          <p:cNvPr id="7" name=""/>
          <p:cNvGraphicFramePr/>
          <p:nvPr/>
        </p:nvGraphicFramePr>
        <p:xfrm>
          <a:off xmlns:a="http://schemas.openxmlformats.org/drawingml/2006/main" x="685800" y="1714500"/>
          <a:ext xmlns:a="http://schemas.openxmlformats.org/drawingml/2006/main" cx="10820400" cy="3286125"/>
        </p:xfrm>
        <a:graphic xmlns:a="http://schemas.openxmlformats.org/drawingml/2006/main">
          <a:graphicData uri="http://schemas.openxmlformats.org/drawingml/2006/table">
            <a:tbl>
              <a:tblPr/>
              <a:tblGrid>
                <a:gridCol w="5143500"/>
                <a:gridCol w="5676900"/>
              </a:tblGrid>
              <a:tr h="821531">
                <a:tc>
                  <a:txBody>
                    <a:bodyPr/>
                    <a:lstStyle/>
                    <a:p>
                      <a:r>
                        <a:rPr sz="2175" b="1">
                          <a:solidFill>
                            <a:srgbClr val="FFFFFF"/>
                          </a:solidFill>
                          <a:latin typeface="Helvetica Neue"/>
                          <a:ea typeface="Helvetica Neue"/>
                          <a:cs typeface="Helvetica Neue"/>
                        </a:rPr>
                        <a:t>Question</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Evidence</a:t>
                      </a:r>
                    </a:p>
                  </a:txBody>
                  <a:tcPr marL="91440" marR="91440" marT="45720" marB="45720">
                    <a:solidFill>
                      <a:srgbClr val="142C40"/>
                    </a:solidFill>
                  </a:tcPr>
                </a:tc>
              </a:tr>
              <a:tr h="821531">
                <a:tc>
                  <a:txBody>
                    <a:bodyPr/>
                    <a:lstStyle/>
                    <a:p>
                      <a:r>
                        <a:rPr sz="2175" b="0">
                          <a:solidFill>
                            <a:srgbClr val="142C40"/>
                          </a:solidFill>
                          <a:latin typeface="Helvetica Neue"/>
                          <a:ea typeface="Helvetica Neue"/>
                          <a:cs typeface="Helvetica Neue"/>
                        </a:rPr>
                        <a:t>Does natural cross-checking help?</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100 factual + 41 mathematical questions</a:t>
                      </a:r>
                    </a:p>
                  </a:txBody>
                  <a:tcPr marL="91440" marR="91440" marT="45720" marB="45720">
                    <a:solidFill>
                      <a:srgbClr val="F0F4F7"/>
                    </a:solidFill>
                  </a:tcPr>
                </a:tc>
              </a:tr>
              <a:tr h="821531">
                <a:tc>
                  <a:txBody>
                    <a:bodyPr/>
                    <a:lstStyle/>
                    <a:p>
                      <a:r>
                        <a:rPr sz="2175" b="0">
                          <a:solidFill>
                            <a:srgbClr val="142C40"/>
                          </a:solidFill>
                          <a:latin typeface="Helvetica Neue"/>
                          <a:ea typeface="Helvetica Neue"/>
                          <a:cs typeface="Helvetica Neue"/>
                        </a:rPr>
                        <a:t>Can wrong advice mislead?</a:t>
                      </a:r>
                    </a:p>
                  </a:txBody>
                  <a:tcPr marL="91440" marR="91440" marT="45720" marB="45720">
                    <a:solidFill>
                      <a:srgbClr val="FFFFFF"/>
                    </a:solidFill>
                  </a:tcPr>
                </a:tc>
                <a:tc>
                  <a:txBody>
                    <a:bodyPr/>
                    <a:lstStyle/>
                    <a:p>
                      <a:r>
                        <a:rPr sz="2175" b="0">
                          <a:solidFill>
                            <a:srgbClr val="142C40"/>
                          </a:solidFill>
                          <a:latin typeface="Helvetica Neue"/>
                          <a:ea typeface="Helvetica Neue"/>
                          <a:cs typeface="Helvetica Neue"/>
                        </a:rPr>
                        <a:t>Original controlled study: 120 facts</a:t>
                      </a:r>
                    </a:p>
                  </a:txBody>
                  <a:tcPr marL="91440" marR="91440" marT="45720" marB="45720">
                    <a:solidFill>
                      <a:srgbClr val="FFFFFF"/>
                    </a:solidFill>
                  </a:tcPr>
                </a:tc>
              </a:tr>
              <a:tr h="821531">
                <a:tc>
                  <a:txBody>
                    <a:bodyPr/>
                    <a:lstStyle/>
                    <a:p>
                      <a:r>
                        <a:rPr sz="2175" b="0">
                          <a:solidFill>
                            <a:srgbClr val="142C40"/>
                          </a:solidFill>
                          <a:latin typeface="Helvetica Neue"/>
                          <a:ea typeface="Helvetica Neue"/>
                          <a:cs typeface="Helvetica Neue"/>
                        </a:rPr>
                        <a:t>What does verification change?</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New prompt ablation: 36 facts</a:t>
                      </a:r>
                    </a:p>
                  </a:txBody>
                  <a:tcPr marL="91440" marR="91440" marT="45720" marB="45720">
                    <a:solidFill>
                      <a:srgbClr val="F0F4F7"/>
                    </a:solidFill>
                  </a:tcPr>
                </a:tc>
              </a:tr>
            </a:tbl>
          </a:graphicData>
        </a:graphic>
      </p:graphicFrame>
      <p:sp>
        <p:nvSpPr>
          <p:cNvPr id="4" name="">
            <a:extLst xmlns:a="http://schemas.openxmlformats.org/drawingml/2006/main">
              <a:ext uri="{FF2B5EF4-FFF2-40B4-BE49-F238E27FC236}">
                <a16:creationId xmlns:a16="http://schemas.microsoft.com/office/drawing/2014/main" id="{49AC34C5-4AB9-4BAE-8E38-7964FD09FA0C}"/>
              </a:ext>
            </a:extLst>
          </p:cNvPr>
          <p:cNvSpPr>
            <a:spLocks xmlns:a="http://schemas.openxmlformats.org/drawingml/2006/main" noGrp="1"/>
          </p:cNvSpPr>
          <p:nvPr/>
        </p:nvSpPr>
        <p:spPr>
          <a:xfrm xmlns:a="http://schemas.openxmlformats.org/drawingml/2006/main">
            <a:off x="723900" y="54768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657586"/>
                </a:solidFill>
                <a:latin typeface="Helvetica Neue"/>
                <a:ea typeface="Helvetica Neue"/>
                <a:cs typeface="Helvetica Neue"/>
              </a:defRPr>
            </a:pPr>
            <a:r>
              <a:rPr sz="2025" b="0">
                <a:solidFill>
                  <a:srgbClr val="657586"/>
                </a:solidFill>
                <a:latin typeface="Helvetica Neue"/>
                <a:ea typeface="Helvetica Neue"/>
                <a:cs typeface="Helvetica Neue"/>
              </a:rPr>
              <a:t>Separate studies and denominators. No pooling of old and new replies.</a:t>
            </a:r>
          </a:p>
        </p:txBody>
      </p:sp>
    </p:spTree>
    <p:extLst>
      <p:ext uri="{BB962C8B-B14F-4D97-AF65-F5344CB8AC3E}">
        <p14:creationId xmlns:p14="http://schemas.microsoft.com/office/powerpoint/2010/main" val="612137762"/>
      </p:ext>
    </p:extLst>
  </p:cSld>
</p:sld>
</file>

<file path=ppt/slides/slide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047CF8-9543-4E9F-827F-1A2B03449416}"/>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Different models, independent initial answers</a:t>
            </a:r>
          </a:p>
        </p:txBody>
      </p:sp>
      <p:sp>
        <p:nvSpPr>
          <p:cNvPr id="2" name="">
            <a:extLst xmlns:a="http://schemas.openxmlformats.org/drawingml/2006/main">
              <a:ext uri="{FF2B5EF4-FFF2-40B4-BE49-F238E27FC236}">
                <a16:creationId xmlns:a16="http://schemas.microsoft.com/office/drawing/2014/main" id="{AE084016-AA09-40A7-9E62-3F8DFAFEAEA3}"/>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4</a:t>
            </a:r>
          </a:p>
        </p:txBody>
      </p:sp>
      <p:graphicFrame>
        <p:nvGraphicFramePr>
          <p:cNvPr id="8" name=""/>
          <p:cNvGraphicFramePr/>
          <p:nvPr/>
        </p:nvGraphicFramePr>
        <p:xfrm>
          <a:off xmlns:a="http://schemas.openxmlformats.org/drawingml/2006/main" x="685800" y="1600200"/>
          <a:ext xmlns:a="http://schemas.openxmlformats.org/drawingml/2006/main" cx="10820400" cy="3333750"/>
        </p:xfrm>
        <a:graphic xmlns:a="http://schemas.openxmlformats.org/drawingml/2006/main">
          <a:graphicData uri="http://schemas.openxmlformats.org/drawingml/2006/table">
            <a:tbl>
              <a:tblPr/>
              <a:tblGrid>
                <a:gridCol w="1333500"/>
                <a:gridCol w="6096000"/>
                <a:gridCol w="3390900"/>
              </a:tblGrid>
              <a:tr h="666750">
                <a:tc>
                  <a:txBody>
                    <a:bodyPr/>
                    <a:lstStyle/>
                    <a:p>
                      <a:r>
                        <a:rPr sz="1875" b="1">
                          <a:solidFill>
                            <a:srgbClr val="FFFFFF"/>
                          </a:solidFill>
                          <a:latin typeface="Helvetica Neue"/>
                          <a:ea typeface="Helvetica Neue"/>
                          <a:cs typeface="Helvetica Neue"/>
                        </a:rPr>
                        <a:t>Branch</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Information</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Action</a:t>
                      </a:r>
                    </a:p>
                  </a:txBody>
                  <a:tcPr marL="91440" marR="91440" marT="45720" marB="45720">
                    <a:solidFill>
                      <a:srgbClr val="142C40"/>
                    </a:solidFill>
                  </a:tcPr>
                </a:tc>
              </a:tr>
              <a:tr h="666750">
                <a:tc>
                  <a:txBody>
                    <a:bodyPr/>
                    <a:lstStyle/>
                    <a:p>
                      <a:r>
                        <a:rPr sz="1875" b="0">
                          <a:solidFill>
                            <a:srgbClr val="142C40"/>
                          </a:solidFill>
                          <a:latin typeface="Helvetica Neue"/>
                          <a:ea typeface="Helvetica Neue"/>
                          <a:cs typeface="Helvetica Neue"/>
                        </a:rPr>
                        <a:t>N0</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Question only</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Independent answer</a:t>
                      </a:r>
                    </a:p>
                  </a:txBody>
                  <a:tcPr marL="91440" marR="91440" marT="45720" marB="45720">
                    <a:solidFill>
                      <a:srgbClr val="F0F4F7"/>
                    </a:solidFill>
                  </a:tcPr>
                </a:tc>
              </a:tr>
              <a:tr h="666750">
                <a:tc>
                  <a:txBody>
                    <a:bodyPr/>
                    <a:lstStyle/>
                    <a:p>
                      <a:r>
                        <a:rPr sz="1875" b="0">
                          <a:solidFill>
                            <a:srgbClr val="142C40"/>
                          </a:solidFill>
                          <a:latin typeface="Helvetica Neue"/>
                          <a:ea typeface="Helvetica Neue"/>
                          <a:cs typeface="Helvetica Neue"/>
                        </a:rPr>
                        <a:t>N1</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Question + own N0</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Self-check</a:t>
                      </a:r>
                    </a:p>
                  </a:txBody>
                  <a:tcPr marL="91440" marR="91440" marT="45720" marB="45720">
                    <a:solidFill>
                      <a:srgbClr val="FFFFFF"/>
                    </a:solidFill>
                  </a:tcPr>
                </a:tc>
              </a:tr>
              <a:tr h="666750">
                <a:tc>
                  <a:txBody>
                    <a:bodyPr/>
                    <a:lstStyle/>
                    <a:p>
                      <a:r>
                        <a:rPr sz="1875" b="0">
                          <a:solidFill>
                            <a:srgbClr val="142C40"/>
                          </a:solidFill>
                          <a:latin typeface="Helvetica Neue"/>
                          <a:ea typeface="Helvetica Neue"/>
                          <a:cs typeface="Helvetica Neue"/>
                        </a:rPr>
                        <a:t>N2</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Same N0 + another model’s N0</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Cross-model check</a:t>
                      </a:r>
                    </a:p>
                  </a:txBody>
                  <a:tcPr marL="91440" marR="91440" marT="45720" marB="45720">
                    <a:solidFill>
                      <a:srgbClr val="F0F4F7"/>
                    </a:solidFill>
                  </a:tcPr>
                </a:tc>
              </a:tr>
              <a:tr h="666750">
                <a:tc>
                  <a:txBody>
                    <a:bodyPr/>
                    <a:lstStyle/>
                    <a:p>
                      <a:r>
                        <a:rPr sz="1875" b="0">
                          <a:solidFill>
                            <a:srgbClr val="142C40"/>
                          </a:solidFill>
                          <a:latin typeface="Helvetica Neue"/>
                          <a:ea typeface="Helvetica Neue"/>
                          <a:cs typeface="Helvetica Neue"/>
                        </a:rPr>
                        <a:t>N3</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Same N0 + identical peer advice</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Explicit verification</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111C572-D272-43EF-8C1E-31DCA790A497}"/>
              </a:ext>
            </a:extLst>
          </p:cNvPr>
          <p:cNvSpPr>
            <a:spLocks xmlns:a="http://schemas.openxmlformats.org/drawingml/2006/main" noGrp="1"/>
          </p:cNvSpPr>
          <p:nvPr/>
        </p:nvSpPr>
        <p:spPr>
          <a:xfrm xmlns:a="http://schemas.openxmlformats.org/drawingml/2006/main">
            <a:off x="723900" y="51911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E77"/>
                </a:solidFill>
                <a:latin typeface="Helvetica Neue"/>
                <a:ea typeface="Helvetica Neue"/>
                <a:cs typeface="Helvetica Neue"/>
              </a:defRPr>
            </a:pPr>
            <a:r>
              <a:rPr sz="2100" b="1">
                <a:solidFill>
                  <a:srgbClr val="147E77"/>
                </a:solidFill>
                <a:latin typeface="Helvetica Neue"/>
                <a:ea typeface="Helvetica Neue"/>
                <a:cs typeface="Helvetica Neue"/>
              </a:rPr>
              <a:t>DeepSeek, Kimi and MiniMax each use both other models across two repeats.</a:t>
            </a:r>
          </a:p>
        </p:txBody>
      </p:sp>
      <p:sp>
        <p:nvSpPr>
          <p:cNvPr id="5" name="">
            <a:extLst xmlns:a="http://schemas.openxmlformats.org/drawingml/2006/main">
              <a:ext uri="{FF2B5EF4-FFF2-40B4-BE49-F238E27FC236}">
                <a16:creationId xmlns:a16="http://schemas.microsoft.com/office/drawing/2014/main" id="{A231BD7E-0051-4824-802B-5A8E563A92AB}"/>
              </a:ext>
            </a:extLst>
          </p:cNvPr>
          <p:cNvSpPr>
            <a:spLocks xmlns:a="http://schemas.openxmlformats.org/drawingml/2006/main" noGrp="1"/>
          </p:cNvSpPr>
          <p:nvPr/>
        </p:nvSpPr>
        <p:spPr>
          <a:xfrm xmlns:a="http://schemas.openxmlformats.org/drawingml/2006/main">
            <a:off x="723900" y="58864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Parallel branches from N0. One receiver revision, no third judge or tools.</a:t>
            </a:r>
          </a:p>
        </p:txBody>
      </p:sp>
    </p:spTree>
    <p:extLst>
      <p:ext uri="{BB962C8B-B14F-4D97-AF65-F5344CB8AC3E}">
        <p14:creationId xmlns:p14="http://schemas.microsoft.com/office/powerpoint/2010/main" val="178760476"/>
      </p:ext>
    </p:extLst>
  </p:cSld>
</p:sld>
</file>

<file path=ppt/slides/slide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73723F-E6FC-4698-9C4A-3B6A742F7EA5}"/>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Data and collection</a:t>
            </a:r>
          </a:p>
        </p:txBody>
      </p:sp>
      <p:sp>
        <p:nvSpPr>
          <p:cNvPr id="2" name="">
            <a:extLst xmlns:a="http://schemas.openxmlformats.org/drawingml/2006/main">
              <a:ext uri="{FF2B5EF4-FFF2-40B4-BE49-F238E27FC236}">
                <a16:creationId xmlns:a16="http://schemas.microsoft.com/office/drawing/2014/main" id="{F5FC5CD6-A0FB-4F0B-A8BA-A5369770BE3F}"/>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5</a:t>
            </a:r>
          </a:p>
        </p:txBody>
      </p:sp>
      <p:sp>
        <p:nvSpPr>
          <p:cNvPr id="3" name="">
            <a:extLst xmlns:a="http://schemas.openxmlformats.org/drawingml/2006/main">
              <a:ext uri="{FF2B5EF4-FFF2-40B4-BE49-F238E27FC236}">
                <a16:creationId xmlns:a16="http://schemas.microsoft.com/office/drawing/2014/main" id="{160A079A-3CBD-4F4E-A585-1DEDB8653777}"/>
              </a:ext>
            </a:extLst>
          </p:cNvPr>
          <p:cNvSpPr>
            <a:spLocks xmlns:a="http://schemas.openxmlformats.org/drawingml/2006/main" noGrp="1"/>
          </p:cNvSpPr>
          <p:nvPr/>
        </p:nvSpPr>
        <p:spPr>
          <a:xfrm xmlns:a="http://schemas.openxmlformats.org/drawingml/2006/main">
            <a:off x="723900" y="1666875"/>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100 previously studied date questions, with fresh API responses.</a:t>
            </a:r>
          </a:p>
        </p:txBody>
      </p:sp>
      <p:sp>
        <p:nvSpPr>
          <p:cNvPr id="4" name="">
            <a:extLst xmlns:a="http://schemas.openxmlformats.org/drawingml/2006/main">
              <a:ext uri="{FF2B5EF4-FFF2-40B4-BE49-F238E27FC236}">
                <a16:creationId xmlns:a16="http://schemas.microsoft.com/office/drawing/2014/main" id="{1664D54F-07EF-4ED3-99FB-326095AF0764}"/>
              </a:ext>
            </a:extLst>
          </p:cNvPr>
          <p:cNvSpPr>
            <a:spLocks xmlns:a="http://schemas.openxmlformats.org/drawingml/2006/main" noGrp="1"/>
          </p:cNvSpPr>
          <p:nvPr/>
        </p:nvSpPr>
        <p:spPr>
          <a:xfrm xmlns:a="http://schemas.openxmlformats.org/drawingml/2006/main">
            <a:off x="723900" y="25717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41 CHAMP questions across five mathematics topics.</a:t>
            </a:r>
          </a:p>
        </p:txBody>
      </p:sp>
      <p:sp>
        <p:nvSpPr>
          <p:cNvPr id="5" name="">
            <a:extLst xmlns:a="http://schemas.openxmlformats.org/drawingml/2006/main">
              <a:ext uri="{FF2B5EF4-FFF2-40B4-BE49-F238E27FC236}">
                <a16:creationId xmlns:a16="http://schemas.microsoft.com/office/drawing/2014/main" id="{329FBCE4-F48F-4C2A-8E9E-FD239876E7D8}"/>
              </a:ext>
            </a:extLst>
          </p:cNvPr>
          <p:cNvSpPr>
            <a:spLocks xmlns:a="http://schemas.openxmlformats.org/drawingml/2006/main" noGrp="1"/>
          </p:cNvSpPr>
          <p:nvPr/>
        </p:nvSpPr>
        <p:spPr>
          <a:xfrm xmlns:a="http://schemas.openxmlformats.org/drawingml/2006/main">
            <a:off x="723900" y="3476625"/>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Three different model APIs, two independent repeats.</a:t>
            </a:r>
          </a:p>
        </p:txBody>
      </p:sp>
      <p:sp>
        <p:nvSpPr>
          <p:cNvPr id="6" name="">
            <a:extLst xmlns:a="http://schemas.openxmlformats.org/drawingml/2006/main">
              <a:ext uri="{FF2B5EF4-FFF2-40B4-BE49-F238E27FC236}">
                <a16:creationId xmlns:a16="http://schemas.microsoft.com/office/drawing/2014/main" id="{76739FA4-B374-468F-A697-036D06DA2A58}"/>
              </a:ext>
            </a:extLst>
          </p:cNvPr>
          <p:cNvSpPr>
            <a:spLocks xmlns:a="http://schemas.openxmlformats.org/drawingml/2006/main" noGrp="1"/>
          </p:cNvSpPr>
          <p:nvPr/>
        </p:nvSpPr>
        <p:spPr>
          <a:xfrm xmlns:a="http://schemas.openxmlformats.org/drawingml/2006/main">
            <a:off x="723900" y="438150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3,829 scorable answers from 4,032 planned outputs.</a:t>
            </a:r>
          </a:p>
        </p:txBody>
      </p:sp>
      <p:sp>
        <p:nvSpPr>
          <p:cNvPr id="7" name="">
            <a:extLst xmlns:a="http://schemas.openxmlformats.org/drawingml/2006/main">
              <a:ext uri="{FF2B5EF4-FFF2-40B4-BE49-F238E27FC236}">
                <a16:creationId xmlns:a16="http://schemas.microsoft.com/office/drawing/2014/main" id="{9AFD8D7E-22BC-4BBC-9BAF-ACC1FE190DD5}"/>
              </a:ext>
            </a:extLst>
          </p:cNvPr>
          <p:cNvSpPr>
            <a:spLocks xmlns:a="http://schemas.openxmlformats.org/drawingml/2006/main" noGrp="1"/>
          </p:cNvSpPr>
          <p:nvPr/>
        </p:nvSpPr>
        <p:spPr>
          <a:xfrm xmlns:a="http://schemas.openxmlformats.org/drawingml/2006/main">
            <a:off x="723900" y="58578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Missing, truncated and invalid responses remain separate from abstention.</a:t>
            </a:r>
          </a:p>
        </p:txBody>
      </p:sp>
    </p:spTree>
    <p:extLst>
      <p:ext uri="{BB962C8B-B14F-4D97-AF65-F5344CB8AC3E}">
        <p14:creationId xmlns:p14="http://schemas.microsoft.com/office/powerpoint/2010/main" val="1083540444"/>
      </p:ext>
    </p:extLst>
  </p:cSld>
</p:sld>
</file>

<file path=ppt/slides/slide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2B771F-92E5-4B78-AE1B-1450E2F0223F}"/>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What counts as an error</a:t>
            </a:r>
          </a:p>
        </p:txBody>
      </p:sp>
      <p:sp>
        <p:nvSpPr>
          <p:cNvPr id="2" name="">
            <a:extLst xmlns:a="http://schemas.openxmlformats.org/drawingml/2006/main">
              <a:ext uri="{FF2B5EF4-FFF2-40B4-BE49-F238E27FC236}">
                <a16:creationId xmlns:a16="http://schemas.microsoft.com/office/drawing/2014/main" id="{60F99ABC-45AD-45A9-9E00-E9C9FD0174CE}"/>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6</a:t>
            </a:r>
          </a:p>
        </p:txBody>
      </p:sp>
      <p:sp>
        <p:nvSpPr>
          <p:cNvPr id="3" name="">
            <a:extLst xmlns:a="http://schemas.openxmlformats.org/drawingml/2006/main">
              <a:ext uri="{FF2B5EF4-FFF2-40B4-BE49-F238E27FC236}">
                <a16:creationId xmlns:a16="http://schemas.microsoft.com/office/drawing/2014/main" id="{45470431-0EAB-4203-B18F-5D47A671924F}"/>
              </a:ext>
            </a:extLst>
          </p:cNvPr>
          <p:cNvSpPr>
            <a:spLocks xmlns:a="http://schemas.openxmlformats.org/drawingml/2006/main" noGrp="1"/>
          </p:cNvSpPr>
          <p:nvPr/>
        </p:nvSpPr>
        <p:spPr>
          <a:xfrm xmlns:a="http://schemas.openxmlformats.org/drawingml/2006/main">
            <a:off x="723900" y="163830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C45F48"/>
                </a:solidFill>
                <a:latin typeface="Helvetica Neue"/>
                <a:ea typeface="Helvetica Neue"/>
                <a:cs typeface="Helvetica Neue"/>
              </a:defRPr>
            </a:pPr>
            <a:r>
              <a:rPr sz="3600" b="1">
                <a:solidFill>
                  <a:srgbClr val="C45F48"/>
                </a:solidFill>
                <a:latin typeface="Helvetica Neue"/>
                <a:ea typeface="Helvetica Neue"/>
                <a:cs typeface="Helvetica Neue"/>
              </a:rPr>
              <a:t>Wrong answers</a:t>
            </a:r>
          </a:p>
        </p:txBody>
      </p:sp>
      <p:sp>
        <p:nvSpPr>
          <p:cNvPr id="4" name="">
            <a:extLst xmlns:a="http://schemas.openxmlformats.org/drawingml/2006/main">
              <a:ext uri="{FF2B5EF4-FFF2-40B4-BE49-F238E27FC236}">
                <a16:creationId xmlns:a16="http://schemas.microsoft.com/office/drawing/2014/main" id="{0CF34344-0BEA-44CF-AE8F-8B11EB7E0236}"/>
              </a:ext>
            </a:extLst>
          </p:cNvPr>
          <p:cNvSpPr>
            <a:spLocks xmlns:a="http://schemas.openxmlformats.org/drawingml/2006/main" noGrp="1"/>
          </p:cNvSpPr>
          <p:nvPr/>
        </p:nvSpPr>
        <p:spPr>
          <a:xfrm xmlns:a="http://schemas.openxmlformats.org/drawingml/2006/main">
            <a:off x="723900" y="239077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42C40"/>
                </a:solidFill>
                <a:latin typeface="Helvetica Neue"/>
                <a:ea typeface="Helvetica Neue"/>
                <a:cs typeface="Helvetica Neue"/>
              </a:defRPr>
            </a:pPr>
            <a:r>
              <a:rPr sz="2550" b="0">
                <a:solidFill>
                  <a:srgbClr val="142C40"/>
                </a:solidFill>
                <a:latin typeface="Helvetica Neue"/>
                <a:ea typeface="Helvetica Neue"/>
                <a:cs typeface="Helvetica Neue"/>
              </a:rPr>
              <a:t>divided by correct + wrong + explicit abstentions</a:t>
            </a:r>
          </a:p>
        </p:txBody>
      </p:sp>
      <p:sp>
        <p:nvSpPr>
          <p:cNvPr id="5" name="">
            <a:extLst xmlns:a="http://schemas.openxmlformats.org/drawingml/2006/main">
              <a:ext uri="{FF2B5EF4-FFF2-40B4-BE49-F238E27FC236}">
                <a16:creationId xmlns:a16="http://schemas.microsoft.com/office/drawing/2014/main" id="{547A96FD-CA07-4FC8-947F-D05A120BC539}"/>
              </a:ext>
            </a:extLst>
          </p:cNvPr>
          <p:cNvSpPr>
            <a:spLocks xmlns:a="http://schemas.openxmlformats.org/drawingml/2006/main" noGrp="1"/>
          </p:cNvSpPr>
          <p:nvPr/>
        </p:nvSpPr>
        <p:spPr>
          <a:xfrm xmlns:a="http://schemas.openxmlformats.org/drawingml/2006/main">
            <a:off x="723900" y="35242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Helvetica Neue"/>
                <a:ea typeface="Helvetica Neue"/>
                <a:cs typeface="Helvetica Neue"/>
              </a:defRPr>
            </a:pPr>
            <a:r>
              <a:rPr sz="2100" b="0">
                <a:solidFill>
                  <a:srgbClr val="142C40"/>
                </a:solidFill>
                <a:latin typeface="Helvetica Neue"/>
                <a:ea typeface="Helvetica Neue"/>
                <a:cs typeface="Helvetica Neue"/>
              </a:rPr>
              <a:t>We report correct answers and abstentions separately.</a:t>
            </a:r>
          </a:p>
        </p:txBody>
      </p:sp>
      <p:sp>
        <p:nvSpPr>
          <p:cNvPr id="6" name="">
            <a:extLst xmlns:a="http://schemas.openxmlformats.org/drawingml/2006/main">
              <a:ext uri="{FF2B5EF4-FFF2-40B4-BE49-F238E27FC236}">
                <a16:creationId xmlns:a16="http://schemas.microsoft.com/office/drawing/2014/main" id="{478A02D2-39F4-4E8A-B952-2450D24CF5DE}"/>
              </a:ext>
            </a:extLst>
          </p:cNvPr>
          <p:cNvSpPr>
            <a:spLocks xmlns:a="http://schemas.openxmlformats.org/drawingml/2006/main" noGrp="1"/>
          </p:cNvSpPr>
          <p:nvPr/>
        </p:nvSpPr>
        <p:spPr>
          <a:xfrm xmlns:a="http://schemas.openxmlformats.org/drawingml/2006/main">
            <a:off x="723900" y="42862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Helvetica Neue"/>
                <a:ea typeface="Helvetica Neue"/>
                <a:cs typeface="Helvetica Neue"/>
              </a:defRPr>
            </a:pPr>
            <a:r>
              <a:rPr sz="2100" b="0">
                <a:solidFill>
                  <a:srgbClr val="142C40"/>
                </a:solidFill>
                <a:latin typeface="Helvetica Neue"/>
                <a:ea typeface="Helvetica Neue"/>
                <a:cs typeface="Helvetica Neue"/>
              </a:rPr>
              <a:t>A correct answer does not certify every step in its explanation.</a:t>
            </a:r>
          </a:p>
        </p:txBody>
      </p:sp>
      <p:sp>
        <p:nvSpPr>
          <p:cNvPr id="7" name="">
            <a:extLst xmlns:a="http://schemas.openxmlformats.org/drawingml/2006/main">
              <a:ext uri="{FF2B5EF4-FFF2-40B4-BE49-F238E27FC236}">
                <a16:creationId xmlns:a16="http://schemas.microsoft.com/office/drawing/2014/main" id="{5308F0BC-BA92-4704-B226-B5D19BFBB77D}"/>
              </a:ext>
            </a:extLst>
          </p:cNvPr>
          <p:cNvSpPr>
            <a:spLocks xmlns:a="http://schemas.openxmlformats.org/drawingml/2006/main" noGrp="1"/>
          </p:cNvSpPr>
          <p:nvPr/>
        </p:nvSpPr>
        <p:spPr>
          <a:xfrm xmlns:a="http://schemas.openxmlformats.org/drawingml/2006/main">
            <a:off x="723900" y="50482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Helvetica Neue"/>
                <a:ea typeface="Helvetica Neue"/>
                <a:cs typeface="Helvetica Neue"/>
              </a:defRPr>
            </a:pPr>
            <a:r>
              <a:rPr sz="2100" b="0">
                <a:solidFill>
                  <a:srgbClr val="142C40"/>
                </a:solidFill>
                <a:latin typeface="Helvetica Neue"/>
                <a:ea typeface="Helvetica Neue"/>
                <a:cs typeface="Helvetica Neue"/>
              </a:rPr>
              <a:t>Main comparisons show matched samples and uncertainty intervals.</a:t>
            </a:r>
          </a:p>
        </p:txBody>
      </p:sp>
      <p:sp>
        <p:nvSpPr>
          <p:cNvPr id="8" name="">
            <a:extLst xmlns:a="http://schemas.openxmlformats.org/drawingml/2006/main">
              <a:ext uri="{FF2B5EF4-FFF2-40B4-BE49-F238E27FC236}">
                <a16:creationId xmlns:a16="http://schemas.microsoft.com/office/drawing/2014/main" id="{4B1B3A51-5284-456E-9CBE-3879B7BEB94A}"/>
              </a:ext>
            </a:extLst>
          </p:cNvPr>
          <p:cNvSpPr>
            <a:spLocks xmlns:a="http://schemas.openxmlformats.org/drawingml/2006/main" noGrp="1"/>
          </p:cNvSpPr>
          <p:nvPr/>
        </p:nvSpPr>
        <p:spPr>
          <a:xfrm xmlns:a="http://schemas.openxmlformats.org/drawingml/2006/main">
            <a:off x="723900" y="6057900"/>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57586"/>
                </a:solidFill>
                <a:latin typeface="Helvetica Neue"/>
                <a:ea typeface="Helvetica Neue"/>
                <a:cs typeface="Helvetica Neue"/>
              </a:defRPr>
            </a:pPr>
            <a:r>
              <a:rPr sz="1650" b="0">
                <a:solidFill>
                  <a:srgbClr val="657586"/>
                </a:solidFill>
                <a:latin typeface="Helvetica Neue"/>
                <a:ea typeface="Helvetica Neue"/>
                <a:cs typeface="Helvetica Neue"/>
              </a:rPr>
              <a:t>R analysis resamples whole questions, keeping model repeats together.</a:t>
            </a:r>
          </a:p>
        </p:txBody>
      </p:sp>
    </p:spTree>
    <p:extLst>
      <p:ext uri="{BB962C8B-B14F-4D97-AF65-F5344CB8AC3E}">
        <p14:creationId xmlns:p14="http://schemas.microsoft.com/office/powerpoint/2010/main" val="1593864489"/>
      </p:ext>
    </p:extLst>
  </p:cSld>
</p:sld>
</file>

<file path=ppt/slides/slide7.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D7B4732-417A-41DB-BAFF-9AF01507C53D}"/>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Facts: no clear improvement over self-checking</a:t>
            </a:r>
          </a:p>
        </p:txBody>
      </p:sp>
      <p:sp>
        <p:nvSpPr>
          <p:cNvPr id="2" name="">
            <a:extLst xmlns:a="http://schemas.openxmlformats.org/drawingml/2006/main">
              <a:ext uri="{FF2B5EF4-FFF2-40B4-BE49-F238E27FC236}">
                <a16:creationId xmlns:a16="http://schemas.microsoft.com/office/drawing/2014/main" id="{F45C6D7D-0136-4DC5-BFC5-EAF7CF802665}"/>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7</a:t>
            </a:r>
          </a:p>
        </p:txBody>
      </p:sp>
      <p:graphicFrame>
        <p:nvGraphicFramePr>
          <p:cNvPr id="8" name="Chart"/>
          <p:cNvGraphicFramePr/>
          <p:nvPr/>
        </p:nvGraphicFramePr>
        <p:xfrm>
          <a:off xmlns:a="http://schemas.openxmlformats.org/drawingml/2006/main" x="857250" y="1733550"/>
          <a:ext xmlns:a="http://schemas.openxmlformats.org/drawingml/2006/main" cx="10477500" cy="3238500"/>
        </p:xfrm>
        <a:graphic xmlns:a="http://schemas.openxmlformats.org/drawingml/2006/main">
          <a:graphicData uri="http://schemas.openxmlformats.org/drawingml/2006/chart">
            <c:chart xmlns:r="http://schemas.openxmlformats.org/officeDocument/2006/relationships" xmlns:c="http://schemas.openxmlformats.org/drawingml/2006/chart" r:id="Ra1f34b51fd2c4ee5"/>
          </a:graphicData>
        </a:graphic>
      </p:graphicFrame>
      <p:sp>
        <p:nvSpPr>
          <p:cNvPr id="4" name="">
            <a:extLst xmlns:a="http://schemas.openxmlformats.org/drawingml/2006/main">
              <a:ext uri="{FF2B5EF4-FFF2-40B4-BE49-F238E27FC236}">
                <a16:creationId xmlns:a16="http://schemas.microsoft.com/office/drawing/2014/main" id="{E5B5ABCA-9606-4CCD-9A91-D151BD0C875B}"/>
              </a:ext>
            </a:extLst>
          </p:cNvPr>
          <p:cNvSpPr>
            <a:spLocks xmlns:a="http://schemas.openxmlformats.org/drawingml/2006/main" noGrp="1"/>
          </p:cNvSpPr>
          <p:nvPr/>
        </p:nvSpPr>
        <p:spPr>
          <a:xfrm xmlns:a="http://schemas.openxmlformats.org/drawingml/2006/main">
            <a:off x="723900" y="52197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E77"/>
                </a:solidFill>
                <a:latin typeface="Helvetica Neue"/>
                <a:ea typeface="Helvetica Neue"/>
                <a:cs typeface="Helvetica Neue"/>
              </a:defRPr>
            </a:pPr>
            <a:r>
              <a:rPr sz="2100" b="1">
                <a:solidFill>
                  <a:srgbClr val="147E77"/>
                </a:solidFill>
                <a:latin typeface="Helvetica Neue"/>
                <a:ea typeface="Helvetica Neue"/>
                <a:cs typeface="Helvetica Neue"/>
              </a:rPr>
              <a:t>+0.69 percentage points   /   97.5% interval [-4.98, 6.17] pp</a:t>
            </a:r>
          </a:p>
        </p:txBody>
      </p:sp>
      <p:sp>
        <p:nvSpPr>
          <p:cNvPr id="5" name="">
            <a:extLst xmlns:a="http://schemas.openxmlformats.org/drawingml/2006/main">
              <a:ext uri="{FF2B5EF4-FFF2-40B4-BE49-F238E27FC236}">
                <a16:creationId xmlns:a16="http://schemas.microsoft.com/office/drawing/2014/main" id="{3FB52914-1441-43C4-9FF0-4A63FAB6D9AB}"/>
              </a:ext>
            </a:extLst>
          </p:cNvPr>
          <p:cNvSpPr>
            <a:spLocks xmlns:a="http://schemas.openxmlformats.org/drawingml/2006/main" noGrp="1"/>
          </p:cNvSpPr>
          <p:nvPr/>
        </p:nvSpPr>
        <p:spPr>
          <a:xfrm xmlns:a="http://schemas.openxmlformats.org/drawingml/2006/main">
            <a:off x="723900" y="583882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254/578 and 258/578 wrong. The interval includes zero.</a:t>
            </a:r>
          </a:p>
        </p:txBody>
      </p:sp>
    </p:spTree>
    <p:extLst>
      <p:ext uri="{BB962C8B-B14F-4D97-AF65-F5344CB8AC3E}">
        <p14:creationId xmlns:p14="http://schemas.microsoft.com/office/powerpoint/2010/main" val="1465319824"/>
      </p:ext>
    </p:extLst>
  </p:cSld>
</p:sld>
</file>

<file path=ppt/slides/slide8.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8FD6C0C-5626-4ED3-8C53-A1F9ACBA760B}"/>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Mathematics: fewer errors, limited certainty</a:t>
            </a:r>
          </a:p>
        </p:txBody>
      </p:sp>
      <p:sp>
        <p:nvSpPr>
          <p:cNvPr id="2" name="">
            <a:extLst xmlns:a="http://schemas.openxmlformats.org/drawingml/2006/main">
              <a:ext uri="{FF2B5EF4-FFF2-40B4-BE49-F238E27FC236}">
                <a16:creationId xmlns:a16="http://schemas.microsoft.com/office/drawing/2014/main" id="{CA5841F9-F2E3-4870-8293-A706B22CE070}"/>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8</a:t>
            </a:r>
          </a:p>
        </p:txBody>
      </p:sp>
      <p:graphicFrame>
        <p:nvGraphicFramePr>
          <p:cNvPr id="8" name="Chart"/>
          <p:cNvGraphicFramePr/>
          <p:nvPr/>
        </p:nvGraphicFramePr>
        <p:xfrm>
          <a:off xmlns:a="http://schemas.openxmlformats.org/drawingml/2006/main" x="857250" y="1733550"/>
          <a:ext xmlns:a="http://schemas.openxmlformats.org/drawingml/2006/main" cx="10477500" cy="3238500"/>
        </p:xfrm>
        <a:graphic xmlns:a="http://schemas.openxmlformats.org/drawingml/2006/main">
          <a:graphicData uri="http://schemas.openxmlformats.org/drawingml/2006/chart">
            <c:chart xmlns:r="http://schemas.openxmlformats.org/officeDocument/2006/relationships" xmlns:c="http://schemas.openxmlformats.org/drawingml/2006/chart" r:id="Re90203944fa7425c"/>
          </a:graphicData>
        </a:graphic>
      </p:graphicFrame>
      <p:sp>
        <p:nvSpPr>
          <p:cNvPr id="4" name="">
            <a:extLst xmlns:a="http://schemas.openxmlformats.org/drawingml/2006/main">
              <a:ext uri="{FF2B5EF4-FFF2-40B4-BE49-F238E27FC236}">
                <a16:creationId xmlns:a16="http://schemas.microsoft.com/office/drawing/2014/main" id="{607D7EF5-81D8-4C3D-9D65-38E83E5816A1}"/>
              </a:ext>
            </a:extLst>
          </p:cNvPr>
          <p:cNvSpPr>
            <a:spLocks xmlns:a="http://schemas.openxmlformats.org/drawingml/2006/main" noGrp="1"/>
          </p:cNvSpPr>
          <p:nvPr/>
        </p:nvSpPr>
        <p:spPr>
          <a:xfrm xmlns:a="http://schemas.openxmlformats.org/drawingml/2006/main">
            <a:off x="723900" y="52197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E77"/>
                </a:solidFill>
                <a:latin typeface="Helvetica Neue"/>
                <a:ea typeface="Helvetica Neue"/>
                <a:cs typeface="Helvetica Neue"/>
              </a:defRPr>
            </a:pPr>
            <a:r>
              <a:rPr sz="2100" b="1">
                <a:solidFill>
                  <a:srgbClr val="147E77"/>
                </a:solidFill>
                <a:latin typeface="Helvetica Neue"/>
                <a:ea typeface="Helvetica Neue"/>
                <a:cs typeface="Helvetica Neue"/>
              </a:rPr>
              <a:t>-2.01 percentage points   /   97.5% interval [-5.21, 0.00] pp</a:t>
            </a:r>
          </a:p>
        </p:txBody>
      </p:sp>
      <p:sp>
        <p:nvSpPr>
          <p:cNvPr id="5" name="">
            <a:extLst xmlns:a="http://schemas.openxmlformats.org/drawingml/2006/main">
              <a:ext uri="{FF2B5EF4-FFF2-40B4-BE49-F238E27FC236}">
                <a16:creationId xmlns:a16="http://schemas.microsoft.com/office/drawing/2014/main" id="{C29AE932-7DBE-43F3-9E04-9F6BB594D6B7}"/>
              </a:ext>
            </a:extLst>
          </p:cNvPr>
          <p:cNvSpPr>
            <a:spLocks xmlns:a="http://schemas.openxmlformats.org/drawingml/2006/main" noGrp="1"/>
          </p:cNvSpPr>
          <p:nvPr/>
        </p:nvSpPr>
        <p:spPr>
          <a:xfrm xmlns:a="http://schemas.openxmlformats.org/drawingml/2006/main">
            <a:off x="723900" y="583882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199/246 planned pairs, covering 39/41 questions. Vertical scale: 0–10%.</a:t>
            </a:r>
          </a:p>
        </p:txBody>
      </p:sp>
    </p:spTree>
    <p:extLst>
      <p:ext uri="{BB962C8B-B14F-4D97-AF65-F5344CB8AC3E}">
        <p14:creationId xmlns:p14="http://schemas.microsoft.com/office/powerpoint/2010/main" val="1319818637"/>
      </p:ext>
    </p:extLst>
  </p:cSld>
</p:sld>
</file>

<file path=ppt/slides/slide9.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6D2DB0E-730E-4574-ABC6-068F58A93699}"/>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Factual effects differ by receiver</a:t>
            </a:r>
          </a:p>
        </p:txBody>
      </p:sp>
      <p:sp>
        <p:nvSpPr>
          <p:cNvPr id="2" name="">
            <a:extLst xmlns:a="http://schemas.openxmlformats.org/drawingml/2006/main">
              <a:ext uri="{FF2B5EF4-FFF2-40B4-BE49-F238E27FC236}">
                <a16:creationId xmlns:a16="http://schemas.microsoft.com/office/drawing/2014/main" id="{0AFEC29A-A8E9-45B8-A856-09B5A33E135D}"/>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9</a:t>
            </a:r>
          </a:p>
        </p:txBody>
      </p:sp>
      <p:graphicFrame>
        <p:nvGraphicFramePr>
          <p:cNvPr id="8" name="Chart"/>
          <p:cNvGraphicFramePr/>
          <p:nvPr/>
        </p:nvGraphicFramePr>
        <p:xfrm>
          <a:off xmlns:a="http://schemas.openxmlformats.org/drawingml/2006/main" x="857250" y="1714500"/>
          <a:ext xmlns:a="http://schemas.openxmlformats.org/drawingml/2006/main" cx="10477500" cy="3619500"/>
        </p:xfrm>
        <a:graphic xmlns:a="http://schemas.openxmlformats.org/drawingml/2006/main">
          <a:graphicData uri="http://schemas.openxmlformats.org/drawingml/2006/chart">
            <c:chart xmlns:r="http://schemas.openxmlformats.org/officeDocument/2006/relationships" xmlns:c="http://schemas.openxmlformats.org/drawingml/2006/chart" r:id="Rb7e9022ed71a4910"/>
          </a:graphicData>
        </a:graphic>
      </p:graphicFrame>
      <p:sp>
        <p:nvSpPr>
          <p:cNvPr id="4" name="">
            <a:extLst xmlns:a="http://schemas.openxmlformats.org/drawingml/2006/main">
              <a:ext uri="{FF2B5EF4-FFF2-40B4-BE49-F238E27FC236}">
                <a16:creationId xmlns:a16="http://schemas.microsoft.com/office/drawing/2014/main" id="{E5A40E5C-61A1-4367-8777-14BCB302939C}"/>
              </a:ext>
            </a:extLst>
          </p:cNvPr>
          <p:cNvSpPr>
            <a:spLocks xmlns:a="http://schemas.openxmlformats.org/drawingml/2006/main" noGrp="1"/>
          </p:cNvSpPr>
          <p:nvPr/>
        </p:nvSpPr>
        <p:spPr>
          <a:xfrm xmlns:a="http://schemas.openxmlformats.org/drawingml/2006/main">
            <a:off x="723900" y="5572125"/>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7E77"/>
                </a:solidFill>
                <a:latin typeface="Helvetica Neue"/>
                <a:ea typeface="Helvetica Neue"/>
                <a:cs typeface="Helvetica Neue"/>
              </a:defRPr>
            </a:pPr>
            <a:r>
              <a:rPr sz="2025" b="1">
                <a:solidFill>
                  <a:srgbClr val="147E77"/>
                </a:solidFill>
                <a:latin typeface="Helvetica Neue"/>
                <a:ea typeface="Helvetica Neue"/>
                <a:cs typeface="Helvetica Neue"/>
              </a:rPr>
              <a:t>DeepSeek and Kimi increase; MiniMax decreases in this selected sample.</a:t>
            </a:r>
          </a:p>
        </p:txBody>
      </p:sp>
      <p:sp>
        <p:nvSpPr>
          <p:cNvPr id="5" name="">
            <a:extLst xmlns:a="http://schemas.openxmlformats.org/drawingml/2006/main">
              <a:ext uri="{FF2B5EF4-FFF2-40B4-BE49-F238E27FC236}">
                <a16:creationId xmlns:a16="http://schemas.microsoft.com/office/drawing/2014/main" id="{91D9F73F-616E-48C7-AB71-42729658F257}"/>
              </a:ext>
            </a:extLst>
          </p:cNvPr>
          <p:cNvSpPr>
            <a:spLocks xmlns:a="http://schemas.openxmlformats.org/drawingml/2006/main" noGrp="1"/>
          </p:cNvSpPr>
          <p:nvPr/>
        </p:nvSpPr>
        <p:spPr>
          <a:xfrm xmlns:a="http://schemas.openxmlformats.org/drawingml/2006/main">
            <a:off x="723900" y="60674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57586"/>
                </a:solidFill>
                <a:latin typeface="Helvetica Neue"/>
                <a:ea typeface="Helvetica Neue"/>
                <a:cs typeface="Helvetica Neue"/>
              </a:defRPr>
            </a:pPr>
            <a:r>
              <a:rPr sz="1650" b="0">
                <a:solidFill>
                  <a:srgbClr val="657586"/>
                </a:solidFill>
                <a:latin typeface="Helvetica Neue"/>
                <a:ea typeface="Helvetica Neue"/>
                <a:cs typeface="Helvetica Neue"/>
              </a:rPr>
              <a:t>Matched pairs: 195, 197 and 186. Descriptive differences, not a model ranking.</a:t>
            </a:r>
          </a:p>
        </p:txBody>
      </p:sp>
    </p:spTree>
    <p:extLst>
      <p:ext uri="{BB962C8B-B14F-4D97-AF65-F5344CB8AC3E}">
        <p14:creationId xmlns:p14="http://schemas.microsoft.com/office/powerpoint/2010/main" val="1202447292"/>
      </p:ext>
    </p:extLst>
  </p:cSld>
</p:sld>
</file>

<file path=ppt/slides/slide10.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B98DF79-1EB0-4889-8600-57B4FB4F3E4F}"/>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Wrong advice increases factual error</a:t>
            </a:r>
          </a:p>
        </p:txBody>
      </p:sp>
      <p:sp>
        <p:nvSpPr>
          <p:cNvPr id="2" name="">
            <a:extLst xmlns:a="http://schemas.openxmlformats.org/drawingml/2006/main">
              <a:ext uri="{FF2B5EF4-FFF2-40B4-BE49-F238E27FC236}">
                <a16:creationId xmlns:a16="http://schemas.microsoft.com/office/drawing/2014/main" id="{A183F4C5-7525-40B9-9890-D0AC7437F2B3}"/>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10</a:t>
            </a:r>
          </a:p>
        </p:txBody>
      </p:sp>
      <p:graphicFrame>
        <p:nvGraphicFramePr>
          <p:cNvPr id="8" name="Chart"/>
          <p:cNvGraphicFramePr/>
          <p:nvPr/>
        </p:nvGraphicFramePr>
        <p:xfrm>
          <a:off xmlns:a="http://schemas.openxmlformats.org/drawingml/2006/main" x="857250" y="1733550"/>
          <a:ext xmlns:a="http://schemas.openxmlformats.org/drawingml/2006/main" cx="10477500" cy="3238500"/>
        </p:xfrm>
        <a:graphic xmlns:a="http://schemas.openxmlformats.org/drawingml/2006/main">
          <a:graphicData uri="http://schemas.openxmlformats.org/drawingml/2006/chart">
            <c:chart xmlns:r="http://schemas.openxmlformats.org/officeDocument/2006/relationships" xmlns:c="http://schemas.openxmlformats.org/drawingml/2006/chart" r:id="R307da7210cc94f98"/>
          </a:graphicData>
        </a:graphic>
      </p:graphicFrame>
      <p:sp>
        <p:nvSpPr>
          <p:cNvPr id="4" name="">
            <a:extLst xmlns:a="http://schemas.openxmlformats.org/drawingml/2006/main">
              <a:ext uri="{FF2B5EF4-FFF2-40B4-BE49-F238E27FC236}">
                <a16:creationId xmlns:a16="http://schemas.microsoft.com/office/drawing/2014/main" id="{769A80FA-8F57-43F7-B5F5-C9DC59FF255D}"/>
              </a:ext>
            </a:extLst>
          </p:cNvPr>
          <p:cNvSpPr>
            <a:spLocks xmlns:a="http://schemas.openxmlformats.org/drawingml/2006/main" noGrp="1"/>
          </p:cNvSpPr>
          <p:nvPr/>
        </p:nvSpPr>
        <p:spPr>
          <a:xfrm xmlns:a="http://schemas.openxmlformats.org/drawingml/2006/main">
            <a:off x="723900" y="51911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C45F48"/>
                </a:solidFill>
                <a:latin typeface="Helvetica Neue"/>
                <a:ea typeface="Helvetica Neue"/>
                <a:cs typeface="Helvetica Neue"/>
              </a:defRPr>
            </a:pPr>
            <a:r>
              <a:rPr sz="2100" b="1">
                <a:solidFill>
                  <a:srgbClr val="C45F48"/>
                </a:solidFill>
                <a:latin typeface="Helvetica Neue"/>
                <a:ea typeface="Helvetica Neue"/>
                <a:cs typeface="Helvetica Neue"/>
              </a:rPr>
              <a:t>+18.78 points for wrong answers; +6.40 for wrong answers with reasons</a:t>
            </a:r>
          </a:p>
        </p:txBody>
      </p:sp>
      <p:sp>
        <p:nvSpPr>
          <p:cNvPr id="5" name="">
            <a:extLst xmlns:a="http://schemas.openxmlformats.org/drawingml/2006/main">
              <a:ext uri="{FF2B5EF4-FFF2-40B4-BE49-F238E27FC236}">
                <a16:creationId xmlns:a16="http://schemas.microsoft.com/office/drawing/2014/main" id="{5B104C18-D469-4BA2-BFDC-E8A3AF7C59BB}"/>
              </a:ext>
            </a:extLst>
          </p:cNvPr>
          <p:cNvSpPr>
            <a:spLocks xmlns:a="http://schemas.openxmlformats.org/drawingml/2006/main" noGrp="1"/>
          </p:cNvSpPr>
          <p:nvPr/>
        </p:nvSpPr>
        <p:spPr>
          <a:xfrm xmlns:a="http://schemas.openxmlformats.org/drawingml/2006/main">
            <a:off x="723900" y="5895975"/>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586"/>
                </a:solidFill>
                <a:latin typeface="Helvetica Neue"/>
                <a:ea typeface="Helvetica Neue"/>
                <a:cs typeface="Helvetica Neue"/>
              </a:defRPr>
            </a:pPr>
            <a:r>
              <a:rPr sz="1725" b="0">
                <a:solidFill>
                  <a:srgbClr val="657586"/>
                </a:solidFill>
                <a:latin typeface="Helvetica Neue"/>
                <a:ea typeface="Helvetica Neue"/>
                <a:cs typeface="Helvetica Neue"/>
              </a:rPr>
              <a:t>719 units per group. Original controlled study, exploratory all-unit comparison.</a:t>
            </a:r>
          </a:p>
        </p:txBody>
      </p:sp>
    </p:spTree>
    <p:extLst>
      <p:ext uri="{BB962C8B-B14F-4D97-AF65-F5344CB8AC3E}">
        <p14:creationId xmlns:p14="http://schemas.microsoft.com/office/powerpoint/2010/main" val="1153096858"/>
      </p:ext>
    </p:extLst>
  </p:cSld>
</p:sld>
</file>

<file path=ppt/slides/slide1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A12A255-FA08-4934-8B74-6D317F9ADAF2}"/>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Verification without the extra reminder</a:t>
            </a:r>
          </a:p>
        </p:txBody>
      </p:sp>
      <p:sp>
        <p:nvSpPr>
          <p:cNvPr id="2" name="">
            <a:extLst xmlns:a="http://schemas.openxmlformats.org/drawingml/2006/main">
              <a:ext uri="{FF2B5EF4-FFF2-40B4-BE49-F238E27FC236}">
                <a16:creationId xmlns:a16="http://schemas.microsoft.com/office/drawing/2014/main" id="{51A52E4D-43F8-43D0-8B26-9D7E71EFD5A1}"/>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11</a:t>
            </a:r>
          </a:p>
        </p:txBody>
      </p:sp>
      <p:graphicFrame>
        <p:nvGraphicFramePr>
          <p:cNvPr id="8" name="Chart"/>
          <p:cNvGraphicFramePr/>
          <p:nvPr/>
        </p:nvGraphicFramePr>
        <p:xfrm>
          <a:off xmlns:a="http://schemas.openxmlformats.org/drawingml/2006/main" x="857250" y="1733550"/>
          <a:ext xmlns:a="http://schemas.openxmlformats.org/drawingml/2006/main" cx="10477500" cy="3238500"/>
        </p:xfrm>
        <a:graphic xmlns:a="http://schemas.openxmlformats.org/drawingml/2006/main">
          <a:graphicData uri="http://schemas.openxmlformats.org/drawingml/2006/chart">
            <c:chart xmlns:r="http://schemas.openxmlformats.org/officeDocument/2006/relationships" xmlns:c="http://schemas.openxmlformats.org/drawingml/2006/chart" r:id="R15720aa9017944eb"/>
          </a:graphicData>
        </a:graphic>
      </p:graphicFrame>
      <p:sp>
        <p:nvSpPr>
          <p:cNvPr id="4" name="">
            <a:extLst xmlns:a="http://schemas.openxmlformats.org/drawingml/2006/main">
              <a:ext uri="{FF2B5EF4-FFF2-40B4-BE49-F238E27FC236}">
                <a16:creationId xmlns:a16="http://schemas.microsoft.com/office/drawing/2014/main" id="{1F30B9C8-4718-4BEF-9B49-0A6C12434109}"/>
              </a:ext>
            </a:extLst>
          </p:cNvPr>
          <p:cNvSpPr>
            <a:spLocks xmlns:a="http://schemas.openxmlformats.org/drawingml/2006/main" noGrp="1"/>
          </p:cNvSpPr>
          <p:nvPr/>
        </p:nvSpPr>
        <p:spPr>
          <a:xfrm xmlns:a="http://schemas.openxmlformats.org/drawingml/2006/main">
            <a:off x="723900" y="52197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E77"/>
                </a:solidFill>
                <a:latin typeface="Helvetica Neue"/>
                <a:ea typeface="Helvetica Neue"/>
                <a:cs typeface="Helvetica Neue"/>
              </a:defRPr>
            </a:pPr>
            <a:r>
              <a:rPr sz="2100" b="1">
                <a:solidFill>
                  <a:srgbClr val="147E77"/>
                </a:solidFill>
                <a:latin typeface="Helvetica Neue"/>
                <a:ea typeface="Helvetica Neue"/>
                <a:cs typeface="Helvetica Neue"/>
              </a:rPr>
              <a:t>-0.95 percentage points   /   95% interval [-6.76, 5.19] pp</a:t>
            </a:r>
          </a:p>
        </p:txBody>
      </p:sp>
      <p:sp>
        <p:nvSpPr>
          <p:cNvPr id="5" name="">
            <a:extLst xmlns:a="http://schemas.openxmlformats.org/drawingml/2006/main">
              <a:ext uri="{FF2B5EF4-FFF2-40B4-BE49-F238E27FC236}">
                <a16:creationId xmlns:a16="http://schemas.microsoft.com/office/drawing/2014/main" id="{67679D2C-B7D9-4423-A73C-0E8C945BCC86}"/>
              </a:ext>
            </a:extLst>
          </p:cNvPr>
          <p:cNvSpPr>
            <a:spLocks xmlns:a="http://schemas.openxmlformats.org/drawingml/2006/main" noGrp="1"/>
          </p:cNvSpPr>
          <p:nvPr/>
        </p:nvSpPr>
        <p:spPr>
          <a:xfrm xmlns:a="http://schemas.openxmlformats.org/drawingml/2006/main">
            <a:off x="723900" y="583882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Same wrong advice, 210 matched pairs. Basic permission to abstain stays in both.</a:t>
            </a:r>
          </a:p>
        </p:txBody>
      </p:sp>
    </p:spTree>
    <p:extLst>
      <p:ext uri="{BB962C8B-B14F-4D97-AF65-F5344CB8AC3E}">
        <p14:creationId xmlns:p14="http://schemas.microsoft.com/office/powerpoint/2010/main" val="1673043904"/>
      </p:ext>
    </p:extLst>
  </p:cSld>
</p:sld>
</file>

<file path=ppt/slides/slide1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F5FE26A-DAF3-4E55-AE22-7DAF8355484A}"/>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The reminder lowers error and increases abstention</a:t>
            </a:r>
          </a:p>
        </p:txBody>
      </p:sp>
      <p:sp>
        <p:nvSpPr>
          <p:cNvPr id="2" name="">
            <a:extLst xmlns:a="http://schemas.openxmlformats.org/drawingml/2006/main">
              <a:ext uri="{FF2B5EF4-FFF2-40B4-BE49-F238E27FC236}">
                <a16:creationId xmlns:a16="http://schemas.microsoft.com/office/drawing/2014/main" id="{E7304BE2-C867-40B6-87E3-D8DDA83D091E}"/>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12</a:t>
            </a:r>
          </a:p>
        </p:txBody>
      </p:sp>
      <p:graphicFrame>
        <p:nvGraphicFramePr>
          <p:cNvPr id="8" name="Chart"/>
          <p:cNvGraphicFramePr/>
          <p:nvPr/>
        </p:nvGraphicFramePr>
        <p:xfrm>
          <a:off xmlns:a="http://schemas.openxmlformats.org/drawingml/2006/main" x="857250" y="1638300"/>
          <a:ext xmlns:a="http://schemas.openxmlformats.org/drawingml/2006/main" cx="10477500" cy="3000375"/>
        </p:xfrm>
        <a:graphic xmlns:a="http://schemas.openxmlformats.org/drawingml/2006/main">
          <a:graphicData uri="http://schemas.openxmlformats.org/drawingml/2006/chart">
            <c:chart xmlns:r="http://schemas.openxmlformats.org/officeDocument/2006/relationships" xmlns:c="http://schemas.openxmlformats.org/drawingml/2006/chart" r:id="R1f22700aa95943ad"/>
          </a:graphicData>
        </a:graphic>
      </p:graphicFrame>
      <p:sp>
        <p:nvSpPr>
          <p:cNvPr id="4" name="">
            <a:extLst xmlns:a="http://schemas.openxmlformats.org/drawingml/2006/main">
              <a:ext uri="{FF2B5EF4-FFF2-40B4-BE49-F238E27FC236}">
                <a16:creationId xmlns:a16="http://schemas.microsoft.com/office/drawing/2014/main" id="{ADFCCE77-FCD2-4A28-9A16-2B338FCBF683}"/>
              </a:ext>
            </a:extLst>
          </p:cNvPr>
          <p:cNvSpPr>
            <a:spLocks xmlns:a="http://schemas.openxmlformats.org/drawingml/2006/main" noGrp="1"/>
          </p:cNvSpPr>
          <p:nvPr/>
        </p:nvSpPr>
        <p:spPr>
          <a:xfrm xmlns:a="http://schemas.openxmlformats.org/drawingml/2006/main">
            <a:off x="723900" y="48101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7E77"/>
                </a:solidFill>
                <a:latin typeface="Helvetica Neue"/>
                <a:ea typeface="Helvetica Neue"/>
                <a:cs typeface="Helvetica Neue"/>
              </a:defRPr>
            </a:pPr>
            <a:r>
              <a:rPr sz="2025" b="1">
                <a:solidFill>
                  <a:srgbClr val="147E77"/>
                </a:solidFill>
                <a:latin typeface="Helvetica Neue"/>
                <a:ea typeface="Helvetica Neue"/>
                <a:cs typeface="Helvetica Neue"/>
              </a:rPr>
              <a:t>-10.95 percentage points   /   95% interval [-17.93, -4.26] pp</a:t>
            </a:r>
          </a:p>
        </p:txBody>
      </p:sp>
      <p:graphicFrame>
        <p:nvGraphicFramePr>
          <p:cNvPr id="10" name=""/>
          <p:cNvGraphicFramePr/>
          <p:nvPr/>
        </p:nvGraphicFramePr>
        <p:xfrm>
          <a:off xmlns:a="http://schemas.openxmlformats.org/drawingml/2006/main" x="685800" y="5391150"/>
          <a:ext xmlns:a="http://schemas.openxmlformats.org/drawingml/2006/main" cx="10820400" cy="914400"/>
        </p:xfrm>
        <a:graphic xmlns:a="http://schemas.openxmlformats.org/drawingml/2006/main">
          <a:graphicData uri="http://schemas.openxmlformats.org/drawingml/2006/table">
            <a:tbl>
              <a:tblPr/>
              <a:tblGrid>
                <a:gridCol w="4000500"/>
                <a:gridCol w="3409950"/>
                <a:gridCol w="3409950"/>
              </a:tblGrid>
              <a:tr h="304800">
                <a:tc>
                  <a:txBody>
                    <a:bodyPr/>
                    <a:lstStyle/>
                    <a:p>
                      <a:r>
                        <a:rPr sz="1725" b="1">
                          <a:solidFill>
                            <a:srgbClr val="FFFFFF"/>
                          </a:solidFill>
                          <a:latin typeface="Helvetica Neue"/>
                          <a:ea typeface="Helvetica Neue"/>
                          <a:cs typeface="Helvetica Neue"/>
                        </a:rPr>
                        <a:t>Outcome</a:t>
                      </a:r>
                    </a:p>
                  </a:txBody>
                  <a:tcPr marL="91440" marR="91440" marT="45720" marB="45720">
                    <a:solidFill>
                      <a:srgbClr val="142C40"/>
                    </a:solidFill>
                  </a:tcPr>
                </a:tc>
                <a:tc>
                  <a:txBody>
                    <a:bodyPr/>
                    <a:lstStyle/>
                    <a:p>
                      <a:r>
                        <a:rPr sz="1725" b="1">
                          <a:solidFill>
                            <a:srgbClr val="FFFFFF"/>
                          </a:solidFill>
                          <a:latin typeface="Helvetica Neue"/>
                          <a:ea typeface="Helvetica Neue"/>
                          <a:cs typeface="Helvetica Neue"/>
                        </a:rPr>
                        <a:t>Without reminder</a:t>
                      </a:r>
                    </a:p>
                  </a:txBody>
                  <a:tcPr marL="91440" marR="91440" marT="45720" marB="45720">
                    <a:solidFill>
                      <a:srgbClr val="142C40"/>
                    </a:solidFill>
                  </a:tcPr>
                </a:tc>
                <a:tc>
                  <a:txBody>
                    <a:bodyPr/>
                    <a:lstStyle/>
                    <a:p>
                      <a:r>
                        <a:rPr sz="1725" b="1">
                          <a:solidFill>
                            <a:srgbClr val="FFFFFF"/>
                          </a:solidFill>
                          <a:latin typeface="Helvetica Neue"/>
                          <a:ea typeface="Helvetica Neue"/>
                          <a:cs typeface="Helvetica Neue"/>
                        </a:rPr>
                        <a:t>With reminder</a:t>
                      </a:r>
                    </a:p>
                  </a:txBody>
                  <a:tcPr marL="91440" marR="91440" marT="45720" marB="45720">
                    <a:solidFill>
                      <a:srgbClr val="142C40"/>
                    </a:solidFill>
                  </a:tcPr>
                </a:tc>
              </a:tr>
              <a:tr h="304800">
                <a:tc>
                  <a:txBody>
                    <a:bodyPr/>
                    <a:lstStyle/>
                    <a:p>
                      <a:r>
                        <a:rPr sz="1725" b="0">
                          <a:solidFill>
                            <a:srgbClr val="142C40"/>
                          </a:solidFill>
                          <a:latin typeface="Helvetica Neue"/>
                          <a:ea typeface="Helvetica Neue"/>
                          <a:cs typeface="Helvetica Neue"/>
                        </a:rPr>
                        <a:t>Correct</a:t>
                      </a:r>
                    </a:p>
                  </a:txBody>
                  <a:tcPr marL="91440" marR="91440" marT="45720" marB="45720">
                    <a:solidFill>
                      <a:srgbClr val="F0F4F7"/>
                    </a:solidFill>
                  </a:tcPr>
                </a:tc>
                <a:tc>
                  <a:txBody>
                    <a:bodyPr/>
                    <a:lstStyle/>
                    <a:p>
                      <a:r>
                        <a:rPr sz="1725" b="0">
                          <a:solidFill>
                            <a:srgbClr val="142C40"/>
                          </a:solidFill>
                          <a:latin typeface="Helvetica Neue"/>
                          <a:ea typeface="Helvetica Neue"/>
                          <a:cs typeface="Helvetica Neue"/>
                        </a:rPr>
                        <a:t>48 / 210</a:t>
                      </a:r>
                    </a:p>
                  </a:txBody>
                  <a:tcPr marL="91440" marR="91440" marT="45720" marB="45720">
                    <a:solidFill>
                      <a:srgbClr val="F0F4F7"/>
                    </a:solidFill>
                  </a:tcPr>
                </a:tc>
                <a:tc>
                  <a:txBody>
                    <a:bodyPr/>
                    <a:lstStyle/>
                    <a:p>
                      <a:r>
                        <a:rPr sz="1725" b="0">
                          <a:solidFill>
                            <a:srgbClr val="142C40"/>
                          </a:solidFill>
                          <a:latin typeface="Helvetica Neue"/>
                          <a:ea typeface="Helvetica Neue"/>
                          <a:cs typeface="Helvetica Neue"/>
                        </a:rPr>
                        <a:t>38 / 210</a:t>
                      </a:r>
                    </a:p>
                  </a:txBody>
                  <a:tcPr marL="91440" marR="91440" marT="45720" marB="45720">
                    <a:solidFill>
                      <a:srgbClr val="F0F4F7"/>
                    </a:solidFill>
                  </a:tcPr>
                </a:tc>
              </a:tr>
              <a:tr h="304800">
                <a:tc>
                  <a:txBody>
                    <a:bodyPr/>
                    <a:lstStyle/>
                    <a:p>
                      <a:r>
                        <a:rPr sz="1725" b="0">
                          <a:solidFill>
                            <a:srgbClr val="142C40"/>
                          </a:solidFill>
                          <a:latin typeface="Helvetica Neue"/>
                          <a:ea typeface="Helvetica Neue"/>
                          <a:cs typeface="Helvetica Neue"/>
                        </a:rPr>
                        <a:t>Abstain</a:t>
                      </a:r>
                    </a:p>
                  </a:txBody>
                  <a:tcPr marL="91440" marR="91440" marT="45720" marB="45720">
                    <a:solidFill>
                      <a:srgbClr val="FFFFFF"/>
                    </a:solidFill>
                  </a:tcPr>
                </a:tc>
                <a:tc>
                  <a:txBody>
                    <a:bodyPr/>
                    <a:lstStyle/>
                    <a:p>
                      <a:r>
                        <a:rPr sz="1725" b="0">
                          <a:solidFill>
                            <a:srgbClr val="142C40"/>
                          </a:solidFill>
                          <a:latin typeface="Helvetica Neue"/>
                          <a:ea typeface="Helvetica Neue"/>
                          <a:cs typeface="Helvetica Neue"/>
                        </a:rPr>
                        <a:t>56 / 210</a:t>
                      </a:r>
                    </a:p>
                  </a:txBody>
                  <a:tcPr marL="91440" marR="91440" marT="45720" marB="45720">
                    <a:solidFill>
                      <a:srgbClr val="FFFFFF"/>
                    </a:solidFill>
                  </a:tcPr>
                </a:tc>
                <a:tc>
                  <a:txBody>
                    <a:bodyPr/>
                    <a:lstStyle/>
                    <a:p>
                      <a:r>
                        <a:rPr sz="1725" b="0">
                          <a:solidFill>
                            <a:srgbClr val="142C40"/>
                          </a:solidFill>
                          <a:latin typeface="Helvetica Neue"/>
                          <a:ea typeface="Helvetica Neue"/>
                          <a:cs typeface="Helvetica Neue"/>
                        </a:rPr>
                        <a:t>89 / 210</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686649990"/>
      </p:ext>
    </p:extLst>
  </p:cSld>
</p:sld>
</file>

<file path=ppt/slides/slide1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1C940C-2DEE-4575-9BB6-9BD49578F665}"/>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Wrong peer advice can overturn a correct answer</a:t>
            </a:r>
          </a:p>
        </p:txBody>
      </p:sp>
      <p:sp>
        <p:nvSpPr>
          <p:cNvPr id="2" name="">
            <a:extLst xmlns:a="http://schemas.openxmlformats.org/drawingml/2006/main">
              <a:ext uri="{FF2B5EF4-FFF2-40B4-BE49-F238E27FC236}">
                <a16:creationId xmlns:a16="http://schemas.microsoft.com/office/drawing/2014/main" id="{3F6D9A9D-EB66-4718-B4B2-32EC6DB797E3}"/>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13</a:t>
            </a:r>
          </a:p>
        </p:txBody>
      </p:sp>
      <p:sp>
        <p:nvSpPr>
          <p:cNvPr id="3" name="">
            <a:extLst xmlns:a="http://schemas.openxmlformats.org/drawingml/2006/main">
              <a:ext uri="{FF2B5EF4-FFF2-40B4-BE49-F238E27FC236}">
                <a16:creationId xmlns:a16="http://schemas.microsoft.com/office/drawing/2014/main" id="{2281F7E7-7A2D-4E1A-AB94-6F71C53F48A6}"/>
              </a:ext>
            </a:extLst>
          </p:cNvPr>
          <p:cNvSpPr>
            <a:spLocks xmlns:a="http://schemas.openxmlformats.org/drawingml/2006/main" noGrp="1"/>
          </p:cNvSpPr>
          <p:nvPr/>
        </p:nvSpPr>
        <p:spPr>
          <a:xfrm xmlns:a="http://schemas.openxmlformats.org/drawingml/2006/main">
            <a:off x="723900" y="15621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47E77"/>
                </a:solidFill>
                <a:latin typeface="Helvetica Neue"/>
                <a:ea typeface="Helvetica Neue"/>
                <a:cs typeface="Helvetica Neue"/>
              </a:defRPr>
            </a:pPr>
            <a:r>
              <a:rPr sz="2400" b="1">
                <a:solidFill>
                  <a:srgbClr val="147E77"/>
                </a:solidFill>
                <a:latin typeface="Helvetica Neue"/>
                <a:ea typeface="Helvetica Neue"/>
                <a:cs typeface="Helvetica Neue"/>
              </a:rPr>
              <a:t>1,980 digits “2”, divided by 1,982: the remainder is 0.</a:t>
            </a:r>
          </a:p>
        </p:txBody>
      </p:sp>
      <p:graphicFrame>
        <p:nvGraphicFramePr>
          <p:cNvPr id="10" name=""/>
          <p:cNvGraphicFramePr/>
          <p:nvPr/>
        </p:nvGraphicFramePr>
        <p:xfrm>
          <a:off xmlns:a="http://schemas.openxmlformats.org/drawingml/2006/main" x="685800" y="2390775"/>
          <a:ext xmlns:a="http://schemas.openxmlformats.org/drawingml/2006/main" cx="10820400" cy="2590800"/>
        </p:xfrm>
        <a:graphic xmlns:a="http://schemas.openxmlformats.org/drawingml/2006/main">
          <a:graphicData uri="http://schemas.openxmlformats.org/drawingml/2006/table">
            <a:tbl>
              <a:tblPr/>
              <a:tblGrid>
                <a:gridCol w="7810500"/>
                <a:gridCol w="3009900"/>
              </a:tblGrid>
              <a:tr h="647700">
                <a:tc>
                  <a:txBody>
                    <a:bodyPr/>
                    <a:lstStyle/>
                    <a:p>
                      <a:r>
                        <a:rPr sz="2175" b="1">
                          <a:solidFill>
                            <a:srgbClr val="FFFFFF"/>
                          </a:solidFill>
                          <a:latin typeface="Helvetica Neue"/>
                          <a:ea typeface="Helvetica Neue"/>
                          <a:cs typeface="Helvetica Neue"/>
                        </a:rPr>
                        <a:t>Response</a:t>
                      </a:r>
                    </a:p>
                  </a:txBody>
                  <a:tcPr marL="91440" marR="91440" marT="45720" marB="45720">
                    <a:solidFill>
                      <a:srgbClr val="142C40"/>
                    </a:solidFill>
                  </a:tcPr>
                </a:tc>
                <a:tc>
                  <a:txBody>
                    <a:bodyPr/>
                    <a:lstStyle/>
                    <a:p>
                      <a:r>
                        <a:rPr sz="2175" b="1">
                          <a:solidFill>
                            <a:srgbClr val="FFFFFF"/>
                          </a:solidFill>
                          <a:latin typeface="Helvetica Neue"/>
                          <a:ea typeface="Helvetica Neue"/>
                          <a:cs typeface="Helvetica Neue"/>
                        </a:rPr>
                        <a:t>Remainder</a:t>
                      </a:r>
                    </a:p>
                  </a:txBody>
                  <a:tcPr marL="91440" marR="91440" marT="45720" marB="45720">
                    <a:solidFill>
                      <a:srgbClr val="142C40"/>
                    </a:solidFill>
                  </a:tcPr>
                </a:tc>
              </a:tr>
              <a:tr h="647700">
                <a:tc>
                  <a:txBody>
                    <a:bodyPr/>
                    <a:lstStyle/>
                    <a:p>
                      <a:r>
                        <a:rPr sz="2175" b="0">
                          <a:solidFill>
                            <a:srgbClr val="142C40"/>
                          </a:solidFill>
                          <a:latin typeface="Helvetica Neue"/>
                          <a:ea typeface="Helvetica Neue"/>
                          <a:cs typeface="Helvetica Neue"/>
                        </a:rPr>
                        <a:t>Kimi self-check</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0  (correct)</a:t>
                      </a:r>
                    </a:p>
                  </a:txBody>
                  <a:tcPr marL="91440" marR="91440" marT="45720" marB="45720">
                    <a:solidFill>
                      <a:srgbClr val="F0F4F7"/>
                    </a:solidFill>
                  </a:tcPr>
                </a:tc>
              </a:tr>
              <a:tr h="647700">
                <a:tc>
                  <a:txBody>
                    <a:bodyPr/>
                    <a:lstStyle/>
                    <a:p>
                      <a:r>
                        <a:rPr sz="2175" b="0">
                          <a:solidFill>
                            <a:srgbClr val="142C40"/>
                          </a:solidFill>
                          <a:latin typeface="Helvetica Neue"/>
                          <a:ea typeface="Helvetica Neue"/>
                          <a:cs typeface="Helvetica Neue"/>
                        </a:rPr>
                        <a:t>MiniMax independent advice</a:t>
                      </a:r>
                    </a:p>
                  </a:txBody>
                  <a:tcPr marL="91440" marR="91440" marT="45720" marB="45720">
                    <a:solidFill>
                      <a:srgbClr val="FFFFFF"/>
                    </a:solidFill>
                  </a:tcPr>
                </a:tc>
                <a:tc>
                  <a:txBody>
                    <a:bodyPr/>
                    <a:lstStyle/>
                    <a:p>
                      <a:r>
                        <a:rPr sz="2175" b="0">
                          <a:solidFill>
                            <a:srgbClr val="142C40"/>
                          </a:solidFill>
                          <a:latin typeface="Helvetica Neue"/>
                          <a:ea typeface="Helvetica Neue"/>
                          <a:cs typeface="Helvetica Neue"/>
                        </a:rPr>
                        <a:t>220  (wrong CRT step)</a:t>
                      </a:r>
                    </a:p>
                  </a:txBody>
                  <a:tcPr marL="91440" marR="91440" marT="45720" marB="45720">
                    <a:solidFill>
                      <a:srgbClr val="FFFFFF"/>
                    </a:solidFill>
                  </a:tcPr>
                </a:tc>
              </a:tr>
              <a:tr h="647700">
                <a:tc>
                  <a:txBody>
                    <a:bodyPr/>
                    <a:lstStyle/>
                    <a:p>
                      <a:r>
                        <a:rPr sz="2175" b="0">
                          <a:solidFill>
                            <a:srgbClr val="142C40"/>
                          </a:solidFill>
                          <a:latin typeface="Helvetica Neue"/>
                          <a:ea typeface="Helvetica Neue"/>
                          <a:cs typeface="Helvetica Neue"/>
                        </a:rPr>
                        <a:t>Kimi cross-model check</a:t>
                      </a:r>
                    </a:p>
                  </a:txBody>
                  <a:tcPr marL="91440" marR="91440" marT="45720" marB="45720">
                    <a:solidFill>
                      <a:srgbClr val="F0F4F7"/>
                    </a:solidFill>
                  </a:tcPr>
                </a:tc>
                <a:tc>
                  <a:txBody>
                    <a:bodyPr/>
                    <a:lstStyle/>
                    <a:p>
                      <a:r>
                        <a:rPr sz="2175" b="0">
                          <a:solidFill>
                            <a:srgbClr val="142C40"/>
                          </a:solidFill>
                          <a:latin typeface="Helvetica Neue"/>
                          <a:ea typeface="Helvetica Neue"/>
                          <a:cs typeface="Helvetica Neue"/>
                        </a:rPr>
                        <a:t>220  (adopts the wrong step)</a:t>
                      </a:r>
                    </a:p>
                  </a:txBody>
                  <a:tcPr marL="91440" marR="91440" marT="45720" marB="45720">
                    <a:solidFill>
                      <a:srgbClr val="F0F4F7"/>
                    </a:solidFill>
                  </a:tcPr>
                </a:tc>
              </a:tr>
            </a:tbl>
          </a:graphicData>
        </a:graphic>
      </p:graphicFrame>
      <p:sp>
        <p:nvSpPr>
          <p:cNvPr id="5" name="">
            <a:extLst xmlns:a="http://schemas.openxmlformats.org/drawingml/2006/main">
              <a:ext uri="{FF2B5EF4-FFF2-40B4-BE49-F238E27FC236}">
                <a16:creationId xmlns:a16="http://schemas.microsoft.com/office/drawing/2014/main" id="{94C74C3D-4003-4EB9-B126-F3DDA946D521}"/>
              </a:ext>
            </a:extLst>
          </p:cNvPr>
          <p:cNvSpPr>
            <a:spLocks xmlns:a="http://schemas.openxmlformats.org/drawingml/2006/main" noGrp="1"/>
          </p:cNvSpPr>
          <p:nvPr/>
        </p:nvSpPr>
        <p:spPr>
          <a:xfrm xmlns:a="http://schemas.openxmlformats.org/drawingml/2006/main">
            <a:off x="723900" y="538162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A separate coefficient problem improved from −120 to 120 with correct peer advice.</a:t>
            </a:r>
          </a:p>
        </p:txBody>
      </p:sp>
      <p:sp>
        <p:nvSpPr>
          <p:cNvPr id="6" name="">
            <a:extLst xmlns:a="http://schemas.openxmlformats.org/drawingml/2006/main">
              <a:ext uri="{FF2B5EF4-FFF2-40B4-BE49-F238E27FC236}">
                <a16:creationId xmlns:a16="http://schemas.microsoft.com/office/drawing/2014/main" id="{065FFE94-3C21-4233-B9BC-0EC3CFEAA33E}"/>
              </a:ext>
            </a:extLst>
          </p:cNvPr>
          <p:cNvSpPr>
            <a:spLocks xmlns:a="http://schemas.openxmlformats.org/drawingml/2006/main" noGrp="1"/>
          </p:cNvSpPr>
          <p:nvPr/>
        </p:nvSpPr>
        <p:spPr>
          <a:xfrm xmlns:a="http://schemas.openxmlformats.org/drawingml/2006/main">
            <a:off x="723900" y="607695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57586"/>
                </a:solidFill>
                <a:latin typeface="Helvetica Neue"/>
                <a:ea typeface="Helvetica Neue"/>
                <a:cs typeface="Helvetica Neue"/>
              </a:defRPr>
            </a:pPr>
            <a:r>
              <a:rPr sz="1650" b="0">
                <a:solidFill>
                  <a:srgbClr val="657586"/>
                </a:solidFill>
                <a:latin typeface="Helvetica Neue"/>
                <a:ea typeface="Helvetica Neue"/>
                <a:cs typeface="Helvetica Neue"/>
              </a:rPr>
              <a:t>Actual saved outputs. R independently verifies remainder 0. Cases are illustrative.</a:t>
            </a:r>
          </a:p>
        </p:txBody>
      </p:sp>
    </p:spTree>
    <p:extLst>
      <p:ext uri="{BB962C8B-B14F-4D97-AF65-F5344CB8AC3E}">
        <p14:creationId xmlns:p14="http://schemas.microsoft.com/office/powerpoint/2010/main" val="1468160928"/>
      </p:ext>
    </p:extLst>
  </p:cSld>
</p:sld>
</file>

<file path=ppt/slides/slide1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1A0F48-2D32-4E45-9549-964238B1D7D6}"/>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What limits the conclusion</a:t>
            </a:r>
          </a:p>
        </p:txBody>
      </p:sp>
      <p:sp>
        <p:nvSpPr>
          <p:cNvPr id="2" name="">
            <a:extLst xmlns:a="http://schemas.openxmlformats.org/drawingml/2006/main">
              <a:ext uri="{FF2B5EF4-FFF2-40B4-BE49-F238E27FC236}">
                <a16:creationId xmlns:a16="http://schemas.microsoft.com/office/drawing/2014/main" id="{C82A61A0-C9AE-4E2D-A3C4-6AF8AD612430}"/>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14</a:t>
            </a:r>
          </a:p>
        </p:txBody>
      </p:sp>
      <p:sp>
        <p:nvSpPr>
          <p:cNvPr id="3" name="">
            <a:extLst xmlns:a="http://schemas.openxmlformats.org/drawingml/2006/main">
              <a:ext uri="{FF2B5EF4-FFF2-40B4-BE49-F238E27FC236}">
                <a16:creationId xmlns:a16="http://schemas.microsoft.com/office/drawing/2014/main" id="{1BD002D1-6D45-4911-9923-2AB805F677C6}"/>
              </a:ext>
            </a:extLst>
          </p:cNvPr>
          <p:cNvSpPr>
            <a:spLocks xmlns:a="http://schemas.openxmlformats.org/drawingml/2006/main" noGrp="1"/>
          </p:cNvSpPr>
          <p:nvPr/>
        </p:nvSpPr>
        <p:spPr>
          <a:xfrm xmlns:a="http://schemas.openxmlformats.org/drawingml/2006/main">
            <a:off x="723900" y="16573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Helvetica Neue"/>
                <a:ea typeface="Helvetica Neue"/>
                <a:cs typeface="Helvetica Neue"/>
              </a:defRPr>
            </a:pPr>
            <a:r>
              <a:rPr sz="2175" b="0">
                <a:solidFill>
                  <a:srgbClr val="142C40"/>
                </a:solidFill>
                <a:latin typeface="Helvetica Neue"/>
                <a:ea typeface="Helvetica Neue"/>
                <a:cs typeface="Helvetica Neue"/>
              </a:rPr>
              <a:t>Missing answers on difficult problems can change the overall result.</a:t>
            </a:r>
          </a:p>
        </p:txBody>
      </p:sp>
      <p:sp>
        <p:nvSpPr>
          <p:cNvPr id="4" name="">
            <a:extLst xmlns:a="http://schemas.openxmlformats.org/drawingml/2006/main">
              <a:ext uri="{FF2B5EF4-FFF2-40B4-BE49-F238E27FC236}">
                <a16:creationId xmlns:a16="http://schemas.microsoft.com/office/drawing/2014/main" id="{2A525D44-BFE7-4691-B7FD-D9F2F8BF4DCF}"/>
              </a:ext>
            </a:extLst>
          </p:cNvPr>
          <p:cNvSpPr>
            <a:spLocks xmlns:a="http://schemas.openxmlformats.org/drawingml/2006/main" noGrp="1"/>
          </p:cNvSpPr>
          <p:nvPr/>
        </p:nvSpPr>
        <p:spPr>
          <a:xfrm xmlns:a="http://schemas.openxmlformats.org/drawingml/2006/main">
            <a:off x="723900" y="2657475"/>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Helvetica Neue"/>
                <a:ea typeface="Helvetica Neue"/>
                <a:cs typeface="Helvetica Neue"/>
              </a:defRPr>
            </a:pPr>
            <a:r>
              <a:rPr sz="2175" b="0">
                <a:solidFill>
                  <a:srgbClr val="142C40"/>
                </a:solidFill>
                <a:latin typeface="Helvetica Neue"/>
                <a:ea typeface="Helvetica Neue"/>
                <a:cs typeface="Helvetica Neue"/>
              </a:rPr>
              <a:t>Selected dates and public problems do not represent all AI use.</a:t>
            </a:r>
          </a:p>
        </p:txBody>
      </p:sp>
      <p:sp>
        <p:nvSpPr>
          <p:cNvPr id="5" name="">
            <a:extLst xmlns:a="http://schemas.openxmlformats.org/drawingml/2006/main">
              <a:ext uri="{FF2B5EF4-FFF2-40B4-BE49-F238E27FC236}">
                <a16:creationId xmlns:a16="http://schemas.microsoft.com/office/drawing/2014/main" id="{ADBCA5A7-8CEB-42D4-AA5A-38825D9EB73D}"/>
              </a:ext>
            </a:extLst>
          </p:cNvPr>
          <p:cNvSpPr>
            <a:spLocks xmlns:a="http://schemas.openxmlformats.org/drawingml/2006/main" noGrp="1"/>
          </p:cNvSpPr>
          <p:nvPr/>
        </p:nvSpPr>
        <p:spPr>
          <a:xfrm xmlns:a="http://schemas.openxmlformats.org/drawingml/2006/main">
            <a:off x="723900" y="365760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Helvetica Neue"/>
                <a:ea typeface="Helvetica Neue"/>
                <a:cs typeface="Helvetica Neue"/>
              </a:defRPr>
            </a:pPr>
            <a:r>
              <a:rPr sz="2175" b="0">
                <a:solidFill>
                  <a:srgbClr val="142C40"/>
                </a:solidFill>
                <a:latin typeface="Helvetica Neue"/>
                <a:ea typeface="Helvetica Neue"/>
                <a:cs typeface="Helvetica Neue"/>
              </a:rPr>
              <a:t>AI reasoning reviewers also make mistakes; rigor gains remain uncertain.</a:t>
            </a:r>
          </a:p>
        </p:txBody>
      </p:sp>
      <p:sp>
        <p:nvSpPr>
          <p:cNvPr id="6" name="">
            <a:extLst xmlns:a="http://schemas.openxmlformats.org/drawingml/2006/main">
              <a:ext uri="{FF2B5EF4-FFF2-40B4-BE49-F238E27FC236}">
                <a16:creationId xmlns:a16="http://schemas.microsoft.com/office/drawing/2014/main" id="{9F07AA4C-4DAF-4931-BBA2-5FFA84348A2B}"/>
              </a:ext>
            </a:extLst>
          </p:cNvPr>
          <p:cNvSpPr>
            <a:spLocks xmlns:a="http://schemas.openxmlformats.org/drawingml/2006/main" noGrp="1"/>
          </p:cNvSpPr>
          <p:nvPr/>
        </p:nvSpPr>
        <p:spPr>
          <a:xfrm xmlns:a="http://schemas.openxmlformats.org/drawingml/2006/main">
            <a:off x="723900" y="4657725"/>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Helvetica Neue"/>
                <a:ea typeface="Helvetica Neue"/>
                <a:cs typeface="Helvetica Neue"/>
              </a:defRPr>
            </a:pPr>
            <a:r>
              <a:rPr sz="2175" b="0">
                <a:solidFill>
                  <a:srgbClr val="142C40"/>
                </a:solidFill>
                <a:latin typeface="Helvetica Neue"/>
                <a:ea typeface="Helvetica Neue"/>
                <a:cs typeface="Helvetica Neue"/>
              </a:rPr>
              <a:t>We did not test human outcomes or isolate model diversity from extra advice.</a:t>
            </a:r>
          </a:p>
        </p:txBody>
      </p:sp>
    </p:spTree>
    <p:extLst>
      <p:ext uri="{BB962C8B-B14F-4D97-AF65-F5344CB8AC3E}">
        <p14:creationId xmlns:p14="http://schemas.microsoft.com/office/powerpoint/2010/main" val="381955915"/>
      </p:ext>
    </p:extLst>
  </p:cSld>
</p:sld>
</file>

<file path=ppt/slides/slide1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70644FE-8CAB-41F8-910E-7DA554E8B85A}"/>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What the experiments establish</a:t>
            </a:r>
          </a:p>
        </p:txBody>
      </p:sp>
      <p:sp>
        <p:nvSpPr>
          <p:cNvPr id="2" name="">
            <a:extLst xmlns:a="http://schemas.openxmlformats.org/drawingml/2006/main">
              <a:ext uri="{FF2B5EF4-FFF2-40B4-BE49-F238E27FC236}">
                <a16:creationId xmlns:a16="http://schemas.microsoft.com/office/drawing/2014/main" id="{3F3E0200-2510-4975-B3C9-C022151F2EC2}"/>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15</a:t>
            </a:r>
          </a:p>
        </p:txBody>
      </p:sp>
      <p:sp>
        <p:nvSpPr>
          <p:cNvPr id="3" name="">
            <a:extLst xmlns:a="http://schemas.openxmlformats.org/drawingml/2006/main">
              <a:ext uri="{FF2B5EF4-FFF2-40B4-BE49-F238E27FC236}">
                <a16:creationId xmlns:a16="http://schemas.microsoft.com/office/drawing/2014/main" id="{B2E994E3-EF66-4599-9594-61323E1019F9}"/>
              </a:ext>
            </a:extLst>
          </p:cNvPr>
          <p:cNvSpPr>
            <a:spLocks xmlns:a="http://schemas.openxmlformats.org/drawingml/2006/main" noGrp="1"/>
          </p:cNvSpPr>
          <p:nvPr/>
        </p:nvSpPr>
        <p:spPr>
          <a:xfrm xmlns:a="http://schemas.openxmlformats.org/drawingml/2006/main">
            <a:off x="723900" y="163830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Natural cross-checking has no established advantage over self-checking here.</a:t>
            </a:r>
          </a:p>
        </p:txBody>
      </p:sp>
      <p:sp>
        <p:nvSpPr>
          <p:cNvPr id="4" name="">
            <a:extLst xmlns:a="http://schemas.openxmlformats.org/drawingml/2006/main">
              <a:ext uri="{FF2B5EF4-FFF2-40B4-BE49-F238E27FC236}">
                <a16:creationId xmlns:a16="http://schemas.microsoft.com/office/drawing/2014/main" id="{ED2EA5F1-9F0E-47A1-B66C-20E97428B820}"/>
              </a:ext>
            </a:extLst>
          </p:cNvPr>
          <p:cNvSpPr>
            <a:spLocks xmlns:a="http://schemas.openxmlformats.org/drawingml/2006/main" noGrp="1"/>
          </p:cNvSpPr>
          <p:nvPr/>
        </p:nvSpPr>
        <p:spPr>
          <a:xfrm xmlns:a="http://schemas.openxmlformats.org/drawingml/2006/main">
            <a:off x="723900" y="2638425"/>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Assigned wrong advice can increase the chance of a wrong answer.</a:t>
            </a:r>
          </a:p>
        </p:txBody>
      </p:sp>
      <p:sp>
        <p:nvSpPr>
          <p:cNvPr id="5" name="">
            <a:extLst xmlns:a="http://schemas.openxmlformats.org/drawingml/2006/main">
              <a:ext uri="{FF2B5EF4-FFF2-40B4-BE49-F238E27FC236}">
                <a16:creationId xmlns:a16="http://schemas.microsoft.com/office/drawing/2014/main" id="{845EB1EE-1080-419F-944B-E4EE1F3C64B7}"/>
              </a:ext>
            </a:extLst>
          </p:cNvPr>
          <p:cNvSpPr>
            <a:spLocks xmlns:a="http://schemas.openxmlformats.org/drawingml/2006/main" noGrp="1"/>
          </p:cNvSpPr>
          <p:nvPr/>
        </p:nvSpPr>
        <p:spPr>
          <a:xfrm xmlns:a="http://schemas.openxmlformats.org/drawingml/2006/main">
            <a:off x="723900" y="36385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An abstention reminder can reduce errors while also reducing correct answers.</a:t>
            </a:r>
          </a:p>
        </p:txBody>
      </p:sp>
      <p:sp>
        <p:nvSpPr>
          <p:cNvPr id="6" name="">
            <a:extLst xmlns:a="http://schemas.openxmlformats.org/drawingml/2006/main">
              <a:ext uri="{FF2B5EF4-FFF2-40B4-BE49-F238E27FC236}">
                <a16:creationId xmlns:a16="http://schemas.microsoft.com/office/drawing/2014/main" id="{C7CE2973-FF00-4C73-B892-25A78FD6DD43}"/>
              </a:ext>
            </a:extLst>
          </p:cNvPr>
          <p:cNvSpPr>
            <a:spLocks xmlns:a="http://schemas.openxmlformats.org/drawingml/2006/main" noGrp="1"/>
          </p:cNvSpPr>
          <p:nvPr/>
        </p:nvSpPr>
        <p:spPr>
          <a:xfrm xmlns:a="http://schemas.openxmlformats.org/drawingml/2006/main">
            <a:off x="723900" y="4638675"/>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Helvetica Neue"/>
                <a:ea typeface="Helvetica Neue"/>
                <a:cs typeface="Helvetica Neue"/>
              </a:defRPr>
            </a:pPr>
            <a:r>
              <a:rPr sz="2325" b="0">
                <a:solidFill>
                  <a:srgbClr val="142C40"/>
                </a:solidFill>
                <a:latin typeface="Helvetica Neue"/>
                <a:ea typeface="Helvetica Neue"/>
                <a:cs typeface="Helvetica Neue"/>
              </a:rPr>
              <a:t>Cross-checking cannot justify 100% trust.</a:t>
            </a:r>
          </a:p>
        </p:txBody>
      </p:sp>
    </p:spTree>
    <p:extLst>
      <p:ext uri="{BB962C8B-B14F-4D97-AF65-F5344CB8AC3E}">
        <p14:creationId xmlns:p14="http://schemas.microsoft.com/office/powerpoint/2010/main" val="1378912294"/>
      </p:ext>
    </p:extLst>
  </p:cSld>
</p:sld>
</file>

<file path=ppt/slides/slide1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EF3BC9C-E459-4726-9096-EE4C01373ECC}"/>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A proposed workflow for users</a:t>
            </a:r>
          </a:p>
        </p:txBody>
      </p:sp>
      <p:sp>
        <p:nvSpPr>
          <p:cNvPr id="2" name="">
            <a:extLst xmlns:a="http://schemas.openxmlformats.org/drawingml/2006/main">
              <a:ext uri="{FF2B5EF4-FFF2-40B4-BE49-F238E27FC236}">
                <a16:creationId xmlns:a16="http://schemas.microsoft.com/office/drawing/2014/main" id="{FDEEA259-AC4F-4461-AB8E-5B84FD5801BA}"/>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16</a:t>
            </a:r>
          </a:p>
        </p:txBody>
      </p:sp>
      <p:sp>
        <p:nvSpPr>
          <p:cNvPr id="3" name="">
            <a:extLst xmlns:a="http://schemas.openxmlformats.org/drawingml/2006/main">
              <a:ext uri="{FF2B5EF4-FFF2-40B4-BE49-F238E27FC236}">
                <a16:creationId xmlns:a16="http://schemas.microsoft.com/office/drawing/2014/main" id="{4D60E180-B7BD-41D8-A908-4CC6E41E5BBB}"/>
              </a:ext>
            </a:extLst>
          </p:cNvPr>
          <p:cNvSpPr>
            <a:spLocks xmlns:a="http://schemas.openxmlformats.org/drawingml/2006/main" noGrp="1"/>
          </p:cNvSpPr>
          <p:nvPr/>
        </p:nvSpPr>
        <p:spPr>
          <a:xfrm xmlns:a="http://schemas.openxmlformats.org/drawingml/2006/main">
            <a:off x="723900" y="163830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Keep initial answers independent before sharing a preferred answer.</a:t>
            </a:r>
          </a:p>
        </p:txBody>
      </p:sp>
      <p:sp>
        <p:nvSpPr>
          <p:cNvPr id="4" name="">
            <a:extLst xmlns:a="http://schemas.openxmlformats.org/drawingml/2006/main">
              <a:ext uri="{FF2B5EF4-FFF2-40B4-BE49-F238E27FC236}">
                <a16:creationId xmlns:a16="http://schemas.microsoft.com/office/drawing/2014/main" id="{2785B234-C9D8-48AA-AA29-A4A62B5119B1}"/>
              </a:ext>
            </a:extLst>
          </p:cNvPr>
          <p:cNvSpPr>
            <a:spLocks xmlns:a="http://schemas.openxmlformats.org/drawingml/2006/main" noGrp="1"/>
          </p:cNvSpPr>
          <p:nvPr/>
        </p:nvSpPr>
        <p:spPr>
          <a:xfrm xmlns:a="http://schemas.openxmlformats.org/drawingml/2006/main">
            <a:off x="723900" y="2619375"/>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Label assumptions in your prompt and compare the supporting evidence.</a:t>
            </a:r>
          </a:p>
        </p:txBody>
      </p:sp>
      <p:sp>
        <p:nvSpPr>
          <p:cNvPr id="5" name="">
            <a:extLst xmlns:a="http://schemas.openxmlformats.org/drawingml/2006/main">
              <a:ext uri="{FF2B5EF4-FFF2-40B4-BE49-F238E27FC236}">
                <a16:creationId xmlns:a16="http://schemas.microsoft.com/office/drawing/2014/main" id="{3516ED0D-63D4-4E76-BF13-E9A46C96736C}"/>
              </a:ext>
            </a:extLst>
          </p:cNvPr>
          <p:cNvSpPr>
            <a:spLocks xmlns:a="http://schemas.openxmlformats.org/drawingml/2006/main" noGrp="1"/>
          </p:cNvSpPr>
          <p:nvPr/>
        </p:nvSpPr>
        <p:spPr>
          <a:xfrm xmlns:a="http://schemas.openxmlformats.org/drawingml/2006/main">
            <a:off x="723900" y="36004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Preserve uncertainty when the evidence does not settle the question.</a:t>
            </a:r>
          </a:p>
        </p:txBody>
      </p:sp>
      <p:sp>
        <p:nvSpPr>
          <p:cNvPr id="6" name="">
            <a:extLst xmlns:a="http://schemas.openxmlformats.org/drawingml/2006/main">
              <a:ext uri="{FF2B5EF4-FFF2-40B4-BE49-F238E27FC236}">
                <a16:creationId xmlns:a16="http://schemas.microsoft.com/office/drawing/2014/main" id="{8F87E80E-A3BE-4389-B2CE-B87C3FE7FA5F}"/>
              </a:ext>
            </a:extLst>
          </p:cNvPr>
          <p:cNvSpPr>
            <a:spLocks xmlns:a="http://schemas.openxmlformats.org/drawingml/2006/main" noGrp="1"/>
          </p:cNvSpPr>
          <p:nvPr/>
        </p:nvSpPr>
        <p:spPr>
          <a:xfrm xmlns:a="http://schemas.openxmlformats.org/drawingml/2006/main">
            <a:off x="723900" y="4581525"/>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Use sources or executable checks for consequential claims.</a:t>
            </a:r>
          </a:p>
        </p:txBody>
      </p:sp>
      <p:sp>
        <p:nvSpPr>
          <p:cNvPr id="7" name="">
            <a:extLst xmlns:a="http://schemas.openxmlformats.org/drawingml/2006/main">
              <a:ext uri="{FF2B5EF4-FFF2-40B4-BE49-F238E27FC236}">
                <a16:creationId xmlns:a16="http://schemas.microsoft.com/office/drawing/2014/main" id="{E7DC88E4-EE30-40C0-B96D-F962B5BD701B}"/>
              </a:ext>
            </a:extLst>
          </p:cNvPr>
          <p:cNvSpPr>
            <a:spLocks xmlns:a="http://schemas.openxmlformats.org/drawingml/2006/main" noGrp="1"/>
          </p:cNvSpPr>
          <p:nvPr/>
        </p:nvSpPr>
        <p:spPr>
          <a:xfrm xmlns:a="http://schemas.openxmlformats.org/drawingml/2006/main">
            <a:off x="723900" y="5981700"/>
            <a:ext cx="10572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586"/>
                </a:solidFill>
                <a:latin typeface="Helvetica Neue"/>
                <a:ea typeface="Helvetica Neue"/>
                <a:cs typeface="Helvetica Neue"/>
              </a:defRPr>
            </a:pPr>
            <a:r>
              <a:rPr sz="1725" b="0">
                <a:solidFill>
                  <a:srgbClr val="657586"/>
                </a:solidFill>
                <a:latin typeface="Helvetica Neue"/>
                <a:ea typeface="Helvetica Neue"/>
                <a:cs typeface="Helvetica Neue"/>
              </a:rPr>
              <a:t>Proposed practice. External retrieval and calculators were not tested here.</a:t>
            </a:r>
          </a:p>
        </p:txBody>
      </p:sp>
    </p:spTree>
    <p:extLst>
      <p:ext uri="{BB962C8B-B14F-4D97-AF65-F5344CB8AC3E}">
        <p14:creationId xmlns:p14="http://schemas.microsoft.com/office/powerpoint/2010/main" val="997319636"/>
      </p:ext>
    </p:extLst>
  </p:cSld>
</p:sld>
</file>

<file path=ppt/slides/slide17.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6A4D9C7-5FA8-4DDD-BC01-F7D69FF094E0}"/>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Related work and data</a:t>
            </a:r>
          </a:p>
        </p:txBody>
      </p:sp>
      <p:sp>
        <p:nvSpPr>
          <p:cNvPr id="2" name="">
            <a:extLst xmlns:a="http://schemas.openxmlformats.org/drawingml/2006/main">
              <a:ext uri="{FF2B5EF4-FFF2-40B4-BE49-F238E27FC236}">
                <a16:creationId xmlns:a16="http://schemas.microsoft.com/office/drawing/2014/main" id="{A698E00F-F241-4D69-B644-19DCB1DB51E4}"/>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17</a:t>
            </a:r>
          </a:p>
        </p:txBody>
      </p:sp>
      <p:graphicFrame>
        <p:nvGraphicFramePr>
          <p:cNvPr id="8" name=""/>
          <p:cNvGraphicFramePr/>
          <p:nvPr/>
        </p:nvGraphicFramePr>
        <p:xfrm>
          <a:off xmlns:a="http://schemas.openxmlformats.org/drawingml/2006/main" x="685800" y="1619250"/>
          <a:ext xmlns:a="http://schemas.openxmlformats.org/drawingml/2006/main" cx="10820400" cy="3371850"/>
        </p:xfrm>
        <a:graphic xmlns:a="http://schemas.openxmlformats.org/drawingml/2006/main">
          <a:graphicData uri="http://schemas.openxmlformats.org/drawingml/2006/table">
            <a:tbl>
              <a:tblPr/>
              <a:tblGrid>
                <a:gridCol w="5429250"/>
                <a:gridCol w="5391150"/>
              </a:tblGrid>
              <a:tr h="674370">
                <a:tc>
                  <a:txBody>
                    <a:bodyPr/>
                    <a:lstStyle/>
                    <a:p>
                      <a:r>
                        <a:rPr sz="1950" b="1">
                          <a:solidFill>
                            <a:srgbClr val="FFFFFF"/>
                          </a:solidFill>
                          <a:latin typeface="Helvetica Neue"/>
                          <a:ea typeface="Helvetica Neue"/>
                          <a:cs typeface="Helvetica Neue"/>
                        </a:rPr>
                        <a:t>Source</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Role in the project</a:t>
                      </a:r>
                    </a:p>
                  </a:txBody>
                  <a:tcPr marL="91440" marR="91440" marT="45720" marB="45720">
                    <a:solidFill>
                      <a:srgbClr val="142C40"/>
                    </a:solidFill>
                  </a:tcPr>
                </a:tc>
              </a:tr>
              <a:tr h="674370">
                <a:tc>
                  <a:txBody>
                    <a:bodyPr/>
                    <a:lstStyle/>
                    <a:p>
                      <a:r>
                        <a:rPr sz="1950" b="0">
                          <a:solidFill>
                            <a:srgbClr val="142C40"/>
                          </a:solidFill>
                          <a:latin typeface="Helvetica Neue"/>
                          <a:ea typeface="Helvetica Neue"/>
                          <a:cs typeface="Helvetica Neue"/>
                        </a:rPr>
                        <a:t>Google SimpleQA Verified</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Selected factual questions</a:t>
                      </a:r>
                    </a:p>
                  </a:txBody>
                  <a:tcPr marL="91440" marR="91440" marT="45720" marB="45720">
                    <a:solidFill>
                      <a:srgbClr val="F0F4F7"/>
                    </a:solidFill>
                  </a:tcPr>
                </a:tc>
              </a:tr>
              <a:tr h="674370">
                <a:tc>
                  <a:txBody>
                    <a:bodyPr/>
                    <a:lstStyle/>
                    <a:p>
                      <a:r>
                        <a:rPr sz="1950" b="0">
                          <a:solidFill>
                            <a:srgbClr val="142C40"/>
                          </a:solidFill>
                          <a:latin typeface="Helvetica Neue"/>
                          <a:ea typeface="Helvetica Neue"/>
                          <a:cs typeface="Helvetica Neue"/>
                        </a:rPr>
                        <a:t>CHAMP, ACL Findings 2024</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New mathematical questions and references</a:t>
                      </a:r>
                    </a:p>
                  </a:txBody>
                  <a:tcPr marL="91440" marR="91440" marT="45720" marB="45720">
                    <a:solidFill>
                      <a:srgbClr val="FFFFFF"/>
                    </a:solidFill>
                  </a:tcPr>
                </a:tc>
              </a:tr>
              <a:tr h="674370">
                <a:tc>
                  <a:txBody>
                    <a:bodyPr/>
                    <a:lstStyle/>
                    <a:p>
                      <a:r>
                        <a:rPr sz="1950" b="0">
                          <a:solidFill>
                            <a:srgbClr val="142C40"/>
                          </a:solidFill>
                          <a:latin typeface="Helvetica Neue"/>
                          <a:ea typeface="Helvetica Neue"/>
                          <a:cs typeface="Helvetica Neue"/>
                        </a:rPr>
                        <a:t>Huang et al., ICLR 2024</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Limits of intrinsic self-correction</a:t>
                      </a:r>
                    </a:p>
                  </a:txBody>
                  <a:tcPr marL="91440" marR="91440" marT="45720" marB="45720">
                    <a:solidFill>
                      <a:srgbClr val="F0F4F7"/>
                    </a:solidFill>
                  </a:tcPr>
                </a:tc>
              </a:tr>
              <a:tr h="674370">
                <a:tc>
                  <a:txBody>
                    <a:bodyPr/>
                    <a:lstStyle/>
                    <a:p>
                      <a:r>
                        <a:rPr sz="1950" b="0">
                          <a:solidFill>
                            <a:srgbClr val="142C40"/>
                          </a:solidFill>
                          <a:latin typeface="Helvetica Neue"/>
                          <a:ea typeface="Helvetica Neue"/>
                          <a:cs typeface="Helvetica Neue"/>
                        </a:rPr>
                        <a:t>Dhuliawala et al., ACL Findings 2024</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Chain-of-Verification</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A4CBE645-3002-460A-8489-EAF025CB5C7A}"/>
              </a:ext>
            </a:extLst>
          </p:cNvPr>
          <p:cNvSpPr>
            <a:spLocks xmlns:a="http://schemas.openxmlformats.org/drawingml/2006/main" noGrp="1"/>
          </p:cNvSpPr>
          <p:nvPr/>
        </p:nvSpPr>
        <p:spPr>
          <a:xfrm xmlns:a="http://schemas.openxmlformats.org/drawingml/2006/main">
            <a:off x="723900" y="53816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Helvetica Neue"/>
                <a:ea typeface="Helvetica Neue"/>
                <a:cs typeface="Helvetica Neue"/>
              </a:defRPr>
            </a:pPr>
            <a:r>
              <a:rPr sz="2100" b="0">
                <a:solidFill>
                  <a:srgbClr val="142C40"/>
                </a:solidFill>
                <a:latin typeface="Helvetica Neue"/>
                <a:ea typeface="Helvetica Neue"/>
                <a:cs typeface="Helvetica Neue"/>
              </a:rPr>
              <a:t>Earlier exploration also used MathTrap and GSM-Symbolic examples.</a:t>
            </a:r>
          </a:p>
        </p:txBody>
      </p:sp>
      <p:sp>
        <p:nvSpPr>
          <p:cNvPr id="5" name="">
            <a:extLst xmlns:a="http://schemas.openxmlformats.org/drawingml/2006/main">
              <a:ext uri="{FF2B5EF4-FFF2-40B4-BE49-F238E27FC236}">
                <a16:creationId xmlns:a16="http://schemas.microsoft.com/office/drawing/2014/main" id="{DB056C16-4F9E-4BB5-A45C-2A343D69858F}"/>
              </a:ext>
            </a:extLst>
          </p:cNvPr>
          <p:cNvSpPr>
            <a:spLocks xmlns:a="http://schemas.openxmlformats.org/drawingml/2006/main" noGrp="1"/>
          </p:cNvSpPr>
          <p:nvPr/>
        </p:nvSpPr>
        <p:spPr>
          <a:xfrm xmlns:a="http://schemas.openxmlformats.org/drawingml/2006/main">
            <a:off x="723900" y="602932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57586"/>
                </a:solidFill>
                <a:latin typeface="Helvetica Neue"/>
                <a:ea typeface="Helvetica Neue"/>
                <a:cs typeface="Helvetica Neue"/>
              </a:defRPr>
            </a:pPr>
            <a:r>
              <a:rPr sz="1650" b="0">
                <a:solidFill>
                  <a:srgbClr val="657586"/>
                </a:solidFill>
                <a:latin typeface="Helvetica Neue"/>
                <a:ea typeface="Helvetica Neue"/>
                <a:cs typeface="Helvetica Neue"/>
              </a:rPr>
              <a:t>Full links and pinned dataset versions appear in the report and slide notes.</a:t>
            </a:r>
          </a:p>
        </p:txBody>
      </p:sp>
    </p:spTree>
    <p:extLst>
      <p:ext uri="{BB962C8B-B14F-4D97-AF65-F5344CB8AC3E}">
        <p14:creationId xmlns:p14="http://schemas.microsoft.com/office/powerpoint/2010/main" val="357900823"/>
      </p:ext>
    </p:extLst>
  </p:cSld>
</p:sld>
</file>

<file path=ppt/slides/slide18.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6E5981-9213-442E-A148-99ABCCD97AE7}"/>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Authors and reproducibility</a:t>
            </a:r>
          </a:p>
        </p:txBody>
      </p:sp>
      <p:sp>
        <p:nvSpPr>
          <p:cNvPr id="2" name="">
            <a:extLst xmlns:a="http://schemas.openxmlformats.org/drawingml/2006/main">
              <a:ext uri="{FF2B5EF4-FFF2-40B4-BE49-F238E27FC236}">
                <a16:creationId xmlns:a16="http://schemas.microsoft.com/office/drawing/2014/main" id="{6D1ED7FF-83DE-4E2F-8DE6-73FF86BDC48C}"/>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18</a:t>
            </a:r>
          </a:p>
        </p:txBody>
      </p:sp>
      <p:sp>
        <p:nvSpPr>
          <p:cNvPr id="3" name="">
            <a:extLst xmlns:a="http://schemas.openxmlformats.org/drawingml/2006/main">
              <a:ext uri="{FF2B5EF4-FFF2-40B4-BE49-F238E27FC236}">
                <a16:creationId xmlns:a16="http://schemas.microsoft.com/office/drawing/2014/main" id="{B3EE5AB9-B08D-4E8C-9430-EE875F63FB65}"/>
              </a:ext>
            </a:extLst>
          </p:cNvPr>
          <p:cNvSpPr>
            <a:spLocks xmlns:a="http://schemas.openxmlformats.org/drawingml/2006/main" noGrp="1"/>
          </p:cNvSpPr>
          <p:nvPr/>
        </p:nvSpPr>
        <p:spPr>
          <a:xfrm xmlns:a="http://schemas.openxmlformats.org/drawingml/2006/main">
            <a:off x="723900" y="16954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7E77"/>
                </a:solidFill>
                <a:latin typeface="Helvetica Neue"/>
                <a:ea typeface="Helvetica Neue"/>
                <a:cs typeface="Helvetica Neue"/>
              </a:defRPr>
            </a:pPr>
            <a:r>
              <a:rPr sz="3000" b="1">
                <a:solidFill>
                  <a:srgbClr val="147E77"/>
                </a:solidFill>
                <a:latin typeface="Helvetica Neue"/>
                <a:ea typeface="Helvetica Neue"/>
                <a:cs typeface="Helvetica Neue"/>
              </a:rPr>
              <a:t>LINYUNIAN and PAN ZHENGYU</a:t>
            </a:r>
          </a:p>
        </p:txBody>
      </p:sp>
      <p:sp>
        <p:nvSpPr>
          <p:cNvPr id="4" name="">
            <a:extLst xmlns:a="http://schemas.openxmlformats.org/drawingml/2006/main">
              <a:ext uri="{FF2B5EF4-FFF2-40B4-BE49-F238E27FC236}">
                <a16:creationId xmlns:a16="http://schemas.microsoft.com/office/drawing/2014/main" id="{3858DDCB-F109-466D-86A8-750A50E5F15C}"/>
              </a:ext>
            </a:extLst>
          </p:cNvPr>
          <p:cNvSpPr>
            <a:spLocks xmlns:a="http://schemas.openxmlformats.org/drawingml/2006/main" noGrp="1"/>
          </p:cNvSpPr>
          <p:nvPr/>
        </p:nvSpPr>
        <p:spPr>
          <a:xfrm xmlns:a="http://schemas.openxmlformats.org/drawingml/2006/main">
            <a:off x="723900" y="287655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Helvetica Neue"/>
                <a:ea typeface="Helvetica Neue"/>
                <a:cs typeface="Helvetica Neue"/>
              </a:defRPr>
            </a:pPr>
            <a:r>
              <a:rPr sz="2175" b="0">
                <a:solidFill>
                  <a:srgbClr val="142C40"/>
                </a:solidFill>
                <a:latin typeface="Helvetica Neue"/>
                <a:ea typeface="Helvetica Neue"/>
                <a:cs typeface="Helvetica Neue"/>
              </a:rPr>
              <a:t>R processing with archived prompts, raw outputs and source records.</a:t>
            </a:r>
          </a:p>
        </p:txBody>
      </p:sp>
      <p:sp>
        <p:nvSpPr>
          <p:cNvPr id="5" name="">
            <a:extLst xmlns:a="http://schemas.openxmlformats.org/drawingml/2006/main">
              <a:ext uri="{FF2B5EF4-FFF2-40B4-BE49-F238E27FC236}">
                <a16:creationId xmlns:a16="http://schemas.microsoft.com/office/drawing/2014/main" id="{5A120F33-093A-4969-AE0A-6CFED0990F2D}"/>
              </a:ext>
            </a:extLst>
          </p:cNvPr>
          <p:cNvSpPr>
            <a:spLocks xmlns:a="http://schemas.openxmlformats.org/drawingml/2006/main" noGrp="1"/>
          </p:cNvSpPr>
          <p:nvPr/>
        </p:nvSpPr>
        <p:spPr>
          <a:xfrm xmlns:a="http://schemas.openxmlformats.org/drawingml/2006/main">
            <a:off x="723900" y="3724275"/>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Helvetica Neue"/>
                <a:ea typeface="Helvetica Neue"/>
                <a:cs typeface="Helvetica Neue"/>
              </a:defRPr>
            </a:pPr>
            <a:r>
              <a:rPr sz="2175" b="0">
                <a:solidFill>
                  <a:srgbClr val="142C40"/>
                </a:solidFill>
                <a:latin typeface="Helvetica Neue"/>
                <a:ea typeface="Helvetica Neue"/>
                <a:cs typeface="Helvetica Neue"/>
              </a:rPr>
              <a:t>Codex assisted implementation, analysis, review and writing.</a:t>
            </a:r>
          </a:p>
        </p:txBody>
      </p:sp>
      <p:sp>
        <p:nvSpPr>
          <p:cNvPr id="6" name="">
            <a:extLst xmlns:a="http://schemas.openxmlformats.org/drawingml/2006/main">
              <a:ext uri="{FF2B5EF4-FFF2-40B4-BE49-F238E27FC236}">
                <a16:creationId xmlns:a16="http://schemas.microsoft.com/office/drawing/2014/main" id="{8AE989CC-A488-48B0-B065-783887837876}"/>
              </a:ext>
            </a:extLst>
          </p:cNvPr>
          <p:cNvSpPr>
            <a:spLocks xmlns:a="http://schemas.openxmlformats.org/drawingml/2006/main" noGrp="1"/>
          </p:cNvSpPr>
          <p:nvPr/>
        </p:nvSpPr>
        <p:spPr>
          <a:xfrm xmlns:a="http://schemas.openxmlformats.org/drawingml/2006/main">
            <a:off x="723900" y="4572000"/>
            <a:ext cx="10706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Helvetica Neue"/>
                <a:ea typeface="Helvetica Neue"/>
                <a:cs typeface="Helvetica Neue"/>
              </a:defRPr>
            </a:pPr>
            <a:r>
              <a:rPr sz="2175" b="0">
                <a:solidFill>
                  <a:srgbClr val="142C40"/>
                </a:solidFill>
                <a:latin typeface="Helvetica Neue"/>
                <a:ea typeface="Helvetica Neue"/>
                <a:cs typeface="Helvetica Neue"/>
              </a:rPr>
              <a:t>Earlier Claude Code review used its configured Kimi backend.</a:t>
            </a:r>
          </a:p>
        </p:txBody>
      </p:sp>
      <p:sp>
        <p:nvSpPr>
          <p:cNvPr id="7" name="">
            <a:extLst xmlns:a="http://schemas.openxmlformats.org/drawingml/2006/main">
              <a:ext uri="{FF2B5EF4-FFF2-40B4-BE49-F238E27FC236}">
                <a16:creationId xmlns:a16="http://schemas.microsoft.com/office/drawing/2014/main" id="{B4EC4BF6-9728-4956-A59F-7638FA80BDAC}"/>
              </a:ext>
            </a:extLst>
          </p:cNvPr>
          <p:cNvSpPr>
            <a:spLocks xmlns:a="http://schemas.openxmlformats.org/drawingml/2006/main" noGrp="1"/>
          </p:cNvSpPr>
          <p:nvPr/>
        </p:nvSpPr>
        <p:spPr>
          <a:xfrm xmlns:a="http://schemas.openxmlformats.org/drawingml/2006/main">
            <a:off x="723900" y="557212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2C40"/>
                </a:solidFill>
                <a:latin typeface="Helvetica Neue"/>
                <a:ea typeface="Helvetica Neue"/>
                <a:cs typeface="Helvetica Neue"/>
              </a:defRPr>
            </a:pPr>
            <a:r>
              <a:rPr sz="2175" b="1">
                <a:solidFill>
                  <a:srgbClr val="142C40"/>
                </a:solidFill>
                <a:latin typeface="Helvetica Neue"/>
                <a:ea typeface="Helvetica Neue"/>
                <a:cs typeface="Helvetica Neue"/>
              </a:rPr>
              <a:t>github.com/ThomasLin070217/comp2501-ai-reliability</a:t>
            </a:r>
          </a:p>
        </p:txBody>
      </p:sp>
      <p:sp>
        <p:nvSpPr>
          <p:cNvPr id="8" name="">
            <a:extLst xmlns:a="http://schemas.openxmlformats.org/drawingml/2006/main">
              <a:ext uri="{FF2B5EF4-FFF2-40B4-BE49-F238E27FC236}">
                <a16:creationId xmlns:a16="http://schemas.microsoft.com/office/drawing/2014/main" id="{3B18962E-D0D4-4BC6-9B88-6F416B6BFFE4}"/>
              </a:ext>
            </a:extLst>
          </p:cNvPr>
          <p:cNvSpPr>
            <a:spLocks xmlns:a="http://schemas.openxmlformats.org/drawingml/2006/main" noGrp="1"/>
          </p:cNvSpPr>
          <p:nvPr/>
        </p:nvSpPr>
        <p:spPr>
          <a:xfrm xmlns:a="http://schemas.openxmlformats.org/drawingml/2006/main">
            <a:off x="723900" y="6124575"/>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657586"/>
                </a:solidFill>
                <a:latin typeface="Helvetica Neue"/>
                <a:ea typeface="Helvetica Neue"/>
                <a:cs typeface="Helvetica Neue"/>
              </a:defRPr>
            </a:pPr>
            <a:r>
              <a:rPr sz="2025" b="0">
                <a:solidFill>
                  <a:srgbClr val="657586"/>
                </a:solidFill>
                <a:latin typeface="Helvetica Neue"/>
                <a:ea typeface="Helvetica Neue"/>
                <a:cs typeface="Helvetica Neue"/>
              </a:rPr>
              <a:t>Questions</a:t>
            </a:r>
          </a:p>
        </p:txBody>
      </p:sp>
    </p:spTree>
    <p:extLst>
      <p:ext uri="{BB962C8B-B14F-4D97-AF65-F5344CB8AC3E}">
        <p14:creationId xmlns:p14="http://schemas.microsoft.com/office/powerpoint/2010/main" val="260389699"/>
      </p:ext>
    </p:extLst>
  </p:cSld>
</p:sld>
</file>

<file path=ppt/slides/slide19.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BCB67A4-1A3A-4BB6-AD12-355720DBBFCA}"/>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Appendix: original controlled endpoints</a:t>
            </a:r>
          </a:p>
        </p:txBody>
      </p:sp>
      <p:sp>
        <p:nvSpPr>
          <p:cNvPr id="2" name="">
            <a:extLst xmlns:a="http://schemas.openxmlformats.org/drawingml/2006/main">
              <a:ext uri="{FF2B5EF4-FFF2-40B4-BE49-F238E27FC236}">
                <a16:creationId xmlns:a16="http://schemas.microsoft.com/office/drawing/2014/main" id="{A28A6C5A-32BF-4991-A83F-00A2C2D3233F}"/>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19</a:t>
            </a:r>
          </a:p>
        </p:txBody>
      </p:sp>
      <p:graphicFrame>
        <p:nvGraphicFramePr>
          <p:cNvPr id="8" name=""/>
          <p:cNvGraphicFramePr/>
          <p:nvPr/>
        </p:nvGraphicFramePr>
        <p:xfrm>
          <a:off xmlns:a="http://schemas.openxmlformats.org/drawingml/2006/main" x="685800" y="1714500"/>
          <a:ext xmlns:a="http://schemas.openxmlformats.org/drawingml/2006/main" cx="10820400" cy="3162300"/>
        </p:xfrm>
        <a:graphic xmlns:a="http://schemas.openxmlformats.org/drawingml/2006/main">
          <a:graphicData uri="http://schemas.openxmlformats.org/drawingml/2006/table">
            <a:tbl>
              <a:tblPr/>
              <a:tblGrid>
                <a:gridCol w="5048250"/>
                <a:gridCol w="3333750"/>
                <a:gridCol w="2438400"/>
              </a:tblGrid>
              <a:tr h="790575">
                <a:tc>
                  <a:txBody>
                    <a:bodyPr/>
                    <a:lstStyle/>
                    <a:p>
                      <a:r>
                        <a:rPr sz="1950" b="1">
                          <a:solidFill>
                            <a:srgbClr val="FFFFFF"/>
                          </a:solidFill>
                          <a:latin typeface="Helvetica Neue"/>
                          <a:ea typeface="Helvetica Neue"/>
                          <a:cs typeface="Helvetica Neue"/>
                        </a:rPr>
                        <a:t>Original endpoint</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Ordinary condition</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Comparison</a:t>
                      </a:r>
                    </a:p>
                  </a:txBody>
                  <a:tcPr marL="91440" marR="91440" marT="45720" marB="45720">
                    <a:solidFill>
                      <a:srgbClr val="142C40"/>
                    </a:solidFill>
                  </a:tcPr>
                </a:tc>
              </a:tr>
              <a:tr h="790575">
                <a:tc>
                  <a:txBody>
                    <a:bodyPr/>
                    <a:lstStyle/>
                    <a:p>
                      <a:r>
                        <a:rPr sz="1950" b="0">
                          <a:solidFill>
                            <a:srgbClr val="142C40"/>
                          </a:solidFill>
                          <a:latin typeface="Helvetica Neue"/>
                          <a:ea typeface="Helvetica Neue"/>
                          <a:cs typeface="Helvetica Neue"/>
                        </a:rPr>
                        <a:t>Wrong-only vs wrong + reason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5 / 154 harmful flips</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3 / 154</a:t>
                      </a:r>
                    </a:p>
                  </a:txBody>
                  <a:tcPr marL="91440" marR="91440" marT="45720" marB="45720">
                    <a:solidFill>
                      <a:srgbClr val="F0F4F7"/>
                    </a:solidFill>
                  </a:tcPr>
                </a:tc>
              </a:tr>
              <a:tr h="790575">
                <a:tc>
                  <a:txBody>
                    <a:bodyPr/>
                    <a:lstStyle/>
                    <a:p>
                      <a:r>
                        <a:rPr sz="1950" b="0">
                          <a:solidFill>
                            <a:srgbClr val="142C40"/>
                          </a:solidFill>
                          <a:latin typeface="Helvetica Neue"/>
                          <a:ea typeface="Helvetica Neue"/>
                          <a:cs typeface="Helvetica Neue"/>
                        </a:rPr>
                        <a:t>Same wrong advice + verification</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3 / 154 harmful flips</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0 / 154</a:t>
                      </a:r>
                    </a:p>
                  </a:txBody>
                  <a:tcPr marL="91440" marR="91440" marT="45720" marB="45720">
                    <a:solidFill>
                      <a:srgbClr val="FFFFFF"/>
                    </a:solidFill>
                  </a:tcPr>
                </a:tc>
              </a:tr>
              <a:tr h="790575">
                <a:tc>
                  <a:txBody>
                    <a:bodyPr/>
                    <a:lstStyle/>
                    <a:p>
                      <a:r>
                        <a:rPr sz="1950" b="0">
                          <a:solidFill>
                            <a:srgbClr val="142C40"/>
                          </a:solidFill>
                          <a:latin typeface="Helvetica Neue"/>
                          <a:ea typeface="Helvetica Neue"/>
                          <a:cs typeface="Helvetica Neue"/>
                        </a:rPr>
                        <a:t>Correct advice + verification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76 / 322 repairs</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45 / 322</a:t>
                      </a:r>
                    </a:p>
                  </a:txBody>
                  <a:tcPr marL="91440" marR="91440" marT="45720" marB="45720">
                    <a:solidFill>
                      <a:srgbClr val="F0F4F7"/>
                    </a:solidFill>
                  </a:tcPr>
                </a:tc>
              </a:tr>
            </a:tbl>
          </a:graphicData>
        </a:graphic>
      </p:graphicFrame>
      <p:sp>
        <p:nvSpPr>
          <p:cNvPr id="4" name="">
            <a:extLst xmlns:a="http://schemas.openxmlformats.org/drawingml/2006/main">
              <a:ext uri="{FF2B5EF4-FFF2-40B4-BE49-F238E27FC236}">
                <a16:creationId xmlns:a16="http://schemas.microsoft.com/office/drawing/2014/main" id="{A180AA50-6478-4F37-98C4-8680406CEAD4}"/>
              </a:ext>
            </a:extLst>
          </p:cNvPr>
          <p:cNvSpPr>
            <a:spLocks xmlns:a="http://schemas.openxmlformats.org/drawingml/2006/main" noGrp="1"/>
          </p:cNvSpPr>
          <p:nvPr/>
        </p:nvSpPr>
        <p:spPr>
          <a:xfrm xmlns:a="http://schemas.openxmlformats.org/drawingml/2006/main">
            <a:off x="723900" y="526732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7E77"/>
                </a:solidFill>
                <a:latin typeface="Helvetica Neue"/>
                <a:ea typeface="Helvetica Neue"/>
                <a:cs typeface="Helvetica Neue"/>
              </a:defRPr>
            </a:pPr>
            <a:r>
              <a:rPr sz="2175" b="1">
                <a:solidFill>
                  <a:srgbClr val="147E77"/>
                </a:solidFill>
                <a:latin typeface="Helvetica Neue"/>
                <a:ea typeface="Helvetica Neue"/>
                <a:cs typeface="Helvetica Neue"/>
              </a:rPr>
              <a:t>We did not establish that explanations increase harmful flips.</a:t>
            </a:r>
          </a:p>
        </p:txBody>
      </p:sp>
      <p:sp>
        <p:nvSpPr>
          <p:cNvPr id="5" name="">
            <a:extLst xmlns:a="http://schemas.openxmlformats.org/drawingml/2006/main">
              <a:ext uri="{FF2B5EF4-FFF2-40B4-BE49-F238E27FC236}">
                <a16:creationId xmlns:a16="http://schemas.microsoft.com/office/drawing/2014/main" id="{77A95657-51A3-4278-B30A-554684E6A7C3}"/>
              </a:ext>
            </a:extLst>
          </p:cNvPr>
          <p:cNvSpPr>
            <a:spLocks xmlns:a="http://schemas.openxmlformats.org/drawingml/2006/main" noGrp="1"/>
          </p:cNvSpPr>
          <p:nvPr/>
        </p:nvSpPr>
        <p:spPr>
          <a:xfrm xmlns:a="http://schemas.openxmlformats.org/drawingml/2006/main">
            <a:off x="723900" y="596265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Sparse flip events and lost useful corrections remain part of the evidence.</a:t>
            </a:r>
          </a:p>
        </p:txBody>
      </p:sp>
    </p:spTree>
    <p:extLst>
      <p:ext uri="{BB962C8B-B14F-4D97-AF65-F5344CB8AC3E}">
        <p14:creationId xmlns:p14="http://schemas.microsoft.com/office/powerpoint/2010/main" val="29143606"/>
      </p:ext>
    </p:extLst>
  </p:cSld>
</p:sld>
</file>

<file path=ppt/slides/slide20.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63AA3C8-247C-4290-B9CF-D52FB0D8C8E0}"/>
              </a:ext>
            </a:extLst>
          </p:cNvPr>
          <p:cNvSpPr>
            <a:spLocks xmlns:a="http://schemas.openxmlformats.org/drawingml/2006/main" noGrp="1"/>
          </p:cNvSpPr>
          <p:nvPr/>
        </p:nvSpPr>
        <p:spPr>
          <a:xfrm xmlns:a="http://schemas.openxmlformats.org/drawingml/2006/main">
            <a:off x="647700" y="40005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C40"/>
                </a:solidFill>
                <a:latin typeface="Helvetica Neue"/>
                <a:ea typeface="Helvetica Neue"/>
                <a:cs typeface="Helvetica Neue"/>
              </a:defRPr>
            </a:pPr>
            <a:r>
              <a:rPr sz="3225" b="1">
                <a:solidFill>
                  <a:srgbClr val="142C40"/>
                </a:solidFill>
                <a:latin typeface="Helvetica Neue"/>
                <a:ea typeface="Helvetica Neue"/>
                <a:cs typeface="Helvetica Neue"/>
              </a:rPr>
              <a:t>Appendix: robustness checks</a:t>
            </a:r>
          </a:p>
        </p:txBody>
      </p:sp>
      <p:sp>
        <p:nvSpPr>
          <p:cNvPr id="2" name="">
            <a:extLst xmlns:a="http://schemas.openxmlformats.org/drawingml/2006/main">
              <a:ext uri="{FF2B5EF4-FFF2-40B4-BE49-F238E27FC236}">
                <a16:creationId xmlns:a16="http://schemas.microsoft.com/office/drawing/2014/main" id="{8C93D7DD-9087-48CE-AD72-3F2E4E395F5C}"/>
              </a:ext>
            </a:extLst>
          </p:cNvPr>
          <p:cNvSpPr>
            <a:spLocks xmlns:a="http://schemas.openxmlformats.org/drawingml/2006/main" noGrp="1"/>
          </p:cNvSpPr>
          <p:nvPr/>
        </p:nvSpPr>
        <p:spPr>
          <a:xfrm xmlns:a="http://schemas.openxmlformats.org/drawingml/2006/main">
            <a:off x="11068050" y="641032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586"/>
                </a:solidFill>
                <a:latin typeface="Helvetica Neue"/>
                <a:ea typeface="Helvetica Neue"/>
                <a:cs typeface="Helvetica Neue"/>
              </a:defRPr>
            </a:pPr>
            <a:r>
              <a:rPr sz="1275" b="0">
                <a:solidFill>
                  <a:srgbClr val="657586"/>
                </a:solidFill>
                <a:latin typeface="Helvetica Neue"/>
                <a:ea typeface="Helvetica Neue"/>
                <a:cs typeface="Helvetica Neue"/>
              </a:rPr>
              <a:t>20</a:t>
            </a:r>
          </a:p>
        </p:txBody>
      </p:sp>
      <p:graphicFrame>
        <p:nvGraphicFramePr>
          <p:cNvPr id="8" name=""/>
          <p:cNvGraphicFramePr/>
          <p:nvPr/>
        </p:nvGraphicFramePr>
        <p:xfrm>
          <a:off xmlns:a="http://schemas.openxmlformats.org/drawingml/2006/main" x="685800" y="1676400"/>
          <a:ext xmlns:a="http://schemas.openxmlformats.org/drawingml/2006/main" cx="10820400" cy="3333750"/>
        </p:xfrm>
        <a:graphic xmlns:a="http://schemas.openxmlformats.org/drawingml/2006/main">
          <a:graphicData uri="http://schemas.openxmlformats.org/drawingml/2006/table">
            <a:tbl>
              <a:tblPr/>
              <a:tblGrid>
                <a:gridCol w="3905250"/>
                <a:gridCol w="3762375"/>
                <a:gridCol w="3152775"/>
              </a:tblGrid>
              <a:tr h="833438">
                <a:tc>
                  <a:txBody>
                    <a:bodyPr/>
                    <a:lstStyle/>
                    <a:p>
                      <a:r>
                        <a:rPr sz="1875" b="1">
                          <a:solidFill>
                            <a:srgbClr val="FFFFFF"/>
                          </a:solidFill>
                          <a:latin typeface="Helvetica Neue"/>
                          <a:ea typeface="Helvetica Neue"/>
                          <a:cs typeface="Helvetica Neue"/>
                        </a:rPr>
                        <a:t>Sensitivity</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Result</a:t>
                      </a:r>
                    </a:p>
                  </a:txBody>
                  <a:tcPr marL="91440" marR="91440" marT="45720" marB="45720">
                    <a:solidFill>
                      <a:srgbClr val="142C40"/>
                    </a:solidFill>
                  </a:tcPr>
                </a:tc>
                <a:tc>
                  <a:txBody>
                    <a:bodyPr/>
                    <a:lstStyle/>
                    <a:p>
                      <a:r>
                        <a:rPr sz="1875" b="1">
                          <a:solidFill>
                            <a:srgbClr val="FFFFFF"/>
                          </a:solidFill>
                          <a:latin typeface="Helvetica Neue"/>
                          <a:ea typeface="Helvetica Neue"/>
                          <a:cs typeface="Helvetica Neue"/>
                        </a:rPr>
                        <a:t>Limit</a:t>
                      </a:r>
                    </a:p>
                  </a:txBody>
                  <a:tcPr marL="91440" marR="91440" marT="45720" marB="45720">
                    <a:solidFill>
                      <a:srgbClr val="142C40"/>
                    </a:solidFill>
                  </a:tcPr>
                </a:tc>
              </a:tr>
              <a:tr h="833438">
                <a:tc>
                  <a:txBody>
                    <a:bodyPr/>
                    <a:lstStyle/>
                    <a:p>
                      <a:r>
                        <a:rPr sz="1875" b="0">
                          <a:solidFill>
                            <a:srgbClr val="142C40"/>
                          </a:solidFill>
                          <a:latin typeface="Helvetica Neue"/>
                          <a:ea typeface="Helvetica Neue"/>
                          <a:cs typeface="Helvetica Neue"/>
                        </a:rPr>
                        <a:t>Recover clear format failures</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Facts −0.17 pp; math −2.45 pp</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Adjusted intervals include 0</a:t>
                      </a:r>
                    </a:p>
                  </a:txBody>
                  <a:tcPr marL="91440" marR="91440" marT="45720" marB="45720">
                    <a:solidFill>
                      <a:srgbClr val="F0F4F7"/>
                    </a:solidFill>
                  </a:tcPr>
                </a:tc>
              </a:tr>
              <a:tr h="833438">
                <a:tc>
                  <a:txBody>
                    <a:bodyPr/>
                    <a:lstStyle/>
                    <a:p>
                      <a:r>
                        <a:rPr sz="1875" b="0">
                          <a:solidFill>
                            <a:srgbClr val="142C40"/>
                          </a:solidFill>
                          <a:latin typeface="Helvetica Neue"/>
                          <a:ea typeface="Helvetica Neue"/>
                          <a:cs typeface="Helvetica Neue"/>
                        </a:rPr>
                        <a:t>All planned mathematics pairs</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Difference bound −14.23 to +13.82 pp</a:t>
                      </a:r>
                    </a:p>
                  </a:txBody>
                  <a:tcPr marL="91440" marR="91440" marT="45720" marB="45720">
                    <a:solidFill>
                      <a:srgbClr val="FFFFFF"/>
                    </a:solidFill>
                  </a:tcPr>
                </a:tc>
                <a:tc>
                  <a:txBody>
                    <a:bodyPr/>
                    <a:lstStyle/>
                    <a:p>
                      <a:r>
                        <a:rPr sz="1875" b="0">
                          <a:solidFill>
                            <a:srgbClr val="142C40"/>
                          </a:solidFill>
                          <a:latin typeface="Helvetica Neue"/>
                          <a:ea typeface="Helvetica Neue"/>
                          <a:cs typeface="Helvetica Neue"/>
                        </a:rPr>
                        <a:t>Missing outcomes can reverse direction</a:t>
                      </a:r>
                    </a:p>
                  </a:txBody>
                  <a:tcPr marL="91440" marR="91440" marT="45720" marB="45720">
                    <a:solidFill>
                      <a:srgbClr val="FFFFFF"/>
                    </a:solidFill>
                  </a:tcPr>
                </a:tc>
              </a:tr>
              <a:tr h="833438">
                <a:tc>
                  <a:txBody>
                    <a:bodyPr/>
                    <a:lstStyle/>
                    <a:p>
                      <a:r>
                        <a:rPr sz="1875" b="0">
                          <a:solidFill>
                            <a:srgbClr val="142C40"/>
                          </a:solidFill>
                          <a:latin typeface="Helvetica Neue"/>
                          <a:ea typeface="Helvetica Neue"/>
                          <a:cs typeface="Helvetica Neue"/>
                        </a:rPr>
                        <a:t>Partial reasoning-label audit</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13 vs 8 incorrect reasons / 206</a:t>
                      </a:r>
                    </a:p>
                  </a:txBody>
                  <a:tcPr marL="91440" marR="91440" marT="45720" marB="45720">
                    <a:solidFill>
                      <a:srgbClr val="F0F4F7"/>
                    </a:solidFill>
                  </a:tcPr>
                </a:tc>
                <a:tc>
                  <a:txBody>
                    <a:bodyPr/>
                    <a:lstStyle/>
                    <a:p>
                      <a:r>
                        <a:rPr sz="1875" b="0">
                          <a:solidFill>
                            <a:srgbClr val="142C40"/>
                          </a:solidFill>
                          <a:latin typeface="Helvetica Neue"/>
                          <a:ea typeface="Helvetica Neue"/>
                          <a:cs typeface="Helvetica Neue"/>
                        </a:rPr>
                        <a:t>95% interval includes 0</a:t>
                      </a:r>
                    </a:p>
                  </a:txBody>
                  <a:tcPr marL="91440" marR="91440" marT="45720" marB="45720">
                    <a:solidFill>
                      <a:srgbClr val="F0F4F7"/>
                    </a:solidFill>
                  </a:tcPr>
                </a:tc>
              </a:tr>
            </a:tbl>
          </a:graphicData>
        </a:graphic>
      </p:graphicFrame>
      <p:sp>
        <p:nvSpPr>
          <p:cNvPr id="4" name="">
            <a:extLst xmlns:a="http://schemas.openxmlformats.org/drawingml/2006/main">
              <a:ext uri="{FF2B5EF4-FFF2-40B4-BE49-F238E27FC236}">
                <a16:creationId xmlns:a16="http://schemas.microsoft.com/office/drawing/2014/main" id="{354059D3-03FC-4115-A21B-81B2E00EEB47}"/>
              </a:ext>
            </a:extLst>
          </p:cNvPr>
          <p:cNvSpPr>
            <a:spLocks xmlns:a="http://schemas.openxmlformats.org/drawingml/2006/main" noGrp="1"/>
          </p:cNvSpPr>
          <p:nvPr/>
        </p:nvSpPr>
        <p:spPr>
          <a:xfrm xmlns:a="http://schemas.openxmlformats.org/drawingml/2006/main">
            <a:off x="723900" y="54483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7E77"/>
                </a:solidFill>
                <a:latin typeface="Helvetica Neue"/>
                <a:ea typeface="Helvetica Neue"/>
                <a:cs typeface="Helvetica Neue"/>
              </a:defRPr>
            </a:pPr>
            <a:r>
              <a:rPr sz="2175" b="1">
                <a:solidFill>
                  <a:srgbClr val="147E77"/>
                </a:solidFill>
                <a:latin typeface="Helvetica Neue"/>
                <a:ea typeface="Helvetica Neue"/>
                <a:cs typeface="Helvetica Neue"/>
              </a:rPr>
              <a:t>Sensitivity results stay separate from the frozen primary analysis.</a:t>
            </a:r>
          </a:p>
        </p:txBody>
      </p:sp>
      <p:sp>
        <p:nvSpPr>
          <p:cNvPr id="5" name="">
            <a:extLst xmlns:a="http://schemas.openxmlformats.org/drawingml/2006/main">
              <a:ext uri="{FF2B5EF4-FFF2-40B4-BE49-F238E27FC236}">
                <a16:creationId xmlns:a16="http://schemas.microsoft.com/office/drawing/2014/main" id="{32462DF8-FF1F-42A4-9724-A97CC2E26B29}"/>
              </a:ext>
            </a:extLst>
          </p:cNvPr>
          <p:cNvSpPr>
            <a:spLocks xmlns:a="http://schemas.openxmlformats.org/drawingml/2006/main" noGrp="1"/>
          </p:cNvSpPr>
          <p:nvPr/>
        </p:nvSpPr>
        <p:spPr>
          <a:xfrm xmlns:a="http://schemas.openxmlformats.org/drawingml/2006/main">
            <a:off x="723900" y="6048375"/>
            <a:ext cx="10572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57586"/>
                </a:solidFill>
                <a:latin typeface="Helvetica Neue"/>
                <a:ea typeface="Helvetica Neue"/>
                <a:cs typeface="Helvetica Neue"/>
              </a:defRPr>
            </a:pPr>
            <a:r>
              <a:rPr sz="1650" b="0">
                <a:solidFill>
                  <a:srgbClr val="657586"/>
                </a:solidFill>
                <a:latin typeface="Helvetica Neue"/>
                <a:ea typeface="Helvetica Neue"/>
                <a:cs typeface="Helvetica Neue"/>
              </a:rPr>
              <a:t>Eight disagreements among 52 inspected reviewer labels. Others are not fully verified.</a:t>
            </a:r>
          </a:p>
        </p:txBody>
      </p:sp>
    </p:spTree>
    <p:extLst>
      <p:ext uri="{BB962C8B-B14F-4D97-AF65-F5344CB8AC3E}">
        <p14:creationId xmlns:p14="http://schemas.microsoft.com/office/powerpoint/2010/main" val="18796487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2026-10-03T16:13:52.2290000Z</dcterms:created>
  <dcterms:modified xsi:type="dcterms:W3CDTF">2026-10-03T16:13:52.2290000Z</dcterms:modified>
</coreProperties>
</file>